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6" r:id="rId1"/>
  </p:sldMasterIdLst>
  <p:notesMasterIdLst>
    <p:notesMasterId r:id="rId71"/>
  </p:notesMasterIdLst>
  <p:sldIdLst>
    <p:sldId id="611" r:id="rId2"/>
    <p:sldId id="590" r:id="rId3"/>
    <p:sldId id="668" r:id="rId4"/>
    <p:sldId id="697" r:id="rId5"/>
    <p:sldId id="600" r:id="rId6"/>
    <p:sldId id="617" r:id="rId7"/>
    <p:sldId id="581" r:id="rId8"/>
    <p:sldId id="577" r:id="rId9"/>
    <p:sldId id="623" r:id="rId10"/>
    <p:sldId id="624" r:id="rId11"/>
    <p:sldId id="670" r:id="rId12"/>
    <p:sldId id="671" r:id="rId13"/>
    <p:sldId id="663" r:id="rId14"/>
    <p:sldId id="593" r:id="rId15"/>
    <p:sldId id="645" r:id="rId16"/>
    <p:sldId id="646" r:id="rId17"/>
    <p:sldId id="647" r:id="rId18"/>
    <p:sldId id="648" r:id="rId19"/>
    <p:sldId id="649" r:id="rId20"/>
    <p:sldId id="650" r:id="rId21"/>
    <p:sldId id="637" r:id="rId22"/>
    <p:sldId id="632" r:id="rId23"/>
    <p:sldId id="638" r:id="rId24"/>
    <p:sldId id="642" r:id="rId25"/>
    <p:sldId id="643" r:id="rId26"/>
    <p:sldId id="644" r:id="rId27"/>
    <p:sldId id="651" r:id="rId28"/>
    <p:sldId id="652" r:id="rId29"/>
    <p:sldId id="653" r:id="rId30"/>
    <p:sldId id="654" r:id="rId31"/>
    <p:sldId id="655" r:id="rId32"/>
    <p:sldId id="656" r:id="rId33"/>
    <p:sldId id="657" r:id="rId34"/>
    <p:sldId id="621" r:id="rId35"/>
    <p:sldId id="625" r:id="rId36"/>
    <p:sldId id="626" r:id="rId37"/>
    <p:sldId id="578" r:id="rId38"/>
    <p:sldId id="622" r:id="rId39"/>
    <p:sldId id="297" r:id="rId40"/>
    <p:sldId id="658" r:id="rId41"/>
    <p:sldId id="635" r:id="rId42"/>
    <p:sldId id="480" r:id="rId43"/>
    <p:sldId id="566" r:id="rId44"/>
    <p:sldId id="665" r:id="rId45"/>
    <p:sldId id="666" r:id="rId46"/>
    <p:sldId id="615" r:id="rId47"/>
    <p:sldId id="601" r:id="rId48"/>
    <p:sldId id="639" r:id="rId49"/>
    <p:sldId id="640" r:id="rId50"/>
    <p:sldId id="641" r:id="rId51"/>
    <p:sldId id="675" r:id="rId52"/>
    <p:sldId id="672" r:id="rId53"/>
    <p:sldId id="685" r:id="rId54"/>
    <p:sldId id="686" r:id="rId55"/>
    <p:sldId id="687" r:id="rId56"/>
    <p:sldId id="688" r:id="rId57"/>
    <p:sldId id="689" r:id="rId58"/>
    <p:sldId id="690" r:id="rId59"/>
    <p:sldId id="691" r:id="rId60"/>
    <p:sldId id="692" r:id="rId61"/>
    <p:sldId id="693" r:id="rId62"/>
    <p:sldId id="694" r:id="rId63"/>
    <p:sldId id="695" r:id="rId64"/>
    <p:sldId id="696" r:id="rId65"/>
    <p:sldId id="700" r:id="rId66"/>
    <p:sldId id="676" r:id="rId67"/>
    <p:sldId id="698" r:id="rId68"/>
    <p:sldId id="682" r:id="rId69"/>
    <p:sldId id="699" r:id="rId70"/>
  </p:sldIdLst>
  <p:sldSz cx="12192000" cy="6858000"/>
  <p:notesSz cx="12192000" cy="6858000"/>
  <p:embeddedFontLst>
    <p:embeddedFont>
      <p:font typeface="Cormorant Infant" pitchFamily="2" charset="0"/>
      <p:regular r:id="rId72"/>
      <p:bold r:id="rId73"/>
      <p:italic r:id="rId74"/>
      <p:boldItalic r:id="rId75"/>
    </p:embeddedFont>
    <p:embeddedFont>
      <p:font typeface="Cormorant Infant Light" pitchFamily="2" charset="0"/>
      <p:regular r:id="rId76"/>
      <p:italic r:id="rId77"/>
    </p:embeddedFont>
    <p:embeddedFont>
      <p:font typeface="Cormorant Infant Medium" pitchFamily="2" charset="0"/>
      <p:regular r:id="rId78"/>
      <p:italic r:id="rId79"/>
    </p:embeddedFont>
    <p:embeddedFont>
      <p:font typeface="Cormorant Infant SemiBold" pitchFamily="2" charset="0"/>
      <p:bold r:id="rId80"/>
      <p:boldItalic r:id="rId81"/>
    </p:embeddedFont>
    <p:embeddedFont>
      <p:font typeface="Poppins" panose="00000500000000000000" pitchFamily="2" charset="0"/>
      <p:regular r:id="rId82"/>
      <p:bold r:id="rId83"/>
      <p:italic r:id="rId84"/>
      <p:boldItalic r:id="rId85"/>
    </p:embeddedFont>
  </p:embeddedFontLst>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000000"/>
    <a:srgbClr val="D5EEBC"/>
    <a:srgbClr val="383E42"/>
    <a:srgbClr val="E8E8E8"/>
    <a:srgbClr val="D7E6B8"/>
    <a:srgbClr val="2B3033"/>
    <a:srgbClr val="ACB897"/>
    <a:srgbClr val="5F675C"/>
    <a:srgbClr val="4D54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1" d="100"/>
          <a:sy n="101" d="100"/>
        </p:scale>
        <p:origin x="918" y="10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4194"/>
    </p:cViewPr>
  </p:sorterViewPr>
  <p:notesViewPr>
    <p:cSldViewPr snapToGrid="0">
      <p:cViewPr varScale="1">
        <p:scale>
          <a:sx n="108" d="100"/>
          <a:sy n="108" d="100"/>
        </p:scale>
        <p:origin x="65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3.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3.fntdata"/><Relationship Id="rId79" Type="http://schemas.openxmlformats.org/officeDocument/2006/relationships/font" Target="fonts/font8.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11.fntdata"/><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Current</c:v>
                </c:pt>
              </c:strCache>
            </c:strRef>
          </c:tx>
          <c:spPr>
            <a:solidFill>
              <a:srgbClr val="4D544E"/>
            </a:solidFill>
            <a:ln>
              <a:noFill/>
            </a:ln>
            <a:effectLst/>
          </c:spPr>
          <c:invertIfNegative val="0"/>
          <c:dLbls>
            <c:dLbl>
              <c:idx val="0"/>
              <c:layout>
                <c:manualLayout>
                  <c:x val="-1.5151515151515154E-2"/>
                  <c:y val="-2.08333333333334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988-4B1E-875F-C4C0C16DB95C}"/>
                </c:ext>
              </c:extLst>
            </c:dLbl>
            <c:dLbl>
              <c:idx val="1"/>
              <c:layout>
                <c:manualLayout>
                  <c:x val="-8.8383838383838381E-3"/>
                  <c:y val="-1.38888888888888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88-4B1E-875F-C4C0C16DB95C}"/>
                </c:ext>
              </c:extLst>
            </c:dLbl>
            <c:dLbl>
              <c:idx val="2"/>
              <c:layout>
                <c:manualLayout>
                  <c:x val="-1.1363636363636411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988-4B1E-875F-C4C0C16DB95C}"/>
                </c:ext>
              </c:extLst>
            </c:dLbl>
            <c:dLbl>
              <c:idx val="3"/>
              <c:layout>
                <c:manualLayout>
                  <c:x val="-1.1363636363636456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988-4B1E-875F-C4C0C16DB95C}"/>
                </c:ext>
              </c:extLst>
            </c:dLbl>
            <c:dLbl>
              <c:idx val="4"/>
              <c:layout>
                <c:manualLayout>
                  <c:x val="-2.2727272727272728E-2"/>
                  <c:y val="-6.365667204009996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988-4B1E-875F-C4C0C16DB95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Sheet1!$B$2:$B$6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7988-4B1E-875F-C4C0C16DB95C}"/>
            </c:ext>
          </c:extLst>
        </c:ser>
        <c:ser>
          <c:idx val="1"/>
          <c:order val="1"/>
          <c:tx>
            <c:strRef>
              <c:f>Sheet1!$C$1</c:f>
              <c:strCache>
                <c:ptCount val="1"/>
                <c:pt idx="0">
                  <c:v>&lt;ChartHead1&gt;</c:v>
                </c:pt>
              </c:strCache>
            </c:strRef>
          </c:tx>
          <c:spPr>
            <a:solidFill>
              <a:schemeClr val="accent2"/>
            </a:solidFill>
            <a:ln>
              <a:noFill/>
            </a:ln>
            <a:effectLst/>
          </c:spPr>
          <c:invertIfNegative val="0"/>
          <c:dLbls>
            <c:dLbl>
              <c:idx val="0"/>
              <c:layout>
                <c:manualLayout>
                  <c:x val="-2.2727272727272728E-2"/>
                  <c:y val="-1.388888888888895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988-4B1E-875F-C4C0C16DB95C}"/>
                </c:ext>
              </c:extLst>
            </c:dLbl>
            <c:dLbl>
              <c:idx val="1"/>
              <c:layout>
                <c:manualLayout>
                  <c:x val="-1.1363636363636364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988-4B1E-875F-C4C0C16DB95C}"/>
                </c:ext>
              </c:extLst>
            </c:dLbl>
            <c:dLbl>
              <c:idx val="2"/>
              <c:layout>
                <c:manualLayout>
                  <c:x val="-1.0101010101010102E-2"/>
                  <c:y val="-1.041666666666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988-4B1E-875F-C4C0C16DB95C}"/>
                </c:ext>
              </c:extLst>
            </c:dLbl>
            <c:dLbl>
              <c:idx val="3"/>
              <c:layout>
                <c:manualLayout>
                  <c:x val="-1.3888888888888888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988-4B1E-875F-C4C0C16DB95C}"/>
                </c:ext>
              </c:extLst>
            </c:dLbl>
            <c:dLbl>
              <c:idx val="4"/>
              <c:layout>
                <c:manualLayout>
                  <c:x val="-1.1363636363636456E-2"/>
                  <c:y val="-1.04166666666666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988-4B1E-875F-C4C0C16DB95C}"/>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Sheet1!$C$2:$C$6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1-7988-4B1E-875F-C4C0C16DB95C}"/>
            </c:ext>
          </c:extLst>
        </c:ser>
        <c:dLbls>
          <c:dLblPos val="outEnd"/>
          <c:showLegendKey val="0"/>
          <c:showVal val="1"/>
          <c:showCatName val="0"/>
          <c:showSerName val="0"/>
          <c:showPercent val="0"/>
          <c:showBubbleSize val="0"/>
        </c:dLbls>
        <c:gapWidth val="226"/>
        <c:overlap val="-27"/>
        <c:axId val="172370848"/>
        <c:axId val="186898544"/>
      </c:barChart>
      <c:catAx>
        <c:axId val="17237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crossAx val="186898544"/>
        <c:crosses val="autoZero"/>
        <c:auto val="1"/>
        <c:lblAlgn val="ctr"/>
        <c:lblOffset val="100"/>
        <c:noMultiLvlLbl val="0"/>
      </c:catAx>
      <c:valAx>
        <c:axId val="186898544"/>
        <c:scaling>
          <c:orientation val="minMax"/>
        </c:scaling>
        <c:delete val="1"/>
        <c:axPos val="l"/>
        <c:numFmt formatCode="#,##0" sourceLinked="0"/>
        <c:majorTickMark val="none"/>
        <c:minorTickMark val="none"/>
        <c:tickLblPos val="nextTo"/>
        <c:crossAx val="1723708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Current</c:v>
                </c:pt>
              </c:strCache>
            </c:strRef>
          </c:tx>
          <c:spPr>
            <a:solidFill>
              <a:srgbClr val="4D544E"/>
            </a:solidFill>
            <a:ln>
              <a:noFill/>
            </a:ln>
            <a:effectLst/>
          </c:spPr>
          <c:invertIfNegative val="0"/>
          <c:dLbls>
            <c:dLbl>
              <c:idx val="0"/>
              <c:layout>
                <c:manualLayout>
                  <c:x val="-1.5151515151515154E-2"/>
                  <c:y val="-2.08333333333334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988-4B1E-875F-C4C0C16DB95C}"/>
                </c:ext>
              </c:extLst>
            </c:dLbl>
            <c:dLbl>
              <c:idx val="1"/>
              <c:layout>
                <c:manualLayout>
                  <c:x val="-8.8383838383838381E-3"/>
                  <c:y val="-1.38888888888888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88-4B1E-875F-C4C0C16DB95C}"/>
                </c:ext>
              </c:extLst>
            </c:dLbl>
            <c:dLbl>
              <c:idx val="2"/>
              <c:layout>
                <c:manualLayout>
                  <c:x val="-1.1363636363636411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988-4B1E-875F-C4C0C16DB95C}"/>
                </c:ext>
              </c:extLst>
            </c:dLbl>
            <c:dLbl>
              <c:idx val="3"/>
              <c:layout>
                <c:manualLayout>
                  <c:x val="-1.1363636363636456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988-4B1E-875F-C4C0C16DB95C}"/>
                </c:ext>
              </c:extLst>
            </c:dLbl>
            <c:dLbl>
              <c:idx val="4"/>
              <c:layout>
                <c:manualLayout>
                  <c:x val="-2.2727272727272728E-2"/>
                  <c:y val="-6.365667204009996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988-4B1E-875F-C4C0C16DB95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Sheet1!$B$2:$B$6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7988-4B1E-875F-C4C0C16DB95C}"/>
            </c:ext>
          </c:extLst>
        </c:ser>
        <c:ser>
          <c:idx val="1"/>
          <c:order val="1"/>
          <c:tx>
            <c:strRef>
              <c:f>Sheet1!$C$1</c:f>
              <c:strCache>
                <c:ptCount val="1"/>
                <c:pt idx="0">
                  <c:v>&lt;ChartHead1&gt;</c:v>
                </c:pt>
              </c:strCache>
            </c:strRef>
          </c:tx>
          <c:spPr>
            <a:solidFill>
              <a:srgbClr val="5F675C"/>
            </a:solidFill>
            <a:ln>
              <a:noFill/>
            </a:ln>
            <a:effectLst/>
          </c:spPr>
          <c:invertIfNegative val="0"/>
          <c:dLbls>
            <c:dLbl>
              <c:idx val="0"/>
              <c:layout>
                <c:manualLayout>
                  <c:x val="-2.2727272727272728E-2"/>
                  <c:y val="-1.388888888888895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988-4B1E-875F-C4C0C16DB95C}"/>
                </c:ext>
              </c:extLst>
            </c:dLbl>
            <c:dLbl>
              <c:idx val="1"/>
              <c:layout>
                <c:manualLayout>
                  <c:x val="-1.1363636363636364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988-4B1E-875F-C4C0C16DB95C}"/>
                </c:ext>
              </c:extLst>
            </c:dLbl>
            <c:dLbl>
              <c:idx val="2"/>
              <c:layout>
                <c:manualLayout>
                  <c:x val="-1.0101010101010102E-2"/>
                  <c:y val="-1.041666666666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988-4B1E-875F-C4C0C16DB95C}"/>
                </c:ext>
              </c:extLst>
            </c:dLbl>
            <c:dLbl>
              <c:idx val="3"/>
              <c:layout>
                <c:manualLayout>
                  <c:x val="-1.3888888888888888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988-4B1E-875F-C4C0C16DB95C}"/>
                </c:ext>
              </c:extLst>
            </c:dLbl>
            <c:dLbl>
              <c:idx val="4"/>
              <c:layout>
                <c:manualLayout>
                  <c:x val="-1.1363636363636456E-2"/>
                  <c:y val="-1.04166666666666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988-4B1E-875F-C4C0C16DB95C}"/>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Sheet1!$C$2:$C$6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1-7988-4B1E-875F-C4C0C16DB95C}"/>
            </c:ext>
          </c:extLst>
        </c:ser>
        <c:ser>
          <c:idx val="2"/>
          <c:order val="2"/>
          <c:tx>
            <c:strRef>
              <c:f>Sheet1!$D$1</c:f>
              <c:strCache>
                <c:ptCount val="1"/>
                <c:pt idx="0">
                  <c:v>&lt;ChartHead2&gt;</c:v>
                </c:pt>
              </c:strCache>
            </c:strRef>
          </c:tx>
          <c:spPr>
            <a:solidFill>
              <a:srgbClr val="D7E6B8"/>
            </a:solidFill>
            <a:ln>
              <a:noFill/>
            </a:ln>
            <a:effectLst/>
          </c:spPr>
          <c:invertIfNegative val="0"/>
          <c:dLbls>
            <c:dLbl>
              <c:idx val="0"/>
              <c:layout>
                <c:manualLayout>
                  <c:x val="-1.7676767676767676E-2"/>
                  <c:y val="-4.166666666666673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988-4B1E-875F-C4C0C16DB95C}"/>
                </c:ext>
              </c:extLst>
            </c:dLbl>
            <c:dLbl>
              <c:idx val="1"/>
              <c:layout>
                <c:manualLayout>
                  <c:x val="-2.7777777777777776E-2"/>
                  <c:y val="-4.16666666666666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988-4B1E-875F-C4C0C16DB95C}"/>
                </c:ext>
              </c:extLst>
            </c:dLbl>
            <c:dLbl>
              <c:idx val="2"/>
              <c:layout>
                <c:manualLayout>
                  <c:x val="-1.5151515151515152E-2"/>
                  <c:y val="-2.08333333333332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988-4B1E-875F-C4C0C16DB95C}"/>
                </c:ext>
              </c:extLst>
            </c:dLbl>
            <c:dLbl>
              <c:idx val="3"/>
              <c:layout>
                <c:manualLayout>
                  <c:x val="-1.7676767676767676E-2"/>
                  <c:y val="-4.166666666666666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988-4B1E-875F-C4C0C16DB95C}"/>
                </c:ext>
              </c:extLst>
            </c:dLbl>
            <c:dLbl>
              <c:idx val="4"/>
              <c:layout>
                <c:manualLayout>
                  <c:x val="-1.64141414141416E-2"/>
                  <c:y val="-3.12500000000000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988-4B1E-875F-C4C0C16DB95C}"/>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Sheet1!$D$2:$D$6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2-7988-4B1E-875F-C4C0C16DB95C}"/>
            </c:ext>
          </c:extLst>
        </c:ser>
        <c:dLbls>
          <c:dLblPos val="outEnd"/>
          <c:showLegendKey val="0"/>
          <c:showVal val="1"/>
          <c:showCatName val="0"/>
          <c:showSerName val="0"/>
          <c:showPercent val="0"/>
          <c:showBubbleSize val="0"/>
        </c:dLbls>
        <c:gapWidth val="226"/>
        <c:overlap val="-27"/>
        <c:axId val="172370848"/>
        <c:axId val="186898544"/>
      </c:barChart>
      <c:catAx>
        <c:axId val="17237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crossAx val="186898544"/>
        <c:crosses val="autoZero"/>
        <c:auto val="1"/>
        <c:lblAlgn val="ctr"/>
        <c:lblOffset val="100"/>
        <c:noMultiLvlLbl val="0"/>
      </c:catAx>
      <c:valAx>
        <c:axId val="186898544"/>
        <c:scaling>
          <c:orientation val="minMax"/>
        </c:scaling>
        <c:delete val="1"/>
        <c:axPos val="l"/>
        <c:numFmt formatCode="#,##0" sourceLinked="0"/>
        <c:majorTickMark val="none"/>
        <c:minorTickMark val="none"/>
        <c:tickLblPos val="nextTo"/>
        <c:crossAx val="1723708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Current</c:v>
                </c:pt>
              </c:strCache>
            </c:strRef>
          </c:tx>
          <c:spPr>
            <a:solidFill>
              <a:srgbClr val="4D544E"/>
            </a:solidFill>
            <a:ln>
              <a:noFill/>
            </a:ln>
            <a:effectLst/>
          </c:spPr>
          <c:invertIfNegative val="0"/>
          <c:dLbls>
            <c:dLbl>
              <c:idx val="0"/>
              <c:layout>
                <c:manualLayout>
                  <c:x val="-1.5151515151515154E-2"/>
                  <c:y val="-2.08333333333334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988-4B1E-875F-C4C0C16DB95C}"/>
                </c:ext>
              </c:extLst>
            </c:dLbl>
            <c:dLbl>
              <c:idx val="1"/>
              <c:layout>
                <c:manualLayout>
                  <c:x val="-8.8383838383838381E-3"/>
                  <c:y val="-1.38888888888888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88-4B1E-875F-C4C0C16DB95C}"/>
                </c:ext>
              </c:extLst>
            </c:dLbl>
            <c:dLbl>
              <c:idx val="2"/>
              <c:layout>
                <c:manualLayout>
                  <c:x val="-1.1363636363636411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988-4B1E-875F-C4C0C16DB95C}"/>
                </c:ext>
              </c:extLst>
            </c:dLbl>
            <c:dLbl>
              <c:idx val="3"/>
              <c:layout>
                <c:manualLayout>
                  <c:x val="-1.1363636363636456E-2"/>
                  <c:y val="-2.083333333333333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988-4B1E-875F-C4C0C16DB95C}"/>
                </c:ext>
              </c:extLst>
            </c:dLbl>
            <c:dLbl>
              <c:idx val="4"/>
              <c:layout>
                <c:manualLayout>
                  <c:x val="-2.2727272727272728E-2"/>
                  <c:y val="-6.365667204009996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7988-4B1E-875F-C4C0C16DB95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Sheet1!$B$2:$B$6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0-7988-4B1E-875F-C4C0C16DB95C}"/>
            </c:ext>
          </c:extLst>
        </c:ser>
        <c:ser>
          <c:idx val="1"/>
          <c:order val="1"/>
          <c:tx>
            <c:strRef>
              <c:f>Sheet1!$C$1</c:f>
              <c:strCache>
                <c:ptCount val="1"/>
                <c:pt idx="0">
                  <c:v>&lt;ChartHead1&gt;</c:v>
                </c:pt>
              </c:strCache>
            </c:strRef>
          </c:tx>
          <c:spPr>
            <a:solidFill>
              <a:srgbClr val="5F675C"/>
            </a:solidFill>
            <a:ln>
              <a:noFill/>
            </a:ln>
            <a:effectLst/>
          </c:spPr>
          <c:invertIfNegative val="0"/>
          <c:dLbls>
            <c:dLbl>
              <c:idx val="0"/>
              <c:layout>
                <c:manualLayout>
                  <c:x val="-2.2727272727272728E-2"/>
                  <c:y val="-1.388888888888895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988-4B1E-875F-C4C0C16DB95C}"/>
                </c:ext>
              </c:extLst>
            </c:dLbl>
            <c:dLbl>
              <c:idx val="1"/>
              <c:layout>
                <c:manualLayout>
                  <c:x val="-1.1363636363636364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988-4B1E-875F-C4C0C16DB95C}"/>
                </c:ext>
              </c:extLst>
            </c:dLbl>
            <c:dLbl>
              <c:idx val="2"/>
              <c:layout>
                <c:manualLayout>
                  <c:x val="-1.0101010101010102E-2"/>
                  <c:y val="-1.041666666666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988-4B1E-875F-C4C0C16DB95C}"/>
                </c:ext>
              </c:extLst>
            </c:dLbl>
            <c:dLbl>
              <c:idx val="3"/>
              <c:layout>
                <c:manualLayout>
                  <c:x val="-1.3888888888888888E-2"/>
                  <c:y val="-1.736111111111111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988-4B1E-875F-C4C0C16DB95C}"/>
                </c:ext>
              </c:extLst>
            </c:dLbl>
            <c:dLbl>
              <c:idx val="4"/>
              <c:layout>
                <c:manualLayout>
                  <c:x val="-1.1363636363636456E-2"/>
                  <c:y val="-1.04166666666666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7988-4B1E-875F-C4C0C16DB95C}"/>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Sheet1!$C$2:$C$6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1-7988-4B1E-875F-C4C0C16DB95C}"/>
            </c:ext>
          </c:extLst>
        </c:ser>
        <c:ser>
          <c:idx val="2"/>
          <c:order val="2"/>
          <c:tx>
            <c:strRef>
              <c:f>Sheet1!$D$1</c:f>
              <c:strCache>
                <c:ptCount val="1"/>
                <c:pt idx="0">
                  <c:v>&lt;ChartHead2&gt;</c:v>
                </c:pt>
              </c:strCache>
            </c:strRef>
          </c:tx>
          <c:spPr>
            <a:solidFill>
              <a:srgbClr val="ACB897"/>
            </a:solidFill>
            <a:ln>
              <a:noFill/>
            </a:ln>
            <a:effectLst/>
          </c:spPr>
          <c:invertIfNegative val="0"/>
          <c:dLbls>
            <c:dLbl>
              <c:idx val="0"/>
              <c:layout>
                <c:manualLayout>
                  <c:x val="-1.7676767676767676E-2"/>
                  <c:y val="-4.166666666666673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988-4B1E-875F-C4C0C16DB95C}"/>
                </c:ext>
              </c:extLst>
            </c:dLbl>
            <c:dLbl>
              <c:idx val="1"/>
              <c:layout>
                <c:manualLayout>
                  <c:x val="-2.7777777777777776E-2"/>
                  <c:y val="-4.16666666666666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988-4B1E-875F-C4C0C16DB95C}"/>
                </c:ext>
              </c:extLst>
            </c:dLbl>
            <c:dLbl>
              <c:idx val="2"/>
              <c:layout>
                <c:manualLayout>
                  <c:x val="-1.5151515151515152E-2"/>
                  <c:y val="-2.08333333333332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988-4B1E-875F-C4C0C16DB95C}"/>
                </c:ext>
              </c:extLst>
            </c:dLbl>
            <c:dLbl>
              <c:idx val="3"/>
              <c:layout>
                <c:manualLayout>
                  <c:x val="-1.7676767676767676E-2"/>
                  <c:y val="-4.166666666666666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988-4B1E-875F-C4C0C16DB95C}"/>
                </c:ext>
              </c:extLst>
            </c:dLbl>
            <c:dLbl>
              <c:idx val="4"/>
              <c:layout>
                <c:manualLayout>
                  <c:x val="-1.64141414141416E-2"/>
                  <c:y val="-3.125000000000006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7988-4B1E-875F-C4C0C16DB95C}"/>
                </c:ext>
              </c:extLst>
            </c:dLbl>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Sheet1!$D$2:$D$6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2-7988-4B1E-875F-C4C0C16DB95C}"/>
            </c:ext>
          </c:extLst>
        </c:ser>
        <c:ser>
          <c:idx val="3"/>
          <c:order val="3"/>
          <c:tx>
            <c:strRef>
              <c:f>Sheet1!$E$1</c:f>
              <c:strCache>
                <c:ptCount val="1"/>
                <c:pt idx="0">
                  <c:v>&lt;ChartHead3&gt;</c:v>
                </c:pt>
              </c:strCache>
            </c:strRef>
          </c:tx>
          <c:spPr>
            <a:solidFill>
              <a:srgbClr val="D7E6B8"/>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&lt;ChartLabel1&gt;</c:v>
                </c:pt>
                <c:pt idx="1">
                  <c:v>&lt;ChartLabel2&gt;</c:v>
                </c:pt>
                <c:pt idx="2">
                  <c:v>&lt;ChartLabel3&gt;</c:v>
                </c:pt>
                <c:pt idx="3">
                  <c:v>&lt;ChartLabel4&gt;</c:v>
                </c:pt>
                <c:pt idx="4">
                  <c:v>&lt;ChartLabel5&gt;</c:v>
                </c:pt>
              </c:strCache>
            </c:strRef>
          </c:cat>
          <c:val>
            <c:numRef>
              <c:f>Sheet1!$E$2:$E$6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7988-4B1E-875F-C4C0C16DB95C}"/>
            </c:ext>
          </c:extLst>
        </c:ser>
        <c:dLbls>
          <c:dLblPos val="outEnd"/>
          <c:showLegendKey val="0"/>
          <c:showVal val="1"/>
          <c:showCatName val="0"/>
          <c:showSerName val="0"/>
          <c:showPercent val="0"/>
          <c:showBubbleSize val="0"/>
        </c:dLbls>
        <c:gapWidth val="226"/>
        <c:overlap val="-27"/>
        <c:axId val="172370848"/>
        <c:axId val="186898544"/>
      </c:barChart>
      <c:catAx>
        <c:axId val="17237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ormorant Infant" pitchFamily="2" charset="0"/>
                <a:ea typeface="Cormorant Infant" pitchFamily="2" charset="0"/>
                <a:cs typeface="Cormorant Infant" pitchFamily="2" charset="0"/>
              </a:defRPr>
            </a:pPr>
            <a:endParaRPr lang="en-US"/>
          </a:p>
        </c:txPr>
        <c:crossAx val="186898544"/>
        <c:crosses val="autoZero"/>
        <c:auto val="1"/>
        <c:lblAlgn val="ctr"/>
        <c:lblOffset val="100"/>
        <c:noMultiLvlLbl val="0"/>
      </c:catAx>
      <c:valAx>
        <c:axId val="186898544"/>
        <c:scaling>
          <c:orientation val="minMax"/>
        </c:scaling>
        <c:delete val="1"/>
        <c:axPos val="l"/>
        <c:numFmt formatCode="#,##0" sourceLinked="0"/>
        <c:majorTickMark val="none"/>
        <c:minorTickMark val="none"/>
        <c:tickLblPos val="nextTo"/>
        <c:crossAx val="1723708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&lt;CurHeader1&gt;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F146-44C8-99AE-C0A26ECF701E}"/>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F146-44C8-99AE-C0A26ECF701E}"/>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FEE3-4E04-9ADC-E77BD8455C90}"/>
              </c:ext>
            </c:extLst>
          </c:dPt>
          <c:cat>
            <c:strRef>
              <c:f>Sheet1!$A$2:$A$4</c:f>
              <c:strCache>
                <c:ptCount val="3"/>
                <c:pt idx="0">
                  <c:v>&lt;CurPieLabel1a&gt;</c:v>
                </c:pt>
                <c:pt idx="1">
                  <c:v>&lt;CurPieLabel1b&gt;</c:v>
                </c:pt>
                <c:pt idx="2">
                  <c:v>&lt;CurPieLabel1c&gt;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FEE3-4E04-9ADC-E77BD8455C9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&lt;CurHeader2&gt;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4763-420D-85A6-D7CEB796E04C}"/>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4763-420D-85A6-D7CEB796E04C}"/>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4763-420D-85A6-D7CEB796E04C}"/>
              </c:ext>
            </c:extLst>
          </c:dPt>
          <c:cat>
            <c:strRef>
              <c:f>Sheet1!$A$2:$A$4</c:f>
              <c:strCache>
                <c:ptCount val="3"/>
                <c:pt idx="0">
                  <c:v>&lt;CurPieLabel2a&gt;</c:v>
                </c:pt>
                <c:pt idx="1">
                  <c:v>&lt;CurPieLabel2b&gt;</c:v>
                </c:pt>
                <c:pt idx="2">
                  <c:v>&lt;CurPieLabel2c&gt;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FEE3-4E04-9ADC-E77BD8455C9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&lt;CurHeader3&gt;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4763-420D-85A6-D7CEB796E04C}"/>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4763-420D-85A6-D7CEB796E04C}"/>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4763-420D-85A6-D7CEB796E04C}"/>
              </c:ext>
            </c:extLst>
          </c:dPt>
          <c:cat>
            <c:strRef>
              <c:f>Sheet1!$A$2:$A$4</c:f>
              <c:strCache>
                <c:ptCount val="3"/>
                <c:pt idx="0">
                  <c:v>&lt;CurPieLabel3a&gt;</c:v>
                </c:pt>
                <c:pt idx="1">
                  <c:v>&lt;CurPieLabel3b&gt;</c:v>
                </c:pt>
                <c:pt idx="2">
                  <c:v>&lt;CurPieLabel3c&gt;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0-FEE3-4E04-9ADC-E77BD8455C90}"/>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&lt;NewHeader1&gt;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D191-466B-8C77-A9147BBFC23C}"/>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D191-466B-8C77-A9147BBFC23C}"/>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D191-466B-8C77-A9147BBFC23C}"/>
              </c:ext>
            </c:extLst>
          </c:dPt>
          <c:cat>
            <c:strRef>
              <c:f>Sheet1!$A$2:$A$4</c:f>
              <c:strCache>
                <c:ptCount val="3"/>
                <c:pt idx="0">
                  <c:v>&lt;NewPieLabel1a&gt;</c:v>
                </c:pt>
                <c:pt idx="1">
                  <c:v>&lt;NewPieLabel1b&gt;</c:v>
                </c:pt>
                <c:pt idx="2">
                  <c:v>&lt;NewPieLabel1c&gt;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6-D191-466B-8C77-A9147BBFC23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&lt;NewHeader2&gt;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2017-4178-BE7F-B7605C55A59D}"/>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2017-4178-BE7F-B7605C55A59D}"/>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2017-4178-BE7F-B7605C55A59D}"/>
              </c:ext>
            </c:extLst>
          </c:dPt>
          <c:cat>
            <c:strRef>
              <c:f>Sheet1!$A$2:$A$4</c:f>
              <c:strCache>
                <c:ptCount val="3"/>
                <c:pt idx="0">
                  <c:v>&lt;NewPieLabel2a&gt;</c:v>
                </c:pt>
                <c:pt idx="1">
                  <c:v>&lt;NewPieLabel2b&gt;</c:v>
                </c:pt>
                <c:pt idx="2">
                  <c:v>&lt;NewPieLabel2c&gt;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6-2017-4178-BE7F-B7605C55A59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pieChart>
        <c:varyColors val="1"/>
        <c:ser>
          <c:idx val="0"/>
          <c:order val="0"/>
          <c:tx>
            <c:strRef>
              <c:f>Sheet1!$B$1</c:f>
              <c:strCache>
                <c:ptCount val="1"/>
                <c:pt idx="0">
                  <c:v>&lt;NewHeader3&gt;</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9979-48EA-9BB6-2CDA8B5EC908}"/>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9979-48EA-9BB6-2CDA8B5EC908}"/>
              </c:ext>
            </c:extLst>
          </c:dPt>
          <c:dPt>
            <c:idx val="2"/>
            <c:bubble3D val="0"/>
            <c:spPr>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9979-48EA-9BB6-2CDA8B5EC908}"/>
              </c:ext>
            </c:extLst>
          </c:dPt>
          <c:cat>
            <c:strRef>
              <c:f>Sheet1!$A$2:$A$4</c:f>
              <c:strCache>
                <c:ptCount val="3"/>
                <c:pt idx="0">
                  <c:v>&lt;NewPieLabel3a&gt;</c:v>
                </c:pt>
                <c:pt idx="1">
                  <c:v>&lt;NewPieLabel3b&gt;</c:v>
                </c:pt>
                <c:pt idx="2">
                  <c:v>&lt;NewPieLabel3c&gt;</c:v>
                </c:pt>
              </c:strCache>
            </c:strRef>
          </c:cat>
          <c:val>
            <c:numRef>
              <c:f>Sheet1!$B$2:$B$4</c:f>
              <c:numCache>
                <c:formatCode>General</c:formatCode>
                <c:ptCount val="3"/>
                <c:pt idx="0">
                  <c:v>0</c:v>
                </c:pt>
                <c:pt idx="1">
                  <c:v>0</c:v>
                </c:pt>
                <c:pt idx="2">
                  <c:v>0</c:v>
                </c:pt>
              </c:numCache>
            </c:numRef>
          </c:val>
          <c:extLst>
            <c:ext xmlns:c16="http://schemas.microsoft.com/office/drawing/2014/chart" uri="{C3380CC4-5D6E-409C-BE32-E72D297353CC}">
              <c16:uniqueId val="{00000006-9979-48EA-9BB6-2CDA8B5EC90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5B0F773-ECA1-4178-9764-FB9748B4B51E}" type="datetimeFigureOut">
              <a:rPr lang="en-US" smtClean="0"/>
              <a:t>5/4/2026</a:t>
            </a:fld>
            <a:endParaRPr lang="en-US"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5D4117-CD83-4258-B88F-1C7692FD834B}" type="slidenum">
              <a:rPr lang="en-US" smtClean="0"/>
              <a:t>‹#›</a:t>
            </a:fld>
            <a:endParaRPr lang="en-US" dirty="0"/>
          </a:p>
        </p:txBody>
      </p:sp>
    </p:spTree>
    <p:extLst>
      <p:ext uri="{BB962C8B-B14F-4D97-AF65-F5344CB8AC3E}">
        <p14:creationId xmlns:p14="http://schemas.microsoft.com/office/powerpoint/2010/main" val="2665638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ormorant Infant" pitchFamily="2" charset="0"/>
        <a:ea typeface="+mn-ea"/>
        <a:cs typeface="+mn-cs"/>
      </a:defRPr>
    </a:lvl1pPr>
    <a:lvl2pPr marL="457200" algn="l" defTabSz="914400" rtl="0" eaLnBrk="1" latinLnBrk="0" hangingPunct="1">
      <a:defRPr sz="1200" kern="1200">
        <a:solidFill>
          <a:schemeClr val="tx1"/>
        </a:solidFill>
        <a:latin typeface="Cormorant Infant" pitchFamily="2" charset="0"/>
        <a:ea typeface="+mn-ea"/>
        <a:cs typeface="+mn-cs"/>
      </a:defRPr>
    </a:lvl2pPr>
    <a:lvl3pPr marL="914400" algn="l" defTabSz="914400" rtl="0" eaLnBrk="1" latinLnBrk="0" hangingPunct="1">
      <a:defRPr sz="1200" kern="1200">
        <a:solidFill>
          <a:schemeClr val="tx1"/>
        </a:solidFill>
        <a:latin typeface="Cormorant Infant" pitchFamily="2" charset="0"/>
        <a:ea typeface="+mn-ea"/>
        <a:cs typeface="+mn-cs"/>
      </a:defRPr>
    </a:lvl3pPr>
    <a:lvl4pPr marL="1371600" algn="l" defTabSz="914400" rtl="0" eaLnBrk="1" latinLnBrk="0" hangingPunct="1">
      <a:defRPr sz="1200" kern="1200">
        <a:solidFill>
          <a:schemeClr val="tx1"/>
        </a:solidFill>
        <a:latin typeface="Cormorant Infant" pitchFamily="2" charset="0"/>
        <a:ea typeface="+mn-ea"/>
        <a:cs typeface="+mn-cs"/>
      </a:defRPr>
    </a:lvl4pPr>
    <a:lvl5pPr marL="1828800" algn="l" defTabSz="914400" rtl="0" eaLnBrk="1" latinLnBrk="0" hangingPunct="1">
      <a:defRPr sz="1200" kern="1200">
        <a:solidFill>
          <a:schemeClr val="tx1"/>
        </a:solidFill>
        <a:latin typeface="Cormorant Infant"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Design Notes: </a:t>
            </a:r>
          </a:p>
        </p:txBody>
      </p:sp>
      <p:sp>
        <p:nvSpPr>
          <p:cNvPr id="4" name="Slide Number Placeholder 3"/>
          <p:cNvSpPr>
            <a:spLocks noGrp="1"/>
          </p:cNvSpPr>
          <p:nvPr>
            <p:ph type="sldNum" sz="quarter" idx="5"/>
          </p:nvPr>
        </p:nvSpPr>
        <p:spPr/>
        <p:txBody>
          <a:bodyPr/>
          <a:lstStyle/>
          <a:p>
            <a:fld id="{075D4117-CD83-4258-B88F-1C7692FD834B}" type="slidenum">
              <a:rPr lang="en-US" smtClean="0"/>
              <a:t>1</a:t>
            </a:fld>
            <a:endParaRPr lang="en-US" dirty="0"/>
          </a:p>
        </p:txBody>
      </p:sp>
    </p:spTree>
    <p:extLst>
      <p:ext uri="{BB962C8B-B14F-4D97-AF65-F5344CB8AC3E}">
        <p14:creationId xmlns:p14="http://schemas.microsoft.com/office/powerpoint/2010/main" val="1411823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Merge Lotus so it’s a continuous graphic; make watermark the same no matter what </a:t>
            </a:r>
          </a:p>
        </p:txBody>
      </p:sp>
      <p:sp>
        <p:nvSpPr>
          <p:cNvPr id="4" name="Slide Number Placeholder 3"/>
          <p:cNvSpPr>
            <a:spLocks noGrp="1"/>
          </p:cNvSpPr>
          <p:nvPr>
            <p:ph type="sldNum" sz="quarter" idx="5"/>
          </p:nvPr>
        </p:nvSpPr>
        <p:spPr/>
        <p:txBody>
          <a:bodyPr/>
          <a:lstStyle/>
          <a:p>
            <a:fld id="{075D4117-CD83-4258-B88F-1C7692FD834B}" type="slidenum">
              <a:rPr lang="en-US" smtClean="0"/>
              <a:t>2</a:t>
            </a:fld>
            <a:endParaRPr lang="en-US" dirty="0"/>
          </a:p>
        </p:txBody>
      </p:sp>
    </p:spTree>
    <p:extLst>
      <p:ext uri="{BB962C8B-B14F-4D97-AF65-F5344CB8AC3E}">
        <p14:creationId xmlns:p14="http://schemas.microsoft.com/office/powerpoint/2010/main" val="4280020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34ECF-BB9C-E7B9-EFDD-7BFABBBBD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FC11E-1DBA-62F2-A1E0-B98A8313A8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327586-8403-9729-8549-B8693504BD95}"/>
              </a:ext>
            </a:extLst>
          </p:cNvPr>
          <p:cNvSpPr>
            <a:spLocks noGrp="1"/>
          </p:cNvSpPr>
          <p:nvPr>
            <p:ph type="body" idx="1"/>
          </p:nvPr>
        </p:nvSpPr>
        <p:spPr/>
        <p:txBody>
          <a:bodyPr/>
          <a:lstStyle/>
          <a:p>
            <a:r>
              <a:rPr lang="en-US" dirty="0"/>
              <a:t>Merge Lotus so it’s a continuous graphic; make watermark the same no matter what </a:t>
            </a:r>
          </a:p>
        </p:txBody>
      </p:sp>
      <p:sp>
        <p:nvSpPr>
          <p:cNvPr id="4" name="Slide Number Placeholder 3">
            <a:extLst>
              <a:ext uri="{FF2B5EF4-FFF2-40B4-BE49-F238E27FC236}">
                <a16:creationId xmlns:a16="http://schemas.microsoft.com/office/drawing/2014/main" id="{42052771-4C28-1F0E-3C88-EF7B0A5EDAE2}"/>
              </a:ext>
            </a:extLst>
          </p:cNvPr>
          <p:cNvSpPr>
            <a:spLocks noGrp="1"/>
          </p:cNvSpPr>
          <p:nvPr>
            <p:ph type="sldNum" sz="quarter" idx="5"/>
          </p:nvPr>
        </p:nvSpPr>
        <p:spPr/>
        <p:txBody>
          <a:bodyPr/>
          <a:lstStyle/>
          <a:p>
            <a:fld id="{075D4117-CD83-4258-B88F-1C7692FD834B}" type="slidenum">
              <a:rPr lang="en-US" smtClean="0"/>
              <a:t>3</a:t>
            </a:fld>
            <a:endParaRPr lang="en-US" dirty="0"/>
          </a:p>
        </p:txBody>
      </p:sp>
    </p:spTree>
    <p:extLst>
      <p:ext uri="{BB962C8B-B14F-4D97-AF65-F5344CB8AC3E}">
        <p14:creationId xmlns:p14="http://schemas.microsoft.com/office/powerpoint/2010/main" val="3249985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7009-8122-C4B7-24C5-9BB60777B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58317-F00C-AE23-E391-36AA1EEAFA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86E8A1-4FAC-E95C-9B36-F0699C697C21}"/>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B223B5E9-F711-D9FD-BEEC-4C38C25666E5}"/>
              </a:ext>
            </a:extLst>
          </p:cNvPr>
          <p:cNvSpPr>
            <a:spLocks noGrp="1"/>
          </p:cNvSpPr>
          <p:nvPr>
            <p:ph type="sldNum" sz="quarter" idx="5"/>
          </p:nvPr>
        </p:nvSpPr>
        <p:spPr/>
        <p:txBody>
          <a:bodyPr/>
          <a:lstStyle/>
          <a:p>
            <a:fld id="{075D4117-CD83-4258-B88F-1C7692FD834B}" type="slidenum">
              <a:rPr lang="en-US" smtClean="0"/>
              <a:t>4</a:t>
            </a:fld>
            <a:endParaRPr lang="en-US" dirty="0"/>
          </a:p>
        </p:txBody>
      </p:sp>
    </p:spTree>
    <p:extLst>
      <p:ext uri="{BB962C8B-B14F-4D97-AF65-F5344CB8AC3E}">
        <p14:creationId xmlns:p14="http://schemas.microsoft.com/office/powerpoint/2010/main" val="489258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Same notes on watermark; can this slide go away? Add another row for other assets; not income listed above </a:t>
            </a:r>
          </a:p>
        </p:txBody>
      </p:sp>
      <p:sp>
        <p:nvSpPr>
          <p:cNvPr id="4" name="Slide Number Placeholder 3"/>
          <p:cNvSpPr>
            <a:spLocks noGrp="1"/>
          </p:cNvSpPr>
          <p:nvPr>
            <p:ph type="sldNum" sz="quarter" idx="5"/>
          </p:nvPr>
        </p:nvSpPr>
        <p:spPr/>
        <p:txBody>
          <a:bodyPr/>
          <a:lstStyle/>
          <a:p>
            <a:fld id="{075D4117-CD83-4258-B88F-1C7692FD834B}" type="slidenum">
              <a:rPr lang="en-US" smtClean="0"/>
              <a:t>5</a:t>
            </a:fld>
            <a:endParaRPr lang="en-US" dirty="0"/>
          </a:p>
        </p:txBody>
      </p:sp>
    </p:spTree>
    <p:extLst>
      <p:ext uri="{BB962C8B-B14F-4D97-AF65-F5344CB8AC3E}">
        <p14:creationId xmlns:p14="http://schemas.microsoft.com/office/powerpoint/2010/main" val="985742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11703-85C0-BDA2-9D05-520126CE9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3E7BA-86FF-F465-0D30-DFDE6AD9D2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9D2957-94C3-B153-2BD2-006E3DBF9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DCBBA-FB30-0A3C-615D-FD5F98A6716B}"/>
              </a:ext>
            </a:extLst>
          </p:cNvPr>
          <p:cNvSpPr>
            <a:spLocks noGrp="1"/>
          </p:cNvSpPr>
          <p:nvPr>
            <p:ph type="sldNum" sz="quarter" idx="5"/>
          </p:nvPr>
        </p:nvSpPr>
        <p:spPr/>
        <p:txBody>
          <a:bodyPr/>
          <a:lstStyle/>
          <a:p>
            <a:fld id="{075D4117-CD83-4258-B88F-1C7692FD834B}" type="slidenum">
              <a:rPr lang="en-US" smtClean="0"/>
              <a:t>6</a:t>
            </a:fld>
            <a:endParaRPr lang="en-US" dirty="0"/>
          </a:p>
        </p:txBody>
      </p:sp>
    </p:spTree>
    <p:extLst>
      <p:ext uri="{BB962C8B-B14F-4D97-AF65-F5344CB8AC3E}">
        <p14:creationId xmlns:p14="http://schemas.microsoft.com/office/powerpoint/2010/main" val="4177663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3A4E-F1AD-0713-3CC0-005854BA4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66B98-AE51-C4C3-A16A-3B9A58BB31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C2CF5A-FF32-D9DC-A09B-C332490C4A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0F4F5D-CED8-A3F6-D5EB-A7419267D7BD}"/>
              </a:ext>
            </a:extLst>
          </p:cNvPr>
          <p:cNvSpPr>
            <a:spLocks noGrp="1"/>
          </p:cNvSpPr>
          <p:nvPr>
            <p:ph type="sldNum" sz="quarter" idx="5"/>
          </p:nvPr>
        </p:nvSpPr>
        <p:spPr/>
        <p:txBody>
          <a:bodyPr/>
          <a:lstStyle/>
          <a:p>
            <a:fld id="{075D4117-CD83-4258-B88F-1C7692FD834B}" type="slidenum">
              <a:rPr lang="en-US" smtClean="0"/>
              <a:t>7</a:t>
            </a:fld>
            <a:endParaRPr lang="en-US" dirty="0"/>
          </a:p>
        </p:txBody>
      </p:sp>
    </p:spTree>
    <p:extLst>
      <p:ext uri="{BB962C8B-B14F-4D97-AF65-F5344CB8AC3E}">
        <p14:creationId xmlns:p14="http://schemas.microsoft.com/office/powerpoint/2010/main" val="2327313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AF0C-44C1-5782-DB0D-9008E2133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FD1E8-2314-73D1-1187-A09525A3C4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D6C195-6B68-57B7-8E6D-16FF8598EEE6}"/>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4F43CB03-9A77-039B-D72B-601B47121CA6}"/>
              </a:ext>
            </a:extLst>
          </p:cNvPr>
          <p:cNvSpPr>
            <a:spLocks noGrp="1"/>
          </p:cNvSpPr>
          <p:nvPr>
            <p:ph type="sldNum" sz="quarter" idx="5"/>
          </p:nvPr>
        </p:nvSpPr>
        <p:spPr/>
        <p:txBody>
          <a:bodyPr/>
          <a:lstStyle/>
          <a:p>
            <a:fld id="{075D4117-CD83-4258-B88F-1C7692FD834B}" type="slidenum">
              <a:rPr lang="en-US" smtClean="0"/>
              <a:t>8</a:t>
            </a:fld>
            <a:endParaRPr lang="en-US" dirty="0"/>
          </a:p>
        </p:txBody>
      </p:sp>
    </p:spTree>
    <p:extLst>
      <p:ext uri="{BB962C8B-B14F-4D97-AF65-F5344CB8AC3E}">
        <p14:creationId xmlns:p14="http://schemas.microsoft.com/office/powerpoint/2010/main" val="2418642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93D5-8F16-BF92-9A5D-F51143B22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250C3-E0A8-AB80-BDEB-9952B3324B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ADD216-BE7C-2106-099D-9E850375C7F0}"/>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5A3032DF-680F-835C-9864-93EE6A371BA4}"/>
              </a:ext>
            </a:extLst>
          </p:cNvPr>
          <p:cNvSpPr>
            <a:spLocks noGrp="1"/>
          </p:cNvSpPr>
          <p:nvPr>
            <p:ph type="sldNum" sz="quarter" idx="5"/>
          </p:nvPr>
        </p:nvSpPr>
        <p:spPr/>
        <p:txBody>
          <a:bodyPr/>
          <a:lstStyle/>
          <a:p>
            <a:fld id="{075D4117-CD83-4258-B88F-1C7692FD834B}" type="slidenum">
              <a:rPr lang="en-US" smtClean="0"/>
              <a:t>9</a:t>
            </a:fld>
            <a:endParaRPr lang="en-US" dirty="0"/>
          </a:p>
        </p:txBody>
      </p:sp>
    </p:spTree>
    <p:extLst>
      <p:ext uri="{BB962C8B-B14F-4D97-AF65-F5344CB8AC3E}">
        <p14:creationId xmlns:p14="http://schemas.microsoft.com/office/powerpoint/2010/main" val="3012424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EEB10-98A0-3CDB-D2B2-D08655274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128D5-88A8-4E1B-EB4D-AF98C12762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60DA3E-2A54-83BC-4515-EE686307A7BB}"/>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E81717F1-885E-BF9C-FA56-74656E3E165F}"/>
              </a:ext>
            </a:extLst>
          </p:cNvPr>
          <p:cNvSpPr>
            <a:spLocks noGrp="1"/>
          </p:cNvSpPr>
          <p:nvPr>
            <p:ph type="sldNum" sz="quarter" idx="5"/>
          </p:nvPr>
        </p:nvSpPr>
        <p:spPr/>
        <p:txBody>
          <a:bodyPr/>
          <a:lstStyle/>
          <a:p>
            <a:fld id="{075D4117-CD83-4258-B88F-1C7692FD834B}" type="slidenum">
              <a:rPr lang="en-US" smtClean="0"/>
              <a:t>10</a:t>
            </a:fld>
            <a:endParaRPr lang="en-US" dirty="0"/>
          </a:p>
        </p:txBody>
      </p:sp>
    </p:spTree>
    <p:extLst>
      <p:ext uri="{BB962C8B-B14F-4D97-AF65-F5344CB8AC3E}">
        <p14:creationId xmlns:p14="http://schemas.microsoft.com/office/powerpoint/2010/main" val="1358962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D5BE-3F6F-5CC7-4D89-87E94858AF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F4D98-8E63-6D3C-32CB-214A5CBA63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9B041A-2325-D74C-D75A-F679AB9789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DAFF8-CF18-C3B3-32EF-7FADB7EE8077}"/>
              </a:ext>
            </a:extLst>
          </p:cNvPr>
          <p:cNvSpPr>
            <a:spLocks noGrp="1"/>
          </p:cNvSpPr>
          <p:nvPr>
            <p:ph type="sldNum" sz="quarter" idx="5"/>
          </p:nvPr>
        </p:nvSpPr>
        <p:spPr/>
        <p:txBody>
          <a:bodyPr/>
          <a:lstStyle/>
          <a:p>
            <a:fld id="{075D4117-CD83-4258-B88F-1C7692FD834B}" type="slidenum">
              <a:rPr lang="en-US" smtClean="0"/>
              <a:t>13</a:t>
            </a:fld>
            <a:endParaRPr lang="en-US" dirty="0"/>
          </a:p>
        </p:txBody>
      </p:sp>
    </p:spTree>
    <p:extLst>
      <p:ext uri="{BB962C8B-B14F-4D97-AF65-F5344CB8AC3E}">
        <p14:creationId xmlns:p14="http://schemas.microsoft.com/office/powerpoint/2010/main" val="113351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9E6E7-E845-61A9-73D1-DFF8CD919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1A18B-82DC-659A-DA44-62210B979E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B744F8-1BD4-A466-4D7D-CF21DA367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71A45-E022-8A81-CE10-DC645CA1D538}"/>
              </a:ext>
            </a:extLst>
          </p:cNvPr>
          <p:cNvSpPr>
            <a:spLocks noGrp="1"/>
          </p:cNvSpPr>
          <p:nvPr>
            <p:ph type="sldNum" sz="quarter" idx="5"/>
          </p:nvPr>
        </p:nvSpPr>
        <p:spPr/>
        <p:txBody>
          <a:bodyPr/>
          <a:lstStyle/>
          <a:p>
            <a:fld id="{075D4117-CD83-4258-B88F-1C7692FD834B}" type="slidenum">
              <a:rPr lang="en-US" smtClean="0"/>
              <a:t>15</a:t>
            </a:fld>
            <a:endParaRPr lang="en-US" dirty="0"/>
          </a:p>
        </p:txBody>
      </p:sp>
    </p:spTree>
    <p:extLst>
      <p:ext uri="{BB962C8B-B14F-4D97-AF65-F5344CB8AC3E}">
        <p14:creationId xmlns:p14="http://schemas.microsoft.com/office/powerpoint/2010/main" val="2814853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EB6FC-672C-4311-C81D-A9C6E3FCC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45411-2A38-8857-46EE-8400BAB6D2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9B090E-AE0D-0FA9-2AE2-7EF5D79D2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B24AC-7261-5F18-8CEB-624A5CA5AAE5}"/>
              </a:ext>
            </a:extLst>
          </p:cNvPr>
          <p:cNvSpPr>
            <a:spLocks noGrp="1"/>
          </p:cNvSpPr>
          <p:nvPr>
            <p:ph type="sldNum" sz="quarter" idx="5"/>
          </p:nvPr>
        </p:nvSpPr>
        <p:spPr/>
        <p:txBody>
          <a:bodyPr/>
          <a:lstStyle/>
          <a:p>
            <a:fld id="{075D4117-CD83-4258-B88F-1C7692FD834B}" type="slidenum">
              <a:rPr lang="en-US" smtClean="0"/>
              <a:t>16</a:t>
            </a:fld>
            <a:endParaRPr lang="en-US" dirty="0"/>
          </a:p>
        </p:txBody>
      </p:sp>
    </p:spTree>
    <p:extLst>
      <p:ext uri="{BB962C8B-B14F-4D97-AF65-F5344CB8AC3E}">
        <p14:creationId xmlns:p14="http://schemas.microsoft.com/office/powerpoint/2010/main" val="1016062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C412-A3D8-EA81-DF9E-755D40976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BAF2A-568C-4BFF-FF2D-272C02F185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419F36-2EC0-FCC0-0F09-1190F401F9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17F9F7-E15E-C30D-1EC6-C5AD53D5790D}"/>
              </a:ext>
            </a:extLst>
          </p:cNvPr>
          <p:cNvSpPr>
            <a:spLocks noGrp="1"/>
          </p:cNvSpPr>
          <p:nvPr>
            <p:ph type="sldNum" sz="quarter" idx="5"/>
          </p:nvPr>
        </p:nvSpPr>
        <p:spPr/>
        <p:txBody>
          <a:bodyPr/>
          <a:lstStyle/>
          <a:p>
            <a:fld id="{075D4117-CD83-4258-B88F-1C7692FD834B}" type="slidenum">
              <a:rPr lang="en-US" smtClean="0"/>
              <a:t>17</a:t>
            </a:fld>
            <a:endParaRPr lang="en-US" dirty="0"/>
          </a:p>
        </p:txBody>
      </p:sp>
    </p:spTree>
    <p:extLst>
      <p:ext uri="{BB962C8B-B14F-4D97-AF65-F5344CB8AC3E}">
        <p14:creationId xmlns:p14="http://schemas.microsoft.com/office/powerpoint/2010/main" val="1433063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B6D6-31AC-6F44-8DEC-DA854385D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5D89B-D221-6464-E928-19107B5684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BDAEFD-7829-9868-E082-87A9490126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B31F36-D2C6-98F2-DA26-63DB2CC6238F}"/>
              </a:ext>
            </a:extLst>
          </p:cNvPr>
          <p:cNvSpPr>
            <a:spLocks noGrp="1"/>
          </p:cNvSpPr>
          <p:nvPr>
            <p:ph type="sldNum" sz="quarter" idx="5"/>
          </p:nvPr>
        </p:nvSpPr>
        <p:spPr/>
        <p:txBody>
          <a:bodyPr/>
          <a:lstStyle/>
          <a:p>
            <a:fld id="{075D4117-CD83-4258-B88F-1C7692FD834B}" type="slidenum">
              <a:rPr lang="en-US" smtClean="0"/>
              <a:t>18</a:t>
            </a:fld>
            <a:endParaRPr lang="en-US" dirty="0"/>
          </a:p>
        </p:txBody>
      </p:sp>
    </p:spTree>
    <p:extLst>
      <p:ext uri="{BB962C8B-B14F-4D97-AF65-F5344CB8AC3E}">
        <p14:creationId xmlns:p14="http://schemas.microsoft.com/office/powerpoint/2010/main" val="3388732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DE006-44EF-6323-D9FD-7E3514BF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BDC7A-C85F-18CC-4C63-A058FAE7C2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B14C9D-7E1E-E081-D471-07E10C2C46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10C289-CB3D-94F5-88D1-FD0EE25BAB2C}"/>
              </a:ext>
            </a:extLst>
          </p:cNvPr>
          <p:cNvSpPr>
            <a:spLocks noGrp="1"/>
          </p:cNvSpPr>
          <p:nvPr>
            <p:ph type="sldNum" sz="quarter" idx="5"/>
          </p:nvPr>
        </p:nvSpPr>
        <p:spPr/>
        <p:txBody>
          <a:bodyPr/>
          <a:lstStyle/>
          <a:p>
            <a:fld id="{075D4117-CD83-4258-B88F-1C7692FD834B}" type="slidenum">
              <a:rPr lang="en-US" smtClean="0"/>
              <a:t>19</a:t>
            </a:fld>
            <a:endParaRPr lang="en-US" dirty="0"/>
          </a:p>
        </p:txBody>
      </p:sp>
    </p:spTree>
    <p:extLst>
      <p:ext uri="{BB962C8B-B14F-4D97-AF65-F5344CB8AC3E}">
        <p14:creationId xmlns:p14="http://schemas.microsoft.com/office/powerpoint/2010/main" val="524774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7C58-19BD-3DFB-831E-6A95C8A42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FAEE3-1707-82F5-47DA-9DC1259B04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27F8DD-E7BB-728A-F0FE-5EB6F396A3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8D2D7-86F6-407F-D54D-F5F558B62A60}"/>
              </a:ext>
            </a:extLst>
          </p:cNvPr>
          <p:cNvSpPr>
            <a:spLocks noGrp="1"/>
          </p:cNvSpPr>
          <p:nvPr>
            <p:ph type="sldNum" sz="quarter" idx="5"/>
          </p:nvPr>
        </p:nvSpPr>
        <p:spPr/>
        <p:txBody>
          <a:bodyPr/>
          <a:lstStyle/>
          <a:p>
            <a:fld id="{075D4117-CD83-4258-B88F-1C7692FD834B}" type="slidenum">
              <a:rPr lang="en-US" smtClean="0"/>
              <a:t>20</a:t>
            </a:fld>
            <a:endParaRPr lang="en-US" dirty="0"/>
          </a:p>
        </p:txBody>
      </p:sp>
    </p:spTree>
    <p:extLst>
      <p:ext uri="{BB962C8B-B14F-4D97-AF65-F5344CB8AC3E}">
        <p14:creationId xmlns:p14="http://schemas.microsoft.com/office/powerpoint/2010/main" val="25642127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D65C2-06D9-F634-5501-77015A4AB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F24F7-ABE5-FC68-07EA-EF409CA34A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B835E0-DFF1-EFF6-4485-3E1940CEE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B6F35-4803-B219-59DA-3C211C5FBC6C}"/>
              </a:ext>
            </a:extLst>
          </p:cNvPr>
          <p:cNvSpPr>
            <a:spLocks noGrp="1"/>
          </p:cNvSpPr>
          <p:nvPr>
            <p:ph type="sldNum" sz="quarter" idx="5"/>
          </p:nvPr>
        </p:nvSpPr>
        <p:spPr/>
        <p:txBody>
          <a:bodyPr/>
          <a:lstStyle/>
          <a:p>
            <a:fld id="{075D4117-CD83-4258-B88F-1C7692FD834B}" type="slidenum">
              <a:rPr lang="en-US" smtClean="0"/>
              <a:t>21</a:t>
            </a:fld>
            <a:endParaRPr lang="en-US" dirty="0"/>
          </a:p>
        </p:txBody>
      </p:sp>
    </p:spTree>
    <p:extLst>
      <p:ext uri="{BB962C8B-B14F-4D97-AF65-F5344CB8AC3E}">
        <p14:creationId xmlns:p14="http://schemas.microsoft.com/office/powerpoint/2010/main" val="2609755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768A-AB92-92A4-1915-88358A968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D02A0-C176-BE52-E8FB-2A2126CA0D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DF5FBD-0022-AA45-05C9-94A3B4F2F2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BA2F2-7E66-6D6B-D35C-9F9727F7079E}"/>
              </a:ext>
            </a:extLst>
          </p:cNvPr>
          <p:cNvSpPr>
            <a:spLocks noGrp="1"/>
          </p:cNvSpPr>
          <p:nvPr>
            <p:ph type="sldNum" sz="quarter" idx="5"/>
          </p:nvPr>
        </p:nvSpPr>
        <p:spPr/>
        <p:txBody>
          <a:bodyPr/>
          <a:lstStyle/>
          <a:p>
            <a:fld id="{075D4117-CD83-4258-B88F-1C7692FD834B}" type="slidenum">
              <a:rPr lang="en-US" smtClean="0"/>
              <a:t>22</a:t>
            </a:fld>
            <a:endParaRPr lang="en-US" dirty="0"/>
          </a:p>
        </p:txBody>
      </p:sp>
    </p:spTree>
    <p:extLst>
      <p:ext uri="{BB962C8B-B14F-4D97-AF65-F5344CB8AC3E}">
        <p14:creationId xmlns:p14="http://schemas.microsoft.com/office/powerpoint/2010/main" val="163894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4EE70-8DFE-7A11-71E6-8E08588A6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64E0D-2BC7-3961-243C-6A8BE62866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8959A5-7023-9FB7-ABB5-6129E1E88E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6865A3-A404-AB1A-7AC6-9CAC3524F8EC}"/>
              </a:ext>
            </a:extLst>
          </p:cNvPr>
          <p:cNvSpPr>
            <a:spLocks noGrp="1"/>
          </p:cNvSpPr>
          <p:nvPr>
            <p:ph type="sldNum" sz="quarter" idx="5"/>
          </p:nvPr>
        </p:nvSpPr>
        <p:spPr/>
        <p:txBody>
          <a:bodyPr/>
          <a:lstStyle/>
          <a:p>
            <a:fld id="{075D4117-CD83-4258-B88F-1C7692FD834B}" type="slidenum">
              <a:rPr lang="en-US" smtClean="0"/>
              <a:t>23</a:t>
            </a:fld>
            <a:endParaRPr lang="en-US" dirty="0"/>
          </a:p>
        </p:txBody>
      </p:sp>
    </p:spTree>
    <p:extLst>
      <p:ext uri="{BB962C8B-B14F-4D97-AF65-F5344CB8AC3E}">
        <p14:creationId xmlns:p14="http://schemas.microsoft.com/office/powerpoint/2010/main" val="2853248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DF69A-5812-BA3E-794B-307704451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AF32A-389A-CE2F-FD59-DDDC45D8C8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F4E301-47AE-9AE7-5F42-4C8CFCD6FA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19C70-465D-2C28-8726-C6EF5013FF19}"/>
              </a:ext>
            </a:extLst>
          </p:cNvPr>
          <p:cNvSpPr>
            <a:spLocks noGrp="1"/>
          </p:cNvSpPr>
          <p:nvPr>
            <p:ph type="sldNum" sz="quarter" idx="5"/>
          </p:nvPr>
        </p:nvSpPr>
        <p:spPr/>
        <p:txBody>
          <a:bodyPr/>
          <a:lstStyle/>
          <a:p>
            <a:fld id="{075D4117-CD83-4258-B88F-1C7692FD834B}" type="slidenum">
              <a:rPr lang="en-US" smtClean="0"/>
              <a:t>24</a:t>
            </a:fld>
            <a:endParaRPr lang="en-US" dirty="0"/>
          </a:p>
        </p:txBody>
      </p:sp>
    </p:spTree>
    <p:extLst>
      <p:ext uri="{BB962C8B-B14F-4D97-AF65-F5344CB8AC3E}">
        <p14:creationId xmlns:p14="http://schemas.microsoft.com/office/powerpoint/2010/main" val="3009029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37AE9-A3B4-2C1C-EEDC-BEBF52C9E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7C969-7FBE-59F0-8173-2E4AF7CE31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796419-AD37-24CA-6F98-6B4E0B11B0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1A9C3F-565F-E1CA-EBAE-F0F4D6F20A37}"/>
              </a:ext>
            </a:extLst>
          </p:cNvPr>
          <p:cNvSpPr>
            <a:spLocks noGrp="1"/>
          </p:cNvSpPr>
          <p:nvPr>
            <p:ph type="sldNum" sz="quarter" idx="5"/>
          </p:nvPr>
        </p:nvSpPr>
        <p:spPr/>
        <p:txBody>
          <a:bodyPr/>
          <a:lstStyle/>
          <a:p>
            <a:fld id="{075D4117-CD83-4258-B88F-1C7692FD834B}" type="slidenum">
              <a:rPr lang="en-US" smtClean="0"/>
              <a:t>25</a:t>
            </a:fld>
            <a:endParaRPr lang="en-US" dirty="0"/>
          </a:p>
        </p:txBody>
      </p:sp>
    </p:spTree>
    <p:extLst>
      <p:ext uri="{BB962C8B-B14F-4D97-AF65-F5344CB8AC3E}">
        <p14:creationId xmlns:p14="http://schemas.microsoft.com/office/powerpoint/2010/main" val="2710086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F7007-2D54-5283-307E-044F4A3E2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21DEE-74D6-F6C7-E0FE-CBD478B1DC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59FCAD-525E-47D8-6C89-4DF32828B0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2F443B-57C1-8568-7A6F-1F629341678D}"/>
              </a:ext>
            </a:extLst>
          </p:cNvPr>
          <p:cNvSpPr>
            <a:spLocks noGrp="1"/>
          </p:cNvSpPr>
          <p:nvPr>
            <p:ph type="sldNum" sz="quarter" idx="5"/>
          </p:nvPr>
        </p:nvSpPr>
        <p:spPr/>
        <p:txBody>
          <a:bodyPr/>
          <a:lstStyle/>
          <a:p>
            <a:fld id="{075D4117-CD83-4258-B88F-1C7692FD834B}" type="slidenum">
              <a:rPr lang="en-US" smtClean="0"/>
              <a:t>26</a:t>
            </a:fld>
            <a:endParaRPr lang="en-US" dirty="0"/>
          </a:p>
        </p:txBody>
      </p:sp>
    </p:spTree>
    <p:extLst>
      <p:ext uri="{BB962C8B-B14F-4D97-AF65-F5344CB8AC3E}">
        <p14:creationId xmlns:p14="http://schemas.microsoft.com/office/powerpoint/2010/main" val="18558917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F643C-0A4B-16D1-6371-68D5CEE4C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AB3F8-E3FF-3D8B-C44E-35F00EB195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B2A2EF-B107-059D-99E8-E9C4457C52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93B332-5FC7-27A3-807A-839548F1D9F3}"/>
              </a:ext>
            </a:extLst>
          </p:cNvPr>
          <p:cNvSpPr>
            <a:spLocks noGrp="1"/>
          </p:cNvSpPr>
          <p:nvPr>
            <p:ph type="sldNum" sz="quarter" idx="5"/>
          </p:nvPr>
        </p:nvSpPr>
        <p:spPr/>
        <p:txBody>
          <a:bodyPr/>
          <a:lstStyle/>
          <a:p>
            <a:fld id="{075D4117-CD83-4258-B88F-1C7692FD834B}" type="slidenum">
              <a:rPr lang="en-US" smtClean="0"/>
              <a:t>27</a:t>
            </a:fld>
            <a:endParaRPr lang="en-US" dirty="0"/>
          </a:p>
        </p:txBody>
      </p:sp>
    </p:spTree>
    <p:extLst>
      <p:ext uri="{BB962C8B-B14F-4D97-AF65-F5344CB8AC3E}">
        <p14:creationId xmlns:p14="http://schemas.microsoft.com/office/powerpoint/2010/main" val="2319489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06257-3DE4-4EA5-FEBB-F370EEE13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AE51F-F9D1-7ECF-2505-17FFB686B8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B9C45B-08DC-C25F-13A3-F5D2AC0F5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C63C82-E2D5-6AF4-86F2-802E3B6FC827}"/>
              </a:ext>
            </a:extLst>
          </p:cNvPr>
          <p:cNvSpPr>
            <a:spLocks noGrp="1"/>
          </p:cNvSpPr>
          <p:nvPr>
            <p:ph type="sldNum" sz="quarter" idx="5"/>
          </p:nvPr>
        </p:nvSpPr>
        <p:spPr/>
        <p:txBody>
          <a:bodyPr/>
          <a:lstStyle/>
          <a:p>
            <a:fld id="{075D4117-CD83-4258-B88F-1C7692FD834B}" type="slidenum">
              <a:rPr lang="en-US" smtClean="0"/>
              <a:t>28</a:t>
            </a:fld>
            <a:endParaRPr lang="en-US" dirty="0"/>
          </a:p>
        </p:txBody>
      </p:sp>
    </p:spTree>
    <p:extLst>
      <p:ext uri="{BB962C8B-B14F-4D97-AF65-F5344CB8AC3E}">
        <p14:creationId xmlns:p14="http://schemas.microsoft.com/office/powerpoint/2010/main" val="3024580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FCC46-65B8-D294-5DB5-55F47958D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86331-169B-2C55-E0BC-481EE6C919C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801460-AD82-9D4B-96BA-D7271C906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F3AA37-61E3-4C26-4E0A-62A9E7BA35B9}"/>
              </a:ext>
            </a:extLst>
          </p:cNvPr>
          <p:cNvSpPr>
            <a:spLocks noGrp="1"/>
          </p:cNvSpPr>
          <p:nvPr>
            <p:ph type="sldNum" sz="quarter" idx="5"/>
          </p:nvPr>
        </p:nvSpPr>
        <p:spPr/>
        <p:txBody>
          <a:bodyPr/>
          <a:lstStyle/>
          <a:p>
            <a:fld id="{075D4117-CD83-4258-B88F-1C7692FD834B}" type="slidenum">
              <a:rPr lang="en-US" smtClean="0"/>
              <a:t>29</a:t>
            </a:fld>
            <a:endParaRPr lang="en-US" dirty="0"/>
          </a:p>
        </p:txBody>
      </p:sp>
    </p:spTree>
    <p:extLst>
      <p:ext uri="{BB962C8B-B14F-4D97-AF65-F5344CB8AC3E}">
        <p14:creationId xmlns:p14="http://schemas.microsoft.com/office/powerpoint/2010/main" val="22179265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3643-225D-825C-E53F-2D1AE2DF7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F79A7-AD3F-B441-B089-5CCADE2590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ADBE89-AF1D-FE2C-DA9C-F312670F1D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41D516-ABB2-8797-61CE-875350763D24}"/>
              </a:ext>
            </a:extLst>
          </p:cNvPr>
          <p:cNvSpPr>
            <a:spLocks noGrp="1"/>
          </p:cNvSpPr>
          <p:nvPr>
            <p:ph type="sldNum" sz="quarter" idx="5"/>
          </p:nvPr>
        </p:nvSpPr>
        <p:spPr/>
        <p:txBody>
          <a:bodyPr/>
          <a:lstStyle/>
          <a:p>
            <a:fld id="{075D4117-CD83-4258-B88F-1C7692FD834B}" type="slidenum">
              <a:rPr lang="en-US" smtClean="0"/>
              <a:t>30</a:t>
            </a:fld>
            <a:endParaRPr lang="en-US" dirty="0"/>
          </a:p>
        </p:txBody>
      </p:sp>
    </p:spTree>
    <p:extLst>
      <p:ext uri="{BB962C8B-B14F-4D97-AF65-F5344CB8AC3E}">
        <p14:creationId xmlns:p14="http://schemas.microsoft.com/office/powerpoint/2010/main" val="83986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25F98-697C-ED72-4072-767BAA6C4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6005-3965-DFF9-9F1F-A849E7C189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CDC2B3-7189-36F3-5B58-AA4FDFF7A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76390E-3ED2-E1DB-AF3E-D9FF6D38C7BC}"/>
              </a:ext>
            </a:extLst>
          </p:cNvPr>
          <p:cNvSpPr>
            <a:spLocks noGrp="1"/>
          </p:cNvSpPr>
          <p:nvPr>
            <p:ph type="sldNum" sz="quarter" idx="5"/>
          </p:nvPr>
        </p:nvSpPr>
        <p:spPr/>
        <p:txBody>
          <a:bodyPr/>
          <a:lstStyle/>
          <a:p>
            <a:fld id="{075D4117-CD83-4258-B88F-1C7692FD834B}" type="slidenum">
              <a:rPr lang="en-US" smtClean="0"/>
              <a:t>31</a:t>
            </a:fld>
            <a:endParaRPr lang="en-US" dirty="0"/>
          </a:p>
        </p:txBody>
      </p:sp>
    </p:spTree>
    <p:extLst>
      <p:ext uri="{BB962C8B-B14F-4D97-AF65-F5344CB8AC3E}">
        <p14:creationId xmlns:p14="http://schemas.microsoft.com/office/powerpoint/2010/main" val="2770044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4C50-0E41-C7D0-F3E0-71FB66D7A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0F981-340F-EB7F-FD19-C88D579320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E3B74E-5E74-BA20-2D0F-F719E66F6F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21852A-2BB6-F497-5372-16A3D9910E9A}"/>
              </a:ext>
            </a:extLst>
          </p:cNvPr>
          <p:cNvSpPr>
            <a:spLocks noGrp="1"/>
          </p:cNvSpPr>
          <p:nvPr>
            <p:ph type="sldNum" sz="quarter" idx="5"/>
          </p:nvPr>
        </p:nvSpPr>
        <p:spPr/>
        <p:txBody>
          <a:bodyPr/>
          <a:lstStyle/>
          <a:p>
            <a:fld id="{075D4117-CD83-4258-B88F-1C7692FD834B}" type="slidenum">
              <a:rPr lang="en-US" smtClean="0"/>
              <a:t>32</a:t>
            </a:fld>
            <a:endParaRPr lang="en-US" dirty="0"/>
          </a:p>
        </p:txBody>
      </p:sp>
    </p:spTree>
    <p:extLst>
      <p:ext uri="{BB962C8B-B14F-4D97-AF65-F5344CB8AC3E}">
        <p14:creationId xmlns:p14="http://schemas.microsoft.com/office/powerpoint/2010/main" val="1851520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F00A4-F4BB-6EA3-1E16-32E353177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D3ED3-6052-7E2A-12A6-CF729A74C3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56ABC0-538A-970E-9EFC-ED4BCAAADA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0F25C4-0792-8E30-E087-E9F6EC7A50A4}"/>
              </a:ext>
            </a:extLst>
          </p:cNvPr>
          <p:cNvSpPr>
            <a:spLocks noGrp="1"/>
          </p:cNvSpPr>
          <p:nvPr>
            <p:ph type="sldNum" sz="quarter" idx="5"/>
          </p:nvPr>
        </p:nvSpPr>
        <p:spPr/>
        <p:txBody>
          <a:bodyPr/>
          <a:lstStyle/>
          <a:p>
            <a:fld id="{075D4117-CD83-4258-B88F-1C7692FD834B}" type="slidenum">
              <a:rPr lang="en-US" smtClean="0"/>
              <a:t>33</a:t>
            </a:fld>
            <a:endParaRPr lang="en-US" dirty="0"/>
          </a:p>
        </p:txBody>
      </p:sp>
    </p:spTree>
    <p:extLst>
      <p:ext uri="{BB962C8B-B14F-4D97-AF65-F5344CB8AC3E}">
        <p14:creationId xmlns:p14="http://schemas.microsoft.com/office/powerpoint/2010/main" val="2795394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4711A-0350-BDCB-8C85-172089481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CB5F5-7AB2-D965-708C-65E492B375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602AD4-BBBE-52EB-B2D0-DE967CC4075D}"/>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370AFDE5-798E-AD10-8DDD-65EF66DC3209}"/>
              </a:ext>
            </a:extLst>
          </p:cNvPr>
          <p:cNvSpPr>
            <a:spLocks noGrp="1"/>
          </p:cNvSpPr>
          <p:nvPr>
            <p:ph type="sldNum" sz="quarter" idx="5"/>
          </p:nvPr>
        </p:nvSpPr>
        <p:spPr/>
        <p:txBody>
          <a:bodyPr/>
          <a:lstStyle/>
          <a:p>
            <a:fld id="{075D4117-CD83-4258-B88F-1C7692FD834B}" type="slidenum">
              <a:rPr lang="en-US" smtClean="0"/>
              <a:t>34</a:t>
            </a:fld>
            <a:endParaRPr lang="en-US" dirty="0"/>
          </a:p>
        </p:txBody>
      </p:sp>
    </p:spTree>
    <p:extLst>
      <p:ext uri="{BB962C8B-B14F-4D97-AF65-F5344CB8AC3E}">
        <p14:creationId xmlns:p14="http://schemas.microsoft.com/office/powerpoint/2010/main" val="2035297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CF193-0FE6-2AEE-6433-443C2D151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6D150-1490-2425-A199-48F570A9F3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705A86-DE6E-952A-74B4-95A84D3E3DE4}"/>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06F41205-8D7A-51B6-FE5D-17CFFC713897}"/>
              </a:ext>
            </a:extLst>
          </p:cNvPr>
          <p:cNvSpPr>
            <a:spLocks noGrp="1"/>
          </p:cNvSpPr>
          <p:nvPr>
            <p:ph type="sldNum" sz="quarter" idx="5"/>
          </p:nvPr>
        </p:nvSpPr>
        <p:spPr/>
        <p:txBody>
          <a:bodyPr/>
          <a:lstStyle/>
          <a:p>
            <a:fld id="{075D4117-CD83-4258-B88F-1C7692FD834B}" type="slidenum">
              <a:rPr lang="en-US" smtClean="0"/>
              <a:t>35</a:t>
            </a:fld>
            <a:endParaRPr lang="en-US" dirty="0"/>
          </a:p>
        </p:txBody>
      </p:sp>
    </p:spTree>
    <p:extLst>
      <p:ext uri="{BB962C8B-B14F-4D97-AF65-F5344CB8AC3E}">
        <p14:creationId xmlns:p14="http://schemas.microsoft.com/office/powerpoint/2010/main" val="18909215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4F2E8-F70D-7D41-E7F1-383BC6C68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E300A-F979-59D4-638F-57422A04B2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383A5C-3091-F82A-3940-749298CC2176}"/>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AB0EFB35-D0C1-B4CD-BD7D-AFAD6A411100}"/>
              </a:ext>
            </a:extLst>
          </p:cNvPr>
          <p:cNvSpPr>
            <a:spLocks noGrp="1"/>
          </p:cNvSpPr>
          <p:nvPr>
            <p:ph type="sldNum" sz="quarter" idx="5"/>
          </p:nvPr>
        </p:nvSpPr>
        <p:spPr/>
        <p:txBody>
          <a:bodyPr/>
          <a:lstStyle/>
          <a:p>
            <a:fld id="{075D4117-CD83-4258-B88F-1C7692FD834B}" type="slidenum">
              <a:rPr lang="en-US" smtClean="0"/>
              <a:t>36</a:t>
            </a:fld>
            <a:endParaRPr lang="en-US" dirty="0"/>
          </a:p>
        </p:txBody>
      </p:sp>
    </p:spTree>
    <p:extLst>
      <p:ext uri="{BB962C8B-B14F-4D97-AF65-F5344CB8AC3E}">
        <p14:creationId xmlns:p14="http://schemas.microsoft.com/office/powerpoint/2010/main" val="24151974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B9783-A1C4-06CA-798D-B1F8F55F7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FB2CB-8414-7499-E581-1FDBE876A8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B22454-DB9B-F93E-9F5A-62C3D45138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8D9DB8-8873-C362-B2D7-4B5B0A3F54F1}"/>
              </a:ext>
            </a:extLst>
          </p:cNvPr>
          <p:cNvSpPr>
            <a:spLocks noGrp="1"/>
          </p:cNvSpPr>
          <p:nvPr>
            <p:ph type="sldNum" sz="quarter" idx="5"/>
          </p:nvPr>
        </p:nvSpPr>
        <p:spPr/>
        <p:txBody>
          <a:bodyPr/>
          <a:lstStyle/>
          <a:p>
            <a:fld id="{075D4117-CD83-4258-B88F-1C7692FD834B}" type="slidenum">
              <a:rPr lang="en-US" smtClean="0"/>
              <a:t>37</a:t>
            </a:fld>
            <a:endParaRPr lang="en-US" dirty="0"/>
          </a:p>
        </p:txBody>
      </p:sp>
    </p:spTree>
    <p:extLst>
      <p:ext uri="{BB962C8B-B14F-4D97-AF65-F5344CB8AC3E}">
        <p14:creationId xmlns:p14="http://schemas.microsoft.com/office/powerpoint/2010/main" val="29318180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871EA-C6CF-C647-F6B5-3C45AC969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BC301-3BE6-3A5F-3223-D1999A22A8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902EC1-DC8B-A7BB-7E5C-92FD292F7ADB}"/>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FCEB96ED-F858-BC49-93BE-7689F1257782}"/>
              </a:ext>
            </a:extLst>
          </p:cNvPr>
          <p:cNvSpPr>
            <a:spLocks noGrp="1"/>
          </p:cNvSpPr>
          <p:nvPr>
            <p:ph type="sldNum" sz="quarter" idx="5"/>
          </p:nvPr>
        </p:nvSpPr>
        <p:spPr/>
        <p:txBody>
          <a:bodyPr/>
          <a:lstStyle/>
          <a:p>
            <a:fld id="{075D4117-CD83-4258-B88F-1C7692FD834B}" type="slidenum">
              <a:rPr lang="en-US" smtClean="0"/>
              <a:t>38</a:t>
            </a:fld>
            <a:endParaRPr lang="en-US" dirty="0"/>
          </a:p>
        </p:txBody>
      </p:sp>
    </p:spTree>
    <p:extLst>
      <p:ext uri="{BB962C8B-B14F-4D97-AF65-F5344CB8AC3E}">
        <p14:creationId xmlns:p14="http://schemas.microsoft.com/office/powerpoint/2010/main" val="34782946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Could the numbers be abbreviated? (41.6M, 938K, </a:t>
            </a:r>
            <a:r>
              <a:rPr lang="en-US" dirty="0" err="1"/>
              <a:t>etc</a:t>
            </a:r>
            <a:r>
              <a:rPr lang="en-US" dirty="0"/>
              <a:t>…) </a:t>
            </a:r>
          </a:p>
        </p:txBody>
      </p:sp>
      <p:sp>
        <p:nvSpPr>
          <p:cNvPr id="4" name="Slide Number Placeholder 3"/>
          <p:cNvSpPr>
            <a:spLocks noGrp="1"/>
          </p:cNvSpPr>
          <p:nvPr>
            <p:ph type="sldNum" sz="quarter" idx="5"/>
          </p:nvPr>
        </p:nvSpPr>
        <p:spPr/>
        <p:txBody>
          <a:bodyPr/>
          <a:lstStyle/>
          <a:p>
            <a:fld id="{075D4117-CD83-4258-B88F-1C7692FD834B}" type="slidenum">
              <a:rPr lang="en-US" smtClean="0"/>
              <a:t>39</a:t>
            </a:fld>
            <a:endParaRPr lang="en-US" dirty="0"/>
          </a:p>
        </p:txBody>
      </p:sp>
    </p:spTree>
    <p:extLst>
      <p:ext uri="{BB962C8B-B14F-4D97-AF65-F5344CB8AC3E}">
        <p14:creationId xmlns:p14="http://schemas.microsoft.com/office/powerpoint/2010/main" val="4194093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34B52-8BDD-C729-92FF-07CADC900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2A1A0-FD15-D77F-A715-4A4B9CDF71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13A163-E76C-E408-E3E9-0F8CFE226A38}"/>
              </a:ext>
            </a:extLst>
          </p:cNvPr>
          <p:cNvSpPr>
            <a:spLocks noGrp="1"/>
          </p:cNvSpPr>
          <p:nvPr>
            <p:ph type="body" idx="1"/>
          </p:nvPr>
        </p:nvSpPr>
        <p:spPr/>
        <p:txBody>
          <a:bodyPr/>
          <a:lstStyle/>
          <a:p>
            <a:r>
              <a:rPr lang="en-US" dirty="0"/>
              <a:t>Could the numbers be abbreviated? (41.6M, 938K, </a:t>
            </a:r>
            <a:r>
              <a:rPr lang="en-US" dirty="0" err="1"/>
              <a:t>etc</a:t>
            </a:r>
            <a:r>
              <a:rPr lang="en-US" dirty="0"/>
              <a:t>…) </a:t>
            </a:r>
          </a:p>
        </p:txBody>
      </p:sp>
      <p:sp>
        <p:nvSpPr>
          <p:cNvPr id="4" name="Slide Number Placeholder 3">
            <a:extLst>
              <a:ext uri="{FF2B5EF4-FFF2-40B4-BE49-F238E27FC236}">
                <a16:creationId xmlns:a16="http://schemas.microsoft.com/office/drawing/2014/main" id="{EABBBE13-2D74-F82F-69D4-A7073DFE112D}"/>
              </a:ext>
            </a:extLst>
          </p:cNvPr>
          <p:cNvSpPr>
            <a:spLocks noGrp="1"/>
          </p:cNvSpPr>
          <p:nvPr>
            <p:ph type="sldNum" sz="quarter" idx="5"/>
          </p:nvPr>
        </p:nvSpPr>
        <p:spPr/>
        <p:txBody>
          <a:bodyPr/>
          <a:lstStyle/>
          <a:p>
            <a:fld id="{075D4117-CD83-4258-B88F-1C7692FD834B}" type="slidenum">
              <a:rPr lang="en-US" smtClean="0"/>
              <a:t>40</a:t>
            </a:fld>
            <a:endParaRPr lang="en-US" dirty="0"/>
          </a:p>
        </p:txBody>
      </p:sp>
    </p:spTree>
    <p:extLst>
      <p:ext uri="{BB962C8B-B14F-4D97-AF65-F5344CB8AC3E}">
        <p14:creationId xmlns:p14="http://schemas.microsoft.com/office/powerpoint/2010/main" val="12987111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4AA81-D3F6-C9D2-3E8B-0F27E93B2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1812D-76ED-D6C5-DF06-76251E1BFD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3B02C8-F54A-01DB-5C32-EF235271209C}"/>
              </a:ext>
            </a:extLst>
          </p:cNvPr>
          <p:cNvSpPr>
            <a:spLocks noGrp="1"/>
          </p:cNvSpPr>
          <p:nvPr>
            <p:ph type="body" idx="1"/>
          </p:nvPr>
        </p:nvSpPr>
        <p:spPr/>
        <p:txBody>
          <a:bodyPr/>
          <a:lstStyle/>
          <a:p>
            <a:r>
              <a:rPr lang="en-US" dirty="0"/>
              <a:t>Could the numbers be abbreviated? (41.6M, 938K, </a:t>
            </a:r>
            <a:r>
              <a:rPr lang="en-US" dirty="0" err="1"/>
              <a:t>etc</a:t>
            </a:r>
            <a:r>
              <a:rPr lang="en-US" dirty="0"/>
              <a:t>…) </a:t>
            </a:r>
          </a:p>
        </p:txBody>
      </p:sp>
      <p:sp>
        <p:nvSpPr>
          <p:cNvPr id="4" name="Slide Number Placeholder 3">
            <a:extLst>
              <a:ext uri="{FF2B5EF4-FFF2-40B4-BE49-F238E27FC236}">
                <a16:creationId xmlns:a16="http://schemas.microsoft.com/office/drawing/2014/main" id="{274B1494-570E-00D6-D691-0A1B408E73F9}"/>
              </a:ext>
            </a:extLst>
          </p:cNvPr>
          <p:cNvSpPr>
            <a:spLocks noGrp="1"/>
          </p:cNvSpPr>
          <p:nvPr>
            <p:ph type="sldNum" sz="quarter" idx="5"/>
          </p:nvPr>
        </p:nvSpPr>
        <p:spPr/>
        <p:txBody>
          <a:bodyPr/>
          <a:lstStyle/>
          <a:p>
            <a:fld id="{075D4117-CD83-4258-B88F-1C7692FD834B}" type="slidenum">
              <a:rPr lang="en-US" smtClean="0"/>
              <a:t>41</a:t>
            </a:fld>
            <a:endParaRPr lang="en-US" dirty="0"/>
          </a:p>
        </p:txBody>
      </p:sp>
    </p:spTree>
    <p:extLst>
      <p:ext uri="{BB962C8B-B14F-4D97-AF65-F5344CB8AC3E}">
        <p14:creationId xmlns:p14="http://schemas.microsoft.com/office/powerpoint/2010/main" val="3400388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Look at left align for all scenarios</a:t>
            </a:r>
          </a:p>
        </p:txBody>
      </p:sp>
      <p:sp>
        <p:nvSpPr>
          <p:cNvPr id="4" name="Slide Number Placeholder 3"/>
          <p:cNvSpPr>
            <a:spLocks noGrp="1"/>
          </p:cNvSpPr>
          <p:nvPr>
            <p:ph type="sldNum" sz="quarter" idx="5"/>
          </p:nvPr>
        </p:nvSpPr>
        <p:spPr/>
        <p:txBody>
          <a:bodyPr/>
          <a:lstStyle/>
          <a:p>
            <a:fld id="{075D4117-CD83-4258-B88F-1C7692FD834B}" type="slidenum">
              <a:rPr lang="en-US" smtClean="0"/>
              <a:t>42</a:t>
            </a:fld>
            <a:endParaRPr lang="en-US" dirty="0"/>
          </a:p>
        </p:txBody>
      </p:sp>
    </p:spTree>
    <p:extLst>
      <p:ext uri="{BB962C8B-B14F-4D97-AF65-F5344CB8AC3E}">
        <p14:creationId xmlns:p14="http://schemas.microsoft.com/office/powerpoint/2010/main" val="22576307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7F78-26EB-CB33-8B02-F2714CFB6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A643B-ED46-37FE-51AB-DAB265BCF3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A5B22E-4AE5-3356-DDF7-64902596D311}"/>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2B696AD1-77DB-FDF6-2FC3-190451D3926E}"/>
              </a:ext>
            </a:extLst>
          </p:cNvPr>
          <p:cNvSpPr>
            <a:spLocks noGrp="1"/>
          </p:cNvSpPr>
          <p:nvPr>
            <p:ph type="sldNum" sz="quarter" idx="5"/>
          </p:nvPr>
        </p:nvSpPr>
        <p:spPr/>
        <p:txBody>
          <a:bodyPr/>
          <a:lstStyle/>
          <a:p>
            <a:fld id="{075D4117-CD83-4258-B88F-1C7692FD834B}" type="slidenum">
              <a:rPr lang="en-US" smtClean="0"/>
              <a:t>48</a:t>
            </a:fld>
            <a:endParaRPr lang="en-US" dirty="0"/>
          </a:p>
        </p:txBody>
      </p:sp>
    </p:spTree>
    <p:extLst>
      <p:ext uri="{BB962C8B-B14F-4D97-AF65-F5344CB8AC3E}">
        <p14:creationId xmlns:p14="http://schemas.microsoft.com/office/powerpoint/2010/main" val="34616267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A13B-245A-2723-F34E-9F08400A1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56B39-D88A-440E-36C3-45A5DA953F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1701C8-E896-EDAC-5E38-1607C1699346}"/>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118BF582-8BE7-3836-ED60-4986C2079E2B}"/>
              </a:ext>
            </a:extLst>
          </p:cNvPr>
          <p:cNvSpPr>
            <a:spLocks noGrp="1"/>
          </p:cNvSpPr>
          <p:nvPr>
            <p:ph type="sldNum" sz="quarter" idx="5"/>
          </p:nvPr>
        </p:nvSpPr>
        <p:spPr/>
        <p:txBody>
          <a:bodyPr/>
          <a:lstStyle/>
          <a:p>
            <a:fld id="{075D4117-CD83-4258-B88F-1C7692FD834B}" type="slidenum">
              <a:rPr lang="en-US" smtClean="0"/>
              <a:t>49</a:t>
            </a:fld>
            <a:endParaRPr lang="en-US" dirty="0"/>
          </a:p>
        </p:txBody>
      </p:sp>
    </p:spTree>
    <p:extLst>
      <p:ext uri="{BB962C8B-B14F-4D97-AF65-F5344CB8AC3E}">
        <p14:creationId xmlns:p14="http://schemas.microsoft.com/office/powerpoint/2010/main" val="2027575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DB0CF-CFD5-983D-C364-FB87E22D0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84D0E-5663-7957-F717-3AD5378A3B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0F8621-725A-ECE8-B961-FB9DE3BDD305}"/>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1B085CE5-5D6D-0520-90C0-7F88F29EFCA0}"/>
              </a:ext>
            </a:extLst>
          </p:cNvPr>
          <p:cNvSpPr>
            <a:spLocks noGrp="1"/>
          </p:cNvSpPr>
          <p:nvPr>
            <p:ph type="sldNum" sz="quarter" idx="5"/>
          </p:nvPr>
        </p:nvSpPr>
        <p:spPr/>
        <p:txBody>
          <a:bodyPr/>
          <a:lstStyle/>
          <a:p>
            <a:fld id="{075D4117-CD83-4258-B88F-1C7692FD834B}" type="slidenum">
              <a:rPr lang="en-US" smtClean="0"/>
              <a:t>50</a:t>
            </a:fld>
            <a:endParaRPr lang="en-US" dirty="0"/>
          </a:p>
        </p:txBody>
      </p:sp>
    </p:spTree>
    <p:extLst>
      <p:ext uri="{BB962C8B-B14F-4D97-AF65-F5344CB8AC3E}">
        <p14:creationId xmlns:p14="http://schemas.microsoft.com/office/powerpoint/2010/main" val="10692966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6F13-4A24-CD5A-7DCA-1333635F3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32F6F-053E-6464-5D5E-40E721F988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F3FA374-A201-8D44-D8FA-BB1F0F04161B}"/>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9DC2264A-6BD8-E0C6-EED0-1B9C60E9EF16}"/>
              </a:ext>
            </a:extLst>
          </p:cNvPr>
          <p:cNvSpPr>
            <a:spLocks noGrp="1"/>
          </p:cNvSpPr>
          <p:nvPr>
            <p:ph type="sldNum" sz="quarter" idx="5"/>
          </p:nvPr>
        </p:nvSpPr>
        <p:spPr/>
        <p:txBody>
          <a:bodyPr/>
          <a:lstStyle/>
          <a:p>
            <a:fld id="{075D4117-CD83-4258-B88F-1C7692FD834B}" type="slidenum">
              <a:rPr lang="en-US" smtClean="0"/>
              <a:t>52</a:t>
            </a:fld>
            <a:endParaRPr lang="en-US" dirty="0"/>
          </a:p>
        </p:txBody>
      </p:sp>
    </p:spTree>
    <p:extLst>
      <p:ext uri="{BB962C8B-B14F-4D97-AF65-F5344CB8AC3E}">
        <p14:creationId xmlns:p14="http://schemas.microsoft.com/office/powerpoint/2010/main" val="4618829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E99A6-1E7F-906D-FAF4-0ABDFB726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E16E2-CF74-82EE-091C-75FCF00910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8703A4-58C5-F1A3-E397-88B8178C6F89}"/>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A1B1ACE7-C674-735C-766E-1E5FF6BF16DA}"/>
              </a:ext>
            </a:extLst>
          </p:cNvPr>
          <p:cNvSpPr>
            <a:spLocks noGrp="1"/>
          </p:cNvSpPr>
          <p:nvPr>
            <p:ph type="sldNum" sz="quarter" idx="5"/>
          </p:nvPr>
        </p:nvSpPr>
        <p:spPr/>
        <p:txBody>
          <a:bodyPr/>
          <a:lstStyle/>
          <a:p>
            <a:fld id="{075D4117-CD83-4258-B88F-1C7692FD834B}" type="slidenum">
              <a:rPr lang="en-US" smtClean="0"/>
              <a:t>53</a:t>
            </a:fld>
            <a:endParaRPr lang="en-US" dirty="0"/>
          </a:p>
        </p:txBody>
      </p:sp>
    </p:spTree>
    <p:extLst>
      <p:ext uri="{BB962C8B-B14F-4D97-AF65-F5344CB8AC3E}">
        <p14:creationId xmlns:p14="http://schemas.microsoft.com/office/powerpoint/2010/main" val="15895549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A48F-42FD-6544-CA6B-749321814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C693B-154F-078C-161A-8D437A1AA2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85AD9D-D77B-CB1A-5453-990201B498CB}"/>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88EBFD1B-E72E-2C89-4B85-E00C6D9FF28D}"/>
              </a:ext>
            </a:extLst>
          </p:cNvPr>
          <p:cNvSpPr>
            <a:spLocks noGrp="1"/>
          </p:cNvSpPr>
          <p:nvPr>
            <p:ph type="sldNum" sz="quarter" idx="5"/>
          </p:nvPr>
        </p:nvSpPr>
        <p:spPr/>
        <p:txBody>
          <a:bodyPr/>
          <a:lstStyle/>
          <a:p>
            <a:fld id="{075D4117-CD83-4258-B88F-1C7692FD834B}" type="slidenum">
              <a:rPr lang="en-US" smtClean="0"/>
              <a:t>54</a:t>
            </a:fld>
            <a:endParaRPr lang="en-US" dirty="0"/>
          </a:p>
        </p:txBody>
      </p:sp>
    </p:spTree>
    <p:extLst>
      <p:ext uri="{BB962C8B-B14F-4D97-AF65-F5344CB8AC3E}">
        <p14:creationId xmlns:p14="http://schemas.microsoft.com/office/powerpoint/2010/main" val="35526445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306C-5D4D-85F0-DE57-23EF0B0A7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6DF2B-36CE-5BE0-B66E-CBCC0262BC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4EA4AE-8D62-99D2-5755-86E41561EC33}"/>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32077546-C57F-0A9C-8C8D-7D6DA7D36504}"/>
              </a:ext>
            </a:extLst>
          </p:cNvPr>
          <p:cNvSpPr>
            <a:spLocks noGrp="1"/>
          </p:cNvSpPr>
          <p:nvPr>
            <p:ph type="sldNum" sz="quarter" idx="5"/>
          </p:nvPr>
        </p:nvSpPr>
        <p:spPr/>
        <p:txBody>
          <a:bodyPr/>
          <a:lstStyle/>
          <a:p>
            <a:fld id="{075D4117-CD83-4258-B88F-1C7692FD834B}" type="slidenum">
              <a:rPr lang="en-US" smtClean="0"/>
              <a:t>55</a:t>
            </a:fld>
            <a:endParaRPr lang="en-US" dirty="0"/>
          </a:p>
        </p:txBody>
      </p:sp>
    </p:spTree>
    <p:extLst>
      <p:ext uri="{BB962C8B-B14F-4D97-AF65-F5344CB8AC3E}">
        <p14:creationId xmlns:p14="http://schemas.microsoft.com/office/powerpoint/2010/main" val="22864107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6718A-F0E1-2258-4B7D-84AB4531F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C4774-C16D-0F5C-E0BA-D8EC1E269A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C0CD5D-3509-9D4C-E324-B66353C44A42}"/>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B5E613DF-A5F6-8122-74FC-A763DDBBDFFA}"/>
              </a:ext>
            </a:extLst>
          </p:cNvPr>
          <p:cNvSpPr>
            <a:spLocks noGrp="1"/>
          </p:cNvSpPr>
          <p:nvPr>
            <p:ph type="sldNum" sz="quarter" idx="5"/>
          </p:nvPr>
        </p:nvSpPr>
        <p:spPr/>
        <p:txBody>
          <a:bodyPr/>
          <a:lstStyle/>
          <a:p>
            <a:fld id="{075D4117-CD83-4258-B88F-1C7692FD834B}" type="slidenum">
              <a:rPr lang="en-US" smtClean="0"/>
              <a:t>56</a:t>
            </a:fld>
            <a:endParaRPr lang="en-US" dirty="0"/>
          </a:p>
        </p:txBody>
      </p:sp>
    </p:spTree>
    <p:extLst>
      <p:ext uri="{BB962C8B-B14F-4D97-AF65-F5344CB8AC3E}">
        <p14:creationId xmlns:p14="http://schemas.microsoft.com/office/powerpoint/2010/main" val="23909006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41633-9A0B-40A4-970C-94DB8D386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6CB0C-F641-B9EC-E585-4664A0BCDE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3E1CCA-66AB-AB0C-1A6A-E00CBC28607A}"/>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69B3646E-FA11-4ED9-F75D-2CA6BFD47F2C}"/>
              </a:ext>
            </a:extLst>
          </p:cNvPr>
          <p:cNvSpPr>
            <a:spLocks noGrp="1"/>
          </p:cNvSpPr>
          <p:nvPr>
            <p:ph type="sldNum" sz="quarter" idx="5"/>
          </p:nvPr>
        </p:nvSpPr>
        <p:spPr/>
        <p:txBody>
          <a:bodyPr/>
          <a:lstStyle/>
          <a:p>
            <a:fld id="{075D4117-CD83-4258-B88F-1C7692FD834B}" type="slidenum">
              <a:rPr lang="en-US" smtClean="0"/>
              <a:t>57</a:t>
            </a:fld>
            <a:endParaRPr lang="en-US" dirty="0"/>
          </a:p>
        </p:txBody>
      </p:sp>
    </p:spTree>
    <p:extLst>
      <p:ext uri="{BB962C8B-B14F-4D97-AF65-F5344CB8AC3E}">
        <p14:creationId xmlns:p14="http://schemas.microsoft.com/office/powerpoint/2010/main" val="8093013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98B4C-3781-460A-0FC8-321BBE998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DE44C-7766-2FD1-3622-E280D95973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44C3CA-3AF4-C1AF-5C30-60AA65A3318A}"/>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6615C0BC-09CE-FDD9-518D-0B11812F260F}"/>
              </a:ext>
            </a:extLst>
          </p:cNvPr>
          <p:cNvSpPr>
            <a:spLocks noGrp="1"/>
          </p:cNvSpPr>
          <p:nvPr>
            <p:ph type="sldNum" sz="quarter" idx="5"/>
          </p:nvPr>
        </p:nvSpPr>
        <p:spPr/>
        <p:txBody>
          <a:bodyPr/>
          <a:lstStyle/>
          <a:p>
            <a:fld id="{075D4117-CD83-4258-B88F-1C7692FD834B}" type="slidenum">
              <a:rPr lang="en-US" smtClean="0"/>
              <a:t>59</a:t>
            </a:fld>
            <a:endParaRPr lang="en-US" dirty="0"/>
          </a:p>
        </p:txBody>
      </p:sp>
    </p:spTree>
    <p:extLst>
      <p:ext uri="{BB962C8B-B14F-4D97-AF65-F5344CB8AC3E}">
        <p14:creationId xmlns:p14="http://schemas.microsoft.com/office/powerpoint/2010/main" val="13423927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2F391-C58B-21A1-AF78-25F369912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6A2D9-A394-CE54-70CD-755B888E04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0B1318-7B0B-FDCB-318B-73CD3674578C}"/>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DF32E825-FE04-1675-4AE7-50D3C4DDC4FD}"/>
              </a:ext>
            </a:extLst>
          </p:cNvPr>
          <p:cNvSpPr>
            <a:spLocks noGrp="1"/>
          </p:cNvSpPr>
          <p:nvPr>
            <p:ph type="sldNum" sz="quarter" idx="5"/>
          </p:nvPr>
        </p:nvSpPr>
        <p:spPr/>
        <p:txBody>
          <a:bodyPr/>
          <a:lstStyle/>
          <a:p>
            <a:fld id="{075D4117-CD83-4258-B88F-1C7692FD834B}" type="slidenum">
              <a:rPr lang="en-US" smtClean="0"/>
              <a:t>60</a:t>
            </a:fld>
            <a:endParaRPr lang="en-US" dirty="0"/>
          </a:p>
        </p:txBody>
      </p:sp>
    </p:spTree>
    <p:extLst>
      <p:ext uri="{BB962C8B-B14F-4D97-AF65-F5344CB8AC3E}">
        <p14:creationId xmlns:p14="http://schemas.microsoft.com/office/powerpoint/2010/main" val="34472897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99B5-41A3-C0B6-BEE5-86C54DAF7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24E2C-BBFE-C36E-45D8-54A4BC6731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87FA19-1BBB-B3B7-BC83-E2C9C0D98B24}"/>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52D9ECFD-1AEF-42E8-CE23-2311AF33C72A}"/>
              </a:ext>
            </a:extLst>
          </p:cNvPr>
          <p:cNvSpPr>
            <a:spLocks noGrp="1"/>
          </p:cNvSpPr>
          <p:nvPr>
            <p:ph type="sldNum" sz="quarter" idx="5"/>
          </p:nvPr>
        </p:nvSpPr>
        <p:spPr/>
        <p:txBody>
          <a:bodyPr/>
          <a:lstStyle/>
          <a:p>
            <a:fld id="{075D4117-CD83-4258-B88F-1C7692FD834B}" type="slidenum">
              <a:rPr lang="en-US" smtClean="0"/>
              <a:t>61</a:t>
            </a:fld>
            <a:endParaRPr lang="en-US" dirty="0"/>
          </a:p>
        </p:txBody>
      </p:sp>
    </p:spTree>
    <p:extLst>
      <p:ext uri="{BB962C8B-B14F-4D97-AF65-F5344CB8AC3E}">
        <p14:creationId xmlns:p14="http://schemas.microsoft.com/office/powerpoint/2010/main" val="15209003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5371B-C31B-0192-1411-40649CB7E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58A2C-1C19-F6BE-B37F-F75A2A43D5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FB9C74-FCB0-58E8-1506-7FC7C490D41A}"/>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C9DEFB3F-DCDD-C5F6-2A3C-A0824231E2C6}"/>
              </a:ext>
            </a:extLst>
          </p:cNvPr>
          <p:cNvSpPr>
            <a:spLocks noGrp="1"/>
          </p:cNvSpPr>
          <p:nvPr>
            <p:ph type="sldNum" sz="quarter" idx="5"/>
          </p:nvPr>
        </p:nvSpPr>
        <p:spPr/>
        <p:txBody>
          <a:bodyPr/>
          <a:lstStyle/>
          <a:p>
            <a:fld id="{075D4117-CD83-4258-B88F-1C7692FD834B}" type="slidenum">
              <a:rPr lang="en-US" smtClean="0"/>
              <a:t>62</a:t>
            </a:fld>
            <a:endParaRPr lang="en-US" dirty="0"/>
          </a:p>
        </p:txBody>
      </p:sp>
    </p:spTree>
    <p:extLst>
      <p:ext uri="{BB962C8B-B14F-4D97-AF65-F5344CB8AC3E}">
        <p14:creationId xmlns:p14="http://schemas.microsoft.com/office/powerpoint/2010/main" val="11976735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19AB-5FDD-33B6-BC81-E5DFD34C8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4014-AD8E-B3C1-37C8-03EAFBE95D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AEF49F-95A9-F447-1C20-6239C8B31885}"/>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23182CC7-BD61-FC94-173D-CDD0B6F11480}"/>
              </a:ext>
            </a:extLst>
          </p:cNvPr>
          <p:cNvSpPr>
            <a:spLocks noGrp="1"/>
          </p:cNvSpPr>
          <p:nvPr>
            <p:ph type="sldNum" sz="quarter" idx="5"/>
          </p:nvPr>
        </p:nvSpPr>
        <p:spPr/>
        <p:txBody>
          <a:bodyPr/>
          <a:lstStyle/>
          <a:p>
            <a:fld id="{075D4117-CD83-4258-B88F-1C7692FD834B}" type="slidenum">
              <a:rPr lang="en-US" smtClean="0"/>
              <a:t>63</a:t>
            </a:fld>
            <a:endParaRPr lang="en-US" dirty="0"/>
          </a:p>
        </p:txBody>
      </p:sp>
    </p:spTree>
    <p:extLst>
      <p:ext uri="{BB962C8B-B14F-4D97-AF65-F5344CB8AC3E}">
        <p14:creationId xmlns:p14="http://schemas.microsoft.com/office/powerpoint/2010/main" val="35594808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EE90-39A2-3CCE-B51F-F3090A5FF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AE856-DC2A-57E0-9585-BD7945D783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07FDA4-1532-D460-41F8-3474E00AAE56}"/>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2707AD56-C955-B5AE-66A6-91A13053261E}"/>
              </a:ext>
            </a:extLst>
          </p:cNvPr>
          <p:cNvSpPr>
            <a:spLocks noGrp="1"/>
          </p:cNvSpPr>
          <p:nvPr>
            <p:ph type="sldNum" sz="quarter" idx="5"/>
          </p:nvPr>
        </p:nvSpPr>
        <p:spPr/>
        <p:txBody>
          <a:bodyPr/>
          <a:lstStyle/>
          <a:p>
            <a:fld id="{075D4117-CD83-4258-B88F-1C7692FD834B}" type="slidenum">
              <a:rPr lang="en-US" smtClean="0"/>
              <a:t>64</a:t>
            </a:fld>
            <a:endParaRPr lang="en-US" dirty="0"/>
          </a:p>
        </p:txBody>
      </p:sp>
    </p:spTree>
    <p:extLst>
      <p:ext uri="{BB962C8B-B14F-4D97-AF65-F5344CB8AC3E}">
        <p14:creationId xmlns:p14="http://schemas.microsoft.com/office/powerpoint/2010/main" val="33721025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11703-85C0-BDA2-9D05-520126CE9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3E7BA-86FF-F465-0D30-DFDE6AD9D2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9D2957-94C3-B153-2BD2-006E3DBF9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BDCBBA-FB30-0A3C-615D-FD5F98A6716B}"/>
              </a:ext>
            </a:extLst>
          </p:cNvPr>
          <p:cNvSpPr>
            <a:spLocks noGrp="1"/>
          </p:cNvSpPr>
          <p:nvPr>
            <p:ph type="sldNum" sz="quarter" idx="5"/>
          </p:nvPr>
        </p:nvSpPr>
        <p:spPr/>
        <p:txBody>
          <a:bodyPr/>
          <a:lstStyle/>
          <a:p>
            <a:fld id="{075D4117-CD83-4258-B88F-1C7692FD834B}" type="slidenum">
              <a:rPr lang="en-US" smtClean="0"/>
              <a:t>66</a:t>
            </a:fld>
            <a:endParaRPr lang="en-US" dirty="0"/>
          </a:p>
        </p:txBody>
      </p:sp>
    </p:spTree>
    <p:extLst>
      <p:ext uri="{BB962C8B-B14F-4D97-AF65-F5344CB8AC3E}">
        <p14:creationId xmlns:p14="http://schemas.microsoft.com/office/powerpoint/2010/main" val="41776631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7F9BF-1F14-85E4-BA91-5049AACFA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C4E5D-CA34-E909-5716-8B942578B5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0FFDF6-B3CE-CFF3-183E-0D42ECCDE6FB}"/>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20FAD99B-B938-EBA9-71B2-D8C5221A81CA}"/>
              </a:ext>
            </a:extLst>
          </p:cNvPr>
          <p:cNvSpPr>
            <a:spLocks noGrp="1"/>
          </p:cNvSpPr>
          <p:nvPr>
            <p:ph type="sldNum" sz="quarter" idx="5"/>
          </p:nvPr>
        </p:nvSpPr>
        <p:spPr/>
        <p:txBody>
          <a:bodyPr/>
          <a:lstStyle/>
          <a:p>
            <a:fld id="{075D4117-CD83-4258-B88F-1C7692FD834B}" type="slidenum">
              <a:rPr lang="en-US" smtClean="0"/>
              <a:t>67</a:t>
            </a:fld>
            <a:endParaRPr lang="en-US" dirty="0"/>
          </a:p>
        </p:txBody>
      </p:sp>
    </p:spTree>
    <p:extLst>
      <p:ext uri="{BB962C8B-B14F-4D97-AF65-F5344CB8AC3E}">
        <p14:creationId xmlns:p14="http://schemas.microsoft.com/office/powerpoint/2010/main" val="8053714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22A5-9E5B-CAFE-F0D1-EF4849B42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B02F3-85AA-4A00-6C31-55C4F25CA2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77B24A-1083-9337-7528-523A7C56B6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69679-EF79-A508-4DD6-CBC9A9DE05E6}"/>
              </a:ext>
            </a:extLst>
          </p:cNvPr>
          <p:cNvSpPr>
            <a:spLocks noGrp="1"/>
          </p:cNvSpPr>
          <p:nvPr>
            <p:ph type="sldNum" sz="quarter" idx="5"/>
          </p:nvPr>
        </p:nvSpPr>
        <p:spPr/>
        <p:txBody>
          <a:bodyPr/>
          <a:lstStyle/>
          <a:p>
            <a:fld id="{075D4117-CD83-4258-B88F-1C7692FD834B}" type="slidenum">
              <a:rPr lang="en-US" smtClean="0"/>
              <a:t>68</a:t>
            </a:fld>
            <a:endParaRPr lang="en-US" dirty="0"/>
          </a:p>
        </p:txBody>
      </p:sp>
    </p:spTree>
    <p:extLst>
      <p:ext uri="{BB962C8B-B14F-4D97-AF65-F5344CB8AC3E}">
        <p14:creationId xmlns:p14="http://schemas.microsoft.com/office/powerpoint/2010/main" val="36936471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0BD1C-4176-4EAF-ABC3-E42099D39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D2F40-5C67-54AB-77E5-051B33FCFD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29CE67-BF27-02BF-BC73-A3AA4C124C00}"/>
              </a:ext>
            </a:extLst>
          </p:cNvPr>
          <p:cNvSpPr>
            <a:spLocks noGrp="1"/>
          </p:cNvSpPr>
          <p:nvPr>
            <p:ph type="body" idx="1"/>
          </p:nvPr>
        </p:nvSpPr>
        <p:spPr/>
        <p:txBody>
          <a:bodyPr/>
          <a:lstStyle/>
          <a:p>
            <a:r>
              <a:rPr lang="en-US" dirty="0"/>
              <a:t>Only show whole numbers on all tables; Review Rockefeller/Caprock strategy on tables, punctuation. Always show year 1 on tables. </a:t>
            </a:r>
          </a:p>
        </p:txBody>
      </p:sp>
      <p:sp>
        <p:nvSpPr>
          <p:cNvPr id="4" name="Slide Number Placeholder 3">
            <a:extLst>
              <a:ext uri="{FF2B5EF4-FFF2-40B4-BE49-F238E27FC236}">
                <a16:creationId xmlns:a16="http://schemas.microsoft.com/office/drawing/2014/main" id="{6E010279-81EF-48FF-6E94-5A30B90AFDE8}"/>
              </a:ext>
            </a:extLst>
          </p:cNvPr>
          <p:cNvSpPr>
            <a:spLocks noGrp="1"/>
          </p:cNvSpPr>
          <p:nvPr>
            <p:ph type="sldNum" sz="quarter" idx="5"/>
          </p:nvPr>
        </p:nvSpPr>
        <p:spPr/>
        <p:txBody>
          <a:bodyPr/>
          <a:lstStyle/>
          <a:p>
            <a:fld id="{075D4117-CD83-4258-B88F-1C7692FD834B}" type="slidenum">
              <a:rPr lang="en-US" smtClean="0"/>
              <a:t>69</a:t>
            </a:fld>
            <a:endParaRPr lang="en-US" dirty="0"/>
          </a:p>
        </p:txBody>
      </p:sp>
    </p:spTree>
    <p:extLst>
      <p:ext uri="{BB962C8B-B14F-4D97-AF65-F5344CB8AC3E}">
        <p14:creationId xmlns:p14="http://schemas.microsoft.com/office/powerpoint/2010/main" val="29795385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FCE8E23-2DFD-E168-1DC5-41AB6EA74D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97885" y="2879035"/>
            <a:ext cx="3209544" cy="3220137"/>
          </a:xfrm>
          <a:prstGeom prst="rect">
            <a:avLst/>
          </a:prstGeom>
        </p:spPr>
      </p:pic>
      <p:pic>
        <p:nvPicPr>
          <p:cNvPr id="7" name="Graphic 6">
            <a:extLst>
              <a:ext uri="{FF2B5EF4-FFF2-40B4-BE49-F238E27FC236}">
                <a16:creationId xmlns:a16="http://schemas.microsoft.com/office/drawing/2014/main" id="{8AA81C65-9E3F-889A-A0CE-FA3313BD71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76349" y="2830554"/>
            <a:ext cx="6391275" cy="84096"/>
          </a:xfrm>
          <a:prstGeom prst="rect">
            <a:avLst/>
          </a:prstGeom>
        </p:spPr>
      </p:pic>
      <p:sp>
        <p:nvSpPr>
          <p:cNvPr id="8" name="Rectangle 7">
            <a:extLst>
              <a:ext uri="{FF2B5EF4-FFF2-40B4-BE49-F238E27FC236}">
                <a16:creationId xmlns:a16="http://schemas.microsoft.com/office/drawing/2014/main" id="{BD088D75-4E58-356F-0C9C-E6164F512621}"/>
              </a:ext>
            </a:extLst>
          </p:cNvPr>
          <p:cNvSpPr/>
          <p:nvPr userDrawn="1"/>
        </p:nvSpPr>
        <p:spPr>
          <a:xfrm>
            <a:off x="383035" y="6095997"/>
            <a:ext cx="8215659" cy="385765"/>
          </a:xfrm>
          <a:prstGeom prst="rect">
            <a:avLst/>
          </a:prstGeom>
          <a:solidFill>
            <a:srgbClr val="45454A"/>
          </a:soli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Cormorant Infant" pitchFamily="2" charset="0"/>
                <a:ea typeface="Cormorant Infant" pitchFamily="2" charset="0"/>
                <a:cs typeface="Cormorant Infant" pitchFamily="2" charset="0"/>
              </a:rPr>
              <a:t>We are committed to maintaining the confidentiality, integrity, and security of the personal information provided in this document.</a:t>
            </a:r>
          </a:p>
        </p:txBody>
      </p:sp>
      <p:pic>
        <p:nvPicPr>
          <p:cNvPr id="10" name="Graphic 9">
            <a:extLst>
              <a:ext uri="{FF2B5EF4-FFF2-40B4-BE49-F238E27FC236}">
                <a16:creationId xmlns:a16="http://schemas.microsoft.com/office/drawing/2014/main" id="{3D832A3A-46EF-C88C-4C3F-67FC7DDA95B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599075" y="372028"/>
            <a:ext cx="3209544" cy="2458525"/>
          </a:xfrm>
          <a:prstGeom prst="rect">
            <a:avLst/>
          </a:prstGeom>
        </p:spPr>
      </p:pic>
      <p:sp>
        <p:nvSpPr>
          <p:cNvPr id="4" name="Rectangle 3">
            <a:extLst>
              <a:ext uri="{FF2B5EF4-FFF2-40B4-BE49-F238E27FC236}">
                <a16:creationId xmlns:a16="http://schemas.microsoft.com/office/drawing/2014/main" id="{9FA80C6C-A094-F5C5-07DA-C347D596B11C}"/>
              </a:ext>
            </a:extLst>
          </p:cNvPr>
          <p:cNvSpPr/>
          <p:nvPr userDrawn="1"/>
        </p:nvSpPr>
        <p:spPr>
          <a:xfrm>
            <a:off x="383035" y="372029"/>
            <a:ext cx="11423203" cy="6109733"/>
          </a:xfrm>
          <a:prstGeom prst="rect">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ormorant Infant" pitchFamily="2" charset="0"/>
            </a:endParaRPr>
          </a:p>
        </p:txBody>
      </p:sp>
      <p:pic>
        <p:nvPicPr>
          <p:cNvPr id="3" name="Graphic 2">
            <a:extLst>
              <a:ext uri="{FF2B5EF4-FFF2-40B4-BE49-F238E27FC236}">
                <a16:creationId xmlns:a16="http://schemas.microsoft.com/office/drawing/2014/main" id="{3C616E66-EAE9-C6CE-5B90-054C8E0CFAE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313173" y="929206"/>
            <a:ext cx="1781349" cy="1344168"/>
          </a:xfrm>
          <a:prstGeom prst="rect">
            <a:avLst/>
          </a:prstGeom>
        </p:spPr>
      </p:pic>
    </p:spTree>
    <p:extLst>
      <p:ext uri="{BB962C8B-B14F-4D97-AF65-F5344CB8AC3E}">
        <p14:creationId xmlns:p14="http://schemas.microsoft.com/office/powerpoint/2010/main" val="1701034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ght Background">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B3F00D3-FC26-9940-E6DE-A678A8481E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0176" y="764384"/>
            <a:ext cx="11423203" cy="4844284"/>
          </a:xfrm>
          <a:prstGeom prst="rect">
            <a:avLst/>
          </a:prstGeom>
        </p:spPr>
      </p:pic>
      <p:sp>
        <p:nvSpPr>
          <p:cNvPr id="4" name="Rectangle 3">
            <a:extLst>
              <a:ext uri="{FF2B5EF4-FFF2-40B4-BE49-F238E27FC236}">
                <a16:creationId xmlns:a16="http://schemas.microsoft.com/office/drawing/2014/main" id="{9FA80C6C-A094-F5C5-07DA-C347D596B11C}"/>
              </a:ext>
            </a:extLst>
          </p:cNvPr>
          <p:cNvSpPr/>
          <p:nvPr userDrawn="1"/>
        </p:nvSpPr>
        <p:spPr>
          <a:xfrm>
            <a:off x="387486" y="374133"/>
            <a:ext cx="11423203" cy="6109733"/>
          </a:xfrm>
          <a:prstGeom prst="rect">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ormorant Infant" pitchFamily="2" charset="0"/>
            </a:endParaRPr>
          </a:p>
        </p:txBody>
      </p:sp>
      <p:sp>
        <p:nvSpPr>
          <p:cNvPr id="6" name="TextBox 5">
            <a:extLst>
              <a:ext uri="{FF2B5EF4-FFF2-40B4-BE49-F238E27FC236}">
                <a16:creationId xmlns:a16="http://schemas.microsoft.com/office/drawing/2014/main" id="{2F75B991-0232-6551-FDAC-6132BF07DE7E}"/>
              </a:ext>
            </a:extLst>
          </p:cNvPr>
          <p:cNvSpPr txBox="1"/>
          <p:nvPr userDrawn="1"/>
        </p:nvSpPr>
        <p:spPr>
          <a:xfrm>
            <a:off x="5945048" y="496132"/>
            <a:ext cx="222119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PROTECT  MAINTAIN  ENHANCE      |</a:t>
            </a:r>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sp>
        <p:nvSpPr>
          <p:cNvPr id="17" name="TextBox 16">
            <a:extLst>
              <a:ext uri="{FF2B5EF4-FFF2-40B4-BE49-F238E27FC236}">
                <a16:creationId xmlns:a16="http://schemas.microsoft.com/office/drawing/2014/main" id="{AF0DC4A4-7BBA-E35B-2B72-3FA8B58425DE}"/>
              </a:ext>
            </a:extLst>
          </p:cNvPr>
          <p:cNvSpPr txBox="1"/>
          <p:nvPr userDrawn="1"/>
        </p:nvSpPr>
        <p:spPr>
          <a:xfrm>
            <a:off x="10922793" y="502482"/>
            <a:ext cx="73847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PAGE   |  </a:t>
            </a:r>
            <a:fld id="{23A36B31-E981-4659-8CC6-2BE5C60DE4F9}" type="slidenum">
              <a:rPr lang="en-US" sz="1000" smtClean="0">
                <a:solidFill>
                  <a:schemeClr val="accent1">
                    <a:lumMod val="75000"/>
                  </a:schemeClr>
                </a:solidFill>
                <a:latin typeface="Cormorant Infant" pitchFamily="2" charset="0"/>
                <a:ea typeface="Cormorant Infant" pitchFamily="2" charset="0"/>
                <a:cs typeface="Cormorant Infant" pitchFamily="2" charset="0"/>
              </a:rPr>
              <a:t>‹#›</a:t>
            </a:fld>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cxnSp>
        <p:nvCxnSpPr>
          <p:cNvPr id="21" name="Straight Connector 20">
            <a:extLst>
              <a:ext uri="{FF2B5EF4-FFF2-40B4-BE49-F238E27FC236}">
                <a16:creationId xmlns:a16="http://schemas.microsoft.com/office/drawing/2014/main" id="{43E263CF-BAB9-DA4E-E88E-2B213A48EC98}"/>
              </a:ext>
            </a:extLst>
          </p:cNvPr>
          <p:cNvCxnSpPr/>
          <p:nvPr userDrawn="1"/>
        </p:nvCxnSpPr>
        <p:spPr>
          <a:xfrm>
            <a:off x="545782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E8DE75-2B93-3013-4FFF-BEEFD55D535E}"/>
              </a:ext>
            </a:extLst>
          </p:cNvPr>
          <p:cNvCxnSpPr/>
          <p:nvPr userDrawn="1"/>
        </p:nvCxnSpPr>
        <p:spPr>
          <a:xfrm>
            <a:off x="1081468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1CE1235-AC9F-3EF1-F6E7-4DE91943A503}"/>
              </a:ext>
            </a:extLst>
          </p:cNvPr>
          <p:cNvSpPr/>
          <p:nvPr userDrawn="1"/>
        </p:nvSpPr>
        <p:spPr>
          <a:xfrm>
            <a:off x="133350" y="5966862"/>
            <a:ext cx="1438275" cy="787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3174867C-1F2E-A95F-6CD3-98203C796D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9867" y="5703300"/>
            <a:ext cx="1046027" cy="787709"/>
          </a:xfrm>
          <a:prstGeom prst="rect">
            <a:avLst/>
          </a:prstGeom>
        </p:spPr>
      </p:pic>
      <p:cxnSp>
        <p:nvCxnSpPr>
          <p:cNvPr id="19" name="Straight Connector 18">
            <a:extLst>
              <a:ext uri="{FF2B5EF4-FFF2-40B4-BE49-F238E27FC236}">
                <a16:creationId xmlns:a16="http://schemas.microsoft.com/office/drawing/2014/main" id="{1BE780EC-F165-0CA7-E304-4D0283B93E4B}"/>
              </a:ext>
            </a:extLst>
          </p:cNvPr>
          <p:cNvCxnSpPr/>
          <p:nvPr userDrawn="1"/>
        </p:nvCxnSpPr>
        <p:spPr>
          <a:xfrm>
            <a:off x="383035" y="762003"/>
            <a:ext cx="11423203" cy="0"/>
          </a:xfrm>
          <a:prstGeom prst="line">
            <a:avLst/>
          </a:prstGeom>
          <a:ln w="63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80A0AE3-356C-05EE-D554-582D0A0FE538}"/>
              </a:ext>
            </a:extLst>
          </p:cNvPr>
          <p:cNvSpPr/>
          <p:nvPr userDrawn="1"/>
        </p:nvSpPr>
        <p:spPr>
          <a:xfrm>
            <a:off x="3615037" y="6491009"/>
            <a:ext cx="8215659" cy="20186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800" spc="20" baseline="0" dirty="0">
                <a:solidFill>
                  <a:schemeClr val="accent1">
                    <a:lumMod val="50000"/>
                  </a:schemeClr>
                </a:solidFill>
                <a:latin typeface="Cormorant Infant Light" pitchFamily="2" charset="0"/>
                <a:ea typeface="Cormorant Infant Light" pitchFamily="2" charset="0"/>
                <a:cs typeface="Cormorant Infant Light" pitchFamily="2" charset="0"/>
              </a:rPr>
              <a:t>We are committed to maintaining the confidentiality, integrity, and security of the personal information provided in this document.</a:t>
            </a:r>
          </a:p>
        </p:txBody>
      </p:sp>
    </p:spTree>
    <p:extLst>
      <p:ext uri="{BB962C8B-B14F-4D97-AF65-F5344CB8AC3E}">
        <p14:creationId xmlns:p14="http://schemas.microsoft.com/office/powerpoint/2010/main" val="290574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Light Background">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B3F00D3-FC26-9940-E6DE-A678A8481E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0176" y="764384"/>
            <a:ext cx="11423203" cy="4844284"/>
          </a:xfrm>
          <a:prstGeom prst="rect">
            <a:avLst/>
          </a:prstGeom>
        </p:spPr>
      </p:pic>
      <p:sp>
        <p:nvSpPr>
          <p:cNvPr id="4" name="Rectangle 3">
            <a:extLst>
              <a:ext uri="{FF2B5EF4-FFF2-40B4-BE49-F238E27FC236}">
                <a16:creationId xmlns:a16="http://schemas.microsoft.com/office/drawing/2014/main" id="{9FA80C6C-A094-F5C5-07DA-C347D596B11C}"/>
              </a:ext>
            </a:extLst>
          </p:cNvPr>
          <p:cNvSpPr/>
          <p:nvPr userDrawn="1"/>
        </p:nvSpPr>
        <p:spPr>
          <a:xfrm>
            <a:off x="387486" y="374133"/>
            <a:ext cx="11423203" cy="6109733"/>
          </a:xfrm>
          <a:prstGeom prst="rect">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ormorant Infant" pitchFamily="2" charset="0"/>
            </a:endParaRPr>
          </a:p>
        </p:txBody>
      </p:sp>
      <p:sp>
        <p:nvSpPr>
          <p:cNvPr id="6" name="TextBox 5">
            <a:extLst>
              <a:ext uri="{FF2B5EF4-FFF2-40B4-BE49-F238E27FC236}">
                <a16:creationId xmlns:a16="http://schemas.microsoft.com/office/drawing/2014/main" id="{2F75B991-0232-6551-FDAC-6132BF07DE7E}"/>
              </a:ext>
            </a:extLst>
          </p:cNvPr>
          <p:cNvSpPr txBox="1"/>
          <p:nvPr userDrawn="1"/>
        </p:nvSpPr>
        <p:spPr>
          <a:xfrm>
            <a:off x="5945048" y="496132"/>
            <a:ext cx="222119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PROTECT  MAINTAIN  ENHANCE      |</a:t>
            </a:r>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sp>
        <p:nvSpPr>
          <p:cNvPr id="17" name="TextBox 16">
            <a:extLst>
              <a:ext uri="{FF2B5EF4-FFF2-40B4-BE49-F238E27FC236}">
                <a16:creationId xmlns:a16="http://schemas.microsoft.com/office/drawing/2014/main" id="{AF0DC4A4-7BBA-E35B-2B72-3FA8B58425DE}"/>
              </a:ext>
            </a:extLst>
          </p:cNvPr>
          <p:cNvSpPr txBox="1"/>
          <p:nvPr userDrawn="1"/>
        </p:nvSpPr>
        <p:spPr>
          <a:xfrm>
            <a:off x="10922793" y="502482"/>
            <a:ext cx="73847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PAGE   |  </a:t>
            </a:r>
            <a:fld id="{23A36B31-E981-4659-8CC6-2BE5C60DE4F9}" type="slidenum">
              <a:rPr lang="en-US" sz="1000" smtClean="0">
                <a:solidFill>
                  <a:schemeClr val="accent1">
                    <a:lumMod val="75000"/>
                  </a:schemeClr>
                </a:solidFill>
                <a:latin typeface="Cormorant Infant" pitchFamily="2" charset="0"/>
                <a:ea typeface="Cormorant Infant" pitchFamily="2" charset="0"/>
                <a:cs typeface="Cormorant Infant" pitchFamily="2" charset="0"/>
              </a:rPr>
              <a:t>‹#›</a:t>
            </a:fld>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cxnSp>
        <p:nvCxnSpPr>
          <p:cNvPr id="21" name="Straight Connector 20">
            <a:extLst>
              <a:ext uri="{FF2B5EF4-FFF2-40B4-BE49-F238E27FC236}">
                <a16:creationId xmlns:a16="http://schemas.microsoft.com/office/drawing/2014/main" id="{43E263CF-BAB9-DA4E-E88E-2B213A48EC98}"/>
              </a:ext>
            </a:extLst>
          </p:cNvPr>
          <p:cNvCxnSpPr/>
          <p:nvPr userDrawn="1"/>
        </p:nvCxnSpPr>
        <p:spPr>
          <a:xfrm>
            <a:off x="545782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E8DE75-2B93-3013-4FFF-BEEFD55D535E}"/>
              </a:ext>
            </a:extLst>
          </p:cNvPr>
          <p:cNvCxnSpPr/>
          <p:nvPr userDrawn="1"/>
        </p:nvCxnSpPr>
        <p:spPr>
          <a:xfrm>
            <a:off x="1081468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1CE1235-AC9F-3EF1-F6E7-4DE91943A503}"/>
              </a:ext>
            </a:extLst>
          </p:cNvPr>
          <p:cNvSpPr/>
          <p:nvPr userDrawn="1"/>
        </p:nvSpPr>
        <p:spPr>
          <a:xfrm>
            <a:off x="133350" y="5966862"/>
            <a:ext cx="1438275" cy="787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3174867C-1F2E-A95F-6CD3-98203C796D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9867" y="5703300"/>
            <a:ext cx="1046027" cy="787709"/>
          </a:xfrm>
          <a:prstGeom prst="rect">
            <a:avLst/>
          </a:prstGeom>
        </p:spPr>
      </p:pic>
      <p:cxnSp>
        <p:nvCxnSpPr>
          <p:cNvPr id="19" name="Straight Connector 18">
            <a:extLst>
              <a:ext uri="{FF2B5EF4-FFF2-40B4-BE49-F238E27FC236}">
                <a16:creationId xmlns:a16="http://schemas.microsoft.com/office/drawing/2014/main" id="{1BE780EC-F165-0CA7-E304-4D0283B93E4B}"/>
              </a:ext>
            </a:extLst>
          </p:cNvPr>
          <p:cNvCxnSpPr/>
          <p:nvPr userDrawn="1"/>
        </p:nvCxnSpPr>
        <p:spPr>
          <a:xfrm>
            <a:off x="383035" y="762003"/>
            <a:ext cx="11423203" cy="0"/>
          </a:xfrm>
          <a:prstGeom prst="line">
            <a:avLst/>
          </a:prstGeom>
          <a:ln w="63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41717B21-4409-DB7D-1532-9D768B26D6A4}"/>
              </a:ext>
            </a:extLst>
          </p:cNvPr>
          <p:cNvSpPr>
            <a:spLocks noGrp="1"/>
          </p:cNvSpPr>
          <p:nvPr>
            <p:ph sz="quarter" idx="10"/>
          </p:nvPr>
        </p:nvSpPr>
        <p:spPr>
          <a:xfrm>
            <a:off x="979487" y="1570038"/>
            <a:ext cx="9943305" cy="1468437"/>
          </a:xfrm>
          <a:prstGeom prst="rect">
            <a:avLst/>
          </a:prstGeom>
        </p:spPr>
        <p:txBody>
          <a:bodyPr/>
          <a:lstStyle>
            <a:lvl1pPr>
              <a:defRPr sz="1000">
                <a:latin typeface="Cormorant Infant" pitchFamily="2" charset="0"/>
                <a:ea typeface="Cormorant Infant" pitchFamily="2" charset="0"/>
                <a:cs typeface="Cormorant Infant" pitchFamily="2" charset="0"/>
              </a:defRPr>
            </a:lvl1pPr>
            <a:lvl2pPr>
              <a:defRPr sz="1000">
                <a:latin typeface="Cormorant Infant" pitchFamily="2" charset="0"/>
                <a:ea typeface="Cormorant Infant" pitchFamily="2" charset="0"/>
                <a:cs typeface="Cormorant Infant" pitchFamily="2" charset="0"/>
              </a:defRPr>
            </a:lvl2pPr>
            <a:lvl3pPr>
              <a:defRPr sz="1000">
                <a:latin typeface="Cormorant Infant" pitchFamily="2" charset="0"/>
                <a:ea typeface="Cormorant Infant" pitchFamily="2" charset="0"/>
                <a:cs typeface="Cormorant Infant" pitchFamily="2" charset="0"/>
              </a:defRPr>
            </a:lvl3pPr>
            <a:lvl4pPr>
              <a:defRPr sz="1000">
                <a:latin typeface="Cormorant Infant" pitchFamily="2" charset="0"/>
                <a:ea typeface="Cormorant Infant" pitchFamily="2" charset="0"/>
                <a:cs typeface="Cormorant Infant" pitchFamily="2" charset="0"/>
              </a:defRPr>
            </a:lvl4pPr>
            <a:lvl5pPr>
              <a:defRPr sz="1000">
                <a:latin typeface="Cormorant Infant" pitchFamily="2" charset="0"/>
                <a:ea typeface="Cormorant Infant" pitchFamily="2" charset="0"/>
                <a:cs typeface="Cormorant Infant"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9DC26A29-F942-5312-C890-F1521F069E2C}"/>
              </a:ext>
            </a:extLst>
          </p:cNvPr>
          <p:cNvSpPr/>
          <p:nvPr userDrawn="1"/>
        </p:nvSpPr>
        <p:spPr>
          <a:xfrm>
            <a:off x="3615037" y="6491009"/>
            <a:ext cx="8215659" cy="20186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800" spc="20" baseline="0" dirty="0">
                <a:solidFill>
                  <a:schemeClr val="accent1">
                    <a:lumMod val="50000"/>
                  </a:schemeClr>
                </a:solidFill>
                <a:latin typeface="Cormorant Infant Light" pitchFamily="2" charset="0"/>
                <a:ea typeface="Cormorant Infant Light" pitchFamily="2" charset="0"/>
                <a:cs typeface="Cormorant Infant Light" pitchFamily="2" charset="0"/>
              </a:rPr>
              <a:t>We are committed to maintaining the confidentiality, integrity, and security of the personal information provided in this document.</a:t>
            </a:r>
          </a:p>
        </p:txBody>
      </p:sp>
    </p:spTree>
    <p:extLst>
      <p:ext uri="{BB962C8B-B14F-4D97-AF65-F5344CB8AC3E}">
        <p14:creationId xmlns:p14="http://schemas.microsoft.com/office/powerpoint/2010/main" val="11249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Light Background">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B3F00D3-FC26-9940-E6DE-A678A8481E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0176" y="764384"/>
            <a:ext cx="11423203" cy="4844284"/>
          </a:xfrm>
          <a:prstGeom prst="rect">
            <a:avLst/>
          </a:prstGeom>
        </p:spPr>
      </p:pic>
      <p:sp>
        <p:nvSpPr>
          <p:cNvPr id="4" name="Rectangle 3">
            <a:extLst>
              <a:ext uri="{FF2B5EF4-FFF2-40B4-BE49-F238E27FC236}">
                <a16:creationId xmlns:a16="http://schemas.microsoft.com/office/drawing/2014/main" id="{9FA80C6C-A094-F5C5-07DA-C347D596B11C}"/>
              </a:ext>
            </a:extLst>
          </p:cNvPr>
          <p:cNvSpPr/>
          <p:nvPr userDrawn="1"/>
        </p:nvSpPr>
        <p:spPr>
          <a:xfrm>
            <a:off x="387486" y="374133"/>
            <a:ext cx="11423203" cy="6109733"/>
          </a:xfrm>
          <a:prstGeom prst="rect">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ormorant Infant" pitchFamily="2" charset="0"/>
            </a:endParaRPr>
          </a:p>
        </p:txBody>
      </p:sp>
      <p:sp>
        <p:nvSpPr>
          <p:cNvPr id="6" name="TextBox 5">
            <a:extLst>
              <a:ext uri="{FF2B5EF4-FFF2-40B4-BE49-F238E27FC236}">
                <a16:creationId xmlns:a16="http://schemas.microsoft.com/office/drawing/2014/main" id="{2F75B991-0232-6551-FDAC-6132BF07DE7E}"/>
              </a:ext>
            </a:extLst>
          </p:cNvPr>
          <p:cNvSpPr txBox="1"/>
          <p:nvPr userDrawn="1"/>
        </p:nvSpPr>
        <p:spPr>
          <a:xfrm>
            <a:off x="5945048" y="496132"/>
            <a:ext cx="222119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PROTECT  MAINTAIN  ENHANCE      |</a:t>
            </a:r>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sp>
        <p:nvSpPr>
          <p:cNvPr id="17" name="TextBox 16">
            <a:extLst>
              <a:ext uri="{FF2B5EF4-FFF2-40B4-BE49-F238E27FC236}">
                <a16:creationId xmlns:a16="http://schemas.microsoft.com/office/drawing/2014/main" id="{AF0DC4A4-7BBA-E35B-2B72-3FA8B58425DE}"/>
              </a:ext>
            </a:extLst>
          </p:cNvPr>
          <p:cNvSpPr txBox="1"/>
          <p:nvPr userDrawn="1"/>
        </p:nvSpPr>
        <p:spPr>
          <a:xfrm>
            <a:off x="10922793" y="502482"/>
            <a:ext cx="73847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PAGE   |  </a:t>
            </a:r>
            <a:fld id="{23A36B31-E981-4659-8CC6-2BE5C60DE4F9}" type="slidenum">
              <a:rPr lang="en-US" sz="1000" smtClean="0">
                <a:solidFill>
                  <a:schemeClr val="accent1">
                    <a:lumMod val="75000"/>
                  </a:schemeClr>
                </a:solidFill>
                <a:latin typeface="Cormorant Infant" pitchFamily="2" charset="0"/>
                <a:ea typeface="Cormorant Infant" pitchFamily="2" charset="0"/>
                <a:cs typeface="Cormorant Infant" pitchFamily="2" charset="0"/>
              </a:rPr>
              <a:t>‹#›</a:t>
            </a:fld>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cxnSp>
        <p:nvCxnSpPr>
          <p:cNvPr id="21" name="Straight Connector 20">
            <a:extLst>
              <a:ext uri="{FF2B5EF4-FFF2-40B4-BE49-F238E27FC236}">
                <a16:creationId xmlns:a16="http://schemas.microsoft.com/office/drawing/2014/main" id="{43E263CF-BAB9-DA4E-E88E-2B213A48EC98}"/>
              </a:ext>
            </a:extLst>
          </p:cNvPr>
          <p:cNvCxnSpPr/>
          <p:nvPr userDrawn="1"/>
        </p:nvCxnSpPr>
        <p:spPr>
          <a:xfrm>
            <a:off x="545782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E8DE75-2B93-3013-4FFF-BEEFD55D535E}"/>
              </a:ext>
            </a:extLst>
          </p:cNvPr>
          <p:cNvCxnSpPr/>
          <p:nvPr userDrawn="1"/>
        </p:nvCxnSpPr>
        <p:spPr>
          <a:xfrm>
            <a:off x="1081468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1CE1235-AC9F-3EF1-F6E7-4DE91943A503}"/>
              </a:ext>
            </a:extLst>
          </p:cNvPr>
          <p:cNvSpPr/>
          <p:nvPr userDrawn="1"/>
        </p:nvSpPr>
        <p:spPr>
          <a:xfrm>
            <a:off x="133350" y="5966862"/>
            <a:ext cx="1438275" cy="787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3174867C-1F2E-A95F-6CD3-98203C796D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9867" y="5703300"/>
            <a:ext cx="1046027" cy="787709"/>
          </a:xfrm>
          <a:prstGeom prst="rect">
            <a:avLst/>
          </a:prstGeom>
        </p:spPr>
      </p:pic>
      <p:cxnSp>
        <p:nvCxnSpPr>
          <p:cNvPr id="19" name="Straight Connector 18">
            <a:extLst>
              <a:ext uri="{FF2B5EF4-FFF2-40B4-BE49-F238E27FC236}">
                <a16:creationId xmlns:a16="http://schemas.microsoft.com/office/drawing/2014/main" id="{1BE780EC-F165-0CA7-E304-4D0283B93E4B}"/>
              </a:ext>
            </a:extLst>
          </p:cNvPr>
          <p:cNvCxnSpPr/>
          <p:nvPr userDrawn="1"/>
        </p:nvCxnSpPr>
        <p:spPr>
          <a:xfrm>
            <a:off x="383035" y="762003"/>
            <a:ext cx="11423203" cy="0"/>
          </a:xfrm>
          <a:prstGeom prst="line">
            <a:avLst/>
          </a:prstGeom>
          <a:ln w="63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41717B21-4409-DB7D-1532-9D768B26D6A4}"/>
              </a:ext>
            </a:extLst>
          </p:cNvPr>
          <p:cNvSpPr>
            <a:spLocks noGrp="1"/>
          </p:cNvSpPr>
          <p:nvPr>
            <p:ph sz="quarter" idx="10"/>
          </p:nvPr>
        </p:nvSpPr>
        <p:spPr>
          <a:xfrm>
            <a:off x="979487" y="1570038"/>
            <a:ext cx="9943305" cy="1468437"/>
          </a:xfrm>
          <a:prstGeom prst="rect">
            <a:avLst/>
          </a:prstGeom>
        </p:spPr>
        <p:txBody>
          <a:bodyPr/>
          <a:lstStyle>
            <a:lvl1pPr>
              <a:defRPr sz="1000">
                <a:latin typeface="Cormorant Infant" pitchFamily="2" charset="0"/>
                <a:ea typeface="Cormorant Infant" pitchFamily="2" charset="0"/>
                <a:cs typeface="Cormorant Infant" pitchFamily="2" charset="0"/>
              </a:defRPr>
            </a:lvl1pPr>
            <a:lvl2pPr>
              <a:defRPr sz="1000">
                <a:latin typeface="Cormorant Infant" pitchFamily="2" charset="0"/>
                <a:ea typeface="Cormorant Infant" pitchFamily="2" charset="0"/>
                <a:cs typeface="Cormorant Infant" pitchFamily="2" charset="0"/>
              </a:defRPr>
            </a:lvl2pPr>
            <a:lvl3pPr>
              <a:defRPr sz="1000">
                <a:latin typeface="Cormorant Infant" pitchFamily="2" charset="0"/>
                <a:ea typeface="Cormorant Infant" pitchFamily="2" charset="0"/>
                <a:cs typeface="Cormorant Infant" pitchFamily="2" charset="0"/>
              </a:defRPr>
            </a:lvl3pPr>
            <a:lvl4pPr>
              <a:defRPr sz="1000">
                <a:latin typeface="Cormorant Infant" pitchFamily="2" charset="0"/>
                <a:ea typeface="Cormorant Infant" pitchFamily="2" charset="0"/>
                <a:cs typeface="Cormorant Infant" pitchFamily="2" charset="0"/>
              </a:defRPr>
            </a:lvl4pPr>
            <a:lvl5pPr>
              <a:defRPr sz="1000">
                <a:latin typeface="Cormorant Infant" pitchFamily="2" charset="0"/>
                <a:ea typeface="Cormorant Infant" pitchFamily="2" charset="0"/>
                <a:cs typeface="Cormorant Infant"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4">
            <a:extLst>
              <a:ext uri="{FF2B5EF4-FFF2-40B4-BE49-F238E27FC236}">
                <a16:creationId xmlns:a16="http://schemas.microsoft.com/office/drawing/2014/main" id="{13B8E59F-438B-FAE3-6E11-6902910BF8E8}"/>
              </a:ext>
            </a:extLst>
          </p:cNvPr>
          <p:cNvSpPr>
            <a:spLocks noGrp="1"/>
          </p:cNvSpPr>
          <p:nvPr>
            <p:ph sz="quarter" idx="11"/>
          </p:nvPr>
        </p:nvSpPr>
        <p:spPr>
          <a:xfrm>
            <a:off x="979487" y="3409584"/>
            <a:ext cx="9943305" cy="1468437"/>
          </a:xfrm>
          <a:prstGeom prst="rect">
            <a:avLst/>
          </a:prstGeom>
        </p:spPr>
        <p:txBody>
          <a:bodyPr/>
          <a:lstStyle>
            <a:lvl1pPr>
              <a:defRPr sz="1000">
                <a:latin typeface="Cormorant Infant" pitchFamily="2" charset="0"/>
                <a:ea typeface="Cormorant Infant" pitchFamily="2" charset="0"/>
                <a:cs typeface="Cormorant Infant" pitchFamily="2" charset="0"/>
              </a:defRPr>
            </a:lvl1pPr>
            <a:lvl2pPr>
              <a:defRPr sz="1000">
                <a:latin typeface="Cormorant Infant" pitchFamily="2" charset="0"/>
                <a:ea typeface="Cormorant Infant" pitchFamily="2" charset="0"/>
                <a:cs typeface="Cormorant Infant" pitchFamily="2" charset="0"/>
              </a:defRPr>
            </a:lvl2pPr>
            <a:lvl3pPr>
              <a:defRPr sz="1000">
                <a:latin typeface="Cormorant Infant" pitchFamily="2" charset="0"/>
                <a:ea typeface="Cormorant Infant" pitchFamily="2" charset="0"/>
                <a:cs typeface="Cormorant Infant" pitchFamily="2" charset="0"/>
              </a:defRPr>
            </a:lvl3pPr>
            <a:lvl4pPr>
              <a:defRPr sz="1000">
                <a:latin typeface="Cormorant Infant" pitchFamily="2" charset="0"/>
                <a:ea typeface="Cormorant Infant" pitchFamily="2" charset="0"/>
                <a:cs typeface="Cormorant Infant" pitchFamily="2" charset="0"/>
              </a:defRPr>
            </a:lvl4pPr>
            <a:lvl5pPr>
              <a:defRPr sz="1000">
                <a:latin typeface="Cormorant Infant" pitchFamily="2" charset="0"/>
                <a:ea typeface="Cormorant Infant" pitchFamily="2" charset="0"/>
                <a:cs typeface="Cormorant Infant"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A374DE27-1F99-EE0D-702C-6D8B9C3CE745}"/>
              </a:ext>
            </a:extLst>
          </p:cNvPr>
          <p:cNvSpPr/>
          <p:nvPr userDrawn="1"/>
        </p:nvSpPr>
        <p:spPr>
          <a:xfrm>
            <a:off x="3615037" y="6491009"/>
            <a:ext cx="8215659" cy="20186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800" spc="20" baseline="0" dirty="0">
                <a:solidFill>
                  <a:schemeClr val="accent1">
                    <a:lumMod val="50000"/>
                  </a:schemeClr>
                </a:solidFill>
                <a:latin typeface="Cormorant Infant Light" pitchFamily="2" charset="0"/>
                <a:ea typeface="Cormorant Infant Light" pitchFamily="2" charset="0"/>
                <a:cs typeface="Cormorant Infant Light" pitchFamily="2" charset="0"/>
              </a:rPr>
              <a:t>We are committed to maintaining the confidentiality, integrity, and security of the personal information provided in this document.</a:t>
            </a:r>
          </a:p>
        </p:txBody>
      </p:sp>
    </p:spTree>
    <p:extLst>
      <p:ext uri="{BB962C8B-B14F-4D97-AF65-F5344CB8AC3E}">
        <p14:creationId xmlns:p14="http://schemas.microsoft.com/office/powerpoint/2010/main" val="1780508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ight Background-No Watermark">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9E738B7-CD90-C4F7-C469-C5C77AEC6B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184" y="761209"/>
            <a:ext cx="11420856" cy="4843289"/>
          </a:xfrm>
          <a:prstGeom prst="rect">
            <a:avLst/>
          </a:prstGeom>
        </p:spPr>
      </p:pic>
      <p:sp>
        <p:nvSpPr>
          <p:cNvPr id="4" name="Rectangle 3">
            <a:extLst>
              <a:ext uri="{FF2B5EF4-FFF2-40B4-BE49-F238E27FC236}">
                <a16:creationId xmlns:a16="http://schemas.microsoft.com/office/drawing/2014/main" id="{9FA80C6C-A094-F5C5-07DA-C347D596B11C}"/>
              </a:ext>
            </a:extLst>
          </p:cNvPr>
          <p:cNvSpPr/>
          <p:nvPr userDrawn="1"/>
        </p:nvSpPr>
        <p:spPr>
          <a:xfrm>
            <a:off x="387486" y="374133"/>
            <a:ext cx="11423203" cy="6109733"/>
          </a:xfrm>
          <a:prstGeom prst="rect">
            <a:avLst/>
          </a:pr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ormorant Infant" pitchFamily="2" charset="0"/>
            </a:endParaRPr>
          </a:p>
        </p:txBody>
      </p:sp>
      <p:sp>
        <p:nvSpPr>
          <p:cNvPr id="6" name="TextBox 5">
            <a:extLst>
              <a:ext uri="{FF2B5EF4-FFF2-40B4-BE49-F238E27FC236}">
                <a16:creationId xmlns:a16="http://schemas.microsoft.com/office/drawing/2014/main" id="{2F75B991-0232-6551-FDAC-6132BF07DE7E}"/>
              </a:ext>
            </a:extLst>
          </p:cNvPr>
          <p:cNvSpPr txBox="1"/>
          <p:nvPr userDrawn="1"/>
        </p:nvSpPr>
        <p:spPr>
          <a:xfrm>
            <a:off x="5945048" y="496132"/>
            <a:ext cx="222119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PROTECT  MAINTAIN  ENHANCE      |</a:t>
            </a:r>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sp>
        <p:nvSpPr>
          <p:cNvPr id="17" name="TextBox 16">
            <a:extLst>
              <a:ext uri="{FF2B5EF4-FFF2-40B4-BE49-F238E27FC236}">
                <a16:creationId xmlns:a16="http://schemas.microsoft.com/office/drawing/2014/main" id="{AF0DC4A4-7BBA-E35B-2B72-3FA8B58425DE}"/>
              </a:ext>
            </a:extLst>
          </p:cNvPr>
          <p:cNvSpPr txBox="1"/>
          <p:nvPr userDrawn="1"/>
        </p:nvSpPr>
        <p:spPr>
          <a:xfrm>
            <a:off x="10922793" y="502482"/>
            <a:ext cx="738477" cy="208996"/>
          </a:xfrm>
          <a:prstGeom prst="rect">
            <a:avLst/>
          </a:prstGeom>
          <a:noFill/>
        </p:spPr>
        <p:txBody>
          <a:bodyPr wrap="square" lIns="0" tIns="0" rIns="0" bIns="0" rtlCol="0" anchor="t">
            <a:noAutofit/>
          </a:bodyPr>
          <a:lstStyle/>
          <a:p>
            <a:pPr algn="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PAGE   |  </a:t>
            </a:r>
            <a:fld id="{23A36B31-E981-4659-8CC6-2BE5C60DE4F9}" type="slidenum">
              <a:rPr lang="en-US" sz="1000" smtClean="0">
                <a:solidFill>
                  <a:schemeClr val="accent1">
                    <a:lumMod val="75000"/>
                  </a:schemeClr>
                </a:solidFill>
                <a:latin typeface="Cormorant Infant" pitchFamily="2" charset="0"/>
                <a:ea typeface="Cormorant Infant" pitchFamily="2" charset="0"/>
                <a:cs typeface="Cormorant Infant" pitchFamily="2" charset="0"/>
              </a:rPr>
              <a:t>‹#›</a:t>
            </a:fld>
            <a:endParaRPr lang="en-US" sz="1000" i="1" dirty="0">
              <a:solidFill>
                <a:schemeClr val="accent1">
                  <a:lumMod val="75000"/>
                </a:schemeClr>
              </a:solidFill>
              <a:latin typeface="Cormorant Infant" pitchFamily="2" charset="0"/>
              <a:ea typeface="Cormorant Infant" pitchFamily="2" charset="0"/>
              <a:cs typeface="Cormorant Infant" pitchFamily="2" charset="0"/>
            </a:endParaRPr>
          </a:p>
        </p:txBody>
      </p:sp>
      <p:cxnSp>
        <p:nvCxnSpPr>
          <p:cNvPr id="21" name="Straight Connector 20">
            <a:extLst>
              <a:ext uri="{FF2B5EF4-FFF2-40B4-BE49-F238E27FC236}">
                <a16:creationId xmlns:a16="http://schemas.microsoft.com/office/drawing/2014/main" id="{43E263CF-BAB9-DA4E-E88E-2B213A48EC98}"/>
              </a:ext>
            </a:extLst>
          </p:cNvPr>
          <p:cNvCxnSpPr/>
          <p:nvPr userDrawn="1"/>
        </p:nvCxnSpPr>
        <p:spPr>
          <a:xfrm>
            <a:off x="545782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E8DE75-2B93-3013-4FFF-BEEFD55D535E}"/>
              </a:ext>
            </a:extLst>
          </p:cNvPr>
          <p:cNvCxnSpPr/>
          <p:nvPr userDrawn="1"/>
        </p:nvCxnSpPr>
        <p:spPr>
          <a:xfrm>
            <a:off x="10814686" y="374133"/>
            <a:ext cx="0" cy="38787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1CE1235-AC9F-3EF1-F6E7-4DE91943A503}"/>
              </a:ext>
            </a:extLst>
          </p:cNvPr>
          <p:cNvSpPr/>
          <p:nvPr userDrawn="1"/>
        </p:nvSpPr>
        <p:spPr>
          <a:xfrm>
            <a:off x="133350" y="5966862"/>
            <a:ext cx="1438275" cy="787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3174867C-1F2E-A95F-6CD3-98203C796D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9867" y="5703300"/>
            <a:ext cx="1046027" cy="787709"/>
          </a:xfrm>
          <a:prstGeom prst="rect">
            <a:avLst/>
          </a:prstGeom>
        </p:spPr>
      </p:pic>
      <p:cxnSp>
        <p:nvCxnSpPr>
          <p:cNvPr id="19" name="Straight Connector 18">
            <a:extLst>
              <a:ext uri="{FF2B5EF4-FFF2-40B4-BE49-F238E27FC236}">
                <a16:creationId xmlns:a16="http://schemas.microsoft.com/office/drawing/2014/main" id="{1BE780EC-F165-0CA7-E304-4D0283B93E4B}"/>
              </a:ext>
            </a:extLst>
          </p:cNvPr>
          <p:cNvCxnSpPr/>
          <p:nvPr userDrawn="1"/>
        </p:nvCxnSpPr>
        <p:spPr>
          <a:xfrm>
            <a:off x="383035" y="762003"/>
            <a:ext cx="11423203" cy="0"/>
          </a:xfrm>
          <a:prstGeom prst="line">
            <a:avLst/>
          </a:prstGeom>
          <a:ln w="63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48C8708A-DF69-8316-CB18-543EE593B823}"/>
              </a:ext>
            </a:extLst>
          </p:cNvPr>
          <p:cNvSpPr/>
          <p:nvPr userDrawn="1"/>
        </p:nvSpPr>
        <p:spPr>
          <a:xfrm>
            <a:off x="3615037" y="6491009"/>
            <a:ext cx="8215659" cy="20186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800" spc="20" baseline="0" dirty="0">
                <a:solidFill>
                  <a:schemeClr val="accent1">
                    <a:lumMod val="50000"/>
                  </a:schemeClr>
                </a:solidFill>
                <a:latin typeface="Cormorant Infant Light" pitchFamily="2" charset="0"/>
                <a:ea typeface="Cormorant Infant Light" pitchFamily="2" charset="0"/>
                <a:cs typeface="Cormorant Infant Light" pitchFamily="2" charset="0"/>
              </a:rPr>
              <a:t>We are committed to maintaining the confidentiality, integrity, and security of the personal information provided in this document.</a:t>
            </a:r>
          </a:p>
        </p:txBody>
      </p:sp>
    </p:spTree>
    <p:extLst>
      <p:ext uri="{BB962C8B-B14F-4D97-AF65-F5344CB8AC3E}">
        <p14:creationId xmlns:p14="http://schemas.microsoft.com/office/powerpoint/2010/main" val="165140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Background">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AAFC32-E758-7184-B598-338EA21CED5F}"/>
              </a:ext>
            </a:extLst>
          </p:cNvPr>
          <p:cNvSpPr/>
          <p:nvPr userDrawn="1"/>
        </p:nvSpPr>
        <p:spPr>
          <a:xfrm>
            <a:off x="385762" y="374132"/>
            <a:ext cx="5072064" cy="387871"/>
          </a:xfrm>
          <a:prstGeom prst="rect">
            <a:avLst/>
          </a:prstGeom>
          <a:solidFill>
            <a:schemeClr val="tx2">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A80C6C-A094-F5C5-07DA-C347D596B11C}"/>
              </a:ext>
            </a:extLst>
          </p:cNvPr>
          <p:cNvSpPr/>
          <p:nvPr userDrawn="1"/>
        </p:nvSpPr>
        <p:spPr>
          <a:xfrm>
            <a:off x="387486" y="374133"/>
            <a:ext cx="11423203" cy="6109733"/>
          </a:xfrm>
          <a:prstGeom prst="rect">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ormorant Infant" pitchFamily="2" charset="0"/>
            </a:endParaRPr>
          </a:p>
        </p:txBody>
      </p:sp>
      <p:sp>
        <p:nvSpPr>
          <p:cNvPr id="6" name="TextBox 5">
            <a:extLst>
              <a:ext uri="{FF2B5EF4-FFF2-40B4-BE49-F238E27FC236}">
                <a16:creationId xmlns:a16="http://schemas.microsoft.com/office/drawing/2014/main" id="{2F75B991-0232-6551-FDAC-6132BF07DE7E}"/>
              </a:ext>
            </a:extLst>
          </p:cNvPr>
          <p:cNvSpPr txBox="1"/>
          <p:nvPr userDrawn="1"/>
        </p:nvSpPr>
        <p:spPr>
          <a:xfrm>
            <a:off x="5945048" y="496132"/>
            <a:ext cx="2221197" cy="208996"/>
          </a:xfrm>
          <a:prstGeom prst="rect">
            <a:avLst/>
          </a:prstGeom>
          <a:noFill/>
        </p:spPr>
        <p:txBody>
          <a:bodyPr wrap="square" lIns="0" tIns="0" rIns="0" bIns="0" rtlCol="0" anchor="t">
            <a:noAutofit/>
          </a:bodyPr>
          <a:lstStyle/>
          <a:p>
            <a:pPr algn="r">
              <a:lnSpc>
                <a:spcPts val="1200"/>
              </a:lnSpc>
            </a:pPr>
            <a:r>
              <a:rPr lang="en-US" sz="1000" dirty="0">
                <a:solidFill>
                  <a:schemeClr val="accent1"/>
                </a:solidFill>
                <a:latin typeface="Cormorant Infant" pitchFamily="2" charset="0"/>
                <a:ea typeface="Cormorant Infant" pitchFamily="2" charset="0"/>
                <a:cs typeface="Cormorant Infant" pitchFamily="2" charset="0"/>
              </a:rPr>
              <a:t>PROTECT  MAINTAIN  ENHANCE      |</a:t>
            </a:r>
            <a:endParaRPr lang="en-US" sz="1000" i="1" dirty="0">
              <a:solidFill>
                <a:schemeClr val="accent1"/>
              </a:solidFill>
              <a:latin typeface="Cormorant Infant" pitchFamily="2" charset="0"/>
              <a:ea typeface="Cormorant Infant" pitchFamily="2" charset="0"/>
              <a:cs typeface="Cormorant Infant" pitchFamily="2" charset="0"/>
            </a:endParaRPr>
          </a:p>
        </p:txBody>
      </p:sp>
      <p:sp>
        <p:nvSpPr>
          <p:cNvPr id="17" name="TextBox 16">
            <a:extLst>
              <a:ext uri="{FF2B5EF4-FFF2-40B4-BE49-F238E27FC236}">
                <a16:creationId xmlns:a16="http://schemas.microsoft.com/office/drawing/2014/main" id="{AF0DC4A4-7BBA-E35B-2B72-3FA8B58425DE}"/>
              </a:ext>
            </a:extLst>
          </p:cNvPr>
          <p:cNvSpPr txBox="1"/>
          <p:nvPr userDrawn="1"/>
        </p:nvSpPr>
        <p:spPr>
          <a:xfrm>
            <a:off x="10922793" y="502482"/>
            <a:ext cx="738477" cy="208996"/>
          </a:xfrm>
          <a:prstGeom prst="rect">
            <a:avLst/>
          </a:prstGeom>
          <a:noFill/>
        </p:spPr>
        <p:txBody>
          <a:bodyPr wrap="square" lIns="0" tIns="0" rIns="0" bIns="0" rtlCol="0" anchor="t">
            <a:noAutofit/>
          </a:bodyPr>
          <a:lstStyle/>
          <a:p>
            <a:pPr algn="r">
              <a:lnSpc>
                <a:spcPts val="1200"/>
              </a:lnSpc>
            </a:pPr>
            <a:r>
              <a:rPr lang="en-US" sz="1000" dirty="0">
                <a:solidFill>
                  <a:schemeClr val="accent1"/>
                </a:solidFill>
                <a:latin typeface="Cormorant Infant" pitchFamily="2" charset="0"/>
                <a:ea typeface="Cormorant Infant" pitchFamily="2" charset="0"/>
                <a:cs typeface="Cormorant Infant" pitchFamily="2" charset="0"/>
              </a:rPr>
              <a:t>PAGE   |  </a:t>
            </a:r>
            <a:fld id="{23A36B31-E981-4659-8CC6-2BE5C60DE4F9}" type="slidenum">
              <a:rPr lang="en-US" sz="1000" smtClean="0">
                <a:solidFill>
                  <a:schemeClr val="accent1"/>
                </a:solidFill>
                <a:latin typeface="Cormorant Infant" pitchFamily="2" charset="0"/>
                <a:ea typeface="Cormorant Infant" pitchFamily="2" charset="0"/>
                <a:cs typeface="Cormorant Infant" pitchFamily="2" charset="0"/>
              </a:rPr>
              <a:t>‹#›</a:t>
            </a:fld>
            <a:endParaRPr lang="en-US" sz="1000" i="1" dirty="0">
              <a:solidFill>
                <a:schemeClr val="accent1"/>
              </a:solidFill>
              <a:latin typeface="Cormorant Infant" pitchFamily="2" charset="0"/>
              <a:ea typeface="Cormorant Infant" pitchFamily="2" charset="0"/>
              <a:cs typeface="Cormorant Infant" pitchFamily="2" charset="0"/>
            </a:endParaRPr>
          </a:p>
        </p:txBody>
      </p:sp>
      <p:cxnSp>
        <p:nvCxnSpPr>
          <p:cNvPr id="21" name="Straight Connector 20">
            <a:extLst>
              <a:ext uri="{FF2B5EF4-FFF2-40B4-BE49-F238E27FC236}">
                <a16:creationId xmlns:a16="http://schemas.microsoft.com/office/drawing/2014/main" id="{43E263CF-BAB9-DA4E-E88E-2B213A48EC98}"/>
              </a:ext>
            </a:extLst>
          </p:cNvPr>
          <p:cNvCxnSpPr/>
          <p:nvPr userDrawn="1"/>
        </p:nvCxnSpPr>
        <p:spPr>
          <a:xfrm>
            <a:off x="5457826" y="374133"/>
            <a:ext cx="0" cy="38787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E8DE75-2B93-3013-4FFF-BEEFD55D535E}"/>
              </a:ext>
            </a:extLst>
          </p:cNvPr>
          <p:cNvCxnSpPr/>
          <p:nvPr userDrawn="1"/>
        </p:nvCxnSpPr>
        <p:spPr>
          <a:xfrm>
            <a:off x="10814686" y="374133"/>
            <a:ext cx="0" cy="38787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1CE1235-AC9F-3EF1-F6E7-4DE91943A503}"/>
              </a:ext>
            </a:extLst>
          </p:cNvPr>
          <p:cNvSpPr/>
          <p:nvPr userDrawn="1"/>
        </p:nvSpPr>
        <p:spPr>
          <a:xfrm>
            <a:off x="133350" y="5966862"/>
            <a:ext cx="1438275" cy="7877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a:extLst>
              <a:ext uri="{FF2B5EF4-FFF2-40B4-BE49-F238E27FC236}">
                <a16:creationId xmlns:a16="http://schemas.microsoft.com/office/drawing/2014/main" id="{3174867C-1F2E-A95F-6CD3-98203C796D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9867" y="5703300"/>
            <a:ext cx="1046027" cy="787709"/>
          </a:xfrm>
          <a:prstGeom prst="rect">
            <a:avLst/>
          </a:prstGeom>
        </p:spPr>
      </p:pic>
      <p:cxnSp>
        <p:nvCxnSpPr>
          <p:cNvPr id="19" name="Straight Connector 18">
            <a:extLst>
              <a:ext uri="{FF2B5EF4-FFF2-40B4-BE49-F238E27FC236}">
                <a16:creationId xmlns:a16="http://schemas.microsoft.com/office/drawing/2014/main" id="{1BE780EC-F165-0CA7-E304-4D0283B93E4B}"/>
              </a:ext>
            </a:extLst>
          </p:cNvPr>
          <p:cNvCxnSpPr/>
          <p:nvPr userDrawn="1"/>
        </p:nvCxnSpPr>
        <p:spPr>
          <a:xfrm>
            <a:off x="383035" y="762003"/>
            <a:ext cx="1142320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82452438-48ED-21A3-82CA-EC3E60CA12DF}"/>
              </a:ext>
            </a:extLst>
          </p:cNvPr>
          <p:cNvSpPr/>
          <p:nvPr userDrawn="1"/>
        </p:nvSpPr>
        <p:spPr>
          <a:xfrm>
            <a:off x="3615037" y="6491009"/>
            <a:ext cx="8215659" cy="20186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800" spc="20" baseline="0" dirty="0">
                <a:solidFill>
                  <a:schemeClr val="accent1">
                    <a:lumMod val="20000"/>
                    <a:lumOff val="80000"/>
                  </a:schemeClr>
                </a:solidFill>
                <a:latin typeface="Cormorant Infant Light" pitchFamily="2" charset="0"/>
                <a:ea typeface="Cormorant Infant Light" pitchFamily="2" charset="0"/>
                <a:cs typeface="Cormorant Infant Light" pitchFamily="2" charset="0"/>
              </a:rPr>
              <a:t>We are committed to maintaining the confidentiality, integrity, and security of the personal information provided in this document.</a:t>
            </a:r>
          </a:p>
        </p:txBody>
      </p:sp>
    </p:spTree>
    <p:extLst>
      <p:ext uri="{BB962C8B-B14F-4D97-AF65-F5344CB8AC3E}">
        <p14:creationId xmlns:p14="http://schemas.microsoft.com/office/powerpoint/2010/main" val="4817921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34181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3" r:id="rId3"/>
    <p:sldLayoutId id="2147483674" r:id="rId4"/>
    <p:sldLayoutId id="2147483672" r:id="rId5"/>
    <p:sldLayoutId id="2147483671"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18" Type="http://schemas.openxmlformats.org/officeDocument/2006/relationships/image" Target="../media/image38.svg"/><Relationship Id="rId3" Type="http://schemas.openxmlformats.org/officeDocument/2006/relationships/image" Target="../media/image23.png"/><Relationship Id="rId21" Type="http://schemas.openxmlformats.org/officeDocument/2006/relationships/image" Target="../media/image41.png"/><Relationship Id="rId7" Type="http://schemas.openxmlformats.org/officeDocument/2006/relationships/image" Target="../media/image27.png"/><Relationship Id="rId12" Type="http://schemas.openxmlformats.org/officeDocument/2006/relationships/image" Target="../media/image32.svg"/><Relationship Id="rId17" Type="http://schemas.openxmlformats.org/officeDocument/2006/relationships/image" Target="../media/image37.png"/><Relationship Id="rId2" Type="http://schemas.openxmlformats.org/officeDocument/2006/relationships/notesSlide" Target="../notesSlides/notesSlide12.xml"/><Relationship Id="rId16" Type="http://schemas.openxmlformats.org/officeDocument/2006/relationships/image" Target="../media/image36.svg"/><Relationship Id="rId20" Type="http://schemas.openxmlformats.org/officeDocument/2006/relationships/image" Target="../media/image40.svg"/><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svg"/><Relationship Id="rId19" Type="http://schemas.openxmlformats.org/officeDocument/2006/relationships/image" Target="../media/image39.png"/><Relationship Id="rId4" Type="http://schemas.openxmlformats.org/officeDocument/2006/relationships/image" Target="../media/image24.svg"/><Relationship Id="rId9" Type="http://schemas.openxmlformats.org/officeDocument/2006/relationships/image" Target="../media/image29.png"/><Relationship Id="rId14" Type="http://schemas.openxmlformats.org/officeDocument/2006/relationships/image" Target="../media/image34.svg"/><Relationship Id="rId22" Type="http://schemas.openxmlformats.org/officeDocument/2006/relationships/image" Target="../media/image42.svg"/></Relationships>
</file>

<file path=ppt/slides/_rels/slide16.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4.svg"/><Relationship Id="rId3" Type="http://schemas.openxmlformats.org/officeDocument/2006/relationships/image" Target="../media/image43.png"/><Relationship Id="rId7" Type="http://schemas.openxmlformats.org/officeDocument/2006/relationships/slide" Target="slide16.xml"/><Relationship Id="rId12"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6.svg"/><Relationship Id="rId11" Type="http://schemas.openxmlformats.org/officeDocument/2006/relationships/slide" Target="slide20.xml"/><Relationship Id="rId5" Type="http://schemas.openxmlformats.org/officeDocument/2006/relationships/image" Target="../media/image45.png"/><Relationship Id="rId10" Type="http://schemas.openxmlformats.org/officeDocument/2006/relationships/slide" Target="slide19.xml"/><Relationship Id="rId4" Type="http://schemas.openxmlformats.org/officeDocument/2006/relationships/image" Target="../media/image44.svg"/><Relationship Id="rId9" Type="http://schemas.openxmlformats.org/officeDocument/2006/relationships/slide" Target="slide18.xml"/></Relationships>
</file>

<file path=ppt/slides/_rels/slide17.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20.xml"/><Relationship Id="rId3" Type="http://schemas.openxmlformats.org/officeDocument/2006/relationships/image" Target="../media/image43.png"/><Relationship Id="rId7" Type="http://schemas.openxmlformats.org/officeDocument/2006/relationships/image" Target="../media/image3.png"/><Relationship Id="rId12" Type="http://schemas.openxmlformats.org/officeDocument/2006/relationships/slide" Target="slide19.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46.svg"/><Relationship Id="rId11" Type="http://schemas.openxmlformats.org/officeDocument/2006/relationships/slide" Target="slide18.xml"/><Relationship Id="rId5" Type="http://schemas.openxmlformats.org/officeDocument/2006/relationships/image" Target="../media/image45.png"/><Relationship Id="rId10" Type="http://schemas.openxmlformats.org/officeDocument/2006/relationships/slide" Target="slide17.xml"/><Relationship Id="rId4" Type="http://schemas.openxmlformats.org/officeDocument/2006/relationships/image" Target="../media/image44.svg"/><Relationship Id="rId9" Type="http://schemas.openxmlformats.org/officeDocument/2006/relationships/slide" Target="slide16.xml"/></Relationships>
</file>

<file path=ppt/slides/_rels/slide18.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20.xml"/><Relationship Id="rId3" Type="http://schemas.openxmlformats.org/officeDocument/2006/relationships/image" Target="../media/image45.png"/><Relationship Id="rId7" Type="http://schemas.openxmlformats.org/officeDocument/2006/relationships/image" Target="../media/image3.png"/><Relationship Id="rId12" Type="http://schemas.openxmlformats.org/officeDocument/2006/relationships/slide" Target="slide19.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18.xml"/><Relationship Id="rId5" Type="http://schemas.openxmlformats.org/officeDocument/2006/relationships/image" Target="../media/image43.png"/><Relationship Id="rId10" Type="http://schemas.openxmlformats.org/officeDocument/2006/relationships/slide" Target="slide17.xml"/><Relationship Id="rId4" Type="http://schemas.openxmlformats.org/officeDocument/2006/relationships/image" Target="../media/image46.svg"/><Relationship Id="rId9" Type="http://schemas.openxmlformats.org/officeDocument/2006/relationships/slide" Target="slide16.xml"/></Relationships>
</file>

<file path=ppt/slides/_rels/slide19.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4.svg"/><Relationship Id="rId3" Type="http://schemas.openxmlformats.org/officeDocument/2006/relationships/image" Target="../media/image45.png"/><Relationship Id="rId7" Type="http://schemas.openxmlformats.org/officeDocument/2006/relationships/slide" Target="slide16.xml"/><Relationship Id="rId12"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20.xml"/><Relationship Id="rId5" Type="http://schemas.openxmlformats.org/officeDocument/2006/relationships/image" Target="../media/image43.png"/><Relationship Id="rId10" Type="http://schemas.openxmlformats.org/officeDocument/2006/relationships/slide" Target="slide19.xml"/><Relationship Id="rId4" Type="http://schemas.openxmlformats.org/officeDocument/2006/relationships/image" Target="../media/image46.svg"/><Relationship Id="rId9" Type="http://schemas.openxmlformats.org/officeDocument/2006/relationships/slide" Target="slide18.xml"/></Relationships>
</file>

<file path=ppt/slides/_rels/slide20.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image" Target="../media/image4.svg"/><Relationship Id="rId3" Type="http://schemas.openxmlformats.org/officeDocument/2006/relationships/image" Target="../media/image45.png"/><Relationship Id="rId7" Type="http://schemas.openxmlformats.org/officeDocument/2006/relationships/slide" Target="slide16.xml"/><Relationship Id="rId12"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20.xml"/><Relationship Id="rId5" Type="http://schemas.openxmlformats.org/officeDocument/2006/relationships/image" Target="../media/image43.png"/><Relationship Id="rId10" Type="http://schemas.openxmlformats.org/officeDocument/2006/relationships/slide" Target="slide19.xml"/><Relationship Id="rId4" Type="http://schemas.openxmlformats.org/officeDocument/2006/relationships/image" Target="../media/image46.svg"/><Relationship Id="rId9" Type="http://schemas.openxmlformats.org/officeDocument/2006/relationships/slide" Target="slide18.xml"/></Relationships>
</file>

<file path=ppt/slides/_rels/slide2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51.png"/><Relationship Id="rId18" Type="http://schemas.openxmlformats.org/officeDocument/2006/relationships/image" Target="../media/image38.svg"/><Relationship Id="rId3" Type="http://schemas.openxmlformats.org/officeDocument/2006/relationships/image" Target="../media/image23.png"/><Relationship Id="rId21" Type="http://schemas.openxmlformats.org/officeDocument/2006/relationships/image" Target="../media/image26.svg"/><Relationship Id="rId7" Type="http://schemas.openxmlformats.org/officeDocument/2006/relationships/image" Target="../media/image35.png"/><Relationship Id="rId12" Type="http://schemas.openxmlformats.org/officeDocument/2006/relationships/image" Target="../media/image50.svg"/><Relationship Id="rId17" Type="http://schemas.openxmlformats.org/officeDocument/2006/relationships/image" Target="../media/image37.png"/><Relationship Id="rId2" Type="http://schemas.openxmlformats.org/officeDocument/2006/relationships/notesSlide" Target="../notesSlides/notesSlide18.xml"/><Relationship Id="rId16" Type="http://schemas.openxmlformats.org/officeDocument/2006/relationships/image" Target="../media/image53.svg"/><Relationship Id="rId20" Type="http://schemas.openxmlformats.org/officeDocument/2006/relationships/image" Target="../media/image32.sv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49.png"/><Relationship Id="rId5" Type="http://schemas.openxmlformats.org/officeDocument/2006/relationships/image" Target="../media/image25.png"/><Relationship Id="rId15" Type="http://schemas.openxmlformats.org/officeDocument/2006/relationships/image" Target="../media/image29.png"/><Relationship Id="rId23" Type="http://schemas.openxmlformats.org/officeDocument/2006/relationships/image" Target="../media/image40.svg"/><Relationship Id="rId10" Type="http://schemas.openxmlformats.org/officeDocument/2006/relationships/image" Target="../media/image42.svg"/><Relationship Id="rId19" Type="http://schemas.openxmlformats.org/officeDocument/2006/relationships/image" Target="../media/image31.png"/><Relationship Id="rId4" Type="http://schemas.openxmlformats.org/officeDocument/2006/relationships/image" Target="../media/image47.svg"/><Relationship Id="rId9" Type="http://schemas.openxmlformats.org/officeDocument/2006/relationships/image" Target="../media/image41.png"/><Relationship Id="rId14" Type="http://schemas.openxmlformats.org/officeDocument/2006/relationships/image" Target="../media/image52.svg"/><Relationship Id="rId22"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slide" Target="slide26.xml"/><Relationship Id="rId3" Type="http://schemas.openxmlformats.org/officeDocument/2006/relationships/image" Target="../media/image3.png"/><Relationship Id="rId7" Type="http://schemas.openxmlformats.org/officeDocument/2006/relationships/image" Target="../media/image45.png"/><Relationship Id="rId12" Type="http://schemas.openxmlformats.org/officeDocument/2006/relationships/slide" Target="slide25.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24.xml"/><Relationship Id="rId5" Type="http://schemas.openxmlformats.org/officeDocument/2006/relationships/image" Target="../media/image43.png"/><Relationship Id="rId10" Type="http://schemas.openxmlformats.org/officeDocument/2006/relationships/slide" Target="slide23.xml"/><Relationship Id="rId4" Type="http://schemas.openxmlformats.org/officeDocument/2006/relationships/image" Target="../media/image4.svg"/><Relationship Id="rId9" Type="http://schemas.openxmlformats.org/officeDocument/2006/relationships/slide" Target="slide22.xml"/></Relationships>
</file>

<file path=ppt/slides/_rels/slide23.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slide" Target="slide26.xml"/><Relationship Id="rId3" Type="http://schemas.openxmlformats.org/officeDocument/2006/relationships/image" Target="../media/image3.png"/><Relationship Id="rId7" Type="http://schemas.openxmlformats.org/officeDocument/2006/relationships/image" Target="../media/image45.png"/><Relationship Id="rId12" Type="http://schemas.openxmlformats.org/officeDocument/2006/relationships/slide" Target="slide25.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24.xml"/><Relationship Id="rId5" Type="http://schemas.openxmlformats.org/officeDocument/2006/relationships/image" Target="../media/image43.png"/><Relationship Id="rId10" Type="http://schemas.openxmlformats.org/officeDocument/2006/relationships/slide" Target="slide23.xml"/><Relationship Id="rId4" Type="http://schemas.openxmlformats.org/officeDocument/2006/relationships/image" Target="../media/image4.svg"/><Relationship Id="rId9" Type="http://schemas.openxmlformats.org/officeDocument/2006/relationships/slide" Target="slide22.xml"/></Relationships>
</file>

<file path=ppt/slides/_rels/slide24.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slide" Target="slide26.xml"/><Relationship Id="rId3" Type="http://schemas.openxmlformats.org/officeDocument/2006/relationships/image" Target="../media/image3.png"/><Relationship Id="rId7" Type="http://schemas.openxmlformats.org/officeDocument/2006/relationships/image" Target="../media/image43.png"/><Relationship Id="rId12" Type="http://schemas.openxmlformats.org/officeDocument/2006/relationships/slide" Target="slide25.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46.svg"/><Relationship Id="rId11" Type="http://schemas.openxmlformats.org/officeDocument/2006/relationships/slide" Target="slide24.xml"/><Relationship Id="rId5" Type="http://schemas.openxmlformats.org/officeDocument/2006/relationships/image" Target="../media/image45.png"/><Relationship Id="rId10" Type="http://schemas.openxmlformats.org/officeDocument/2006/relationships/slide" Target="slide23.xml"/><Relationship Id="rId4" Type="http://schemas.openxmlformats.org/officeDocument/2006/relationships/image" Target="../media/image4.svg"/><Relationship Id="rId9" Type="http://schemas.openxmlformats.org/officeDocument/2006/relationships/slide" Target="slide22.xml"/></Relationships>
</file>

<file path=ppt/slides/_rels/slide25.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slide" Target="slide26.xml"/><Relationship Id="rId3" Type="http://schemas.openxmlformats.org/officeDocument/2006/relationships/image" Target="../media/image3.png"/><Relationship Id="rId7" Type="http://schemas.openxmlformats.org/officeDocument/2006/relationships/image" Target="../media/image43.png"/><Relationship Id="rId12" Type="http://schemas.openxmlformats.org/officeDocument/2006/relationships/slide" Target="slide25.xml"/><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46.svg"/><Relationship Id="rId11" Type="http://schemas.openxmlformats.org/officeDocument/2006/relationships/slide" Target="slide24.xml"/><Relationship Id="rId5" Type="http://schemas.openxmlformats.org/officeDocument/2006/relationships/image" Target="../media/image45.png"/><Relationship Id="rId10" Type="http://schemas.openxmlformats.org/officeDocument/2006/relationships/slide" Target="slide23.xml"/><Relationship Id="rId4" Type="http://schemas.openxmlformats.org/officeDocument/2006/relationships/image" Target="../media/image4.svg"/><Relationship Id="rId9" Type="http://schemas.openxmlformats.org/officeDocument/2006/relationships/slide" Target="slide22.xml"/></Relationships>
</file>

<file path=ppt/slides/_rels/slide26.xml.rels><?xml version="1.0" encoding="UTF-8" standalone="yes"?>
<Relationships xmlns="http://schemas.openxmlformats.org/package/2006/relationships"><Relationship Id="rId8" Type="http://schemas.openxmlformats.org/officeDocument/2006/relationships/slide" Target="slide23.xml"/><Relationship Id="rId13" Type="http://schemas.openxmlformats.org/officeDocument/2006/relationships/image" Target="../media/image4.svg"/><Relationship Id="rId3" Type="http://schemas.openxmlformats.org/officeDocument/2006/relationships/image" Target="../media/image45.png"/><Relationship Id="rId7" Type="http://schemas.openxmlformats.org/officeDocument/2006/relationships/slide" Target="slide22.xml"/><Relationship Id="rId12"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44.svg"/><Relationship Id="rId11" Type="http://schemas.openxmlformats.org/officeDocument/2006/relationships/slide" Target="slide26.xml"/><Relationship Id="rId5" Type="http://schemas.openxmlformats.org/officeDocument/2006/relationships/image" Target="../media/image43.png"/><Relationship Id="rId10" Type="http://schemas.openxmlformats.org/officeDocument/2006/relationships/slide" Target="slide25.xml"/><Relationship Id="rId4" Type="http://schemas.openxmlformats.org/officeDocument/2006/relationships/image" Target="../media/image46.svg"/><Relationship Id="rId9" Type="http://schemas.openxmlformats.org/officeDocument/2006/relationships/slide" Target="slide24.xml"/></Relationships>
</file>

<file path=ppt/slides/_rels/slide27.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58.png"/><Relationship Id="rId18" Type="http://schemas.openxmlformats.org/officeDocument/2006/relationships/image" Target="../media/image32.svg"/><Relationship Id="rId3" Type="http://schemas.openxmlformats.org/officeDocument/2006/relationships/image" Target="../media/image23.png"/><Relationship Id="rId21" Type="http://schemas.openxmlformats.org/officeDocument/2006/relationships/image" Target="../media/image60.png"/><Relationship Id="rId7" Type="http://schemas.openxmlformats.org/officeDocument/2006/relationships/image" Target="../media/image35.png"/><Relationship Id="rId12" Type="http://schemas.openxmlformats.org/officeDocument/2006/relationships/image" Target="../media/image57.svg"/><Relationship Id="rId17" Type="http://schemas.openxmlformats.org/officeDocument/2006/relationships/image" Target="../media/image31.png"/><Relationship Id="rId2" Type="http://schemas.openxmlformats.org/officeDocument/2006/relationships/notesSlide" Target="../notesSlides/notesSlide24.xml"/><Relationship Id="rId16" Type="http://schemas.openxmlformats.org/officeDocument/2006/relationships/image" Target="../media/image30.svg"/><Relationship Id="rId20" Type="http://schemas.openxmlformats.org/officeDocument/2006/relationships/image" Target="../media/image34.svg"/><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56.png"/><Relationship Id="rId5" Type="http://schemas.openxmlformats.org/officeDocument/2006/relationships/image" Target="../media/image25.png"/><Relationship Id="rId15" Type="http://schemas.openxmlformats.org/officeDocument/2006/relationships/image" Target="../media/image29.png"/><Relationship Id="rId10" Type="http://schemas.openxmlformats.org/officeDocument/2006/relationships/image" Target="../media/image55.svg"/><Relationship Id="rId19" Type="http://schemas.openxmlformats.org/officeDocument/2006/relationships/image" Target="../media/image33.png"/><Relationship Id="rId4" Type="http://schemas.openxmlformats.org/officeDocument/2006/relationships/image" Target="../media/image24.svg"/><Relationship Id="rId9" Type="http://schemas.openxmlformats.org/officeDocument/2006/relationships/image" Target="../media/image54.png"/><Relationship Id="rId14" Type="http://schemas.openxmlformats.org/officeDocument/2006/relationships/image" Target="../media/image59.svg"/><Relationship Id="rId22" Type="http://schemas.openxmlformats.org/officeDocument/2006/relationships/image" Target="../media/image61.svg"/></Relationships>
</file>

<file path=ppt/slides/_rels/slide28.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2.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65.svg"/><Relationship Id="rId11" Type="http://schemas.openxmlformats.org/officeDocument/2006/relationships/slide" Target="slide30.xml"/><Relationship Id="rId5" Type="http://schemas.openxmlformats.org/officeDocument/2006/relationships/image" Target="../media/image64.png"/><Relationship Id="rId10" Type="http://schemas.openxmlformats.org/officeDocument/2006/relationships/slide" Target="slide29.xml"/><Relationship Id="rId4" Type="http://schemas.openxmlformats.org/officeDocument/2006/relationships/image" Target="../media/image63.svg"/><Relationship Id="rId9" Type="http://schemas.openxmlformats.org/officeDocument/2006/relationships/slide" Target="slide28.xml"/><Relationship Id="rId14" Type="http://schemas.openxmlformats.org/officeDocument/2006/relationships/slide" Target="slide33.xml"/></Relationships>
</file>

<file path=ppt/slides/_rels/slide29.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4.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63.svg"/><Relationship Id="rId11" Type="http://schemas.openxmlformats.org/officeDocument/2006/relationships/slide" Target="slide30.xml"/><Relationship Id="rId5" Type="http://schemas.openxmlformats.org/officeDocument/2006/relationships/image" Target="../media/image62.png"/><Relationship Id="rId10" Type="http://schemas.openxmlformats.org/officeDocument/2006/relationships/slide" Target="slide29.xml"/><Relationship Id="rId4" Type="http://schemas.openxmlformats.org/officeDocument/2006/relationships/image" Target="../media/image65.svg"/><Relationship Id="rId9" Type="http://schemas.openxmlformats.org/officeDocument/2006/relationships/slide" Target="slide28.xml"/><Relationship Id="rId14" Type="http://schemas.openxmlformats.org/officeDocument/2006/relationships/slide" Target="slide33.xml"/></Relationships>
</file>

<file path=ppt/slides/_rels/slide30.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2.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65.svg"/><Relationship Id="rId11" Type="http://schemas.openxmlformats.org/officeDocument/2006/relationships/slide" Target="slide30.xml"/><Relationship Id="rId5" Type="http://schemas.openxmlformats.org/officeDocument/2006/relationships/image" Target="../media/image64.png"/><Relationship Id="rId10" Type="http://schemas.openxmlformats.org/officeDocument/2006/relationships/slide" Target="slide29.xml"/><Relationship Id="rId4" Type="http://schemas.openxmlformats.org/officeDocument/2006/relationships/image" Target="../media/image63.svg"/><Relationship Id="rId9" Type="http://schemas.openxmlformats.org/officeDocument/2006/relationships/slide" Target="slide28.xml"/><Relationship Id="rId14" Type="http://schemas.openxmlformats.org/officeDocument/2006/relationships/slide" Target="slide33.xml"/></Relationships>
</file>

<file path=ppt/slides/_rels/slide31.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2.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5.svg"/><Relationship Id="rId11" Type="http://schemas.openxmlformats.org/officeDocument/2006/relationships/slide" Target="slide30.xml"/><Relationship Id="rId5" Type="http://schemas.openxmlformats.org/officeDocument/2006/relationships/image" Target="../media/image64.png"/><Relationship Id="rId10" Type="http://schemas.openxmlformats.org/officeDocument/2006/relationships/slide" Target="slide29.xml"/><Relationship Id="rId4" Type="http://schemas.openxmlformats.org/officeDocument/2006/relationships/image" Target="../media/image63.svg"/><Relationship Id="rId9" Type="http://schemas.openxmlformats.org/officeDocument/2006/relationships/slide" Target="slide28.xml"/><Relationship Id="rId14" Type="http://schemas.openxmlformats.org/officeDocument/2006/relationships/slide" Target="slide33.xml"/></Relationships>
</file>

<file path=ppt/slides/_rels/slide32.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2.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65.svg"/><Relationship Id="rId11" Type="http://schemas.openxmlformats.org/officeDocument/2006/relationships/slide" Target="slide30.xml"/><Relationship Id="rId5" Type="http://schemas.openxmlformats.org/officeDocument/2006/relationships/image" Target="../media/image64.png"/><Relationship Id="rId10" Type="http://schemas.openxmlformats.org/officeDocument/2006/relationships/slide" Target="slide29.xml"/><Relationship Id="rId4" Type="http://schemas.openxmlformats.org/officeDocument/2006/relationships/image" Target="../media/image63.svg"/><Relationship Id="rId9" Type="http://schemas.openxmlformats.org/officeDocument/2006/relationships/slide" Target="slide28.xml"/><Relationship Id="rId14" Type="http://schemas.openxmlformats.org/officeDocument/2006/relationships/slide" Target="slide33.xml"/></Relationships>
</file>

<file path=ppt/slides/_rels/slide33.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slide" Target="slide32.xml"/><Relationship Id="rId3" Type="http://schemas.openxmlformats.org/officeDocument/2006/relationships/image" Target="../media/image62.png"/><Relationship Id="rId7" Type="http://schemas.openxmlformats.org/officeDocument/2006/relationships/image" Target="../media/image3.png"/><Relationship Id="rId12" Type="http://schemas.openxmlformats.org/officeDocument/2006/relationships/slide" Target="slide31.xm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65.svg"/><Relationship Id="rId11" Type="http://schemas.openxmlformats.org/officeDocument/2006/relationships/slide" Target="slide30.xml"/><Relationship Id="rId5" Type="http://schemas.openxmlformats.org/officeDocument/2006/relationships/image" Target="../media/image64.png"/><Relationship Id="rId10" Type="http://schemas.openxmlformats.org/officeDocument/2006/relationships/slide" Target="slide29.xml"/><Relationship Id="rId4" Type="http://schemas.openxmlformats.org/officeDocument/2006/relationships/image" Target="../media/image63.svg"/><Relationship Id="rId9" Type="http://schemas.openxmlformats.org/officeDocument/2006/relationships/slide" Target="slide28.xml"/><Relationship Id="rId14" Type="http://schemas.openxmlformats.org/officeDocument/2006/relationships/slide" Target="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67.svg"/></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3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4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5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20.svg"/></Relationships>
</file>

<file path=ppt/slides/_rels/slide6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chart" Target="../charts/chart6.xml"/><Relationship Id="rId4" Type="http://schemas.openxmlformats.org/officeDocument/2006/relationships/chart" Target="../charts/char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chart" Target="../charts/chart9.xml"/><Relationship Id="rId4" Type="http://schemas.openxmlformats.org/officeDocument/2006/relationships/chart" Target="../charts/char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31C02D8D-E64A-B7EC-3038-FB0E8D9D55B9}"/>
              </a:ext>
            </a:extLst>
          </p:cNvPr>
          <p:cNvSpPr txBox="1"/>
          <p:nvPr/>
        </p:nvSpPr>
        <p:spPr>
          <a:xfrm>
            <a:off x="1265990" y="3366475"/>
            <a:ext cx="5823178" cy="256673"/>
          </a:xfrm>
          <a:prstGeom prst="rect">
            <a:avLst/>
          </a:prstGeom>
        </p:spPr>
        <p:txBody>
          <a:bodyPr vert="horz" wrap="square" lIns="0" tIns="0" rIns="0" bIns="0" rtlCol="0">
            <a:spAutoFit/>
          </a:bodyPr>
          <a:lstStyle>
            <a:defPPr>
              <a:defRPr kern="0"/>
            </a:defPPr>
            <a:lvl1pPr marL="12700" marR="5080">
              <a:lnSpc>
                <a:spcPct val="100000"/>
              </a:lnSpc>
              <a:spcBef>
                <a:spcPts val="100"/>
              </a:spcBef>
              <a:defRPr>
                <a:solidFill>
                  <a:schemeClr val="accent1">
                    <a:lumMod val="75000"/>
                  </a:schemeClr>
                </a:solidFill>
                <a:latin typeface="Sorts Mill Goudy" panose="02000503000000000000" pitchFamily="2" charset="0"/>
                <a:cs typeface="Calibri"/>
              </a:defRPr>
            </a:lvl1pPr>
          </a:lstStyle>
          <a:p>
            <a:pPr>
              <a:lnSpc>
                <a:spcPts val="2100"/>
              </a:lnSpc>
            </a:pPr>
            <a:r>
              <a:rPr lang="en-US" sz="1500" dirty="0">
                <a:solidFill>
                  <a:schemeClr val="accent2"/>
                </a:solidFill>
                <a:latin typeface="Cormorant Infant" pitchFamily="2" charset="0"/>
                <a:cs typeface="Cormorant Infant" pitchFamily="2" charset="0"/>
              </a:rPr>
              <a:t>Prepared for:</a:t>
            </a:r>
          </a:p>
        </p:txBody>
      </p:sp>
      <p:sp>
        <p:nvSpPr>
          <p:cNvPr id="3" name="TextBox 2">
            <a:extLst>
              <a:ext uri="{FF2B5EF4-FFF2-40B4-BE49-F238E27FC236}">
                <a16:creationId xmlns:a16="http://schemas.microsoft.com/office/drawing/2014/main" id="{FAF88C26-902A-1593-805B-2DE66CDACCD6}"/>
              </a:ext>
            </a:extLst>
          </p:cNvPr>
          <p:cNvSpPr txBox="1"/>
          <p:nvPr/>
        </p:nvSpPr>
        <p:spPr>
          <a:xfrm>
            <a:off x="1265990" y="1780199"/>
            <a:ext cx="6480722" cy="525978"/>
          </a:xfrm>
          <a:prstGeom prst="rect">
            <a:avLst/>
          </a:prstGeom>
          <a:noFill/>
        </p:spPr>
        <p:txBody>
          <a:bodyPr wrap="square" lIns="0" tIns="0" rIns="0" bIns="0">
            <a:spAutoFit/>
          </a:bodyPr>
          <a:lstStyle/>
          <a:p>
            <a:pPr>
              <a:lnSpc>
                <a:spcPts val="2100"/>
              </a:lnSpc>
            </a:pPr>
            <a:r>
              <a:rPr lang="en-US" sz="1500" dirty="0">
                <a:solidFill>
                  <a:schemeClr val="bg1"/>
                </a:solidFill>
                <a:latin typeface="Cormorant Infant" pitchFamily="2" charset="0"/>
              </a:rPr>
              <a:t>Tax-Efficient Liquidity &amp; Wealth-Transfer Solutions </a:t>
            </a:r>
          </a:p>
          <a:p>
            <a:pPr>
              <a:lnSpc>
                <a:spcPts val="2100"/>
              </a:lnSpc>
            </a:pPr>
            <a:r>
              <a:rPr lang="en-US" sz="1500" dirty="0">
                <a:solidFill>
                  <a:schemeClr val="bg1"/>
                </a:solidFill>
                <a:latin typeface="Cormorant Infant" pitchFamily="2" charset="0"/>
              </a:rPr>
              <a:t>Life Insurance acquired with Pre-Tax Retirement Plan Assets</a:t>
            </a:r>
            <a:endParaRPr lang="en-US" sz="1500" dirty="0">
              <a:solidFill>
                <a:schemeClr val="bg1"/>
              </a:solidFill>
              <a:latin typeface="Cormorant Infant" pitchFamily="2" charset="0"/>
              <a:cs typeface="Cormorant Infant" pitchFamily="2" charset="0"/>
            </a:endParaRPr>
          </a:p>
        </p:txBody>
      </p:sp>
      <p:sp>
        <p:nvSpPr>
          <p:cNvPr id="4" name="Subtitle 1">
            <a:extLst>
              <a:ext uri="{FF2B5EF4-FFF2-40B4-BE49-F238E27FC236}">
                <a16:creationId xmlns:a16="http://schemas.microsoft.com/office/drawing/2014/main" id="{61EFCA44-C104-0EE6-3900-D27EF34DF404}"/>
              </a:ext>
            </a:extLst>
          </p:cNvPr>
          <p:cNvSpPr txBox="1">
            <a:spLocks/>
          </p:cNvSpPr>
          <p:nvPr/>
        </p:nvSpPr>
        <p:spPr>
          <a:xfrm>
            <a:off x="1265990" y="4743965"/>
            <a:ext cx="6624563" cy="795282"/>
          </a:xfrm>
          <a:prstGeom prst="rect">
            <a:avLst/>
          </a:prstGeom>
          <a:noFill/>
        </p:spPr>
        <p:txBody>
          <a:bodyPr wrap="square" lIns="0" tIns="0" rIns="0" bIns="0">
            <a:spAutoFit/>
          </a:bodyPr>
          <a:lstStyle>
            <a:defPPr>
              <a:defRPr kern="0"/>
            </a:defPPr>
            <a:lvl1pPr>
              <a:lnSpc>
                <a:spcPts val="2000"/>
              </a:lnSpc>
              <a:defRPr sz="1500">
                <a:solidFill>
                  <a:schemeClr val="bg1"/>
                </a:solidFill>
                <a:latin typeface="Cormorant Infant" pitchFamily="2"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ts val="2100"/>
              </a:lnSpc>
            </a:pPr>
            <a:r>
              <a:rPr lang="fr-FR" dirty="0"/>
              <a:t>Jason H. Kurchner, CFP, CEO</a:t>
            </a:r>
          </a:p>
          <a:p>
            <a:pPr>
              <a:lnSpc>
                <a:spcPts val="2100"/>
              </a:lnSpc>
            </a:pPr>
            <a:r>
              <a:rPr lang="fr-FR" dirty="0"/>
              <a:t>John L. Reed, MBA</a:t>
            </a:r>
          </a:p>
          <a:p>
            <a:pPr>
              <a:lnSpc>
                <a:spcPts val="2100"/>
              </a:lnSpc>
            </a:pPr>
            <a:r>
              <a:rPr lang="fr-FR" dirty="0"/>
              <a:t>Andy Weinhaus, JD, LLM, CPA</a:t>
            </a:r>
          </a:p>
        </p:txBody>
      </p:sp>
      <p:sp>
        <p:nvSpPr>
          <p:cNvPr id="5" name="TextBox 4">
            <a:extLst>
              <a:ext uri="{FF2B5EF4-FFF2-40B4-BE49-F238E27FC236}">
                <a16:creationId xmlns:a16="http://schemas.microsoft.com/office/drawing/2014/main" id="{F724A68A-E78B-C908-1831-56609875259A}"/>
              </a:ext>
            </a:extLst>
          </p:cNvPr>
          <p:cNvSpPr txBox="1"/>
          <p:nvPr/>
        </p:nvSpPr>
        <p:spPr>
          <a:xfrm>
            <a:off x="1265990" y="1078899"/>
            <a:ext cx="6460175" cy="615553"/>
          </a:xfrm>
          <a:prstGeom prst="rect">
            <a:avLst/>
          </a:prstGeom>
          <a:noFill/>
        </p:spPr>
        <p:txBody>
          <a:bodyPr wrap="square" lIns="0" tIns="0" rIns="0" bIns="0">
            <a:spAutoFit/>
          </a:bodyPr>
          <a:lstStyle/>
          <a:p>
            <a:r>
              <a:rPr lang="en-US" sz="4000" dirty="0">
                <a:solidFill>
                  <a:schemeClr val="accent2"/>
                </a:solidFill>
                <a:latin typeface="Cormorant Infant" pitchFamily="2" charset="0"/>
              </a:rPr>
              <a:t>Legacy-IRA Planning </a:t>
            </a:r>
          </a:p>
        </p:txBody>
      </p:sp>
      <p:sp>
        <p:nvSpPr>
          <p:cNvPr id="6" name="TextBox 5">
            <a:extLst>
              <a:ext uri="{FF2B5EF4-FFF2-40B4-BE49-F238E27FC236}">
                <a16:creationId xmlns:a16="http://schemas.microsoft.com/office/drawing/2014/main" id="{AA7131B5-4043-1E6D-D4B4-085EF60145C5}"/>
              </a:ext>
            </a:extLst>
          </p:cNvPr>
          <p:cNvSpPr txBox="1"/>
          <p:nvPr/>
        </p:nvSpPr>
        <p:spPr>
          <a:xfrm>
            <a:off x="1265990" y="3644755"/>
            <a:ext cx="6223571" cy="795282"/>
          </a:xfrm>
          <a:prstGeom prst="rect">
            <a:avLst/>
          </a:prstGeom>
          <a:noFill/>
        </p:spPr>
        <p:txBody>
          <a:bodyPr wrap="square" lIns="0" tIns="0" rIns="0" bIns="0">
            <a:spAutoFit/>
          </a:bodyPr>
          <a:lstStyle>
            <a:defPPr>
              <a:defRPr kern="0"/>
            </a:defPPr>
            <a:lvl1pPr>
              <a:lnSpc>
                <a:spcPts val="2000"/>
              </a:lnSpc>
              <a:defRPr sz="1500">
                <a:solidFill>
                  <a:schemeClr val="bg1"/>
                </a:solidFill>
                <a:latin typeface="Cormorant Infant" pitchFamily="2" charset="0"/>
              </a:defRPr>
            </a:lvl1pPr>
          </a:lstStyle>
          <a:p>
            <a:pPr>
              <a:lnSpc>
                <a:spcPts val="2100"/>
              </a:lnSpc>
            </a:pPr>
            <a:r>
              <a:rPr lang="en-US" dirty="0"/>
              <a:t>&lt;</a:t>
            </a:r>
            <a:r>
              <a:rPr lang="en-US" dirty="0" err="1"/>
              <a:t>FamilyNm</a:t>
            </a:r>
            <a:r>
              <a:rPr lang="en-US" dirty="0"/>
              <a:t>&gt;</a:t>
            </a:r>
          </a:p>
          <a:p>
            <a:pPr>
              <a:lnSpc>
                <a:spcPts val="2100"/>
              </a:lnSpc>
            </a:pPr>
            <a:r>
              <a:rPr lang="fr-FR" dirty="0"/>
              <a:t>&lt;</a:t>
            </a:r>
            <a:r>
              <a:rPr lang="fr-FR" dirty="0" err="1"/>
              <a:t>ProducerNm</a:t>
            </a:r>
            <a:r>
              <a:rPr lang="fr-FR" dirty="0"/>
              <a:t>&gt;</a:t>
            </a:r>
          </a:p>
          <a:p>
            <a:pPr>
              <a:lnSpc>
                <a:spcPts val="2100"/>
              </a:lnSpc>
            </a:pPr>
            <a:endParaRPr lang="en-US" dirty="0"/>
          </a:p>
        </p:txBody>
      </p:sp>
      <p:sp>
        <p:nvSpPr>
          <p:cNvPr id="7" name="TextBox 6">
            <a:extLst>
              <a:ext uri="{FF2B5EF4-FFF2-40B4-BE49-F238E27FC236}">
                <a16:creationId xmlns:a16="http://schemas.microsoft.com/office/drawing/2014/main" id="{E0728A50-FE86-DC9B-7948-DEA0A456178D}"/>
              </a:ext>
            </a:extLst>
          </p:cNvPr>
          <p:cNvSpPr txBox="1"/>
          <p:nvPr/>
        </p:nvSpPr>
        <p:spPr>
          <a:xfrm>
            <a:off x="1265990" y="4461644"/>
            <a:ext cx="5977291" cy="256673"/>
          </a:xfrm>
          <a:prstGeom prst="rect">
            <a:avLst/>
          </a:prstGeom>
          <a:noFill/>
        </p:spPr>
        <p:txBody>
          <a:bodyPr wrap="square" lIns="0" tIns="0" rIns="0" bIns="0">
            <a:spAutoFit/>
          </a:bodyPr>
          <a:lstStyle/>
          <a:p>
            <a:pPr>
              <a:lnSpc>
                <a:spcPts val="2100"/>
              </a:lnSpc>
            </a:pPr>
            <a:r>
              <a:rPr lang="fr-FR" sz="1500" dirty="0">
                <a:solidFill>
                  <a:schemeClr val="accent2"/>
                </a:solidFill>
                <a:latin typeface="Cormorant Infant" pitchFamily="2" charset="0"/>
                <a:ea typeface="Cormorant Infant" pitchFamily="2" charset="0"/>
                <a:cs typeface="Cormorant Infant" pitchFamily="2" charset="0"/>
              </a:rPr>
              <a:t>Presented by:</a:t>
            </a:r>
          </a:p>
        </p:txBody>
      </p:sp>
      <p:sp>
        <p:nvSpPr>
          <p:cNvPr id="8" name="TextBox 7">
            <a:extLst>
              <a:ext uri="{FF2B5EF4-FFF2-40B4-BE49-F238E27FC236}">
                <a16:creationId xmlns:a16="http://schemas.microsoft.com/office/drawing/2014/main" id="{BE2A0E4C-6101-02B8-4F77-2BF8FD8A8864}"/>
              </a:ext>
            </a:extLst>
          </p:cNvPr>
          <p:cNvSpPr txBox="1"/>
          <p:nvPr/>
        </p:nvSpPr>
        <p:spPr>
          <a:xfrm>
            <a:off x="8601076" y="6095999"/>
            <a:ext cx="3205162" cy="385761"/>
          </a:xfrm>
          <a:prstGeom prst="rect">
            <a:avLst/>
          </a:prstGeom>
          <a:noFill/>
        </p:spPr>
        <p:txBody>
          <a:bodyPr wrap="square" lIns="0" tIns="0" rIns="0" bIns="0" rtlCol="0" anchor="ctr">
            <a:noAutofit/>
          </a:bodyPr>
          <a:lstStyle/>
          <a:p>
            <a:pPr algn="ctr">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629519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5E44872D-B904-08D7-8065-72A9E4AC3F18}"/>
              </a:ext>
            </a:extLst>
          </p:cNvPr>
          <p:cNvSpPr/>
          <p:nvPr/>
        </p:nvSpPr>
        <p:spPr>
          <a:xfrm>
            <a:off x="462337" y="832995"/>
            <a:ext cx="7443413" cy="1068519"/>
          </a:xfrm>
          <a:prstGeom prst="rect">
            <a:avLst/>
          </a:prstGeom>
          <a:solidFill>
            <a:schemeClr val="accent5"/>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594E53FF-3748-1B3D-2634-58D3A3D92CF8}"/>
              </a:ext>
            </a:extLst>
          </p:cNvPr>
          <p:cNvGrpSpPr/>
          <p:nvPr/>
        </p:nvGrpSpPr>
        <p:grpSpPr>
          <a:xfrm>
            <a:off x="3218894" y="2193011"/>
            <a:ext cx="4437055" cy="3513127"/>
            <a:chOff x="3218894" y="2193011"/>
            <a:chExt cx="4437055" cy="3513127"/>
          </a:xfrm>
        </p:grpSpPr>
        <p:sp>
          <p:nvSpPr>
            <p:cNvPr id="11" name="TextBox 10">
              <a:extLst>
                <a:ext uri="{FF2B5EF4-FFF2-40B4-BE49-F238E27FC236}">
                  <a16:creationId xmlns:a16="http://schemas.microsoft.com/office/drawing/2014/main" id="{03DED0C1-EA01-4316-D100-78A0DAC93BB9}"/>
                </a:ext>
              </a:extLst>
            </p:cNvPr>
            <p:cNvSpPr txBox="1"/>
            <p:nvPr/>
          </p:nvSpPr>
          <p:spPr>
            <a:xfrm>
              <a:off x="3218895" y="2193011"/>
              <a:ext cx="4437054" cy="287414"/>
            </a:xfrm>
            <a:prstGeom prst="rect">
              <a:avLst/>
            </a:prstGeom>
            <a:noFill/>
          </p:spPr>
          <p:txBody>
            <a:bodyPr wrap="square" lIns="0" tIns="0" rIns="0">
              <a:noAutofit/>
            </a:bodyPr>
            <a:lstStyle/>
            <a:p>
              <a:pPr>
                <a:lnSpc>
                  <a:spcPts val="2600"/>
                </a:lnSpc>
              </a:pPr>
              <a:r>
                <a:rPr lang="en-US" sz="1900" dirty="0">
                  <a:solidFill>
                    <a:schemeClr val="accent3">
                      <a:lumMod val="75000"/>
                    </a:schemeClr>
                  </a:solidFill>
                  <a:latin typeface="Cormorant Infant" pitchFamily="2" charset="0"/>
                </a:rPr>
                <a:t>A. </a:t>
              </a:r>
              <a:r>
                <a:rPr lang="en-US" sz="1900" dirty="0">
                  <a:solidFill>
                    <a:schemeClr val="tx1"/>
                  </a:solidFill>
                  <a:latin typeface="Cormorant Infant" pitchFamily="2" charset="0"/>
                </a:rPr>
                <a:t>Understanding your Goals</a:t>
              </a:r>
            </a:p>
          </p:txBody>
        </p:sp>
        <p:sp>
          <p:nvSpPr>
            <p:cNvPr id="15" name="TextBox 14">
              <a:extLst>
                <a:ext uri="{FF2B5EF4-FFF2-40B4-BE49-F238E27FC236}">
                  <a16:creationId xmlns:a16="http://schemas.microsoft.com/office/drawing/2014/main" id="{BE6E0015-1BE6-39B5-A3A5-459941301976}"/>
                </a:ext>
              </a:extLst>
            </p:cNvPr>
            <p:cNvSpPr txBox="1"/>
            <p:nvPr/>
          </p:nvSpPr>
          <p:spPr>
            <a:xfrm>
              <a:off x="3511917" y="2593533"/>
              <a:ext cx="4062971" cy="522322"/>
            </a:xfrm>
            <a:prstGeom prst="rect">
              <a:avLst/>
            </a:prstGeom>
          </p:spPr>
          <p:txBody>
            <a:bodyPr wrap="square" lIns="0" tIns="0" rIns="0" bIns="0">
              <a:spAutoFit/>
            </a:bodyPr>
            <a:lstStyle/>
            <a:p>
              <a:pPr lvl="1">
                <a:lnSpc>
                  <a:spcPts val="1300"/>
                </a:lnSpc>
                <a:spcAft>
                  <a:spcPts val="1400"/>
                </a:spcAft>
                <a:buClr>
                  <a:schemeClr val="accent3"/>
                </a:buClr>
                <a:buSzPct val="120000"/>
              </a:pPr>
              <a:r>
                <a:rPr lang="en-US" sz="1400" dirty="0">
                  <a:solidFill>
                    <a:schemeClr val="accent3">
                      <a:lumMod val="75000"/>
                    </a:schemeClr>
                  </a:solidFill>
                  <a:latin typeface="Cormorant Infant" pitchFamily="2" charset="0"/>
                  <a:ea typeface="Cormorant Infant" pitchFamily="2" charset="0"/>
                  <a:cs typeface="Cormorant Infant" pitchFamily="2" charset="0"/>
                </a:rPr>
                <a:t>i.  </a:t>
              </a:r>
              <a:r>
                <a:rPr lang="en-US" sz="1400" dirty="0">
                  <a:solidFill>
                    <a:schemeClr val="tx1"/>
                  </a:solidFill>
                  <a:latin typeface="Cormorant Infant" pitchFamily="2" charset="0"/>
                  <a:ea typeface="Cormorant Infant" pitchFamily="2" charset="0"/>
                  <a:cs typeface="Cormorant Infant" pitchFamily="2" charset="0"/>
                </a:rPr>
                <a:t>Your Objectives and Landscape</a:t>
              </a:r>
            </a:p>
            <a:p>
              <a:pPr lvl="1">
                <a:lnSpc>
                  <a:spcPts val="1300"/>
                </a:lnSpc>
                <a:spcAft>
                  <a:spcPts val="1400"/>
                </a:spcAft>
                <a:buClr>
                  <a:schemeClr val="accent3"/>
                </a:buClr>
                <a:buSzPct val="120000"/>
              </a:pPr>
              <a:r>
                <a:rPr lang="en-US" sz="1400" dirty="0">
                  <a:solidFill>
                    <a:schemeClr val="accent3">
                      <a:lumMod val="75000"/>
                    </a:schemeClr>
                  </a:solidFill>
                  <a:latin typeface="Cormorant Infant" pitchFamily="2" charset="0"/>
                  <a:ea typeface="Cormorant Infant" pitchFamily="2" charset="0"/>
                  <a:cs typeface="Cormorant Infant" pitchFamily="2" charset="0"/>
                </a:rPr>
                <a:t>ii.  </a:t>
              </a:r>
              <a:r>
                <a:rPr lang="en-US" sz="1400" dirty="0">
                  <a:solidFill>
                    <a:schemeClr val="tx1"/>
                  </a:solidFill>
                  <a:latin typeface="Cormorant Infant" pitchFamily="2" charset="0"/>
                  <a:ea typeface="Cormorant Infant" pitchFamily="2" charset="0"/>
                  <a:cs typeface="Cormorant Infant" pitchFamily="2" charset="0"/>
                </a:rPr>
                <a:t>Overview of Present Planning</a:t>
              </a:r>
            </a:p>
          </p:txBody>
        </p:sp>
        <p:sp>
          <p:nvSpPr>
            <p:cNvPr id="16" name="TextBox 15">
              <a:extLst>
                <a:ext uri="{FF2B5EF4-FFF2-40B4-BE49-F238E27FC236}">
                  <a16:creationId xmlns:a16="http://schemas.microsoft.com/office/drawing/2014/main" id="{CA3C7B2E-DD44-0938-D2A9-517A1C5ECF2A}"/>
                </a:ext>
              </a:extLst>
            </p:cNvPr>
            <p:cNvSpPr txBox="1"/>
            <p:nvPr/>
          </p:nvSpPr>
          <p:spPr>
            <a:xfrm>
              <a:off x="3218894" y="3406680"/>
              <a:ext cx="4062971" cy="289347"/>
            </a:xfrm>
            <a:prstGeom prst="rect">
              <a:avLst/>
            </a:prstGeom>
            <a:noFill/>
          </p:spPr>
          <p:txBody>
            <a:bodyPr wrap="square" lIns="0" tIns="0" rIns="0">
              <a:noAutofit/>
            </a:bodyPr>
            <a:lstStyle/>
            <a:p>
              <a:pPr>
                <a:lnSpc>
                  <a:spcPts val="2600"/>
                </a:lnSpc>
              </a:pPr>
              <a:r>
                <a:rPr lang="en-US" sz="1900" dirty="0">
                  <a:solidFill>
                    <a:schemeClr val="accent3">
                      <a:lumMod val="75000"/>
                    </a:schemeClr>
                  </a:solidFill>
                  <a:latin typeface="Cormorant Infant" pitchFamily="2" charset="0"/>
                </a:rPr>
                <a:t>B. </a:t>
              </a:r>
              <a:r>
                <a:rPr lang="en-US" sz="1900" dirty="0">
                  <a:solidFill>
                    <a:schemeClr val="tx1"/>
                  </a:solidFill>
                  <a:latin typeface="Cormorant Infant" pitchFamily="2" charset="0"/>
                </a:rPr>
                <a:t>Challenges</a:t>
              </a:r>
            </a:p>
          </p:txBody>
        </p:sp>
        <p:sp>
          <p:nvSpPr>
            <p:cNvPr id="17" name="TextBox 16">
              <a:extLst>
                <a:ext uri="{FF2B5EF4-FFF2-40B4-BE49-F238E27FC236}">
                  <a16:creationId xmlns:a16="http://schemas.microsoft.com/office/drawing/2014/main" id="{A0D084A0-4444-8A5C-9B3C-942F37E253F2}"/>
                </a:ext>
              </a:extLst>
            </p:cNvPr>
            <p:cNvSpPr txBox="1"/>
            <p:nvPr/>
          </p:nvSpPr>
          <p:spPr>
            <a:xfrm>
              <a:off x="3511917" y="3809921"/>
              <a:ext cx="4062971" cy="176074"/>
            </a:xfrm>
            <a:prstGeom prst="rect">
              <a:avLst/>
            </a:prstGeom>
          </p:spPr>
          <p:txBody>
            <a:bodyPr wrap="square" lIns="0" tIns="0" rIns="0" bIns="0">
              <a:spAutoFit/>
            </a:bodyPr>
            <a:lstStyle/>
            <a:p>
              <a:pPr lvl="1">
                <a:lnSpc>
                  <a:spcPts val="1300"/>
                </a:lnSpc>
                <a:spcAft>
                  <a:spcPts val="1400"/>
                </a:spcAft>
                <a:buClr>
                  <a:schemeClr val="accent3"/>
                </a:buClr>
                <a:buSzPct val="120000"/>
              </a:pPr>
              <a:r>
                <a:rPr lang="en-US" sz="1400" dirty="0">
                  <a:solidFill>
                    <a:schemeClr val="accent3">
                      <a:lumMod val="75000"/>
                    </a:schemeClr>
                  </a:solidFill>
                  <a:latin typeface="Cormorant Infant" pitchFamily="2" charset="0"/>
                  <a:ea typeface="Cormorant Infant" pitchFamily="2" charset="0"/>
                  <a:cs typeface="Cormorant Infant" pitchFamily="2" charset="0"/>
                </a:rPr>
                <a:t>i.  </a:t>
              </a:r>
              <a:r>
                <a:rPr lang="en-US" sz="1400" dirty="0">
                  <a:solidFill>
                    <a:schemeClr val="tx1"/>
                  </a:solidFill>
                  <a:latin typeface="Cormorant Infant" pitchFamily="2" charset="0"/>
                  <a:ea typeface="Cormorant Infant" pitchFamily="2" charset="0"/>
                  <a:cs typeface="Cormorant Infant" pitchFamily="2" charset="0"/>
                </a:rPr>
                <a:t>Repetitive Tax Erosion</a:t>
              </a:r>
            </a:p>
          </p:txBody>
        </p:sp>
        <p:sp>
          <p:nvSpPr>
            <p:cNvPr id="18" name="TextBox 17">
              <a:extLst>
                <a:ext uri="{FF2B5EF4-FFF2-40B4-BE49-F238E27FC236}">
                  <a16:creationId xmlns:a16="http://schemas.microsoft.com/office/drawing/2014/main" id="{A4199114-DAB5-A3E0-ADE0-BCFA5E786BD7}"/>
                </a:ext>
              </a:extLst>
            </p:cNvPr>
            <p:cNvSpPr txBox="1"/>
            <p:nvPr/>
          </p:nvSpPr>
          <p:spPr>
            <a:xfrm>
              <a:off x="3218895" y="4239394"/>
              <a:ext cx="4225578" cy="289518"/>
            </a:xfrm>
            <a:prstGeom prst="rect">
              <a:avLst/>
            </a:prstGeom>
            <a:noFill/>
          </p:spPr>
          <p:txBody>
            <a:bodyPr wrap="square" lIns="0" tIns="0" rIns="0">
              <a:noAutofit/>
            </a:bodyPr>
            <a:lstStyle/>
            <a:p>
              <a:pPr>
                <a:lnSpc>
                  <a:spcPts val="2600"/>
                </a:lnSpc>
              </a:pPr>
              <a:r>
                <a:rPr lang="en-US" sz="1900" dirty="0">
                  <a:solidFill>
                    <a:schemeClr val="accent3">
                      <a:lumMod val="75000"/>
                    </a:schemeClr>
                  </a:solidFill>
                  <a:latin typeface="Cormorant Infant" pitchFamily="2" charset="0"/>
                </a:rPr>
                <a:t>C.  </a:t>
              </a:r>
              <a:r>
                <a:rPr lang="en-US" sz="1900" dirty="0">
                  <a:solidFill>
                    <a:schemeClr val="tx1"/>
                  </a:solidFill>
                  <a:latin typeface="Cormorant Infant" pitchFamily="2" charset="0"/>
                </a:rPr>
                <a:t>The LIRA Opportunity</a:t>
              </a:r>
            </a:p>
          </p:txBody>
        </p:sp>
        <p:sp>
          <p:nvSpPr>
            <p:cNvPr id="19" name="TextBox 18">
              <a:extLst>
                <a:ext uri="{FF2B5EF4-FFF2-40B4-BE49-F238E27FC236}">
                  <a16:creationId xmlns:a16="http://schemas.microsoft.com/office/drawing/2014/main" id="{91C4667B-529A-DE62-B9F0-9857F153ACD6}"/>
                </a:ext>
              </a:extLst>
            </p:cNvPr>
            <p:cNvSpPr txBox="1"/>
            <p:nvPr/>
          </p:nvSpPr>
          <p:spPr>
            <a:xfrm>
              <a:off x="3511918" y="4642806"/>
              <a:ext cx="3357919" cy="522322"/>
            </a:xfrm>
            <a:prstGeom prst="rect">
              <a:avLst/>
            </a:prstGeom>
          </p:spPr>
          <p:txBody>
            <a:bodyPr wrap="square" lIns="0" tIns="0" rIns="0" bIns="0">
              <a:spAutoFit/>
            </a:bodyPr>
            <a:lstStyle/>
            <a:p>
              <a:pPr lvl="1">
                <a:lnSpc>
                  <a:spcPts val="1300"/>
                </a:lnSpc>
                <a:spcAft>
                  <a:spcPts val="1400"/>
                </a:spcAft>
                <a:buClr>
                  <a:schemeClr val="accent3"/>
                </a:buClr>
                <a:buSzPct val="120000"/>
              </a:pPr>
              <a:r>
                <a:rPr lang="en-US" sz="1400" dirty="0">
                  <a:solidFill>
                    <a:schemeClr val="accent3">
                      <a:lumMod val="75000"/>
                    </a:schemeClr>
                  </a:solidFill>
                  <a:latin typeface="Cormorant Infant" pitchFamily="2" charset="0"/>
                  <a:ea typeface="Cormorant Infant" pitchFamily="2" charset="0"/>
                  <a:cs typeface="Cormorant Infant" pitchFamily="2" charset="0"/>
                </a:rPr>
                <a:t>i.  </a:t>
              </a:r>
              <a:r>
                <a:rPr lang="en-US" sz="1400" dirty="0">
                  <a:solidFill>
                    <a:schemeClr val="tx1"/>
                  </a:solidFill>
                  <a:latin typeface="Cormorant Infant" pitchFamily="2" charset="0"/>
                  <a:ea typeface="Cormorant Infant" pitchFamily="2" charset="0"/>
                  <a:cs typeface="Cormorant Infant" pitchFamily="2" charset="0"/>
                </a:rPr>
                <a:t>How it Works</a:t>
              </a:r>
            </a:p>
            <a:p>
              <a:pPr lvl="1">
                <a:lnSpc>
                  <a:spcPts val="1300"/>
                </a:lnSpc>
                <a:spcAft>
                  <a:spcPts val="1400"/>
                </a:spcAft>
                <a:buClr>
                  <a:schemeClr val="accent3"/>
                </a:buClr>
                <a:buSzPct val="120000"/>
              </a:pPr>
              <a:r>
                <a:rPr lang="en-US" sz="1400" dirty="0">
                  <a:solidFill>
                    <a:schemeClr val="accent3">
                      <a:lumMod val="75000"/>
                    </a:schemeClr>
                  </a:solidFill>
                  <a:latin typeface="Cormorant Infant" pitchFamily="2" charset="0"/>
                  <a:ea typeface="Cormorant Infant" pitchFamily="2" charset="0"/>
                  <a:cs typeface="Cormorant Infant" pitchFamily="2" charset="0"/>
                </a:rPr>
                <a:t>ii.  </a:t>
              </a:r>
              <a:r>
                <a:rPr lang="en-US" sz="1400" dirty="0">
                  <a:solidFill>
                    <a:schemeClr val="tx1"/>
                  </a:solidFill>
                  <a:latin typeface="Cormorant Infant" pitchFamily="2" charset="0"/>
                  <a:ea typeface="Cormorant Infant" pitchFamily="2" charset="0"/>
                  <a:cs typeface="Cormorant Infant" pitchFamily="2" charset="0"/>
                </a:rPr>
                <a:t>Comparison to Current Planning</a:t>
              </a:r>
            </a:p>
          </p:txBody>
        </p:sp>
        <p:sp>
          <p:nvSpPr>
            <p:cNvPr id="20" name="TextBox 19">
              <a:extLst>
                <a:ext uri="{FF2B5EF4-FFF2-40B4-BE49-F238E27FC236}">
                  <a16:creationId xmlns:a16="http://schemas.microsoft.com/office/drawing/2014/main" id="{AA7194AC-738D-4FE0-E4BA-8F695B09FE1F}"/>
                </a:ext>
              </a:extLst>
            </p:cNvPr>
            <p:cNvSpPr txBox="1"/>
            <p:nvPr/>
          </p:nvSpPr>
          <p:spPr>
            <a:xfrm>
              <a:off x="3218895" y="5336806"/>
              <a:ext cx="4362212" cy="369332"/>
            </a:xfrm>
            <a:prstGeom prst="rect">
              <a:avLst/>
            </a:prstGeom>
            <a:noFill/>
          </p:spPr>
          <p:txBody>
            <a:bodyPr wrap="square" lIns="0" tIns="0" rIns="0">
              <a:noAutofit/>
            </a:bodyPr>
            <a:lstStyle/>
            <a:p>
              <a:pPr>
                <a:lnSpc>
                  <a:spcPts val="2600"/>
                </a:lnSpc>
              </a:pPr>
              <a:r>
                <a:rPr lang="en-US" sz="1900" dirty="0">
                  <a:solidFill>
                    <a:schemeClr val="accent3">
                      <a:lumMod val="75000"/>
                    </a:schemeClr>
                  </a:solidFill>
                  <a:latin typeface="Cormorant Infant" pitchFamily="2" charset="0"/>
                </a:rPr>
                <a:t>D.  </a:t>
              </a:r>
              <a:r>
                <a:rPr lang="en-US" dirty="0">
                  <a:solidFill>
                    <a:schemeClr val="tx1"/>
                  </a:solidFill>
                  <a:latin typeface="Cormorant Infant" pitchFamily="2" charset="0"/>
                </a:rPr>
                <a:t>Legal &amp; Compliance</a:t>
              </a:r>
            </a:p>
          </p:txBody>
        </p:sp>
      </p:grpSp>
      <p:sp>
        <p:nvSpPr>
          <p:cNvPr id="31" name="Rectangle 30">
            <a:extLst>
              <a:ext uri="{FF2B5EF4-FFF2-40B4-BE49-F238E27FC236}">
                <a16:creationId xmlns:a16="http://schemas.microsoft.com/office/drawing/2014/main" id="{81E6128B-40FF-4A8C-0EFC-D90CB26DCF7D}"/>
              </a:ext>
            </a:extLst>
          </p:cNvPr>
          <p:cNvSpPr/>
          <p:nvPr/>
        </p:nvSpPr>
        <p:spPr>
          <a:xfrm flipV="1">
            <a:off x="723344" y="1687382"/>
            <a:ext cx="4555022" cy="45719"/>
          </a:xfrm>
          <a:prstGeom prst="rect">
            <a:avLst/>
          </a:prstGeom>
          <a:solidFill>
            <a:srgbClr val="9DB18B">
              <a:alpha val="50000"/>
            </a:srgbClr>
          </a:solidFill>
          <a:ln w="5241"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5" name="TextBox 24">
            <a:extLst>
              <a:ext uri="{FF2B5EF4-FFF2-40B4-BE49-F238E27FC236}">
                <a16:creationId xmlns:a16="http://schemas.microsoft.com/office/drawing/2014/main" id="{291178FE-5E6A-78B8-F678-44993EF87C80}"/>
              </a:ext>
            </a:extLst>
          </p:cNvPr>
          <p:cNvSpPr txBox="1"/>
          <p:nvPr/>
        </p:nvSpPr>
        <p:spPr>
          <a:xfrm>
            <a:off x="732265" y="1276553"/>
            <a:ext cx="2489071" cy="477054"/>
          </a:xfrm>
          <a:prstGeom prst="rect">
            <a:avLst/>
          </a:prstGeom>
          <a:noFill/>
        </p:spPr>
        <p:txBody>
          <a:bodyPr wrap="square" lIns="0" tIns="0" rIns="0">
            <a:spAutoFit/>
          </a:bodyPr>
          <a:lstStyle/>
          <a:p>
            <a:r>
              <a:rPr lang="en-US" sz="2800" dirty="0">
                <a:solidFill>
                  <a:schemeClr val="accent2"/>
                </a:solidFill>
                <a:latin typeface="Cormorant Infant" pitchFamily="2" charset="0"/>
              </a:rPr>
              <a:t>Today’s Agenda</a:t>
            </a:r>
          </a:p>
        </p:txBody>
      </p:sp>
      <p:sp>
        <p:nvSpPr>
          <p:cNvPr id="2" name="TextBox 1">
            <a:extLst>
              <a:ext uri="{FF2B5EF4-FFF2-40B4-BE49-F238E27FC236}">
                <a16:creationId xmlns:a16="http://schemas.microsoft.com/office/drawing/2014/main" id="{A83549A6-29D1-4F5F-26B3-05A68A5291A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dirty="0">
                <a:solidFill>
                  <a:schemeClr val="accent1">
                    <a:lumMod val="75000"/>
                  </a:schemeClr>
                </a:solidFill>
                <a:latin typeface="Cormorant Infant" pitchFamily="2" charset="0"/>
                <a:ea typeface="Cormorant Infant" pitchFamily="2" charset="0"/>
                <a:cs typeface="Cormorant Infant" pitchFamily="2" charset="0"/>
              </a:rPr>
              <a:t>&gt;</a:t>
            </a:r>
            <a:endPar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endParaRPr>
          </a:p>
        </p:txBody>
      </p:sp>
      <p:sp>
        <p:nvSpPr>
          <p:cNvPr id="3" name="TextBox 2">
            <a:extLst>
              <a:ext uri="{FF2B5EF4-FFF2-40B4-BE49-F238E27FC236}">
                <a16:creationId xmlns:a16="http://schemas.microsoft.com/office/drawing/2014/main" id="{355CD4EF-6FB8-999C-AB88-582CBEF38CA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68532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A793F-5849-368C-F200-D40910884A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C4F4B9-20DA-00DE-D1A2-4A679EE9D603}"/>
              </a:ext>
            </a:extLst>
          </p:cNvPr>
          <p:cNvSpPr/>
          <p:nvPr/>
        </p:nvSpPr>
        <p:spPr>
          <a:xfrm>
            <a:off x="7205472" y="855344"/>
            <a:ext cx="4517136" cy="5537837"/>
          </a:xfrm>
          <a:prstGeom prst="rect">
            <a:avLst/>
          </a:prstGeom>
          <a:solidFill>
            <a:schemeClr val="tx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FEB29BA-19A4-15C2-D411-16EF3765229F}"/>
              </a:ext>
            </a:extLst>
          </p:cNvPr>
          <p:cNvSpPr/>
          <p:nvPr/>
        </p:nvSpPr>
        <p:spPr>
          <a:xfrm flipV="1">
            <a:off x="7763256" y="1742428"/>
            <a:ext cx="3566160" cy="45719"/>
          </a:xfrm>
          <a:prstGeom prst="rect">
            <a:avLst/>
          </a:prstGeom>
          <a:solidFill>
            <a:schemeClr val="tx2">
              <a:lumMod val="75000"/>
              <a:alpha val="50000"/>
            </a:schemeClr>
          </a:solidFill>
          <a:ln w="23194"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2" name="TextBox 11">
            <a:extLst>
              <a:ext uri="{FF2B5EF4-FFF2-40B4-BE49-F238E27FC236}">
                <a16:creationId xmlns:a16="http://schemas.microsoft.com/office/drawing/2014/main" id="{B12273EB-58C1-A698-5919-946891B176D6}"/>
              </a:ext>
            </a:extLst>
          </p:cNvPr>
          <p:cNvSpPr txBox="1"/>
          <p:nvPr/>
        </p:nvSpPr>
        <p:spPr>
          <a:xfrm>
            <a:off x="7763256" y="1266548"/>
            <a:ext cx="3890974" cy="508959"/>
          </a:xfrm>
          <a:prstGeom prst="rect">
            <a:avLst/>
          </a:prstGeom>
          <a:noFill/>
        </p:spPr>
        <p:txBody>
          <a:bodyPr wrap="square" lIns="0" tIns="0" rIns="0">
            <a:noAutofit/>
          </a:bodyPr>
          <a:lstStyle/>
          <a:p>
            <a:r>
              <a:rPr lang="en-US" sz="2800" dirty="0">
                <a:solidFill>
                  <a:schemeClr val="accent2"/>
                </a:solidFill>
                <a:latin typeface="Cormorant Infant" pitchFamily="2" charset="0"/>
              </a:rPr>
              <a:t>Planning Landscape</a:t>
            </a:r>
          </a:p>
        </p:txBody>
      </p:sp>
      <p:sp>
        <p:nvSpPr>
          <p:cNvPr id="14" name="TextBox 13">
            <a:extLst>
              <a:ext uri="{FF2B5EF4-FFF2-40B4-BE49-F238E27FC236}">
                <a16:creationId xmlns:a16="http://schemas.microsoft.com/office/drawing/2014/main" id="{8D8A8F39-FC68-4970-68B7-2F2A874AD71E}"/>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21" name="TextBox 20">
            <a:extLst>
              <a:ext uri="{FF2B5EF4-FFF2-40B4-BE49-F238E27FC236}">
                <a16:creationId xmlns:a16="http://schemas.microsoft.com/office/drawing/2014/main" id="{F4926EED-D505-5BB7-DCAC-E4F4C2BBF71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23" name="TextBox 22">
            <a:extLst>
              <a:ext uri="{FF2B5EF4-FFF2-40B4-BE49-F238E27FC236}">
                <a16:creationId xmlns:a16="http://schemas.microsoft.com/office/drawing/2014/main" id="{73255CD2-3B5D-E6CD-FCD6-B8F59C84EC43}"/>
              </a:ext>
            </a:extLst>
          </p:cNvPr>
          <p:cNvSpPr txBox="1"/>
          <p:nvPr/>
        </p:nvSpPr>
        <p:spPr>
          <a:xfrm>
            <a:off x="7763256" y="2000720"/>
            <a:ext cx="3566160" cy="287414"/>
          </a:xfrm>
          <a:prstGeom prst="rect">
            <a:avLst/>
          </a:prstGeom>
          <a:noFill/>
        </p:spPr>
        <p:txBody>
          <a:bodyPr wrap="square" lIns="0" tIns="0" rIns="0">
            <a:noAutofit/>
          </a:bodyPr>
          <a:lstStyle/>
          <a:p>
            <a:pPr>
              <a:lnSpc>
                <a:spcPts val="2600"/>
              </a:lnSpc>
            </a:pPr>
            <a:r>
              <a:rPr lang="en-US" sz="1900" dirty="0">
                <a:solidFill>
                  <a:schemeClr val="accent2"/>
                </a:solidFill>
                <a:latin typeface="Cormorant Infant" pitchFamily="2" charset="0"/>
              </a:rPr>
              <a:t>A. </a:t>
            </a:r>
            <a:r>
              <a:rPr lang="en-US" sz="1900" dirty="0">
                <a:solidFill>
                  <a:schemeClr val="bg1"/>
                </a:solidFill>
                <a:latin typeface="Cormorant Infant" pitchFamily="2" charset="0"/>
              </a:rPr>
              <a:t>Who We Are</a:t>
            </a:r>
          </a:p>
        </p:txBody>
      </p:sp>
      <p:sp>
        <p:nvSpPr>
          <p:cNvPr id="24" name="TextBox 23">
            <a:extLst>
              <a:ext uri="{FF2B5EF4-FFF2-40B4-BE49-F238E27FC236}">
                <a16:creationId xmlns:a16="http://schemas.microsoft.com/office/drawing/2014/main" id="{E868B007-7D13-32BC-3E87-360C052864AA}"/>
              </a:ext>
            </a:extLst>
          </p:cNvPr>
          <p:cNvSpPr txBox="1"/>
          <p:nvPr/>
        </p:nvSpPr>
        <p:spPr>
          <a:xfrm>
            <a:off x="8046720" y="2286689"/>
            <a:ext cx="3566160" cy="262701"/>
          </a:xfrm>
          <a:prstGeom prst="rect">
            <a:avLst/>
          </a:prstGeom>
        </p:spPr>
        <p:txBody>
          <a:bodyPr wrap="square" lIns="0" tIns="0" rIns="0" bIns="0">
            <a:spAutoFit/>
          </a:bodyPr>
          <a:lstStyle/>
          <a:p>
            <a:pPr marL="285750" lvl="1" indent="-285750">
              <a:lnSpc>
                <a:spcPts val="2200"/>
              </a:lnSpc>
              <a:buClr>
                <a:schemeClr val="accent3"/>
              </a:buClr>
              <a:buSzPct val="120000"/>
              <a:buAutoNum type="romanLcPeriod"/>
            </a:pPr>
            <a:r>
              <a:rPr lang="en-US" sz="1400" dirty="0">
                <a:solidFill>
                  <a:schemeClr val="bg1"/>
                </a:solidFill>
                <a:latin typeface="Cormorant Infant" pitchFamily="2" charset="0"/>
                <a:ea typeface="Cormorant Infant" pitchFamily="2" charset="0"/>
                <a:cs typeface="Cormorant Infant" pitchFamily="2" charset="0"/>
              </a:rPr>
              <a:t>&lt;</a:t>
            </a:r>
            <a:r>
              <a:rPr lang="en-US" sz="1400" dirty="0" err="1">
                <a:solidFill>
                  <a:schemeClr val="bg1"/>
                </a:solidFill>
                <a:latin typeface="Cormorant Infant" pitchFamily="2" charset="0"/>
                <a:ea typeface="Cormorant Infant" pitchFamily="2" charset="0"/>
                <a:cs typeface="Cormorant Infant" pitchFamily="2" charset="0"/>
              </a:rPr>
              <a:t>WhoWeAre</a:t>
            </a:r>
            <a:r>
              <a:rPr lang="en-US" sz="1400" dirty="0">
                <a:solidFill>
                  <a:schemeClr val="bg1"/>
                </a:solidFill>
                <a:latin typeface="Cormorant Infant" pitchFamily="2" charset="0"/>
                <a:ea typeface="Cormorant Infant" pitchFamily="2" charset="0"/>
                <a:cs typeface="Cormorant Infant" pitchFamily="2" charset="0"/>
              </a:rPr>
              <a:t>&gt;</a:t>
            </a:r>
          </a:p>
        </p:txBody>
      </p:sp>
      <p:sp>
        <p:nvSpPr>
          <p:cNvPr id="26" name="TextBox 25">
            <a:extLst>
              <a:ext uri="{FF2B5EF4-FFF2-40B4-BE49-F238E27FC236}">
                <a16:creationId xmlns:a16="http://schemas.microsoft.com/office/drawing/2014/main" id="{D83FE024-2B0A-DB4C-1ADA-FA4DDDB806FB}"/>
              </a:ext>
            </a:extLst>
          </p:cNvPr>
          <p:cNvSpPr txBox="1"/>
          <p:nvPr/>
        </p:nvSpPr>
        <p:spPr>
          <a:xfrm>
            <a:off x="7763256" y="3148134"/>
            <a:ext cx="4062971" cy="289347"/>
          </a:xfrm>
          <a:prstGeom prst="rect">
            <a:avLst/>
          </a:prstGeom>
          <a:noFill/>
        </p:spPr>
        <p:txBody>
          <a:bodyPr wrap="square" lIns="0" tIns="0" rIns="0">
            <a:noAutofit/>
          </a:bodyPr>
          <a:lstStyle/>
          <a:p>
            <a:pPr>
              <a:lnSpc>
                <a:spcPts val="2600"/>
              </a:lnSpc>
            </a:pPr>
            <a:r>
              <a:rPr lang="en-US" sz="1900" dirty="0">
                <a:solidFill>
                  <a:schemeClr val="accent2"/>
                </a:solidFill>
                <a:latin typeface="Cormorant Infant" pitchFamily="2" charset="0"/>
              </a:rPr>
              <a:t>B. </a:t>
            </a:r>
            <a:r>
              <a:rPr lang="en-US" sz="1900" dirty="0">
                <a:solidFill>
                  <a:schemeClr val="bg1"/>
                </a:solidFill>
                <a:latin typeface="Cormorant Infant" pitchFamily="2" charset="0"/>
              </a:rPr>
              <a:t>What We Have</a:t>
            </a:r>
          </a:p>
        </p:txBody>
      </p:sp>
      <p:sp>
        <p:nvSpPr>
          <p:cNvPr id="27" name="TextBox 26">
            <a:extLst>
              <a:ext uri="{FF2B5EF4-FFF2-40B4-BE49-F238E27FC236}">
                <a16:creationId xmlns:a16="http://schemas.microsoft.com/office/drawing/2014/main" id="{713D77EF-EE1F-9EAB-B27C-42EB71B21120}"/>
              </a:ext>
            </a:extLst>
          </p:cNvPr>
          <p:cNvSpPr txBox="1"/>
          <p:nvPr/>
        </p:nvSpPr>
        <p:spPr>
          <a:xfrm>
            <a:off x="8046720" y="3409011"/>
            <a:ext cx="3566160" cy="826958"/>
          </a:xfrm>
          <a:prstGeom prst="rect">
            <a:avLst/>
          </a:prstGeom>
        </p:spPr>
        <p:txBody>
          <a:bodyPr wrap="square" lIns="0" tIns="0" rIns="0" bIns="0">
            <a:spAutoFit/>
          </a:bodyPr>
          <a:lstStyle/>
          <a:p>
            <a:pPr marL="285750" lvl="1" indent="-285750">
              <a:lnSpc>
                <a:spcPts val="2200"/>
              </a:lnSpc>
              <a:buClr>
                <a:schemeClr val="accent3"/>
              </a:buClr>
              <a:buSzPct val="120000"/>
              <a:buAutoNum type="romanLcPeriod"/>
            </a:pPr>
            <a:r>
              <a:rPr lang="en-US" sz="1400" dirty="0">
                <a:solidFill>
                  <a:schemeClr val="bg1"/>
                </a:solidFill>
                <a:latin typeface="Cormorant Infant" pitchFamily="2" charset="0"/>
                <a:ea typeface="Cormorant Infant" pitchFamily="2" charset="0"/>
                <a:cs typeface="Cormorant Infant" pitchFamily="2" charset="0"/>
              </a:rPr>
              <a:t>Operating Businesses: &lt;</a:t>
            </a:r>
            <a:r>
              <a:rPr lang="en-US" sz="1400" dirty="0" err="1">
                <a:solidFill>
                  <a:schemeClr val="bg1"/>
                </a:solidFill>
                <a:latin typeface="Cormorant Infant" pitchFamily="2" charset="0"/>
                <a:ea typeface="Cormorant Infant" pitchFamily="2" charset="0"/>
                <a:cs typeface="Cormorant Infant" pitchFamily="2" charset="0"/>
              </a:rPr>
              <a:t>BusNm</a:t>
            </a:r>
            <a:r>
              <a:rPr lang="en-US" sz="1400" dirty="0">
                <a:solidFill>
                  <a:schemeClr val="bg1"/>
                </a:solidFill>
                <a:latin typeface="Cormorant Infant" pitchFamily="2" charset="0"/>
                <a:ea typeface="Cormorant Infant" pitchFamily="2" charset="0"/>
                <a:cs typeface="Cormorant Infant" pitchFamily="2" charset="0"/>
              </a:rPr>
              <a:t>&gt;</a:t>
            </a:r>
          </a:p>
          <a:p>
            <a:pPr marL="285750" lvl="1" indent="-285750">
              <a:lnSpc>
                <a:spcPts val="2200"/>
              </a:lnSpc>
              <a:buClr>
                <a:schemeClr val="accent3"/>
              </a:buClr>
              <a:buSzPct val="120000"/>
              <a:buAutoNum type="romanLcPeriod"/>
            </a:pPr>
            <a:r>
              <a:rPr lang="en-US" sz="1400" dirty="0">
                <a:solidFill>
                  <a:schemeClr val="bg1"/>
                </a:solidFill>
                <a:latin typeface="Cormorant Infant" pitchFamily="2" charset="0"/>
                <a:ea typeface="Cormorant Infant" pitchFamily="2" charset="0"/>
                <a:cs typeface="Cormorant Infant" pitchFamily="2" charset="0"/>
              </a:rPr>
              <a:t>After-Tax Liquidity:  &lt;</a:t>
            </a:r>
            <a:r>
              <a:rPr lang="en-US" sz="1400" dirty="0" err="1">
                <a:solidFill>
                  <a:schemeClr val="bg1"/>
                </a:solidFill>
                <a:latin typeface="Cormorant Infant" pitchFamily="2" charset="0"/>
                <a:ea typeface="Cormorant Infant" pitchFamily="2" charset="0"/>
                <a:cs typeface="Cormorant Infant" pitchFamily="2" charset="0"/>
              </a:rPr>
              <a:t>LiquidityAmt</a:t>
            </a:r>
            <a:r>
              <a:rPr lang="en-US" sz="1400" dirty="0">
                <a:solidFill>
                  <a:schemeClr val="bg1"/>
                </a:solidFill>
                <a:latin typeface="Cormorant Infant" pitchFamily="2" charset="0"/>
                <a:ea typeface="Cormorant Infant" pitchFamily="2" charset="0"/>
                <a:cs typeface="Cormorant Infant" pitchFamily="2" charset="0"/>
              </a:rPr>
              <a:t>&gt;</a:t>
            </a:r>
          </a:p>
          <a:p>
            <a:pPr marL="285750" lvl="1" indent="-285750">
              <a:lnSpc>
                <a:spcPts val="2200"/>
              </a:lnSpc>
              <a:buClr>
                <a:schemeClr val="accent3"/>
              </a:buClr>
              <a:buSzPct val="120000"/>
              <a:buAutoNum type="romanLcPeriod" startAt="2"/>
            </a:pPr>
            <a:r>
              <a:rPr lang="en-US" sz="1400" dirty="0">
                <a:solidFill>
                  <a:schemeClr val="bg1"/>
                </a:solidFill>
                <a:latin typeface="Cormorant Infant" pitchFamily="2" charset="0"/>
                <a:ea typeface="Cormorant Infant" pitchFamily="2" charset="0"/>
                <a:cs typeface="Cormorant Infant" pitchFamily="2" charset="0"/>
              </a:rPr>
              <a:t>Approximate Net Worth: &lt;</a:t>
            </a:r>
            <a:r>
              <a:rPr lang="en-US" sz="1400" dirty="0" err="1">
                <a:solidFill>
                  <a:schemeClr val="bg1"/>
                </a:solidFill>
                <a:latin typeface="Cormorant Infant" pitchFamily="2" charset="0"/>
                <a:ea typeface="Cormorant Infant" pitchFamily="2" charset="0"/>
                <a:cs typeface="Cormorant Infant" pitchFamily="2" charset="0"/>
              </a:rPr>
              <a:t>NetWorth</a:t>
            </a:r>
            <a:r>
              <a:rPr lang="en-US" sz="1400" dirty="0">
                <a:solidFill>
                  <a:schemeClr val="bg1"/>
                </a:solidFill>
                <a:latin typeface="Cormorant Infant" pitchFamily="2" charset="0"/>
                <a:ea typeface="Cormorant Infant" pitchFamily="2" charset="0"/>
                <a:cs typeface="Cormorant Infant" pitchFamily="2" charset="0"/>
              </a:rPr>
              <a:t>&gt;</a:t>
            </a:r>
          </a:p>
        </p:txBody>
      </p:sp>
      <p:sp>
        <p:nvSpPr>
          <p:cNvPr id="28" name="TextBox 27">
            <a:extLst>
              <a:ext uri="{FF2B5EF4-FFF2-40B4-BE49-F238E27FC236}">
                <a16:creationId xmlns:a16="http://schemas.microsoft.com/office/drawing/2014/main" id="{27DD00E4-0CEF-A752-DC5E-DF67D6B171D8}"/>
              </a:ext>
            </a:extLst>
          </p:cNvPr>
          <p:cNvSpPr txBox="1"/>
          <p:nvPr/>
        </p:nvSpPr>
        <p:spPr>
          <a:xfrm>
            <a:off x="7763256" y="4257352"/>
            <a:ext cx="4225578" cy="289518"/>
          </a:xfrm>
          <a:prstGeom prst="rect">
            <a:avLst/>
          </a:prstGeom>
          <a:noFill/>
        </p:spPr>
        <p:txBody>
          <a:bodyPr wrap="square" lIns="0" tIns="0" rIns="0">
            <a:noAutofit/>
          </a:bodyPr>
          <a:lstStyle/>
          <a:p>
            <a:pPr>
              <a:lnSpc>
                <a:spcPts val="2600"/>
              </a:lnSpc>
            </a:pPr>
            <a:r>
              <a:rPr lang="en-US" sz="1900" dirty="0">
                <a:solidFill>
                  <a:schemeClr val="accent2"/>
                </a:solidFill>
                <a:latin typeface="Cormorant Infant" pitchFamily="2" charset="0"/>
              </a:rPr>
              <a:t>C. </a:t>
            </a:r>
            <a:r>
              <a:rPr lang="en-US" sz="1900" dirty="0">
                <a:solidFill>
                  <a:schemeClr val="bg1"/>
                </a:solidFill>
                <a:latin typeface="Cormorant Infant" pitchFamily="2" charset="0"/>
              </a:rPr>
              <a:t>Plan Assets</a:t>
            </a:r>
          </a:p>
        </p:txBody>
      </p:sp>
      <p:sp>
        <p:nvSpPr>
          <p:cNvPr id="29" name="TextBox 28">
            <a:extLst>
              <a:ext uri="{FF2B5EF4-FFF2-40B4-BE49-F238E27FC236}">
                <a16:creationId xmlns:a16="http://schemas.microsoft.com/office/drawing/2014/main" id="{2FA7C535-D540-AC7A-DE1C-51B57258E9EA}"/>
              </a:ext>
            </a:extLst>
          </p:cNvPr>
          <p:cNvSpPr txBox="1"/>
          <p:nvPr/>
        </p:nvSpPr>
        <p:spPr>
          <a:xfrm>
            <a:off x="8046720" y="4527281"/>
            <a:ext cx="3566160" cy="262701"/>
          </a:xfrm>
          <a:prstGeom prst="rect">
            <a:avLst/>
          </a:prstGeom>
        </p:spPr>
        <p:txBody>
          <a:bodyPr wrap="square" lIns="0" tIns="0" rIns="0" bIns="0">
            <a:spAutoFit/>
          </a:bodyPr>
          <a:lstStyle/>
          <a:p>
            <a:pPr marL="285750" lvl="1" indent="-285750">
              <a:lnSpc>
                <a:spcPts val="2200"/>
              </a:lnSpc>
              <a:buClr>
                <a:schemeClr val="accent3"/>
              </a:buClr>
              <a:buSzPct val="120000"/>
              <a:buFont typeface="+mj-lt"/>
              <a:buAutoNum type="romanLcPeriod"/>
            </a:pPr>
            <a:r>
              <a:rPr lang="en-US" sz="1400" dirty="0">
                <a:solidFill>
                  <a:schemeClr val="bg1"/>
                </a:solidFill>
                <a:latin typeface="Cormorant Infant" pitchFamily="2" charset="0"/>
                <a:ea typeface="Cormorant Infant" pitchFamily="2" charset="0"/>
                <a:cs typeface="Cormorant Infant" pitchFamily="2" charset="0"/>
              </a:rPr>
              <a:t>Pre-tax Retirement Assets &lt;</a:t>
            </a:r>
            <a:r>
              <a:rPr lang="en-US" sz="1400" dirty="0" err="1">
                <a:solidFill>
                  <a:schemeClr val="bg1"/>
                </a:solidFill>
                <a:latin typeface="Cormorant Infant" pitchFamily="2" charset="0"/>
                <a:ea typeface="Cormorant Infant" pitchFamily="2" charset="0"/>
                <a:cs typeface="Cormorant Infant" pitchFamily="2" charset="0"/>
              </a:rPr>
              <a:t>TotalQPlan</a:t>
            </a:r>
            <a:r>
              <a:rPr lang="en-US" sz="1400" dirty="0">
                <a:solidFill>
                  <a:schemeClr val="bg1"/>
                </a:solidFill>
                <a:latin typeface="Cormorant Infant" pitchFamily="2" charset="0"/>
                <a:ea typeface="Cormorant Infant" pitchFamily="2" charset="0"/>
                <a:cs typeface="Cormorant Infant" pitchFamily="2" charset="0"/>
              </a:rPr>
              <a:t>&gt;</a:t>
            </a:r>
          </a:p>
        </p:txBody>
      </p:sp>
      <p:sp>
        <p:nvSpPr>
          <p:cNvPr id="30" name="TextBox 29">
            <a:extLst>
              <a:ext uri="{FF2B5EF4-FFF2-40B4-BE49-F238E27FC236}">
                <a16:creationId xmlns:a16="http://schemas.microsoft.com/office/drawing/2014/main" id="{62858B73-F7C3-206D-32F3-B9F02D679E3E}"/>
              </a:ext>
            </a:extLst>
          </p:cNvPr>
          <p:cNvSpPr txBox="1"/>
          <p:nvPr/>
        </p:nvSpPr>
        <p:spPr>
          <a:xfrm>
            <a:off x="7763256" y="4930694"/>
            <a:ext cx="3566160" cy="369332"/>
          </a:xfrm>
          <a:prstGeom prst="rect">
            <a:avLst/>
          </a:prstGeom>
          <a:noFill/>
        </p:spPr>
        <p:txBody>
          <a:bodyPr wrap="square" lIns="0" tIns="0" rIns="0">
            <a:noAutofit/>
          </a:bodyPr>
          <a:lstStyle/>
          <a:p>
            <a:pPr>
              <a:lnSpc>
                <a:spcPts val="2600"/>
              </a:lnSpc>
            </a:pPr>
            <a:r>
              <a:rPr lang="en-US" sz="1900" dirty="0">
                <a:solidFill>
                  <a:schemeClr val="accent2"/>
                </a:solidFill>
                <a:latin typeface="Cormorant Infant" pitchFamily="2" charset="0"/>
              </a:rPr>
              <a:t>D. </a:t>
            </a:r>
            <a:r>
              <a:rPr lang="en-US" sz="1900" dirty="0">
                <a:solidFill>
                  <a:schemeClr val="bg1"/>
                </a:solidFill>
                <a:latin typeface="Cormorant Infant" pitchFamily="2" charset="0"/>
              </a:rPr>
              <a:t>Who We Want to Benefit</a:t>
            </a:r>
          </a:p>
        </p:txBody>
      </p:sp>
      <p:sp>
        <p:nvSpPr>
          <p:cNvPr id="2" name="TextBox 1">
            <a:extLst>
              <a:ext uri="{FF2B5EF4-FFF2-40B4-BE49-F238E27FC236}">
                <a16:creationId xmlns:a16="http://schemas.microsoft.com/office/drawing/2014/main" id="{2A1B3F6B-60DD-3DE5-9052-3F4ADB172E62}"/>
              </a:ext>
            </a:extLst>
          </p:cNvPr>
          <p:cNvSpPr txBox="1"/>
          <p:nvPr/>
        </p:nvSpPr>
        <p:spPr>
          <a:xfrm>
            <a:off x="8046720" y="5328751"/>
            <a:ext cx="3566160" cy="262701"/>
          </a:xfrm>
          <a:prstGeom prst="rect">
            <a:avLst/>
          </a:prstGeom>
        </p:spPr>
        <p:txBody>
          <a:bodyPr wrap="square" lIns="0" tIns="0" rIns="0" bIns="0">
            <a:spAutoFit/>
          </a:bodyPr>
          <a:lstStyle/>
          <a:p>
            <a:pPr marL="285750" lvl="1" indent="-285750">
              <a:lnSpc>
                <a:spcPts val="2200"/>
              </a:lnSpc>
              <a:buClr>
                <a:schemeClr val="accent3"/>
              </a:buClr>
              <a:buSzPct val="120000"/>
              <a:buAutoNum type="romanLcPeriod"/>
            </a:pPr>
            <a:r>
              <a:rPr lang="en-US" sz="1400" dirty="0">
                <a:solidFill>
                  <a:schemeClr val="bg1"/>
                </a:solidFill>
                <a:latin typeface="Cormorant Infant" pitchFamily="2" charset="0"/>
                <a:ea typeface="Cormorant Infant" pitchFamily="2" charset="0"/>
                <a:cs typeface="Cormorant Infant" pitchFamily="2" charset="0"/>
              </a:rPr>
              <a:t>&lt;</a:t>
            </a:r>
            <a:r>
              <a:rPr lang="en-US" sz="1400" dirty="0" err="1">
                <a:solidFill>
                  <a:schemeClr val="bg1"/>
                </a:solidFill>
                <a:latin typeface="Cormorant Infant" pitchFamily="2" charset="0"/>
                <a:ea typeface="Cormorant Infant" pitchFamily="2" charset="0"/>
                <a:cs typeface="Cormorant Infant" pitchFamily="2" charset="0"/>
              </a:rPr>
              <a:t>BeneNames</a:t>
            </a:r>
            <a:r>
              <a:rPr lang="en-US" sz="1400" dirty="0">
                <a:solidFill>
                  <a:schemeClr val="bg1"/>
                </a:solidFill>
                <a:latin typeface="Cormorant Infant" pitchFamily="2" charset="0"/>
                <a:ea typeface="Cormorant Infant" pitchFamily="2" charset="0"/>
                <a:cs typeface="Cormorant Infant" pitchFamily="2" charset="0"/>
              </a:rPr>
              <a:t>&gt;</a:t>
            </a:r>
          </a:p>
        </p:txBody>
      </p:sp>
      <p:sp>
        <p:nvSpPr>
          <p:cNvPr id="5" name="Rectangle 4">
            <a:extLst>
              <a:ext uri="{FF2B5EF4-FFF2-40B4-BE49-F238E27FC236}">
                <a16:creationId xmlns:a16="http://schemas.microsoft.com/office/drawing/2014/main" id="{5492A5E4-9E2A-4596-9F34-A1B0C36E06C4}"/>
              </a:ext>
            </a:extLst>
          </p:cNvPr>
          <p:cNvSpPr/>
          <p:nvPr/>
        </p:nvSpPr>
        <p:spPr>
          <a:xfrm>
            <a:off x="965770" y="1118897"/>
            <a:ext cx="6411075" cy="837479"/>
          </a:xfrm>
          <a:prstGeom prst="rect">
            <a:avLst/>
          </a:prstGeom>
          <a:solidFill>
            <a:schemeClr val="accent5"/>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9F08219-22BE-60BD-9705-F920C3E6CD2A}"/>
              </a:ext>
            </a:extLst>
          </p:cNvPr>
          <p:cNvSpPr/>
          <p:nvPr/>
        </p:nvSpPr>
        <p:spPr>
          <a:xfrm flipV="1">
            <a:off x="1160979" y="1757324"/>
            <a:ext cx="5979559" cy="45719"/>
          </a:xfrm>
          <a:prstGeom prst="rect">
            <a:avLst/>
          </a:prstGeom>
          <a:solidFill>
            <a:srgbClr val="9DB18B">
              <a:alpha val="50000"/>
            </a:srgbClr>
          </a:solidFill>
          <a:ln w="5241"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0" name="TextBox 9">
            <a:extLst>
              <a:ext uri="{FF2B5EF4-FFF2-40B4-BE49-F238E27FC236}">
                <a16:creationId xmlns:a16="http://schemas.microsoft.com/office/drawing/2014/main" id="{E474FDFC-D74E-FE53-EC1F-5C897794D4F5}"/>
              </a:ext>
            </a:extLst>
          </p:cNvPr>
          <p:cNvSpPr txBox="1"/>
          <p:nvPr/>
        </p:nvSpPr>
        <p:spPr>
          <a:xfrm>
            <a:off x="1319842" y="1287096"/>
            <a:ext cx="2406359" cy="430887"/>
          </a:xfrm>
          <a:prstGeom prst="rect">
            <a:avLst/>
          </a:prstGeom>
          <a:noFill/>
        </p:spPr>
        <p:txBody>
          <a:bodyPr wrap="square" lIns="0" tIns="0" rIns="0" bIns="0">
            <a:spAutoFit/>
          </a:bodyPr>
          <a:lstStyle/>
          <a:p>
            <a:r>
              <a:rPr lang="en-US" sz="2800" dirty="0">
                <a:solidFill>
                  <a:schemeClr val="accent2"/>
                </a:solidFill>
                <a:latin typeface="Cormorant Infant" pitchFamily="2" charset="0"/>
              </a:rPr>
              <a:t>Your Objectives</a:t>
            </a:r>
          </a:p>
        </p:txBody>
      </p:sp>
      <p:sp>
        <p:nvSpPr>
          <p:cNvPr id="11" name="TextBox 10">
            <a:extLst>
              <a:ext uri="{FF2B5EF4-FFF2-40B4-BE49-F238E27FC236}">
                <a16:creationId xmlns:a16="http://schemas.microsoft.com/office/drawing/2014/main" id="{743EE20C-E7A9-1631-F897-332F0239B805}"/>
              </a:ext>
            </a:extLst>
          </p:cNvPr>
          <p:cNvSpPr txBox="1"/>
          <p:nvPr/>
        </p:nvSpPr>
        <p:spPr>
          <a:xfrm>
            <a:off x="1311714" y="2143594"/>
            <a:ext cx="5859647" cy="192360"/>
          </a:xfrm>
          <a:prstGeom prst="rect">
            <a:avLst/>
          </a:prstGeom>
        </p:spPr>
        <p:txBody>
          <a:bodyPr wrap="square" lIns="0" tIns="0" rIns="0" bIns="0">
            <a:spAutoFit/>
          </a:bodyPr>
          <a:lstStyle/>
          <a:p>
            <a:pPr marL="182880" lvl="1" indent="-182880">
              <a:lnSpc>
                <a:spcPts val="1500"/>
              </a:lnSpc>
              <a:spcAft>
                <a:spcPts val="1200"/>
              </a:spcAft>
              <a:buClr>
                <a:schemeClr val="accent3"/>
              </a:buClr>
              <a:buSzPct val="120000"/>
              <a:buFont typeface="Arial" panose="020B0604020202020204" pitchFamily="34" charset="0"/>
              <a:buChar char="•"/>
            </a:pPr>
            <a:r>
              <a:rPr lang="en-US" sz="1300" dirty="0">
                <a:solidFill>
                  <a:schemeClr val="tx1"/>
                </a:solidFill>
                <a:latin typeface="Cormorant Infant" pitchFamily="2" charset="0"/>
                <a:ea typeface="Cormorant Infant" pitchFamily="2" charset="0"/>
                <a:cs typeface="Cormorant Infant" pitchFamily="2" charset="0"/>
              </a:rPr>
              <a:t>&lt;objectives&gt;</a:t>
            </a:r>
          </a:p>
        </p:txBody>
      </p:sp>
    </p:spTree>
    <p:extLst>
      <p:ext uri="{BB962C8B-B14F-4D97-AF65-F5344CB8AC3E}">
        <p14:creationId xmlns:p14="http://schemas.microsoft.com/office/powerpoint/2010/main" val="3966316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92546-C16B-34D4-94DB-46C3E2ED38B1}"/>
            </a:ext>
          </a:extLst>
        </p:cNvPr>
        <p:cNvGrpSpPr/>
        <p:nvPr/>
      </p:nvGrpSpPr>
      <p:grpSpPr>
        <a:xfrm>
          <a:off x="0" y="0"/>
          <a:ext cx="0" cy="0"/>
          <a:chOff x="0" y="0"/>
          <a:chExt cx="0" cy="0"/>
        </a:xfrm>
      </p:grpSpPr>
      <p:sp>
        <p:nvSpPr>
          <p:cNvPr id="4" name="AssetsTable">
            <a:extLst>
              <a:ext uri="{FF2B5EF4-FFF2-40B4-BE49-F238E27FC236}">
                <a16:creationId xmlns:a16="http://schemas.microsoft.com/office/drawing/2014/main" id="{4D6C2BA1-9FD3-B687-AB69-A89A2B518117}"/>
              </a:ext>
            </a:extLst>
          </p:cNvPr>
          <p:cNvSpPr>
            <a:spLocks noGrp="1"/>
          </p:cNvSpPr>
          <p:nvPr>
            <p:ph sz="quarter" idx="10"/>
          </p:nvPr>
        </p:nvSpPr>
        <p:spPr>
          <a:xfrm>
            <a:off x="3630168" y="1177081"/>
            <a:ext cx="7863840" cy="4818888"/>
          </a:xfrm>
        </p:spPr>
        <p:txBody>
          <a:bodyPr wrap="none" lIns="0" tIns="0" rIns="0" bIns="0"/>
          <a:lstStyle/>
          <a:p>
            <a:endParaRPr lang="en-US" dirty="0"/>
          </a:p>
        </p:txBody>
      </p:sp>
      <p:sp>
        <p:nvSpPr>
          <p:cNvPr id="5" name="TextBox 4">
            <a:extLst>
              <a:ext uri="{FF2B5EF4-FFF2-40B4-BE49-F238E27FC236}">
                <a16:creationId xmlns:a16="http://schemas.microsoft.com/office/drawing/2014/main" id="{BAA74D40-60DB-A585-2434-04344A22D0DB}"/>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TextBox 5">
            <a:extLst>
              <a:ext uri="{FF2B5EF4-FFF2-40B4-BE49-F238E27FC236}">
                <a16:creationId xmlns:a16="http://schemas.microsoft.com/office/drawing/2014/main" id="{59D552E6-2D29-7D86-5855-F79D118752F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pic>
        <p:nvPicPr>
          <p:cNvPr id="10" name="Graphic 9">
            <a:extLst>
              <a:ext uri="{FF2B5EF4-FFF2-40B4-BE49-F238E27FC236}">
                <a16:creationId xmlns:a16="http://schemas.microsoft.com/office/drawing/2014/main" id="{1F34CE7C-5E05-2CA2-F9EA-798CF52929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634" y="949528"/>
            <a:ext cx="2314575" cy="2200275"/>
          </a:xfrm>
          <a:prstGeom prst="rect">
            <a:avLst/>
          </a:prstGeom>
        </p:spPr>
      </p:pic>
      <p:sp>
        <p:nvSpPr>
          <p:cNvPr id="11" name="Title 1">
            <a:extLst>
              <a:ext uri="{FF2B5EF4-FFF2-40B4-BE49-F238E27FC236}">
                <a16:creationId xmlns:a16="http://schemas.microsoft.com/office/drawing/2014/main" id="{FD6B8332-FC23-389F-640F-2B4B298FFD9B}"/>
              </a:ext>
            </a:extLst>
          </p:cNvPr>
          <p:cNvSpPr txBox="1">
            <a:spLocks/>
          </p:cNvSpPr>
          <p:nvPr/>
        </p:nvSpPr>
        <p:spPr>
          <a:xfrm>
            <a:off x="1366360" y="2183229"/>
            <a:ext cx="1469953" cy="730521"/>
          </a:xfrm>
          <a:prstGeom prst="rect">
            <a:avLst/>
          </a:prstGeom>
        </p:spPr>
        <p:txBody>
          <a:bodyPr wrap="none" lIns="0" tIns="0" rIns="0" bIns="0">
            <a:spAutoFit/>
          </a:bodyPr>
          <a:lstStyle>
            <a:lvl1pPr>
              <a:defRPr>
                <a:latin typeface="+mj-lt"/>
                <a:ea typeface="+mj-ea"/>
                <a:cs typeface="+mj-cs"/>
              </a:defRPr>
            </a:lvl1pPr>
          </a:lstStyle>
          <a:p>
            <a:pPr algn="r">
              <a:lnSpc>
                <a:spcPts val="2800"/>
              </a:lnSpc>
            </a:pPr>
            <a:r>
              <a:rPr lang="en-US" sz="2800" dirty="0">
                <a:solidFill>
                  <a:schemeClr val="accent2"/>
                </a:solidFill>
                <a:latin typeface="Cormorant Infant" pitchFamily="2" charset="0"/>
              </a:rPr>
              <a:t>Financial </a:t>
            </a:r>
            <a:br>
              <a:rPr lang="en-US" sz="2800" dirty="0">
                <a:solidFill>
                  <a:schemeClr val="accent2"/>
                </a:solidFill>
                <a:latin typeface="Cormorant Infant" pitchFamily="2" charset="0"/>
              </a:rPr>
            </a:br>
            <a:r>
              <a:rPr lang="en-US" sz="2800" dirty="0">
                <a:solidFill>
                  <a:schemeClr val="accent2"/>
                </a:solidFill>
                <a:latin typeface="Cormorant Infant" pitchFamily="2" charset="0"/>
              </a:rPr>
              <a:t>Statement</a:t>
            </a:r>
          </a:p>
        </p:txBody>
      </p:sp>
      <p:pic>
        <p:nvPicPr>
          <p:cNvPr id="13" name="Graphic 12">
            <a:extLst>
              <a:ext uri="{FF2B5EF4-FFF2-40B4-BE49-F238E27FC236}">
                <a16:creationId xmlns:a16="http://schemas.microsoft.com/office/drawing/2014/main" id="{E38D5AF0-145A-D644-5435-D2168A4C15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3498" y="1000898"/>
            <a:ext cx="69182" cy="5257800"/>
          </a:xfrm>
          <a:prstGeom prst="rect">
            <a:avLst/>
          </a:prstGeom>
        </p:spPr>
      </p:pic>
    </p:spTree>
    <p:extLst>
      <p:ext uri="{BB962C8B-B14F-4D97-AF65-F5344CB8AC3E}">
        <p14:creationId xmlns:p14="http://schemas.microsoft.com/office/powerpoint/2010/main" val="546507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1C22C-A698-B84E-948F-AEEDE3155EB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CBB4F51-41CC-28FC-F268-9C41C45909E3}"/>
              </a:ext>
            </a:extLst>
          </p:cNvPr>
          <p:cNvSpPr txBox="1"/>
          <p:nvPr/>
        </p:nvSpPr>
        <p:spPr>
          <a:xfrm>
            <a:off x="3867150" y="4605824"/>
            <a:ext cx="4105598" cy="1415772"/>
          </a:xfrm>
          <a:prstGeom prst="rect">
            <a:avLst/>
          </a:prstGeom>
          <a:noFill/>
        </p:spPr>
        <p:txBody>
          <a:bodyPr wrap="square" rtlCol="0">
            <a:spAutoFit/>
          </a:bodyPr>
          <a:lstStyle/>
          <a:p>
            <a:pPr marL="182880" indent="-91440">
              <a:spcAft>
                <a:spcPts val="600"/>
              </a:spcAft>
              <a:buClr>
                <a:schemeClr val="accent3"/>
              </a:buClr>
              <a:buFont typeface="Arial" panose="020B0604020202020204" pitchFamily="34" charset="0"/>
              <a:buChar char="•"/>
            </a:pPr>
            <a:r>
              <a:rPr lang="en-US" sz="800" dirty="0">
                <a:solidFill>
                  <a:schemeClr val="tx1"/>
                </a:solidFill>
                <a:latin typeface="Poppins" panose="00000500000000000000" pitchFamily="2" charset="0"/>
                <a:cs typeface="Poppins" panose="00000500000000000000" pitchFamily="2" charset="0"/>
              </a:rPr>
              <a:t>IRA Distributions are RMD’s</a:t>
            </a:r>
          </a:p>
          <a:p>
            <a:pPr marL="182880" indent="-91440">
              <a:spcAft>
                <a:spcPts val="600"/>
              </a:spcAft>
              <a:buClr>
                <a:schemeClr val="accent3"/>
              </a:buClr>
              <a:buFont typeface="Arial" panose="020B0604020202020204" pitchFamily="34" charset="0"/>
              <a:buChar char="•"/>
            </a:pPr>
            <a:r>
              <a:rPr lang="en-US" sz="800" dirty="0">
                <a:solidFill>
                  <a:schemeClr val="tx1"/>
                </a:solidFill>
                <a:latin typeface="Poppins" panose="00000500000000000000" pitchFamily="2" charset="0"/>
                <a:cs typeface="Poppins" panose="00000500000000000000" pitchFamily="2" charset="0"/>
              </a:rPr>
              <a:t>After-Tax Calculations assume Filing Jointly </a:t>
            </a:r>
          </a:p>
          <a:p>
            <a:pPr marL="182880" indent="-91440" algn="l">
              <a:spcAft>
                <a:spcPts val="600"/>
              </a:spcAft>
              <a:buClr>
                <a:schemeClr val="accent3"/>
              </a:buClr>
              <a:buFont typeface="Arial" panose="020B0604020202020204" pitchFamily="34" charset="0"/>
              <a:buChar char="•"/>
            </a:pPr>
            <a:r>
              <a:rPr lang="en-US" sz="800" i="0" dirty="0">
                <a:solidFill>
                  <a:schemeClr val="tx1"/>
                </a:solidFill>
                <a:effectLst/>
                <a:latin typeface="Poppins" panose="00000500000000000000" pitchFamily="2" charset="0"/>
                <a:cs typeface="Poppins" panose="00000500000000000000" pitchFamily="2" charset="0"/>
              </a:rPr>
              <a:t>Marginal rates</a:t>
            </a:r>
            <a:r>
              <a:rPr lang="en-US" sz="800" b="1" i="0" dirty="0">
                <a:solidFill>
                  <a:schemeClr val="tx1"/>
                </a:solidFill>
                <a:effectLst/>
                <a:latin typeface="Poppins" panose="00000500000000000000" pitchFamily="2" charset="0"/>
                <a:cs typeface="Poppins" panose="00000500000000000000" pitchFamily="2" charset="0"/>
              </a:rPr>
              <a:t>.</a:t>
            </a:r>
            <a:r>
              <a:rPr lang="en-US" sz="800" b="0" i="0" dirty="0">
                <a:solidFill>
                  <a:schemeClr val="tx1"/>
                </a:solidFill>
                <a:effectLst/>
                <a:latin typeface="Poppins" panose="00000500000000000000" pitchFamily="2" charset="0"/>
                <a:cs typeface="Poppins" panose="00000500000000000000" pitchFamily="2" charset="0"/>
              </a:rPr>
              <a:t> For tax year 2025</a:t>
            </a:r>
            <a:r>
              <a:rPr lang="en-US" sz="800" i="0" dirty="0">
                <a:solidFill>
                  <a:schemeClr val="tx1"/>
                </a:solidFill>
                <a:effectLst/>
                <a:latin typeface="Poppins" panose="00000500000000000000" pitchFamily="2" charset="0"/>
                <a:cs typeface="Poppins" panose="00000500000000000000" pitchFamily="2" charset="0"/>
              </a:rPr>
              <a:t>, the top tax rate remains 37% </a:t>
            </a:r>
          </a:p>
          <a:p>
            <a:pPr marL="182880" indent="-91440" algn="l">
              <a:spcAft>
                <a:spcPts val="600"/>
              </a:spcAft>
              <a:buClr>
                <a:schemeClr val="accent3"/>
              </a:buClr>
              <a:buFont typeface="Arial" panose="020B0604020202020204" pitchFamily="34" charset="0"/>
              <a:buChar char="•"/>
            </a:pPr>
            <a:r>
              <a:rPr lang="en-US" sz="800" dirty="0">
                <a:solidFill>
                  <a:schemeClr val="tx1"/>
                </a:solidFill>
                <a:latin typeface="Poppins" panose="00000500000000000000" pitchFamily="2" charset="0"/>
                <a:cs typeface="Poppins" panose="00000500000000000000" pitchFamily="2" charset="0"/>
              </a:rPr>
              <a:t>California State Income Tax Rate at 13.30%</a:t>
            </a:r>
          </a:p>
          <a:p>
            <a:pPr marL="182880" indent="-91440" algn="l">
              <a:spcAft>
                <a:spcPts val="600"/>
              </a:spcAft>
              <a:buClr>
                <a:schemeClr val="accent3"/>
              </a:buClr>
              <a:buFont typeface="Arial" panose="020B0604020202020204" pitchFamily="34" charset="0"/>
              <a:buChar char="•"/>
            </a:pPr>
            <a:r>
              <a:rPr lang="en-US" sz="800" i="0" dirty="0">
                <a:solidFill>
                  <a:schemeClr val="tx1"/>
                </a:solidFill>
                <a:effectLst/>
                <a:latin typeface="Poppins" panose="00000500000000000000" pitchFamily="2" charset="0"/>
                <a:cs typeface="Poppins" panose="00000500000000000000" pitchFamily="2" charset="0"/>
              </a:rPr>
              <a:t>Combined Federal and CA State Tax Rate 50.30%</a:t>
            </a:r>
          </a:p>
          <a:p>
            <a:pPr marL="182880" indent="-91440" algn="l">
              <a:spcAft>
                <a:spcPts val="600"/>
              </a:spcAft>
              <a:buClr>
                <a:schemeClr val="accent3"/>
              </a:buClr>
              <a:buFont typeface="Arial" panose="020B0604020202020204" pitchFamily="34" charset="0"/>
              <a:buChar char="•"/>
            </a:pPr>
            <a:r>
              <a:rPr lang="en-US" sz="800" dirty="0">
                <a:solidFill>
                  <a:schemeClr val="tx1"/>
                </a:solidFill>
                <a:latin typeface="Poppins" panose="00000500000000000000" pitchFamily="2" charset="0"/>
                <a:cs typeface="Poppins" panose="00000500000000000000" pitchFamily="2" charset="0"/>
              </a:rPr>
              <a:t>I</a:t>
            </a:r>
            <a:r>
              <a:rPr lang="en-US" sz="800" b="0" i="0" dirty="0">
                <a:solidFill>
                  <a:schemeClr val="tx1"/>
                </a:solidFill>
                <a:effectLst/>
                <a:latin typeface="Poppins" panose="00000500000000000000" pitchFamily="2" charset="0"/>
                <a:cs typeface="Poppins" panose="00000500000000000000" pitchFamily="2" charset="0"/>
              </a:rPr>
              <a:t>ndividual taxpayers with incomes greater than $</a:t>
            </a:r>
            <a:r>
              <a:rPr lang="en-US" sz="800" i="0" dirty="0">
                <a:solidFill>
                  <a:schemeClr val="tx1"/>
                </a:solidFill>
                <a:effectLst/>
                <a:latin typeface="Poppins" panose="00000500000000000000" pitchFamily="2" charset="0"/>
                <a:cs typeface="Poppins" panose="00000500000000000000" pitchFamily="2" charset="0"/>
              </a:rPr>
              <a:t>626,350 </a:t>
            </a:r>
            <a:endParaRPr lang="en-US" sz="800" i="1" dirty="0">
              <a:solidFill>
                <a:schemeClr val="tx1"/>
              </a:solidFill>
              <a:latin typeface="Poppins" panose="00000500000000000000" pitchFamily="2" charset="0"/>
              <a:cs typeface="Poppins" panose="00000500000000000000" pitchFamily="2" charset="0"/>
            </a:endParaRPr>
          </a:p>
          <a:p>
            <a:pPr marL="182880" indent="-91440" algn="l">
              <a:spcAft>
                <a:spcPts val="600"/>
              </a:spcAft>
              <a:buClr>
                <a:schemeClr val="accent3"/>
              </a:buClr>
              <a:buFont typeface="Arial" panose="020B0604020202020204" pitchFamily="34" charset="0"/>
              <a:buChar char="•"/>
            </a:pPr>
            <a:r>
              <a:rPr lang="en-US" sz="800" dirty="0">
                <a:solidFill>
                  <a:schemeClr val="tx1"/>
                </a:solidFill>
                <a:effectLst/>
                <a:latin typeface="Poppins" panose="00000500000000000000" pitchFamily="2" charset="0"/>
                <a:cs typeface="Poppins" panose="00000500000000000000" pitchFamily="2" charset="0"/>
              </a:rPr>
              <a:t>Married couples filing jointly$751,600. </a:t>
            </a:r>
            <a:endParaRPr lang="en-US" sz="800" dirty="0">
              <a:solidFill>
                <a:schemeClr val="tx1"/>
              </a:solidFill>
              <a:latin typeface="Poppins" panose="00000500000000000000" pitchFamily="2" charset="0"/>
              <a:cs typeface="Poppins" panose="00000500000000000000" pitchFamily="2" charset="0"/>
            </a:endParaRPr>
          </a:p>
        </p:txBody>
      </p:sp>
      <p:pic>
        <p:nvPicPr>
          <p:cNvPr id="18" name="Graphic 17">
            <a:extLst>
              <a:ext uri="{FF2B5EF4-FFF2-40B4-BE49-F238E27FC236}">
                <a16:creationId xmlns:a16="http://schemas.microsoft.com/office/drawing/2014/main" id="{755F0CB3-05F2-38B7-3864-43E5A3AFEA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2080" y="1740342"/>
            <a:ext cx="5029200" cy="66173"/>
          </a:xfrm>
          <a:prstGeom prst="rect">
            <a:avLst/>
          </a:prstGeom>
        </p:spPr>
      </p:pic>
      <p:sp>
        <p:nvSpPr>
          <p:cNvPr id="30" name="Freeform: Shape 29">
            <a:extLst>
              <a:ext uri="{FF2B5EF4-FFF2-40B4-BE49-F238E27FC236}">
                <a16:creationId xmlns:a16="http://schemas.microsoft.com/office/drawing/2014/main" id="{D02808C5-290B-EC7B-2980-6FE0D3A524AF}"/>
              </a:ext>
            </a:extLst>
          </p:cNvPr>
          <p:cNvSpPr/>
          <p:nvPr/>
        </p:nvSpPr>
        <p:spPr>
          <a:xfrm>
            <a:off x="3762375" y="4422256"/>
            <a:ext cx="4267868" cy="1862137"/>
          </a:xfrm>
          <a:custGeom>
            <a:avLst/>
            <a:gdLst>
              <a:gd name="connsiteX0" fmla="*/ 3338513 w 3338512"/>
              <a:gd name="connsiteY0" fmla="*/ 1862138 h 1862137"/>
              <a:gd name="connsiteX1" fmla="*/ 0 w 3338512"/>
              <a:gd name="connsiteY1" fmla="*/ 1862138 h 1862137"/>
              <a:gd name="connsiteX2" fmla="*/ 0 w 3338512"/>
              <a:gd name="connsiteY2" fmla="*/ 0 h 1862137"/>
              <a:gd name="connsiteX3" fmla="*/ 3338513 w 3338512"/>
              <a:gd name="connsiteY3" fmla="*/ 0 h 1862137"/>
              <a:gd name="connsiteX4" fmla="*/ 3338513 w 3338512"/>
              <a:gd name="connsiteY4" fmla="*/ 1862138 h 1862137"/>
              <a:gd name="connsiteX5" fmla="*/ 4763 w 3338512"/>
              <a:gd name="connsiteY5" fmla="*/ 1857375 h 1862137"/>
              <a:gd name="connsiteX6" fmla="*/ 3333750 w 3338512"/>
              <a:gd name="connsiteY6" fmla="*/ 1857375 h 1862137"/>
              <a:gd name="connsiteX7" fmla="*/ 3333750 w 3338512"/>
              <a:gd name="connsiteY7" fmla="*/ 4763 h 1862137"/>
              <a:gd name="connsiteX8" fmla="*/ 4763 w 3338512"/>
              <a:gd name="connsiteY8" fmla="*/ 4763 h 1862137"/>
              <a:gd name="connsiteX9" fmla="*/ 4763 w 3338512"/>
              <a:gd name="connsiteY9" fmla="*/ 1857375 h 18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8512" h="1862137">
                <a:moveTo>
                  <a:pt x="3338513" y="1862138"/>
                </a:moveTo>
                <a:lnTo>
                  <a:pt x="0" y="1862138"/>
                </a:lnTo>
                <a:lnTo>
                  <a:pt x="0" y="0"/>
                </a:lnTo>
                <a:lnTo>
                  <a:pt x="3338513" y="0"/>
                </a:lnTo>
                <a:lnTo>
                  <a:pt x="3338513" y="1862138"/>
                </a:lnTo>
                <a:close/>
                <a:moveTo>
                  <a:pt x="4763" y="1857375"/>
                </a:moveTo>
                <a:lnTo>
                  <a:pt x="3333750" y="1857375"/>
                </a:lnTo>
                <a:lnTo>
                  <a:pt x="3333750" y="4763"/>
                </a:lnTo>
                <a:lnTo>
                  <a:pt x="4763" y="4763"/>
                </a:lnTo>
                <a:lnTo>
                  <a:pt x="4763" y="1857375"/>
                </a:lnTo>
                <a:close/>
              </a:path>
            </a:pathLst>
          </a:custGeom>
          <a:solidFill>
            <a:srgbClr val="B3B3BD"/>
          </a:solidFill>
          <a:ln w="9525" cap="flat">
            <a:noFill/>
            <a:prstDash val="solid"/>
            <a:miter/>
          </a:ln>
        </p:spPr>
        <p:txBody>
          <a:bodyPr rtlCol="0" anchor="ctr"/>
          <a:lstStyle/>
          <a:p>
            <a:endParaRPr lang="en-US"/>
          </a:p>
        </p:txBody>
      </p:sp>
      <p:grpSp>
        <p:nvGrpSpPr>
          <p:cNvPr id="32" name="Group 31">
            <a:extLst>
              <a:ext uri="{FF2B5EF4-FFF2-40B4-BE49-F238E27FC236}">
                <a16:creationId xmlns:a16="http://schemas.microsoft.com/office/drawing/2014/main" id="{6906BF09-FEAE-38C7-85EB-683A3B11E8BD}"/>
              </a:ext>
            </a:extLst>
          </p:cNvPr>
          <p:cNvGrpSpPr/>
          <p:nvPr/>
        </p:nvGrpSpPr>
        <p:grpSpPr>
          <a:xfrm>
            <a:off x="8140733" y="4421303"/>
            <a:ext cx="3360419" cy="1867835"/>
            <a:chOff x="8140733" y="4421303"/>
            <a:chExt cx="3360419" cy="1867835"/>
          </a:xfrm>
        </p:grpSpPr>
        <p:sp>
          <p:nvSpPr>
            <p:cNvPr id="4" name="Freeform: Shape 3">
              <a:extLst>
                <a:ext uri="{FF2B5EF4-FFF2-40B4-BE49-F238E27FC236}">
                  <a16:creationId xmlns:a16="http://schemas.microsoft.com/office/drawing/2014/main" id="{35250929-5B23-A69F-14ED-1C3DF14431E2}"/>
                </a:ext>
              </a:extLst>
            </p:cNvPr>
            <p:cNvSpPr/>
            <p:nvPr/>
          </p:nvSpPr>
          <p:spPr>
            <a:xfrm>
              <a:off x="10842975" y="5064993"/>
              <a:ext cx="658177" cy="651709"/>
            </a:xfrm>
            <a:custGeom>
              <a:avLst/>
              <a:gdLst>
                <a:gd name="connsiteX0" fmla="*/ 107632 w 658177"/>
                <a:gd name="connsiteY0" fmla="*/ 622182 h 651709"/>
                <a:gd name="connsiteX1" fmla="*/ 402907 w 658177"/>
                <a:gd name="connsiteY1" fmla="*/ 651710 h 651709"/>
                <a:gd name="connsiteX2" fmla="*/ 568643 w 658177"/>
                <a:gd name="connsiteY2" fmla="*/ 332622 h 651709"/>
                <a:gd name="connsiteX3" fmla="*/ 658178 w 658177"/>
                <a:gd name="connsiteY3" fmla="*/ 200 h 651709"/>
                <a:gd name="connsiteX4" fmla="*/ 263843 w 658177"/>
                <a:gd name="connsiteY4" fmla="*/ 38300 h 651709"/>
                <a:gd name="connsiteX5" fmla="*/ 161925 w 658177"/>
                <a:gd name="connsiteY5" fmla="*/ 62112 h 651709"/>
                <a:gd name="connsiteX6" fmla="*/ 0 w 658177"/>
                <a:gd name="connsiteY6" fmla="*/ 626945 h 651709"/>
                <a:gd name="connsiteX7" fmla="*/ 106680 w 658177"/>
                <a:gd name="connsiteY7" fmla="*/ 623135 h 651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177" h="651709">
                  <a:moveTo>
                    <a:pt x="107632" y="622182"/>
                  </a:moveTo>
                  <a:cubicBezTo>
                    <a:pt x="203835" y="622182"/>
                    <a:pt x="302895" y="631707"/>
                    <a:pt x="402907" y="651710"/>
                  </a:cubicBezTo>
                  <a:cubicBezTo>
                    <a:pt x="469582" y="553602"/>
                    <a:pt x="524828" y="446922"/>
                    <a:pt x="568643" y="332622"/>
                  </a:cubicBezTo>
                  <a:cubicBezTo>
                    <a:pt x="628650" y="176412"/>
                    <a:pt x="651510" y="48777"/>
                    <a:pt x="658178" y="200"/>
                  </a:cubicBezTo>
                  <a:cubicBezTo>
                    <a:pt x="612457" y="-753"/>
                    <a:pt x="456248" y="200"/>
                    <a:pt x="263843" y="38300"/>
                  </a:cubicBezTo>
                  <a:cubicBezTo>
                    <a:pt x="229553" y="44967"/>
                    <a:pt x="195263" y="52587"/>
                    <a:pt x="161925" y="62112"/>
                  </a:cubicBezTo>
                  <a:cubicBezTo>
                    <a:pt x="152400" y="285950"/>
                    <a:pt x="97155" y="475497"/>
                    <a:pt x="0" y="626945"/>
                  </a:cubicBezTo>
                  <a:cubicBezTo>
                    <a:pt x="35243" y="624087"/>
                    <a:pt x="70485" y="623135"/>
                    <a:pt x="106680" y="623135"/>
                  </a:cubicBezTo>
                  <a:close/>
                </a:path>
              </a:pathLst>
            </a:custGeom>
            <a:solidFill>
              <a:srgbClr val="F4F4F5"/>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9AA00CF4-8732-C117-7D39-D3E9F4C76A33}"/>
                </a:ext>
              </a:extLst>
            </p:cNvPr>
            <p:cNvSpPr/>
            <p:nvPr/>
          </p:nvSpPr>
          <p:spPr>
            <a:xfrm>
              <a:off x="8140733" y="5064001"/>
              <a:ext cx="658177" cy="651749"/>
            </a:xfrm>
            <a:custGeom>
              <a:avLst/>
              <a:gdLst>
                <a:gd name="connsiteX0" fmla="*/ 256222 w 658177"/>
                <a:gd name="connsiteY0" fmla="*/ 651750 h 651749"/>
                <a:gd name="connsiteX1" fmla="*/ 658178 w 658177"/>
                <a:gd name="connsiteY1" fmla="*/ 626985 h 651749"/>
                <a:gd name="connsiteX2" fmla="*/ 496253 w 658177"/>
                <a:gd name="connsiteY2" fmla="*/ 62152 h 651749"/>
                <a:gd name="connsiteX3" fmla="*/ 496253 w 658177"/>
                <a:gd name="connsiteY3" fmla="*/ 62152 h 651749"/>
                <a:gd name="connsiteX4" fmla="*/ 394335 w 658177"/>
                <a:gd name="connsiteY4" fmla="*/ 38340 h 651749"/>
                <a:gd name="connsiteX5" fmla="*/ 0 w 658177"/>
                <a:gd name="connsiteY5" fmla="*/ 240 h 651749"/>
                <a:gd name="connsiteX6" fmla="*/ 89535 w 658177"/>
                <a:gd name="connsiteY6" fmla="*/ 332662 h 651749"/>
                <a:gd name="connsiteX7" fmla="*/ 255270 w 658177"/>
                <a:gd name="connsiteY7" fmla="*/ 651750 h 65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177" h="651749">
                  <a:moveTo>
                    <a:pt x="256222" y="651750"/>
                  </a:moveTo>
                  <a:cubicBezTo>
                    <a:pt x="394335" y="625080"/>
                    <a:pt x="528638" y="616508"/>
                    <a:pt x="658178" y="626985"/>
                  </a:cubicBezTo>
                  <a:cubicBezTo>
                    <a:pt x="561022" y="475537"/>
                    <a:pt x="505778" y="285037"/>
                    <a:pt x="496253" y="62152"/>
                  </a:cubicBezTo>
                  <a:lnTo>
                    <a:pt x="496253" y="62152"/>
                  </a:lnTo>
                  <a:cubicBezTo>
                    <a:pt x="462915" y="53580"/>
                    <a:pt x="428625" y="45007"/>
                    <a:pt x="394335" y="38340"/>
                  </a:cubicBezTo>
                  <a:cubicBezTo>
                    <a:pt x="201930" y="-713"/>
                    <a:pt x="46672" y="-713"/>
                    <a:pt x="0" y="240"/>
                  </a:cubicBezTo>
                  <a:cubicBezTo>
                    <a:pt x="6667" y="49770"/>
                    <a:pt x="29528" y="176452"/>
                    <a:pt x="89535" y="332662"/>
                  </a:cubicBezTo>
                  <a:cubicBezTo>
                    <a:pt x="133350" y="446010"/>
                    <a:pt x="189547" y="553642"/>
                    <a:pt x="255270" y="651750"/>
                  </a:cubicBezTo>
                  <a:close/>
                </a:path>
              </a:pathLst>
            </a:custGeom>
            <a:solidFill>
              <a:srgbClr val="F4F4F5"/>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EEAAECE-6813-8787-A26A-EEC435713A14}"/>
                </a:ext>
              </a:extLst>
            </p:cNvPr>
            <p:cNvSpPr/>
            <p:nvPr/>
          </p:nvSpPr>
          <p:spPr>
            <a:xfrm>
              <a:off x="8418863" y="5717334"/>
              <a:ext cx="1277302" cy="569024"/>
            </a:xfrm>
            <a:custGeom>
              <a:avLst/>
              <a:gdLst>
                <a:gd name="connsiteX0" fmla="*/ 1264920 w 1277302"/>
                <a:gd name="connsiteY0" fmla="*/ 556581 h 569024"/>
                <a:gd name="connsiteX1" fmla="*/ 1263015 w 1277302"/>
                <a:gd name="connsiteY1" fmla="*/ 556581 h 569024"/>
                <a:gd name="connsiteX2" fmla="*/ 1251585 w 1277302"/>
                <a:gd name="connsiteY2" fmla="*/ 554676 h 569024"/>
                <a:gd name="connsiteX3" fmla="*/ 1249680 w 1277302"/>
                <a:gd name="connsiteY3" fmla="*/ 554676 h 569024"/>
                <a:gd name="connsiteX4" fmla="*/ 1238250 w 1277302"/>
                <a:gd name="connsiteY4" fmla="*/ 551819 h 569024"/>
                <a:gd name="connsiteX5" fmla="*/ 1236345 w 1277302"/>
                <a:gd name="connsiteY5" fmla="*/ 551819 h 569024"/>
                <a:gd name="connsiteX6" fmla="*/ 1223963 w 1277302"/>
                <a:gd name="connsiteY6" fmla="*/ 548962 h 569024"/>
                <a:gd name="connsiteX7" fmla="*/ 1222057 w 1277302"/>
                <a:gd name="connsiteY7" fmla="*/ 548962 h 569024"/>
                <a:gd name="connsiteX8" fmla="*/ 1209675 w 1277302"/>
                <a:gd name="connsiteY8" fmla="*/ 546104 h 569024"/>
                <a:gd name="connsiteX9" fmla="*/ 1207770 w 1277302"/>
                <a:gd name="connsiteY9" fmla="*/ 546104 h 569024"/>
                <a:gd name="connsiteX10" fmla="*/ 1194435 w 1277302"/>
                <a:gd name="connsiteY10" fmla="*/ 543246 h 569024"/>
                <a:gd name="connsiteX11" fmla="*/ 1192530 w 1277302"/>
                <a:gd name="connsiteY11" fmla="*/ 543246 h 569024"/>
                <a:gd name="connsiteX12" fmla="*/ 1179195 w 1277302"/>
                <a:gd name="connsiteY12" fmla="*/ 539437 h 569024"/>
                <a:gd name="connsiteX13" fmla="*/ 1178243 w 1277302"/>
                <a:gd name="connsiteY13" fmla="*/ 539437 h 569024"/>
                <a:gd name="connsiteX14" fmla="*/ 1163955 w 1277302"/>
                <a:gd name="connsiteY14" fmla="*/ 535626 h 569024"/>
                <a:gd name="connsiteX15" fmla="*/ 1163003 w 1277302"/>
                <a:gd name="connsiteY15" fmla="*/ 535626 h 569024"/>
                <a:gd name="connsiteX16" fmla="*/ 1148715 w 1277302"/>
                <a:gd name="connsiteY16" fmla="*/ 531816 h 569024"/>
                <a:gd name="connsiteX17" fmla="*/ 1147763 w 1277302"/>
                <a:gd name="connsiteY17" fmla="*/ 531816 h 569024"/>
                <a:gd name="connsiteX18" fmla="*/ 1132523 w 1277302"/>
                <a:gd name="connsiteY18" fmla="*/ 527054 h 569024"/>
                <a:gd name="connsiteX19" fmla="*/ 1131570 w 1277302"/>
                <a:gd name="connsiteY19" fmla="*/ 527054 h 569024"/>
                <a:gd name="connsiteX20" fmla="*/ 1116330 w 1277302"/>
                <a:gd name="connsiteY20" fmla="*/ 522291 h 569024"/>
                <a:gd name="connsiteX21" fmla="*/ 1116330 w 1277302"/>
                <a:gd name="connsiteY21" fmla="*/ 522291 h 569024"/>
                <a:gd name="connsiteX22" fmla="*/ 1100138 w 1277302"/>
                <a:gd name="connsiteY22" fmla="*/ 517529 h 569024"/>
                <a:gd name="connsiteX23" fmla="*/ 1100138 w 1277302"/>
                <a:gd name="connsiteY23" fmla="*/ 517529 h 569024"/>
                <a:gd name="connsiteX24" fmla="*/ 1083945 w 1277302"/>
                <a:gd name="connsiteY24" fmla="*/ 511814 h 569024"/>
                <a:gd name="connsiteX25" fmla="*/ 1083945 w 1277302"/>
                <a:gd name="connsiteY25" fmla="*/ 511814 h 569024"/>
                <a:gd name="connsiteX26" fmla="*/ 1066800 w 1277302"/>
                <a:gd name="connsiteY26" fmla="*/ 506099 h 569024"/>
                <a:gd name="connsiteX27" fmla="*/ 1066800 w 1277302"/>
                <a:gd name="connsiteY27" fmla="*/ 506099 h 569024"/>
                <a:gd name="connsiteX28" fmla="*/ 1049655 w 1277302"/>
                <a:gd name="connsiteY28" fmla="*/ 500384 h 569024"/>
                <a:gd name="connsiteX29" fmla="*/ 861060 w 1277302"/>
                <a:gd name="connsiteY29" fmla="*/ 416564 h 569024"/>
                <a:gd name="connsiteX30" fmla="*/ 841058 w 1277302"/>
                <a:gd name="connsiteY30" fmla="*/ 405134 h 569024"/>
                <a:gd name="connsiteX31" fmla="*/ 802005 w 1277302"/>
                <a:gd name="connsiteY31" fmla="*/ 382274 h 569024"/>
                <a:gd name="connsiteX32" fmla="*/ 725805 w 1277302"/>
                <a:gd name="connsiteY32" fmla="*/ 331791 h 569024"/>
                <a:gd name="connsiteX33" fmla="*/ 702945 w 1277302"/>
                <a:gd name="connsiteY33" fmla="*/ 314646 h 569024"/>
                <a:gd name="connsiteX34" fmla="*/ 699135 w 1277302"/>
                <a:gd name="connsiteY34" fmla="*/ 311789 h 569024"/>
                <a:gd name="connsiteX35" fmla="*/ 694373 w 1277302"/>
                <a:gd name="connsiteY35" fmla="*/ 307979 h 569024"/>
                <a:gd name="connsiteX36" fmla="*/ 681038 w 1277302"/>
                <a:gd name="connsiteY36" fmla="*/ 297501 h 569024"/>
                <a:gd name="connsiteX37" fmla="*/ 676275 w 1277302"/>
                <a:gd name="connsiteY37" fmla="*/ 293691 h 569024"/>
                <a:gd name="connsiteX38" fmla="*/ 670560 w 1277302"/>
                <a:gd name="connsiteY38" fmla="*/ 288929 h 569024"/>
                <a:gd name="connsiteX39" fmla="*/ 659130 w 1277302"/>
                <a:gd name="connsiteY39" fmla="*/ 280356 h 569024"/>
                <a:gd name="connsiteX40" fmla="*/ 653415 w 1277302"/>
                <a:gd name="connsiteY40" fmla="*/ 275594 h 569024"/>
                <a:gd name="connsiteX41" fmla="*/ 646748 w 1277302"/>
                <a:gd name="connsiteY41" fmla="*/ 269879 h 569024"/>
                <a:gd name="connsiteX42" fmla="*/ 637223 w 1277302"/>
                <a:gd name="connsiteY42" fmla="*/ 261306 h 569024"/>
                <a:gd name="connsiteX43" fmla="*/ 631508 w 1277302"/>
                <a:gd name="connsiteY43" fmla="*/ 256544 h 569024"/>
                <a:gd name="connsiteX44" fmla="*/ 624840 w 1277302"/>
                <a:gd name="connsiteY44" fmla="*/ 250829 h 569024"/>
                <a:gd name="connsiteX45" fmla="*/ 615315 w 1277302"/>
                <a:gd name="connsiteY45" fmla="*/ 242256 h 569024"/>
                <a:gd name="connsiteX46" fmla="*/ 609600 w 1277302"/>
                <a:gd name="connsiteY46" fmla="*/ 236541 h 569024"/>
                <a:gd name="connsiteX47" fmla="*/ 603885 w 1277302"/>
                <a:gd name="connsiteY47" fmla="*/ 230826 h 569024"/>
                <a:gd name="connsiteX48" fmla="*/ 594360 w 1277302"/>
                <a:gd name="connsiteY48" fmla="*/ 222254 h 569024"/>
                <a:gd name="connsiteX49" fmla="*/ 588645 w 1277302"/>
                <a:gd name="connsiteY49" fmla="*/ 216539 h 569024"/>
                <a:gd name="connsiteX50" fmla="*/ 582930 w 1277302"/>
                <a:gd name="connsiteY50" fmla="*/ 210824 h 569024"/>
                <a:gd name="connsiteX51" fmla="*/ 574358 w 1277302"/>
                <a:gd name="connsiteY51" fmla="*/ 202251 h 569024"/>
                <a:gd name="connsiteX52" fmla="*/ 567690 w 1277302"/>
                <a:gd name="connsiteY52" fmla="*/ 195584 h 569024"/>
                <a:gd name="connsiteX53" fmla="*/ 561975 w 1277302"/>
                <a:gd name="connsiteY53" fmla="*/ 189869 h 569024"/>
                <a:gd name="connsiteX54" fmla="*/ 553403 w 1277302"/>
                <a:gd name="connsiteY54" fmla="*/ 181296 h 569024"/>
                <a:gd name="connsiteX55" fmla="*/ 546735 w 1277302"/>
                <a:gd name="connsiteY55" fmla="*/ 174629 h 569024"/>
                <a:gd name="connsiteX56" fmla="*/ 541973 w 1277302"/>
                <a:gd name="connsiteY56" fmla="*/ 168914 h 569024"/>
                <a:gd name="connsiteX57" fmla="*/ 533400 w 1277302"/>
                <a:gd name="connsiteY57" fmla="*/ 160341 h 569024"/>
                <a:gd name="connsiteX58" fmla="*/ 527685 w 1277302"/>
                <a:gd name="connsiteY58" fmla="*/ 153674 h 569024"/>
                <a:gd name="connsiteX59" fmla="*/ 521970 w 1277302"/>
                <a:gd name="connsiteY59" fmla="*/ 147959 h 569024"/>
                <a:gd name="connsiteX60" fmla="*/ 514350 w 1277302"/>
                <a:gd name="connsiteY60" fmla="*/ 139387 h 569024"/>
                <a:gd name="connsiteX61" fmla="*/ 507683 w 1277302"/>
                <a:gd name="connsiteY61" fmla="*/ 131766 h 569024"/>
                <a:gd name="connsiteX62" fmla="*/ 502920 w 1277302"/>
                <a:gd name="connsiteY62" fmla="*/ 126051 h 569024"/>
                <a:gd name="connsiteX63" fmla="*/ 495300 w 1277302"/>
                <a:gd name="connsiteY63" fmla="*/ 117479 h 569024"/>
                <a:gd name="connsiteX64" fmla="*/ 488633 w 1277302"/>
                <a:gd name="connsiteY64" fmla="*/ 109859 h 569024"/>
                <a:gd name="connsiteX65" fmla="*/ 483870 w 1277302"/>
                <a:gd name="connsiteY65" fmla="*/ 104144 h 569024"/>
                <a:gd name="connsiteX66" fmla="*/ 476250 w 1277302"/>
                <a:gd name="connsiteY66" fmla="*/ 95571 h 569024"/>
                <a:gd name="connsiteX67" fmla="*/ 469583 w 1277302"/>
                <a:gd name="connsiteY67" fmla="*/ 87951 h 569024"/>
                <a:gd name="connsiteX68" fmla="*/ 464820 w 1277302"/>
                <a:gd name="connsiteY68" fmla="*/ 82237 h 569024"/>
                <a:gd name="connsiteX69" fmla="*/ 457200 w 1277302"/>
                <a:gd name="connsiteY69" fmla="*/ 73664 h 569024"/>
                <a:gd name="connsiteX70" fmla="*/ 450533 w 1277302"/>
                <a:gd name="connsiteY70" fmla="*/ 66044 h 569024"/>
                <a:gd name="connsiteX71" fmla="*/ 445770 w 1277302"/>
                <a:gd name="connsiteY71" fmla="*/ 60329 h 569024"/>
                <a:gd name="connsiteX72" fmla="*/ 439103 w 1277302"/>
                <a:gd name="connsiteY72" fmla="*/ 51756 h 569024"/>
                <a:gd name="connsiteX73" fmla="*/ 432435 w 1277302"/>
                <a:gd name="connsiteY73" fmla="*/ 43184 h 569024"/>
                <a:gd name="connsiteX74" fmla="*/ 427673 w 1277302"/>
                <a:gd name="connsiteY74" fmla="*/ 36516 h 569024"/>
                <a:gd name="connsiteX75" fmla="*/ 421005 w 1277302"/>
                <a:gd name="connsiteY75" fmla="*/ 27944 h 569024"/>
                <a:gd name="connsiteX76" fmla="*/ 414338 w 1277302"/>
                <a:gd name="connsiteY76" fmla="*/ 18419 h 569024"/>
                <a:gd name="connsiteX77" fmla="*/ 409575 w 1277302"/>
                <a:gd name="connsiteY77" fmla="*/ 11751 h 569024"/>
                <a:gd name="connsiteX78" fmla="*/ 405765 w 1277302"/>
                <a:gd name="connsiteY78" fmla="*/ 6036 h 569024"/>
                <a:gd name="connsiteX79" fmla="*/ 0 w 1277302"/>
                <a:gd name="connsiteY79" fmla="*/ 26039 h 569024"/>
                <a:gd name="connsiteX80" fmla="*/ 272415 w 1277302"/>
                <a:gd name="connsiteY80" fmla="*/ 311789 h 569024"/>
                <a:gd name="connsiteX81" fmla="*/ 1020128 w 1277302"/>
                <a:gd name="connsiteY81" fmla="*/ 568012 h 569024"/>
                <a:gd name="connsiteX82" fmla="*/ 1277303 w 1277302"/>
                <a:gd name="connsiteY82" fmla="*/ 556581 h 569024"/>
                <a:gd name="connsiteX83" fmla="*/ 1276350 w 1277302"/>
                <a:gd name="connsiteY83" fmla="*/ 556581 h 569024"/>
                <a:gd name="connsiteX84" fmla="*/ 1265873 w 1277302"/>
                <a:gd name="connsiteY84" fmla="*/ 554676 h 569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277302" h="569024">
                  <a:moveTo>
                    <a:pt x="1264920" y="556581"/>
                  </a:moveTo>
                  <a:lnTo>
                    <a:pt x="1263015" y="556581"/>
                  </a:lnTo>
                  <a:cubicBezTo>
                    <a:pt x="1259205" y="556581"/>
                    <a:pt x="1255395" y="554676"/>
                    <a:pt x="1251585" y="554676"/>
                  </a:cubicBezTo>
                  <a:lnTo>
                    <a:pt x="1249680" y="554676"/>
                  </a:lnTo>
                  <a:cubicBezTo>
                    <a:pt x="1245870" y="553724"/>
                    <a:pt x="1242060" y="552771"/>
                    <a:pt x="1238250" y="551819"/>
                  </a:cubicBezTo>
                  <a:lnTo>
                    <a:pt x="1236345" y="551819"/>
                  </a:lnTo>
                  <a:cubicBezTo>
                    <a:pt x="1232535" y="550866"/>
                    <a:pt x="1228725" y="549914"/>
                    <a:pt x="1223963" y="548962"/>
                  </a:cubicBezTo>
                  <a:lnTo>
                    <a:pt x="1222057" y="548962"/>
                  </a:lnTo>
                  <a:cubicBezTo>
                    <a:pt x="1218248" y="548009"/>
                    <a:pt x="1213485" y="547056"/>
                    <a:pt x="1209675" y="546104"/>
                  </a:cubicBezTo>
                  <a:lnTo>
                    <a:pt x="1207770" y="546104"/>
                  </a:lnTo>
                  <a:cubicBezTo>
                    <a:pt x="1203960" y="545151"/>
                    <a:pt x="1199198" y="544199"/>
                    <a:pt x="1194435" y="543246"/>
                  </a:cubicBezTo>
                  <a:lnTo>
                    <a:pt x="1192530" y="543246"/>
                  </a:lnTo>
                  <a:cubicBezTo>
                    <a:pt x="1187768" y="542294"/>
                    <a:pt x="1183957" y="540389"/>
                    <a:pt x="1179195" y="539437"/>
                  </a:cubicBezTo>
                  <a:lnTo>
                    <a:pt x="1178243" y="539437"/>
                  </a:lnTo>
                  <a:cubicBezTo>
                    <a:pt x="1173480" y="537531"/>
                    <a:pt x="1168718" y="536579"/>
                    <a:pt x="1163955" y="535626"/>
                  </a:cubicBezTo>
                  <a:lnTo>
                    <a:pt x="1163003" y="535626"/>
                  </a:lnTo>
                  <a:cubicBezTo>
                    <a:pt x="1158240" y="533721"/>
                    <a:pt x="1153478" y="532769"/>
                    <a:pt x="1148715" y="531816"/>
                  </a:cubicBezTo>
                  <a:lnTo>
                    <a:pt x="1147763" y="531816"/>
                  </a:lnTo>
                  <a:cubicBezTo>
                    <a:pt x="1143000" y="529912"/>
                    <a:pt x="1138238" y="528959"/>
                    <a:pt x="1132523" y="527054"/>
                  </a:cubicBezTo>
                  <a:lnTo>
                    <a:pt x="1131570" y="527054"/>
                  </a:lnTo>
                  <a:cubicBezTo>
                    <a:pt x="1126808" y="525149"/>
                    <a:pt x="1121093" y="524196"/>
                    <a:pt x="1116330" y="522291"/>
                  </a:cubicBezTo>
                  <a:lnTo>
                    <a:pt x="1116330" y="522291"/>
                  </a:lnTo>
                  <a:cubicBezTo>
                    <a:pt x="1111568" y="520387"/>
                    <a:pt x="1105853" y="518481"/>
                    <a:pt x="1100138" y="517529"/>
                  </a:cubicBezTo>
                  <a:lnTo>
                    <a:pt x="1100138" y="517529"/>
                  </a:lnTo>
                  <a:cubicBezTo>
                    <a:pt x="1094423" y="515624"/>
                    <a:pt x="1089660" y="513719"/>
                    <a:pt x="1083945" y="511814"/>
                  </a:cubicBezTo>
                  <a:lnTo>
                    <a:pt x="1083945" y="511814"/>
                  </a:lnTo>
                  <a:cubicBezTo>
                    <a:pt x="1078230" y="509909"/>
                    <a:pt x="1072515" y="508004"/>
                    <a:pt x="1066800" y="506099"/>
                  </a:cubicBezTo>
                  <a:lnTo>
                    <a:pt x="1066800" y="506099"/>
                  </a:lnTo>
                  <a:cubicBezTo>
                    <a:pt x="1061085" y="504194"/>
                    <a:pt x="1055370" y="502289"/>
                    <a:pt x="1049655" y="500384"/>
                  </a:cubicBezTo>
                  <a:cubicBezTo>
                    <a:pt x="984885" y="477524"/>
                    <a:pt x="921068" y="449901"/>
                    <a:pt x="861060" y="416564"/>
                  </a:cubicBezTo>
                  <a:cubicBezTo>
                    <a:pt x="854393" y="412754"/>
                    <a:pt x="847725" y="408944"/>
                    <a:pt x="841058" y="405134"/>
                  </a:cubicBezTo>
                  <a:cubicBezTo>
                    <a:pt x="827723" y="397514"/>
                    <a:pt x="814388" y="389894"/>
                    <a:pt x="802005" y="382274"/>
                  </a:cubicBezTo>
                  <a:cubicBezTo>
                    <a:pt x="776288" y="366081"/>
                    <a:pt x="750570" y="349889"/>
                    <a:pt x="725805" y="331791"/>
                  </a:cubicBezTo>
                  <a:cubicBezTo>
                    <a:pt x="718185" y="326076"/>
                    <a:pt x="710565" y="320362"/>
                    <a:pt x="702945" y="314646"/>
                  </a:cubicBezTo>
                  <a:cubicBezTo>
                    <a:pt x="701993" y="313694"/>
                    <a:pt x="700088" y="312741"/>
                    <a:pt x="699135" y="311789"/>
                  </a:cubicBezTo>
                  <a:lnTo>
                    <a:pt x="694373" y="307979"/>
                  </a:lnTo>
                  <a:cubicBezTo>
                    <a:pt x="689610" y="304169"/>
                    <a:pt x="684848" y="301312"/>
                    <a:pt x="681038" y="297501"/>
                  </a:cubicBezTo>
                  <a:cubicBezTo>
                    <a:pt x="679133" y="296549"/>
                    <a:pt x="677228" y="294644"/>
                    <a:pt x="676275" y="293691"/>
                  </a:cubicBezTo>
                  <a:lnTo>
                    <a:pt x="670560" y="288929"/>
                  </a:lnTo>
                  <a:cubicBezTo>
                    <a:pt x="666750" y="286071"/>
                    <a:pt x="662940" y="283214"/>
                    <a:pt x="659130" y="280356"/>
                  </a:cubicBezTo>
                  <a:cubicBezTo>
                    <a:pt x="657225" y="278451"/>
                    <a:pt x="655320" y="277499"/>
                    <a:pt x="653415" y="275594"/>
                  </a:cubicBezTo>
                  <a:lnTo>
                    <a:pt x="646748" y="269879"/>
                  </a:lnTo>
                  <a:cubicBezTo>
                    <a:pt x="642938" y="267021"/>
                    <a:pt x="640080" y="264164"/>
                    <a:pt x="637223" y="261306"/>
                  </a:cubicBezTo>
                  <a:cubicBezTo>
                    <a:pt x="635318" y="259401"/>
                    <a:pt x="633413" y="257496"/>
                    <a:pt x="631508" y="256544"/>
                  </a:cubicBezTo>
                  <a:lnTo>
                    <a:pt x="624840" y="250829"/>
                  </a:lnTo>
                  <a:cubicBezTo>
                    <a:pt x="621983" y="247971"/>
                    <a:pt x="618173" y="245114"/>
                    <a:pt x="615315" y="242256"/>
                  </a:cubicBezTo>
                  <a:cubicBezTo>
                    <a:pt x="613410" y="240351"/>
                    <a:pt x="611505" y="238446"/>
                    <a:pt x="609600" y="236541"/>
                  </a:cubicBezTo>
                  <a:lnTo>
                    <a:pt x="603885" y="230826"/>
                  </a:lnTo>
                  <a:cubicBezTo>
                    <a:pt x="601028" y="227969"/>
                    <a:pt x="598170" y="225112"/>
                    <a:pt x="594360" y="222254"/>
                  </a:cubicBezTo>
                  <a:cubicBezTo>
                    <a:pt x="592455" y="220349"/>
                    <a:pt x="590550" y="218444"/>
                    <a:pt x="588645" y="216539"/>
                  </a:cubicBezTo>
                  <a:lnTo>
                    <a:pt x="582930" y="210824"/>
                  </a:lnTo>
                  <a:cubicBezTo>
                    <a:pt x="580073" y="207966"/>
                    <a:pt x="577215" y="205109"/>
                    <a:pt x="574358" y="202251"/>
                  </a:cubicBezTo>
                  <a:cubicBezTo>
                    <a:pt x="572453" y="200346"/>
                    <a:pt x="570548" y="198441"/>
                    <a:pt x="567690" y="195584"/>
                  </a:cubicBezTo>
                  <a:lnTo>
                    <a:pt x="561975" y="189869"/>
                  </a:lnTo>
                  <a:cubicBezTo>
                    <a:pt x="559118" y="187012"/>
                    <a:pt x="556260" y="184154"/>
                    <a:pt x="553403" y="181296"/>
                  </a:cubicBezTo>
                  <a:cubicBezTo>
                    <a:pt x="551498" y="179391"/>
                    <a:pt x="549593" y="176534"/>
                    <a:pt x="546735" y="174629"/>
                  </a:cubicBezTo>
                  <a:lnTo>
                    <a:pt x="541973" y="168914"/>
                  </a:lnTo>
                  <a:cubicBezTo>
                    <a:pt x="539115" y="166056"/>
                    <a:pt x="536258" y="163199"/>
                    <a:pt x="533400" y="160341"/>
                  </a:cubicBezTo>
                  <a:cubicBezTo>
                    <a:pt x="531495" y="158437"/>
                    <a:pt x="529590" y="155579"/>
                    <a:pt x="527685" y="153674"/>
                  </a:cubicBezTo>
                  <a:lnTo>
                    <a:pt x="521970" y="147959"/>
                  </a:lnTo>
                  <a:cubicBezTo>
                    <a:pt x="519113" y="145101"/>
                    <a:pt x="516255" y="142244"/>
                    <a:pt x="514350" y="139387"/>
                  </a:cubicBezTo>
                  <a:cubicBezTo>
                    <a:pt x="512445" y="136529"/>
                    <a:pt x="510540" y="134624"/>
                    <a:pt x="507683" y="131766"/>
                  </a:cubicBezTo>
                  <a:lnTo>
                    <a:pt x="502920" y="126051"/>
                  </a:lnTo>
                  <a:cubicBezTo>
                    <a:pt x="500063" y="123194"/>
                    <a:pt x="497205" y="120337"/>
                    <a:pt x="495300" y="117479"/>
                  </a:cubicBezTo>
                  <a:cubicBezTo>
                    <a:pt x="493395" y="114621"/>
                    <a:pt x="490538" y="112716"/>
                    <a:pt x="488633" y="109859"/>
                  </a:cubicBezTo>
                  <a:lnTo>
                    <a:pt x="483870" y="104144"/>
                  </a:lnTo>
                  <a:cubicBezTo>
                    <a:pt x="481013" y="101287"/>
                    <a:pt x="479108" y="98429"/>
                    <a:pt x="476250" y="95571"/>
                  </a:cubicBezTo>
                  <a:cubicBezTo>
                    <a:pt x="474345" y="92714"/>
                    <a:pt x="471488" y="89856"/>
                    <a:pt x="469583" y="87951"/>
                  </a:cubicBezTo>
                  <a:lnTo>
                    <a:pt x="464820" y="82237"/>
                  </a:lnTo>
                  <a:cubicBezTo>
                    <a:pt x="461963" y="79379"/>
                    <a:pt x="460058" y="76521"/>
                    <a:pt x="457200" y="73664"/>
                  </a:cubicBezTo>
                  <a:cubicBezTo>
                    <a:pt x="455295" y="70806"/>
                    <a:pt x="453390" y="67949"/>
                    <a:pt x="450533" y="66044"/>
                  </a:cubicBezTo>
                  <a:lnTo>
                    <a:pt x="445770" y="60329"/>
                  </a:lnTo>
                  <a:cubicBezTo>
                    <a:pt x="442913" y="57471"/>
                    <a:pt x="441008" y="54614"/>
                    <a:pt x="439103" y="51756"/>
                  </a:cubicBezTo>
                  <a:cubicBezTo>
                    <a:pt x="437198" y="48899"/>
                    <a:pt x="435293" y="46041"/>
                    <a:pt x="432435" y="43184"/>
                  </a:cubicBezTo>
                  <a:lnTo>
                    <a:pt x="427673" y="36516"/>
                  </a:lnTo>
                  <a:cubicBezTo>
                    <a:pt x="425768" y="33659"/>
                    <a:pt x="422910" y="30801"/>
                    <a:pt x="421005" y="27944"/>
                  </a:cubicBezTo>
                  <a:cubicBezTo>
                    <a:pt x="419100" y="25086"/>
                    <a:pt x="416243" y="22229"/>
                    <a:pt x="414338" y="18419"/>
                  </a:cubicBezTo>
                  <a:lnTo>
                    <a:pt x="409575" y="11751"/>
                  </a:lnTo>
                  <a:cubicBezTo>
                    <a:pt x="408623" y="9846"/>
                    <a:pt x="406718" y="7941"/>
                    <a:pt x="405765" y="6036"/>
                  </a:cubicBezTo>
                  <a:cubicBezTo>
                    <a:pt x="276225" y="-6346"/>
                    <a:pt x="140018" y="321"/>
                    <a:pt x="0" y="26039"/>
                  </a:cubicBezTo>
                  <a:cubicBezTo>
                    <a:pt x="78105" y="135576"/>
                    <a:pt x="169545" y="231779"/>
                    <a:pt x="272415" y="311789"/>
                  </a:cubicBezTo>
                  <a:cubicBezTo>
                    <a:pt x="528638" y="510862"/>
                    <a:pt x="821055" y="561344"/>
                    <a:pt x="1020128" y="568012"/>
                  </a:cubicBezTo>
                  <a:cubicBezTo>
                    <a:pt x="1125855" y="571821"/>
                    <a:pt x="1216343" y="564201"/>
                    <a:pt x="1277303" y="556581"/>
                  </a:cubicBezTo>
                  <a:lnTo>
                    <a:pt x="1276350" y="556581"/>
                  </a:lnTo>
                  <a:cubicBezTo>
                    <a:pt x="1272540" y="556581"/>
                    <a:pt x="1269682" y="555629"/>
                    <a:pt x="1265873" y="554676"/>
                  </a:cubicBezTo>
                  <a:close/>
                </a:path>
              </a:pathLst>
            </a:custGeom>
            <a:solidFill>
              <a:srgbClr val="F4F4F5"/>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F5EFC43-D361-F7A6-1946-FC0BD664443A}"/>
                </a:ext>
              </a:extLst>
            </p:cNvPr>
            <p:cNvSpPr/>
            <p:nvPr/>
          </p:nvSpPr>
          <p:spPr>
            <a:xfrm>
              <a:off x="9957150" y="5719239"/>
              <a:ext cx="1277302" cy="569899"/>
            </a:xfrm>
            <a:custGeom>
              <a:avLst/>
              <a:gdLst>
                <a:gd name="connsiteX0" fmla="*/ 1269682 w 1277302"/>
                <a:gd name="connsiteY0" fmla="*/ 26039 h 569899"/>
                <a:gd name="connsiteX1" fmla="*/ 863918 w 1277302"/>
                <a:gd name="connsiteY1" fmla="*/ 6036 h 569899"/>
                <a:gd name="connsiteX2" fmla="*/ 860107 w 1277302"/>
                <a:gd name="connsiteY2" fmla="*/ 11751 h 569899"/>
                <a:gd name="connsiteX3" fmla="*/ 855345 w 1277302"/>
                <a:gd name="connsiteY3" fmla="*/ 18419 h 569899"/>
                <a:gd name="connsiteX4" fmla="*/ 849630 w 1277302"/>
                <a:gd name="connsiteY4" fmla="*/ 26991 h 569899"/>
                <a:gd name="connsiteX5" fmla="*/ 842010 w 1277302"/>
                <a:gd name="connsiteY5" fmla="*/ 37469 h 569899"/>
                <a:gd name="connsiteX6" fmla="*/ 837248 w 1277302"/>
                <a:gd name="connsiteY6" fmla="*/ 43184 h 569899"/>
                <a:gd name="connsiteX7" fmla="*/ 831532 w 1277302"/>
                <a:gd name="connsiteY7" fmla="*/ 50804 h 569899"/>
                <a:gd name="connsiteX8" fmla="*/ 822960 w 1277302"/>
                <a:gd name="connsiteY8" fmla="*/ 61282 h 569899"/>
                <a:gd name="connsiteX9" fmla="*/ 819150 w 1277302"/>
                <a:gd name="connsiteY9" fmla="*/ 66996 h 569899"/>
                <a:gd name="connsiteX10" fmla="*/ 813435 w 1277302"/>
                <a:gd name="connsiteY10" fmla="*/ 74616 h 569899"/>
                <a:gd name="connsiteX11" fmla="*/ 804863 w 1277302"/>
                <a:gd name="connsiteY11" fmla="*/ 85094 h 569899"/>
                <a:gd name="connsiteX12" fmla="*/ 801053 w 1277302"/>
                <a:gd name="connsiteY12" fmla="*/ 89857 h 569899"/>
                <a:gd name="connsiteX13" fmla="*/ 795338 w 1277302"/>
                <a:gd name="connsiteY13" fmla="*/ 97476 h 569899"/>
                <a:gd name="connsiteX14" fmla="*/ 786765 w 1277302"/>
                <a:gd name="connsiteY14" fmla="*/ 107001 h 569899"/>
                <a:gd name="connsiteX15" fmla="*/ 782003 w 1277302"/>
                <a:gd name="connsiteY15" fmla="*/ 112716 h 569899"/>
                <a:gd name="connsiteX16" fmla="*/ 776288 w 1277302"/>
                <a:gd name="connsiteY16" fmla="*/ 119384 h 569899"/>
                <a:gd name="connsiteX17" fmla="*/ 767715 w 1277302"/>
                <a:gd name="connsiteY17" fmla="*/ 128909 h 569899"/>
                <a:gd name="connsiteX18" fmla="*/ 762000 w 1277302"/>
                <a:gd name="connsiteY18" fmla="*/ 134624 h 569899"/>
                <a:gd name="connsiteX19" fmla="*/ 756285 w 1277302"/>
                <a:gd name="connsiteY19" fmla="*/ 141291 h 569899"/>
                <a:gd name="connsiteX20" fmla="*/ 747713 w 1277302"/>
                <a:gd name="connsiteY20" fmla="*/ 150816 h 569899"/>
                <a:gd name="connsiteX21" fmla="*/ 742950 w 1277302"/>
                <a:gd name="connsiteY21" fmla="*/ 156532 h 569899"/>
                <a:gd name="connsiteX22" fmla="*/ 737235 w 1277302"/>
                <a:gd name="connsiteY22" fmla="*/ 163199 h 569899"/>
                <a:gd name="connsiteX23" fmla="*/ 728663 w 1277302"/>
                <a:gd name="connsiteY23" fmla="*/ 172724 h 569899"/>
                <a:gd name="connsiteX24" fmla="*/ 722948 w 1277302"/>
                <a:gd name="connsiteY24" fmla="*/ 178439 h 569899"/>
                <a:gd name="connsiteX25" fmla="*/ 717232 w 1277302"/>
                <a:gd name="connsiteY25" fmla="*/ 184154 h 569899"/>
                <a:gd name="connsiteX26" fmla="*/ 708660 w 1277302"/>
                <a:gd name="connsiteY26" fmla="*/ 192726 h 569899"/>
                <a:gd name="connsiteX27" fmla="*/ 702945 w 1277302"/>
                <a:gd name="connsiteY27" fmla="*/ 198441 h 569899"/>
                <a:gd name="connsiteX28" fmla="*/ 697230 w 1277302"/>
                <a:gd name="connsiteY28" fmla="*/ 204157 h 569899"/>
                <a:gd name="connsiteX29" fmla="*/ 687705 w 1277302"/>
                <a:gd name="connsiteY29" fmla="*/ 212729 h 569899"/>
                <a:gd name="connsiteX30" fmla="*/ 681990 w 1277302"/>
                <a:gd name="connsiteY30" fmla="*/ 218444 h 569899"/>
                <a:gd name="connsiteX31" fmla="*/ 676275 w 1277302"/>
                <a:gd name="connsiteY31" fmla="*/ 224159 h 569899"/>
                <a:gd name="connsiteX32" fmla="*/ 666750 w 1277302"/>
                <a:gd name="connsiteY32" fmla="*/ 232732 h 569899"/>
                <a:gd name="connsiteX33" fmla="*/ 660082 w 1277302"/>
                <a:gd name="connsiteY33" fmla="*/ 238446 h 569899"/>
                <a:gd name="connsiteX34" fmla="*/ 654368 w 1277302"/>
                <a:gd name="connsiteY34" fmla="*/ 244162 h 569899"/>
                <a:gd name="connsiteX35" fmla="*/ 644843 w 1277302"/>
                <a:gd name="connsiteY35" fmla="*/ 251782 h 569899"/>
                <a:gd name="connsiteX36" fmla="*/ 638175 w 1277302"/>
                <a:gd name="connsiteY36" fmla="*/ 257496 h 569899"/>
                <a:gd name="connsiteX37" fmla="*/ 632460 w 1277302"/>
                <a:gd name="connsiteY37" fmla="*/ 262259 h 569899"/>
                <a:gd name="connsiteX38" fmla="*/ 622935 w 1277302"/>
                <a:gd name="connsiteY38" fmla="*/ 270832 h 569899"/>
                <a:gd name="connsiteX39" fmla="*/ 617220 w 1277302"/>
                <a:gd name="connsiteY39" fmla="*/ 275594 h 569899"/>
                <a:gd name="connsiteX40" fmla="*/ 611505 w 1277302"/>
                <a:gd name="connsiteY40" fmla="*/ 280357 h 569899"/>
                <a:gd name="connsiteX41" fmla="*/ 601028 w 1277302"/>
                <a:gd name="connsiteY41" fmla="*/ 288929 h 569899"/>
                <a:gd name="connsiteX42" fmla="*/ 594360 w 1277302"/>
                <a:gd name="connsiteY42" fmla="*/ 293691 h 569899"/>
                <a:gd name="connsiteX43" fmla="*/ 588645 w 1277302"/>
                <a:gd name="connsiteY43" fmla="*/ 297501 h 569899"/>
                <a:gd name="connsiteX44" fmla="*/ 575310 w 1277302"/>
                <a:gd name="connsiteY44" fmla="*/ 307979 h 569899"/>
                <a:gd name="connsiteX45" fmla="*/ 570548 w 1277302"/>
                <a:gd name="connsiteY45" fmla="*/ 311789 h 569899"/>
                <a:gd name="connsiteX46" fmla="*/ 566738 w 1277302"/>
                <a:gd name="connsiteY46" fmla="*/ 314646 h 569899"/>
                <a:gd name="connsiteX47" fmla="*/ 543878 w 1277302"/>
                <a:gd name="connsiteY47" fmla="*/ 331791 h 569899"/>
                <a:gd name="connsiteX48" fmla="*/ 524828 w 1277302"/>
                <a:gd name="connsiteY48" fmla="*/ 345126 h 569899"/>
                <a:gd name="connsiteX49" fmla="*/ 486728 w 1277302"/>
                <a:gd name="connsiteY49" fmla="*/ 369891 h 569899"/>
                <a:gd name="connsiteX50" fmla="*/ 387668 w 1277302"/>
                <a:gd name="connsiteY50" fmla="*/ 427041 h 569899"/>
                <a:gd name="connsiteX51" fmla="*/ 220028 w 1277302"/>
                <a:gd name="connsiteY51" fmla="*/ 499432 h 569899"/>
                <a:gd name="connsiteX52" fmla="*/ 202882 w 1277302"/>
                <a:gd name="connsiteY52" fmla="*/ 505146 h 569899"/>
                <a:gd name="connsiteX53" fmla="*/ 185738 w 1277302"/>
                <a:gd name="connsiteY53" fmla="*/ 510862 h 569899"/>
                <a:gd name="connsiteX54" fmla="*/ 185738 w 1277302"/>
                <a:gd name="connsiteY54" fmla="*/ 510862 h 569899"/>
                <a:gd name="connsiteX55" fmla="*/ 169545 w 1277302"/>
                <a:gd name="connsiteY55" fmla="*/ 516576 h 569899"/>
                <a:gd name="connsiteX56" fmla="*/ 169545 w 1277302"/>
                <a:gd name="connsiteY56" fmla="*/ 516576 h 569899"/>
                <a:gd name="connsiteX57" fmla="*/ 153353 w 1277302"/>
                <a:gd name="connsiteY57" fmla="*/ 521339 h 569899"/>
                <a:gd name="connsiteX58" fmla="*/ 153353 w 1277302"/>
                <a:gd name="connsiteY58" fmla="*/ 521339 h 569899"/>
                <a:gd name="connsiteX59" fmla="*/ 138113 w 1277302"/>
                <a:gd name="connsiteY59" fmla="*/ 526101 h 569899"/>
                <a:gd name="connsiteX60" fmla="*/ 138113 w 1277302"/>
                <a:gd name="connsiteY60" fmla="*/ 526101 h 569899"/>
                <a:gd name="connsiteX61" fmla="*/ 122873 w 1277302"/>
                <a:gd name="connsiteY61" fmla="*/ 529912 h 569899"/>
                <a:gd name="connsiteX62" fmla="*/ 121920 w 1277302"/>
                <a:gd name="connsiteY62" fmla="*/ 529912 h 569899"/>
                <a:gd name="connsiteX63" fmla="*/ 107632 w 1277302"/>
                <a:gd name="connsiteY63" fmla="*/ 533721 h 569899"/>
                <a:gd name="connsiteX64" fmla="*/ 106680 w 1277302"/>
                <a:gd name="connsiteY64" fmla="*/ 533721 h 569899"/>
                <a:gd name="connsiteX65" fmla="*/ 92393 w 1277302"/>
                <a:gd name="connsiteY65" fmla="*/ 537532 h 569899"/>
                <a:gd name="connsiteX66" fmla="*/ 91440 w 1277302"/>
                <a:gd name="connsiteY66" fmla="*/ 537532 h 569899"/>
                <a:gd name="connsiteX67" fmla="*/ 78105 w 1277302"/>
                <a:gd name="connsiteY67" fmla="*/ 541341 h 569899"/>
                <a:gd name="connsiteX68" fmla="*/ 77153 w 1277302"/>
                <a:gd name="connsiteY68" fmla="*/ 541341 h 569899"/>
                <a:gd name="connsiteX69" fmla="*/ 63818 w 1277302"/>
                <a:gd name="connsiteY69" fmla="*/ 544199 h 569899"/>
                <a:gd name="connsiteX70" fmla="*/ 62865 w 1277302"/>
                <a:gd name="connsiteY70" fmla="*/ 544199 h 569899"/>
                <a:gd name="connsiteX71" fmla="*/ 50482 w 1277302"/>
                <a:gd name="connsiteY71" fmla="*/ 547057 h 569899"/>
                <a:gd name="connsiteX72" fmla="*/ 49530 w 1277302"/>
                <a:gd name="connsiteY72" fmla="*/ 547057 h 569899"/>
                <a:gd name="connsiteX73" fmla="*/ 37148 w 1277302"/>
                <a:gd name="connsiteY73" fmla="*/ 549914 h 569899"/>
                <a:gd name="connsiteX74" fmla="*/ 36195 w 1277302"/>
                <a:gd name="connsiteY74" fmla="*/ 549914 h 569899"/>
                <a:gd name="connsiteX75" fmla="*/ 24765 w 1277302"/>
                <a:gd name="connsiteY75" fmla="*/ 552771 h 569899"/>
                <a:gd name="connsiteX76" fmla="*/ 23813 w 1277302"/>
                <a:gd name="connsiteY76" fmla="*/ 552771 h 569899"/>
                <a:gd name="connsiteX77" fmla="*/ 12382 w 1277302"/>
                <a:gd name="connsiteY77" fmla="*/ 554676 h 569899"/>
                <a:gd name="connsiteX78" fmla="*/ 11430 w 1277302"/>
                <a:gd name="connsiteY78" fmla="*/ 554676 h 569899"/>
                <a:gd name="connsiteX79" fmla="*/ 953 w 1277302"/>
                <a:gd name="connsiteY79" fmla="*/ 556582 h 569899"/>
                <a:gd name="connsiteX80" fmla="*/ 0 w 1277302"/>
                <a:gd name="connsiteY80" fmla="*/ 556582 h 569899"/>
                <a:gd name="connsiteX81" fmla="*/ 257175 w 1277302"/>
                <a:gd name="connsiteY81" fmla="*/ 568964 h 569899"/>
                <a:gd name="connsiteX82" fmla="*/ 1004888 w 1277302"/>
                <a:gd name="connsiteY82" fmla="*/ 312741 h 569899"/>
                <a:gd name="connsiteX83" fmla="*/ 1277303 w 1277302"/>
                <a:gd name="connsiteY83" fmla="*/ 27944 h 569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277302" h="569899">
                  <a:moveTo>
                    <a:pt x="1269682" y="26039"/>
                  </a:moveTo>
                  <a:cubicBezTo>
                    <a:pt x="1130618" y="321"/>
                    <a:pt x="993457" y="-6346"/>
                    <a:pt x="863918" y="6036"/>
                  </a:cubicBezTo>
                  <a:cubicBezTo>
                    <a:pt x="862965" y="7941"/>
                    <a:pt x="861060" y="9846"/>
                    <a:pt x="860107" y="11751"/>
                  </a:cubicBezTo>
                  <a:lnTo>
                    <a:pt x="855345" y="18419"/>
                  </a:lnTo>
                  <a:cubicBezTo>
                    <a:pt x="853440" y="21276"/>
                    <a:pt x="851535" y="24134"/>
                    <a:pt x="849630" y="26991"/>
                  </a:cubicBezTo>
                  <a:cubicBezTo>
                    <a:pt x="846773" y="30801"/>
                    <a:pt x="844868" y="33659"/>
                    <a:pt x="842010" y="37469"/>
                  </a:cubicBezTo>
                  <a:lnTo>
                    <a:pt x="837248" y="43184"/>
                  </a:lnTo>
                  <a:cubicBezTo>
                    <a:pt x="835343" y="46041"/>
                    <a:pt x="833438" y="47946"/>
                    <a:pt x="831532" y="50804"/>
                  </a:cubicBezTo>
                  <a:cubicBezTo>
                    <a:pt x="828675" y="54614"/>
                    <a:pt x="825818" y="57471"/>
                    <a:pt x="822960" y="61282"/>
                  </a:cubicBezTo>
                  <a:lnTo>
                    <a:pt x="819150" y="66996"/>
                  </a:lnTo>
                  <a:cubicBezTo>
                    <a:pt x="817245" y="69854"/>
                    <a:pt x="815340" y="71759"/>
                    <a:pt x="813435" y="74616"/>
                  </a:cubicBezTo>
                  <a:cubicBezTo>
                    <a:pt x="810578" y="78426"/>
                    <a:pt x="807720" y="81284"/>
                    <a:pt x="804863" y="85094"/>
                  </a:cubicBezTo>
                  <a:lnTo>
                    <a:pt x="801053" y="89857"/>
                  </a:lnTo>
                  <a:cubicBezTo>
                    <a:pt x="799148" y="92714"/>
                    <a:pt x="797243" y="94619"/>
                    <a:pt x="795338" y="97476"/>
                  </a:cubicBezTo>
                  <a:cubicBezTo>
                    <a:pt x="792480" y="100334"/>
                    <a:pt x="789623" y="104144"/>
                    <a:pt x="786765" y="107001"/>
                  </a:cubicBezTo>
                  <a:lnTo>
                    <a:pt x="782003" y="112716"/>
                  </a:lnTo>
                  <a:cubicBezTo>
                    <a:pt x="780098" y="114621"/>
                    <a:pt x="778193" y="116526"/>
                    <a:pt x="776288" y="119384"/>
                  </a:cubicBezTo>
                  <a:cubicBezTo>
                    <a:pt x="773430" y="122241"/>
                    <a:pt x="770573" y="126051"/>
                    <a:pt x="767715" y="128909"/>
                  </a:cubicBezTo>
                  <a:lnTo>
                    <a:pt x="762000" y="134624"/>
                  </a:lnTo>
                  <a:cubicBezTo>
                    <a:pt x="760095" y="136529"/>
                    <a:pt x="758190" y="138434"/>
                    <a:pt x="756285" y="141291"/>
                  </a:cubicBezTo>
                  <a:cubicBezTo>
                    <a:pt x="753428" y="144149"/>
                    <a:pt x="750570" y="147959"/>
                    <a:pt x="747713" y="150816"/>
                  </a:cubicBezTo>
                  <a:lnTo>
                    <a:pt x="742950" y="156532"/>
                  </a:lnTo>
                  <a:cubicBezTo>
                    <a:pt x="741045" y="158437"/>
                    <a:pt x="739140" y="160341"/>
                    <a:pt x="737235" y="163199"/>
                  </a:cubicBezTo>
                  <a:cubicBezTo>
                    <a:pt x="734378" y="166057"/>
                    <a:pt x="731520" y="168914"/>
                    <a:pt x="728663" y="172724"/>
                  </a:cubicBezTo>
                  <a:lnTo>
                    <a:pt x="722948" y="178439"/>
                  </a:lnTo>
                  <a:cubicBezTo>
                    <a:pt x="721043" y="180344"/>
                    <a:pt x="719138" y="182249"/>
                    <a:pt x="717232" y="184154"/>
                  </a:cubicBezTo>
                  <a:cubicBezTo>
                    <a:pt x="714375" y="187012"/>
                    <a:pt x="711518" y="189869"/>
                    <a:pt x="708660" y="192726"/>
                  </a:cubicBezTo>
                  <a:lnTo>
                    <a:pt x="702945" y="198441"/>
                  </a:lnTo>
                  <a:cubicBezTo>
                    <a:pt x="701040" y="200346"/>
                    <a:pt x="699135" y="202251"/>
                    <a:pt x="697230" y="204157"/>
                  </a:cubicBezTo>
                  <a:cubicBezTo>
                    <a:pt x="694373" y="207014"/>
                    <a:pt x="691515" y="209871"/>
                    <a:pt x="687705" y="212729"/>
                  </a:cubicBezTo>
                  <a:lnTo>
                    <a:pt x="681990" y="218444"/>
                  </a:lnTo>
                  <a:cubicBezTo>
                    <a:pt x="680085" y="220349"/>
                    <a:pt x="678180" y="222254"/>
                    <a:pt x="676275" y="224159"/>
                  </a:cubicBezTo>
                  <a:cubicBezTo>
                    <a:pt x="673418" y="227016"/>
                    <a:pt x="670560" y="229874"/>
                    <a:pt x="666750" y="232732"/>
                  </a:cubicBezTo>
                  <a:lnTo>
                    <a:pt x="660082" y="238446"/>
                  </a:lnTo>
                  <a:cubicBezTo>
                    <a:pt x="658178" y="240351"/>
                    <a:pt x="656273" y="242257"/>
                    <a:pt x="654368" y="244162"/>
                  </a:cubicBezTo>
                  <a:cubicBezTo>
                    <a:pt x="651510" y="247019"/>
                    <a:pt x="648653" y="249876"/>
                    <a:pt x="644843" y="251782"/>
                  </a:cubicBezTo>
                  <a:lnTo>
                    <a:pt x="638175" y="257496"/>
                  </a:lnTo>
                  <a:cubicBezTo>
                    <a:pt x="636270" y="259401"/>
                    <a:pt x="634365" y="261307"/>
                    <a:pt x="632460" y="262259"/>
                  </a:cubicBezTo>
                  <a:cubicBezTo>
                    <a:pt x="629603" y="265116"/>
                    <a:pt x="625793" y="267974"/>
                    <a:pt x="622935" y="270832"/>
                  </a:cubicBezTo>
                  <a:lnTo>
                    <a:pt x="617220" y="275594"/>
                  </a:lnTo>
                  <a:cubicBezTo>
                    <a:pt x="615315" y="277499"/>
                    <a:pt x="613410" y="278451"/>
                    <a:pt x="611505" y="280357"/>
                  </a:cubicBezTo>
                  <a:cubicBezTo>
                    <a:pt x="607695" y="283214"/>
                    <a:pt x="604838" y="286071"/>
                    <a:pt x="601028" y="288929"/>
                  </a:cubicBezTo>
                  <a:lnTo>
                    <a:pt x="594360" y="293691"/>
                  </a:lnTo>
                  <a:cubicBezTo>
                    <a:pt x="592455" y="294644"/>
                    <a:pt x="590550" y="296549"/>
                    <a:pt x="588645" y="297501"/>
                  </a:cubicBezTo>
                  <a:cubicBezTo>
                    <a:pt x="583882" y="301312"/>
                    <a:pt x="580073" y="304169"/>
                    <a:pt x="575310" y="307979"/>
                  </a:cubicBezTo>
                  <a:lnTo>
                    <a:pt x="570548" y="311789"/>
                  </a:lnTo>
                  <a:cubicBezTo>
                    <a:pt x="568643" y="312741"/>
                    <a:pt x="567690" y="313694"/>
                    <a:pt x="566738" y="314646"/>
                  </a:cubicBezTo>
                  <a:cubicBezTo>
                    <a:pt x="559118" y="320362"/>
                    <a:pt x="551498" y="326076"/>
                    <a:pt x="543878" y="331791"/>
                  </a:cubicBezTo>
                  <a:cubicBezTo>
                    <a:pt x="537210" y="336554"/>
                    <a:pt x="531495" y="340364"/>
                    <a:pt x="524828" y="345126"/>
                  </a:cubicBezTo>
                  <a:cubicBezTo>
                    <a:pt x="512445" y="353699"/>
                    <a:pt x="499110" y="362271"/>
                    <a:pt x="486728" y="369891"/>
                  </a:cubicBezTo>
                  <a:cubicBezTo>
                    <a:pt x="454343" y="389894"/>
                    <a:pt x="421005" y="408944"/>
                    <a:pt x="387668" y="427041"/>
                  </a:cubicBezTo>
                  <a:cubicBezTo>
                    <a:pt x="333375" y="454664"/>
                    <a:pt x="277178" y="479429"/>
                    <a:pt x="220028" y="499432"/>
                  </a:cubicBezTo>
                  <a:cubicBezTo>
                    <a:pt x="214313" y="501337"/>
                    <a:pt x="208598" y="503241"/>
                    <a:pt x="202882" y="505146"/>
                  </a:cubicBezTo>
                  <a:cubicBezTo>
                    <a:pt x="197168" y="507051"/>
                    <a:pt x="191453" y="508957"/>
                    <a:pt x="185738" y="510862"/>
                  </a:cubicBezTo>
                  <a:lnTo>
                    <a:pt x="185738" y="510862"/>
                  </a:lnTo>
                  <a:cubicBezTo>
                    <a:pt x="180023" y="512766"/>
                    <a:pt x="175260" y="514671"/>
                    <a:pt x="169545" y="516576"/>
                  </a:cubicBezTo>
                  <a:lnTo>
                    <a:pt x="169545" y="516576"/>
                  </a:lnTo>
                  <a:cubicBezTo>
                    <a:pt x="163830" y="518482"/>
                    <a:pt x="159068" y="520387"/>
                    <a:pt x="153353" y="521339"/>
                  </a:cubicBezTo>
                  <a:lnTo>
                    <a:pt x="153353" y="521339"/>
                  </a:lnTo>
                  <a:cubicBezTo>
                    <a:pt x="148590" y="523244"/>
                    <a:pt x="142875" y="524196"/>
                    <a:pt x="138113" y="526101"/>
                  </a:cubicBezTo>
                  <a:lnTo>
                    <a:pt x="138113" y="526101"/>
                  </a:lnTo>
                  <a:cubicBezTo>
                    <a:pt x="133350" y="528007"/>
                    <a:pt x="127635" y="528959"/>
                    <a:pt x="122873" y="529912"/>
                  </a:cubicBezTo>
                  <a:lnTo>
                    <a:pt x="121920" y="529912"/>
                  </a:lnTo>
                  <a:cubicBezTo>
                    <a:pt x="117157" y="531816"/>
                    <a:pt x="112395" y="532769"/>
                    <a:pt x="107632" y="533721"/>
                  </a:cubicBezTo>
                  <a:lnTo>
                    <a:pt x="106680" y="533721"/>
                  </a:lnTo>
                  <a:cubicBezTo>
                    <a:pt x="101918" y="535626"/>
                    <a:pt x="97155" y="536579"/>
                    <a:pt x="92393" y="537532"/>
                  </a:cubicBezTo>
                  <a:lnTo>
                    <a:pt x="91440" y="537532"/>
                  </a:lnTo>
                  <a:cubicBezTo>
                    <a:pt x="86678" y="538484"/>
                    <a:pt x="81915" y="540389"/>
                    <a:pt x="78105" y="541341"/>
                  </a:cubicBezTo>
                  <a:lnTo>
                    <a:pt x="77153" y="541341"/>
                  </a:lnTo>
                  <a:cubicBezTo>
                    <a:pt x="72390" y="542294"/>
                    <a:pt x="68580" y="543246"/>
                    <a:pt x="63818" y="544199"/>
                  </a:cubicBezTo>
                  <a:lnTo>
                    <a:pt x="62865" y="544199"/>
                  </a:lnTo>
                  <a:cubicBezTo>
                    <a:pt x="59055" y="545151"/>
                    <a:pt x="54293" y="546104"/>
                    <a:pt x="50482" y="547057"/>
                  </a:cubicBezTo>
                  <a:lnTo>
                    <a:pt x="49530" y="547057"/>
                  </a:lnTo>
                  <a:cubicBezTo>
                    <a:pt x="45720" y="548009"/>
                    <a:pt x="40957" y="548962"/>
                    <a:pt x="37148" y="549914"/>
                  </a:cubicBezTo>
                  <a:lnTo>
                    <a:pt x="36195" y="549914"/>
                  </a:lnTo>
                  <a:cubicBezTo>
                    <a:pt x="32385" y="550866"/>
                    <a:pt x="28575" y="551819"/>
                    <a:pt x="24765" y="552771"/>
                  </a:cubicBezTo>
                  <a:lnTo>
                    <a:pt x="23813" y="552771"/>
                  </a:lnTo>
                  <a:cubicBezTo>
                    <a:pt x="20003" y="552771"/>
                    <a:pt x="16193" y="554676"/>
                    <a:pt x="12382" y="554676"/>
                  </a:cubicBezTo>
                  <a:lnTo>
                    <a:pt x="11430" y="554676"/>
                  </a:lnTo>
                  <a:cubicBezTo>
                    <a:pt x="7620" y="554676"/>
                    <a:pt x="3810" y="556582"/>
                    <a:pt x="953" y="556582"/>
                  </a:cubicBezTo>
                  <a:lnTo>
                    <a:pt x="0" y="556582"/>
                  </a:lnTo>
                  <a:cubicBezTo>
                    <a:pt x="60960" y="564201"/>
                    <a:pt x="152400" y="572774"/>
                    <a:pt x="257175" y="568964"/>
                  </a:cubicBezTo>
                  <a:cubicBezTo>
                    <a:pt x="456248" y="561344"/>
                    <a:pt x="747713" y="511814"/>
                    <a:pt x="1004888" y="312741"/>
                  </a:cubicBezTo>
                  <a:cubicBezTo>
                    <a:pt x="1107757" y="232732"/>
                    <a:pt x="1199198" y="137482"/>
                    <a:pt x="1277303" y="27944"/>
                  </a:cubicBezTo>
                  <a:close/>
                </a:path>
              </a:pathLst>
            </a:custGeom>
            <a:solidFill>
              <a:srgbClr val="F4F4F5"/>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6B0992A-19B8-3FC5-67D9-65533C60CF9A}"/>
                </a:ext>
              </a:extLst>
            </p:cNvPr>
            <p:cNvSpPr/>
            <p:nvPr/>
          </p:nvSpPr>
          <p:spPr>
            <a:xfrm>
              <a:off x="9865711" y="5729085"/>
              <a:ext cx="910589" cy="521970"/>
            </a:xfrm>
            <a:custGeom>
              <a:avLst/>
              <a:gdLst>
                <a:gd name="connsiteX0" fmla="*/ 96202 w 910589"/>
                <a:gd name="connsiteY0" fmla="*/ 510540 h 521970"/>
                <a:gd name="connsiteX1" fmla="*/ 105727 w 910589"/>
                <a:gd name="connsiteY1" fmla="*/ 508635 h 521970"/>
                <a:gd name="connsiteX2" fmla="*/ 118110 w 910589"/>
                <a:gd name="connsiteY2" fmla="*/ 506730 h 521970"/>
                <a:gd name="connsiteX3" fmla="*/ 125730 w 910589"/>
                <a:gd name="connsiteY3" fmla="*/ 504825 h 521970"/>
                <a:gd name="connsiteX4" fmla="*/ 135255 w 910589"/>
                <a:gd name="connsiteY4" fmla="*/ 502920 h 521970"/>
                <a:gd name="connsiteX5" fmla="*/ 142875 w 910589"/>
                <a:gd name="connsiteY5" fmla="*/ 501015 h 521970"/>
                <a:gd name="connsiteX6" fmla="*/ 157163 w 910589"/>
                <a:gd name="connsiteY6" fmla="*/ 498158 h 521970"/>
                <a:gd name="connsiteX7" fmla="*/ 165735 w 910589"/>
                <a:gd name="connsiteY7" fmla="*/ 496253 h 521970"/>
                <a:gd name="connsiteX8" fmla="*/ 169545 w 910589"/>
                <a:gd name="connsiteY8" fmla="*/ 496253 h 521970"/>
                <a:gd name="connsiteX9" fmla="*/ 177165 w 910589"/>
                <a:gd name="connsiteY9" fmla="*/ 493395 h 521970"/>
                <a:gd name="connsiteX10" fmla="*/ 180022 w 910589"/>
                <a:gd name="connsiteY10" fmla="*/ 493395 h 521970"/>
                <a:gd name="connsiteX11" fmla="*/ 189547 w 910589"/>
                <a:gd name="connsiteY11" fmla="*/ 490538 h 521970"/>
                <a:gd name="connsiteX12" fmla="*/ 193357 w 910589"/>
                <a:gd name="connsiteY12" fmla="*/ 490538 h 521970"/>
                <a:gd name="connsiteX13" fmla="*/ 203835 w 910589"/>
                <a:gd name="connsiteY13" fmla="*/ 486728 h 521970"/>
                <a:gd name="connsiteX14" fmla="*/ 205740 w 910589"/>
                <a:gd name="connsiteY14" fmla="*/ 486728 h 521970"/>
                <a:gd name="connsiteX15" fmla="*/ 215265 w 910589"/>
                <a:gd name="connsiteY15" fmla="*/ 483870 h 521970"/>
                <a:gd name="connsiteX16" fmla="*/ 218122 w 910589"/>
                <a:gd name="connsiteY16" fmla="*/ 483870 h 521970"/>
                <a:gd name="connsiteX17" fmla="*/ 229552 w 910589"/>
                <a:gd name="connsiteY17" fmla="*/ 480060 h 521970"/>
                <a:gd name="connsiteX18" fmla="*/ 232410 w 910589"/>
                <a:gd name="connsiteY18" fmla="*/ 480060 h 521970"/>
                <a:gd name="connsiteX19" fmla="*/ 241935 w 910589"/>
                <a:gd name="connsiteY19" fmla="*/ 476250 h 521970"/>
                <a:gd name="connsiteX20" fmla="*/ 244793 w 910589"/>
                <a:gd name="connsiteY20" fmla="*/ 476250 h 521970"/>
                <a:gd name="connsiteX21" fmla="*/ 256222 w 910589"/>
                <a:gd name="connsiteY21" fmla="*/ 471488 h 521970"/>
                <a:gd name="connsiteX22" fmla="*/ 259080 w 910589"/>
                <a:gd name="connsiteY22" fmla="*/ 471488 h 521970"/>
                <a:gd name="connsiteX23" fmla="*/ 269557 w 910589"/>
                <a:gd name="connsiteY23" fmla="*/ 466725 h 521970"/>
                <a:gd name="connsiteX24" fmla="*/ 271463 w 910589"/>
                <a:gd name="connsiteY24" fmla="*/ 466725 h 521970"/>
                <a:gd name="connsiteX25" fmla="*/ 283845 w 910589"/>
                <a:gd name="connsiteY25" fmla="*/ 461963 h 521970"/>
                <a:gd name="connsiteX26" fmla="*/ 286702 w 910589"/>
                <a:gd name="connsiteY26" fmla="*/ 461963 h 521970"/>
                <a:gd name="connsiteX27" fmla="*/ 299085 w 910589"/>
                <a:gd name="connsiteY27" fmla="*/ 456248 h 521970"/>
                <a:gd name="connsiteX28" fmla="*/ 309563 w 910589"/>
                <a:gd name="connsiteY28" fmla="*/ 452438 h 521970"/>
                <a:gd name="connsiteX29" fmla="*/ 910590 w 910589"/>
                <a:gd name="connsiteY29" fmla="*/ 0 h 521970"/>
                <a:gd name="connsiteX30" fmla="*/ 902970 w 910589"/>
                <a:gd name="connsiteY30" fmla="*/ 953 h 521970"/>
                <a:gd name="connsiteX31" fmla="*/ 884872 w 910589"/>
                <a:gd name="connsiteY31" fmla="*/ 3810 h 521970"/>
                <a:gd name="connsiteX32" fmla="*/ 241935 w 910589"/>
                <a:gd name="connsiteY32" fmla="*/ 305753 h 521970"/>
                <a:gd name="connsiteX33" fmla="*/ 0 w 910589"/>
                <a:gd name="connsiteY33" fmla="*/ 521970 h 521970"/>
                <a:gd name="connsiteX34" fmla="*/ 25718 w 910589"/>
                <a:gd name="connsiteY34" fmla="*/ 519113 h 521970"/>
                <a:gd name="connsiteX35" fmla="*/ 76200 w 910589"/>
                <a:gd name="connsiteY35" fmla="*/ 512445 h 521970"/>
                <a:gd name="connsiteX36" fmla="*/ 76200 w 910589"/>
                <a:gd name="connsiteY36" fmla="*/ 512445 h 521970"/>
                <a:gd name="connsiteX37" fmla="*/ 94297 w 910589"/>
                <a:gd name="connsiteY37" fmla="*/ 509588 h 521970"/>
                <a:gd name="connsiteX38" fmla="*/ 96202 w 910589"/>
                <a:gd name="connsiteY38" fmla="*/ 509588 h 5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910589" h="521970">
                  <a:moveTo>
                    <a:pt x="96202" y="510540"/>
                  </a:moveTo>
                  <a:cubicBezTo>
                    <a:pt x="100013" y="510540"/>
                    <a:pt x="102870" y="509588"/>
                    <a:pt x="105727" y="508635"/>
                  </a:cubicBezTo>
                  <a:lnTo>
                    <a:pt x="118110" y="506730"/>
                  </a:lnTo>
                  <a:cubicBezTo>
                    <a:pt x="120968" y="506730"/>
                    <a:pt x="123825" y="505778"/>
                    <a:pt x="125730" y="504825"/>
                  </a:cubicBezTo>
                  <a:lnTo>
                    <a:pt x="135255" y="502920"/>
                  </a:lnTo>
                  <a:cubicBezTo>
                    <a:pt x="138113" y="502920"/>
                    <a:pt x="140970" y="501967"/>
                    <a:pt x="142875" y="501015"/>
                  </a:cubicBezTo>
                  <a:lnTo>
                    <a:pt x="157163" y="498158"/>
                  </a:lnTo>
                  <a:cubicBezTo>
                    <a:pt x="160020" y="498158"/>
                    <a:pt x="162877" y="497205"/>
                    <a:pt x="165735" y="496253"/>
                  </a:cubicBezTo>
                  <a:lnTo>
                    <a:pt x="169545" y="496253"/>
                  </a:lnTo>
                  <a:cubicBezTo>
                    <a:pt x="172402" y="494348"/>
                    <a:pt x="174307" y="494348"/>
                    <a:pt x="177165" y="493395"/>
                  </a:cubicBezTo>
                  <a:lnTo>
                    <a:pt x="180022" y="493395"/>
                  </a:lnTo>
                  <a:cubicBezTo>
                    <a:pt x="182880" y="491490"/>
                    <a:pt x="186690" y="490538"/>
                    <a:pt x="189547" y="490538"/>
                  </a:cubicBezTo>
                  <a:lnTo>
                    <a:pt x="193357" y="490538"/>
                  </a:lnTo>
                  <a:cubicBezTo>
                    <a:pt x="197168" y="488633"/>
                    <a:pt x="200025" y="487680"/>
                    <a:pt x="203835" y="486728"/>
                  </a:cubicBezTo>
                  <a:lnTo>
                    <a:pt x="205740" y="486728"/>
                  </a:lnTo>
                  <a:cubicBezTo>
                    <a:pt x="208597" y="485775"/>
                    <a:pt x="212407" y="484823"/>
                    <a:pt x="215265" y="483870"/>
                  </a:cubicBezTo>
                  <a:lnTo>
                    <a:pt x="218122" y="483870"/>
                  </a:lnTo>
                  <a:cubicBezTo>
                    <a:pt x="221932" y="481965"/>
                    <a:pt x="225743" y="481013"/>
                    <a:pt x="229552" y="480060"/>
                  </a:cubicBezTo>
                  <a:lnTo>
                    <a:pt x="232410" y="480060"/>
                  </a:lnTo>
                  <a:cubicBezTo>
                    <a:pt x="235268" y="478155"/>
                    <a:pt x="239077" y="477203"/>
                    <a:pt x="241935" y="476250"/>
                  </a:cubicBezTo>
                  <a:lnTo>
                    <a:pt x="244793" y="476250"/>
                  </a:lnTo>
                  <a:cubicBezTo>
                    <a:pt x="248602" y="474345"/>
                    <a:pt x="252413" y="473392"/>
                    <a:pt x="256222" y="471488"/>
                  </a:cubicBezTo>
                  <a:lnTo>
                    <a:pt x="259080" y="471488"/>
                  </a:lnTo>
                  <a:cubicBezTo>
                    <a:pt x="262890" y="469583"/>
                    <a:pt x="265747" y="468630"/>
                    <a:pt x="269557" y="466725"/>
                  </a:cubicBezTo>
                  <a:lnTo>
                    <a:pt x="271463" y="466725"/>
                  </a:lnTo>
                  <a:cubicBezTo>
                    <a:pt x="275272" y="464820"/>
                    <a:pt x="279082" y="463867"/>
                    <a:pt x="283845" y="461963"/>
                  </a:cubicBezTo>
                  <a:lnTo>
                    <a:pt x="286702" y="461963"/>
                  </a:lnTo>
                  <a:cubicBezTo>
                    <a:pt x="290513" y="460058"/>
                    <a:pt x="295275" y="458153"/>
                    <a:pt x="299085" y="456248"/>
                  </a:cubicBezTo>
                  <a:cubicBezTo>
                    <a:pt x="302895" y="455295"/>
                    <a:pt x="305752" y="453390"/>
                    <a:pt x="309563" y="452438"/>
                  </a:cubicBezTo>
                  <a:cubicBezTo>
                    <a:pt x="475297" y="392430"/>
                    <a:pt x="714375" y="264795"/>
                    <a:pt x="910590" y="0"/>
                  </a:cubicBezTo>
                  <a:cubicBezTo>
                    <a:pt x="907732" y="0"/>
                    <a:pt x="905827" y="0"/>
                    <a:pt x="902970" y="953"/>
                  </a:cubicBezTo>
                  <a:cubicBezTo>
                    <a:pt x="897255" y="953"/>
                    <a:pt x="890588" y="2858"/>
                    <a:pt x="884872" y="3810"/>
                  </a:cubicBezTo>
                  <a:cubicBezTo>
                    <a:pt x="626745" y="43815"/>
                    <a:pt x="392430" y="189548"/>
                    <a:pt x="241935" y="305753"/>
                  </a:cubicBezTo>
                  <a:cubicBezTo>
                    <a:pt x="127635" y="393383"/>
                    <a:pt x="41910" y="477203"/>
                    <a:pt x="0" y="521970"/>
                  </a:cubicBezTo>
                  <a:cubicBezTo>
                    <a:pt x="8572" y="521970"/>
                    <a:pt x="17145" y="521017"/>
                    <a:pt x="25718" y="519113"/>
                  </a:cubicBezTo>
                  <a:cubicBezTo>
                    <a:pt x="41910" y="517208"/>
                    <a:pt x="59055" y="515303"/>
                    <a:pt x="76200" y="512445"/>
                  </a:cubicBezTo>
                  <a:lnTo>
                    <a:pt x="76200" y="512445"/>
                  </a:lnTo>
                  <a:cubicBezTo>
                    <a:pt x="81915" y="511492"/>
                    <a:pt x="87630" y="510540"/>
                    <a:pt x="94297" y="509588"/>
                  </a:cubicBezTo>
                  <a:lnTo>
                    <a:pt x="96202" y="509588"/>
                  </a:lnTo>
                  <a:close/>
                </a:path>
              </a:pathLst>
            </a:custGeom>
            <a:solidFill>
              <a:srgbClr val="F4F4F5"/>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3C9B1A9-865D-E327-FF57-EF1482EC0745}"/>
                </a:ext>
              </a:extLst>
            </p:cNvPr>
            <p:cNvSpPr/>
            <p:nvPr/>
          </p:nvSpPr>
          <p:spPr>
            <a:xfrm>
              <a:off x="9722851" y="5236643"/>
              <a:ext cx="198384" cy="981075"/>
            </a:xfrm>
            <a:custGeom>
              <a:avLst/>
              <a:gdLst>
                <a:gd name="connsiteX0" fmla="*/ 144765 w 198384"/>
                <a:gd name="connsiteY0" fmla="*/ 114300 h 981075"/>
                <a:gd name="connsiteX1" fmla="*/ 124762 w 198384"/>
                <a:gd name="connsiteY1" fmla="*/ 60960 h 981075"/>
                <a:gd name="connsiteX2" fmla="*/ 99044 w 198384"/>
                <a:gd name="connsiteY2" fmla="*/ 0 h 981075"/>
                <a:gd name="connsiteX3" fmla="*/ 73327 w 198384"/>
                <a:gd name="connsiteY3" fmla="*/ 60960 h 981075"/>
                <a:gd name="connsiteX4" fmla="*/ 82852 w 198384"/>
                <a:gd name="connsiteY4" fmla="*/ 933450 h 981075"/>
                <a:gd name="connsiteX5" fmla="*/ 99997 w 198384"/>
                <a:gd name="connsiteY5" fmla="*/ 981075 h 981075"/>
                <a:gd name="connsiteX6" fmla="*/ 145717 w 198384"/>
                <a:gd name="connsiteY6" fmla="*/ 115252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8384" h="981075">
                  <a:moveTo>
                    <a:pt x="144765" y="114300"/>
                  </a:moveTo>
                  <a:cubicBezTo>
                    <a:pt x="139049" y="96202"/>
                    <a:pt x="132382" y="78105"/>
                    <a:pt x="124762" y="60960"/>
                  </a:cubicBezTo>
                  <a:cubicBezTo>
                    <a:pt x="116190" y="40958"/>
                    <a:pt x="107617" y="20002"/>
                    <a:pt x="99044" y="0"/>
                  </a:cubicBezTo>
                  <a:cubicBezTo>
                    <a:pt x="90472" y="20002"/>
                    <a:pt x="80947" y="40005"/>
                    <a:pt x="73327" y="60960"/>
                  </a:cubicBezTo>
                  <a:cubicBezTo>
                    <a:pt x="-62881" y="392430"/>
                    <a:pt x="20940" y="749618"/>
                    <a:pt x="82852" y="933450"/>
                  </a:cubicBezTo>
                  <a:cubicBezTo>
                    <a:pt x="88567" y="949643"/>
                    <a:pt x="94282" y="965835"/>
                    <a:pt x="99997" y="981075"/>
                  </a:cubicBezTo>
                  <a:cubicBezTo>
                    <a:pt x="143812" y="864870"/>
                    <a:pt x="268590" y="477203"/>
                    <a:pt x="145717" y="115252"/>
                  </a:cubicBezTo>
                  <a:close/>
                </a:path>
              </a:pathLst>
            </a:custGeom>
            <a:solidFill>
              <a:srgbClr val="F4F4F5"/>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7DA6068-7A9F-18EF-5A2A-DB3B64BF9251}"/>
                </a:ext>
              </a:extLst>
            </p:cNvPr>
            <p:cNvSpPr/>
            <p:nvPr/>
          </p:nvSpPr>
          <p:spPr>
            <a:xfrm>
              <a:off x="9288496" y="4605136"/>
              <a:ext cx="515302" cy="1407794"/>
            </a:xfrm>
            <a:custGeom>
              <a:avLst/>
              <a:gdLst>
                <a:gd name="connsiteX0" fmla="*/ 58103 w 515302"/>
                <a:gd name="connsiteY0" fmla="*/ 877253 h 1407794"/>
                <a:gd name="connsiteX1" fmla="*/ 65722 w 515302"/>
                <a:gd name="connsiteY1" fmla="*/ 884873 h 1407794"/>
                <a:gd name="connsiteX2" fmla="*/ 67628 w 515302"/>
                <a:gd name="connsiteY2" fmla="*/ 886778 h 1407794"/>
                <a:gd name="connsiteX3" fmla="*/ 73342 w 515302"/>
                <a:gd name="connsiteY3" fmla="*/ 892493 h 1407794"/>
                <a:gd name="connsiteX4" fmla="*/ 87630 w 515302"/>
                <a:gd name="connsiteY4" fmla="*/ 906780 h 1407794"/>
                <a:gd name="connsiteX5" fmla="*/ 91440 w 515302"/>
                <a:gd name="connsiteY5" fmla="*/ 910590 h 1407794"/>
                <a:gd name="connsiteX6" fmla="*/ 104775 w 515302"/>
                <a:gd name="connsiteY6" fmla="*/ 924878 h 1407794"/>
                <a:gd name="connsiteX7" fmla="*/ 106680 w 515302"/>
                <a:gd name="connsiteY7" fmla="*/ 926783 h 1407794"/>
                <a:gd name="connsiteX8" fmla="*/ 345758 w 515302"/>
                <a:gd name="connsiteY8" fmla="*/ 1243013 h 1407794"/>
                <a:gd name="connsiteX9" fmla="*/ 345758 w 515302"/>
                <a:gd name="connsiteY9" fmla="*/ 1244917 h 1407794"/>
                <a:gd name="connsiteX10" fmla="*/ 350520 w 515302"/>
                <a:gd name="connsiteY10" fmla="*/ 1250633 h 1407794"/>
                <a:gd name="connsiteX11" fmla="*/ 350520 w 515302"/>
                <a:gd name="connsiteY11" fmla="*/ 1252538 h 1407794"/>
                <a:gd name="connsiteX12" fmla="*/ 431483 w 515302"/>
                <a:gd name="connsiteY12" fmla="*/ 1394460 h 1407794"/>
                <a:gd name="connsiteX13" fmla="*/ 438150 w 515302"/>
                <a:gd name="connsiteY13" fmla="*/ 1407795 h 1407794"/>
                <a:gd name="connsiteX14" fmla="*/ 419100 w 515302"/>
                <a:gd name="connsiteY14" fmla="*/ 1308735 h 1407794"/>
                <a:gd name="connsiteX15" fmla="*/ 477203 w 515302"/>
                <a:gd name="connsiteY15" fmla="*/ 680085 h 1407794"/>
                <a:gd name="connsiteX16" fmla="*/ 515303 w 515302"/>
                <a:gd name="connsiteY16" fmla="*/ 592455 h 1407794"/>
                <a:gd name="connsiteX17" fmla="*/ 70485 w 515302"/>
                <a:gd name="connsiteY17" fmla="*/ 0 h 1407794"/>
                <a:gd name="connsiteX18" fmla="*/ 0 w 515302"/>
                <a:gd name="connsiteY18" fmla="*/ 456247 h 1407794"/>
                <a:gd name="connsiteX19" fmla="*/ 57150 w 515302"/>
                <a:gd name="connsiteY19" fmla="*/ 877253 h 140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5302" h="1407794">
                  <a:moveTo>
                    <a:pt x="58103" y="877253"/>
                  </a:moveTo>
                  <a:cubicBezTo>
                    <a:pt x="60960" y="880110"/>
                    <a:pt x="62865" y="882968"/>
                    <a:pt x="65722" y="884873"/>
                  </a:cubicBezTo>
                  <a:lnTo>
                    <a:pt x="67628" y="886778"/>
                  </a:lnTo>
                  <a:cubicBezTo>
                    <a:pt x="69532" y="888683"/>
                    <a:pt x="71438" y="890587"/>
                    <a:pt x="73342" y="892493"/>
                  </a:cubicBezTo>
                  <a:cubicBezTo>
                    <a:pt x="78105" y="897255"/>
                    <a:pt x="82867" y="902018"/>
                    <a:pt x="87630" y="906780"/>
                  </a:cubicBezTo>
                  <a:lnTo>
                    <a:pt x="91440" y="910590"/>
                  </a:lnTo>
                  <a:cubicBezTo>
                    <a:pt x="96203" y="915353"/>
                    <a:pt x="100013" y="920115"/>
                    <a:pt x="104775" y="924878"/>
                  </a:cubicBezTo>
                  <a:lnTo>
                    <a:pt x="106680" y="926783"/>
                  </a:lnTo>
                  <a:cubicBezTo>
                    <a:pt x="194310" y="1022033"/>
                    <a:pt x="275272" y="1127760"/>
                    <a:pt x="345758" y="1243013"/>
                  </a:cubicBezTo>
                  <a:lnTo>
                    <a:pt x="345758" y="1244917"/>
                  </a:lnTo>
                  <a:cubicBezTo>
                    <a:pt x="347662" y="1246823"/>
                    <a:pt x="349567" y="1248728"/>
                    <a:pt x="350520" y="1250633"/>
                  </a:cubicBezTo>
                  <a:lnTo>
                    <a:pt x="350520" y="1252538"/>
                  </a:lnTo>
                  <a:cubicBezTo>
                    <a:pt x="380047" y="1299210"/>
                    <a:pt x="406717" y="1346835"/>
                    <a:pt x="431483" y="1394460"/>
                  </a:cubicBezTo>
                  <a:cubicBezTo>
                    <a:pt x="433387" y="1399223"/>
                    <a:pt x="436245" y="1403033"/>
                    <a:pt x="438150" y="1407795"/>
                  </a:cubicBezTo>
                  <a:cubicBezTo>
                    <a:pt x="430530" y="1374458"/>
                    <a:pt x="423862" y="1341120"/>
                    <a:pt x="419100" y="1308735"/>
                  </a:cubicBezTo>
                  <a:cubicBezTo>
                    <a:pt x="381953" y="1075373"/>
                    <a:pt x="401955" y="863918"/>
                    <a:pt x="477203" y="680085"/>
                  </a:cubicBezTo>
                  <a:cubicBezTo>
                    <a:pt x="488633" y="651510"/>
                    <a:pt x="501967" y="621983"/>
                    <a:pt x="515303" y="592455"/>
                  </a:cubicBezTo>
                  <a:cubicBezTo>
                    <a:pt x="404812" y="359093"/>
                    <a:pt x="255270" y="160020"/>
                    <a:pt x="70485" y="0"/>
                  </a:cubicBezTo>
                  <a:cubicBezTo>
                    <a:pt x="23813" y="147638"/>
                    <a:pt x="0" y="301943"/>
                    <a:pt x="0" y="456247"/>
                  </a:cubicBezTo>
                  <a:cubicBezTo>
                    <a:pt x="0" y="610553"/>
                    <a:pt x="19050" y="741998"/>
                    <a:pt x="57150" y="877253"/>
                  </a:cubicBezTo>
                  <a:close/>
                </a:path>
              </a:pathLst>
            </a:custGeom>
            <a:solidFill>
              <a:srgbClr val="F4F4F5"/>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4866AA2-A491-F100-15E9-23EF34A64724}"/>
                </a:ext>
              </a:extLst>
            </p:cNvPr>
            <p:cNvSpPr/>
            <p:nvPr/>
          </p:nvSpPr>
          <p:spPr>
            <a:xfrm>
              <a:off x="9839041" y="4604183"/>
              <a:ext cx="515302" cy="1408747"/>
            </a:xfrm>
            <a:custGeom>
              <a:avLst/>
              <a:gdLst>
                <a:gd name="connsiteX0" fmla="*/ 952 w 515302"/>
                <a:gd name="connsiteY0" fmla="*/ 593408 h 1408747"/>
                <a:gd name="connsiteX1" fmla="*/ 39052 w 515302"/>
                <a:gd name="connsiteY1" fmla="*/ 681038 h 1408747"/>
                <a:gd name="connsiteX2" fmla="*/ 97155 w 515302"/>
                <a:gd name="connsiteY2" fmla="*/ 1309688 h 1408747"/>
                <a:gd name="connsiteX3" fmla="*/ 78105 w 515302"/>
                <a:gd name="connsiteY3" fmla="*/ 1408748 h 1408747"/>
                <a:gd name="connsiteX4" fmla="*/ 84772 w 515302"/>
                <a:gd name="connsiteY4" fmla="*/ 1395413 h 1408747"/>
                <a:gd name="connsiteX5" fmla="*/ 168592 w 515302"/>
                <a:gd name="connsiteY5" fmla="*/ 1247775 h 1408747"/>
                <a:gd name="connsiteX6" fmla="*/ 171450 w 515302"/>
                <a:gd name="connsiteY6" fmla="*/ 1242060 h 1408747"/>
                <a:gd name="connsiteX7" fmla="*/ 409575 w 515302"/>
                <a:gd name="connsiteY7" fmla="*/ 927735 h 1408747"/>
                <a:gd name="connsiteX8" fmla="*/ 411480 w 515302"/>
                <a:gd name="connsiteY8" fmla="*/ 925830 h 1408747"/>
                <a:gd name="connsiteX9" fmla="*/ 425767 w 515302"/>
                <a:gd name="connsiteY9" fmla="*/ 911543 h 1408747"/>
                <a:gd name="connsiteX10" fmla="*/ 428625 w 515302"/>
                <a:gd name="connsiteY10" fmla="*/ 907733 h 1408747"/>
                <a:gd name="connsiteX11" fmla="*/ 442913 w 515302"/>
                <a:gd name="connsiteY11" fmla="*/ 892493 h 1408747"/>
                <a:gd name="connsiteX12" fmla="*/ 447675 w 515302"/>
                <a:gd name="connsiteY12" fmla="*/ 887730 h 1408747"/>
                <a:gd name="connsiteX13" fmla="*/ 458152 w 515302"/>
                <a:gd name="connsiteY13" fmla="*/ 877252 h 1408747"/>
                <a:gd name="connsiteX14" fmla="*/ 515302 w 515302"/>
                <a:gd name="connsiteY14" fmla="*/ 456248 h 1408747"/>
                <a:gd name="connsiteX15" fmla="*/ 444817 w 515302"/>
                <a:gd name="connsiteY15" fmla="*/ 0 h 1408747"/>
                <a:gd name="connsiteX16" fmla="*/ 0 w 515302"/>
                <a:gd name="connsiteY16" fmla="*/ 592455 h 140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5302" h="1408747">
                  <a:moveTo>
                    <a:pt x="952" y="593408"/>
                  </a:moveTo>
                  <a:cubicBezTo>
                    <a:pt x="14288" y="622935"/>
                    <a:pt x="27622" y="651510"/>
                    <a:pt x="39052" y="681038"/>
                  </a:cubicBezTo>
                  <a:cubicBezTo>
                    <a:pt x="114300" y="864870"/>
                    <a:pt x="133350" y="1076325"/>
                    <a:pt x="97155" y="1309688"/>
                  </a:cubicBezTo>
                  <a:cubicBezTo>
                    <a:pt x="92392" y="1342073"/>
                    <a:pt x="85725" y="1375410"/>
                    <a:pt x="78105" y="1408748"/>
                  </a:cubicBezTo>
                  <a:cubicBezTo>
                    <a:pt x="80010" y="1403985"/>
                    <a:pt x="82867" y="1400175"/>
                    <a:pt x="84772" y="1395413"/>
                  </a:cubicBezTo>
                  <a:cubicBezTo>
                    <a:pt x="110490" y="1345883"/>
                    <a:pt x="138113" y="1296353"/>
                    <a:pt x="168592" y="1247775"/>
                  </a:cubicBezTo>
                  <a:lnTo>
                    <a:pt x="171450" y="1242060"/>
                  </a:lnTo>
                  <a:cubicBezTo>
                    <a:pt x="242888" y="1127760"/>
                    <a:pt x="322897" y="1022033"/>
                    <a:pt x="409575" y="927735"/>
                  </a:cubicBezTo>
                  <a:lnTo>
                    <a:pt x="411480" y="925830"/>
                  </a:lnTo>
                  <a:cubicBezTo>
                    <a:pt x="416242" y="921068"/>
                    <a:pt x="421005" y="916305"/>
                    <a:pt x="425767" y="911543"/>
                  </a:cubicBezTo>
                  <a:lnTo>
                    <a:pt x="428625" y="907733"/>
                  </a:lnTo>
                  <a:cubicBezTo>
                    <a:pt x="433388" y="902970"/>
                    <a:pt x="438150" y="897255"/>
                    <a:pt x="442913" y="892493"/>
                  </a:cubicBezTo>
                  <a:lnTo>
                    <a:pt x="447675" y="887730"/>
                  </a:lnTo>
                  <a:cubicBezTo>
                    <a:pt x="451485" y="883920"/>
                    <a:pt x="454342" y="881063"/>
                    <a:pt x="458152" y="877252"/>
                  </a:cubicBezTo>
                  <a:cubicBezTo>
                    <a:pt x="496252" y="741998"/>
                    <a:pt x="515302" y="601027"/>
                    <a:pt x="515302" y="456248"/>
                  </a:cubicBezTo>
                  <a:cubicBezTo>
                    <a:pt x="515302" y="311468"/>
                    <a:pt x="491490" y="148590"/>
                    <a:pt x="444817" y="0"/>
                  </a:cubicBezTo>
                  <a:cubicBezTo>
                    <a:pt x="260032" y="160020"/>
                    <a:pt x="110490" y="359093"/>
                    <a:pt x="0" y="592455"/>
                  </a:cubicBezTo>
                  <a:close/>
                </a:path>
              </a:pathLst>
            </a:custGeom>
            <a:solidFill>
              <a:srgbClr val="F4F4F5"/>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7E028C4-20AE-5966-80D7-7CE8D943141D}"/>
                </a:ext>
              </a:extLst>
            </p:cNvPr>
            <p:cNvSpPr/>
            <p:nvPr/>
          </p:nvSpPr>
          <p:spPr>
            <a:xfrm>
              <a:off x="8670323" y="5134726"/>
              <a:ext cx="922019" cy="903922"/>
            </a:xfrm>
            <a:custGeom>
              <a:avLst/>
              <a:gdLst>
                <a:gd name="connsiteX0" fmla="*/ 630555 w 922019"/>
                <a:gd name="connsiteY0" fmla="*/ 348615 h 903922"/>
                <a:gd name="connsiteX1" fmla="*/ 0 w 922019"/>
                <a:gd name="connsiteY1" fmla="*/ 0 h 903922"/>
                <a:gd name="connsiteX2" fmla="*/ 170497 w 922019"/>
                <a:gd name="connsiteY2" fmla="*/ 560070 h 903922"/>
                <a:gd name="connsiteX3" fmla="*/ 227647 w 922019"/>
                <a:gd name="connsiteY3" fmla="*/ 567690 h 903922"/>
                <a:gd name="connsiteX4" fmla="*/ 885825 w 922019"/>
                <a:gd name="connsiteY4" fmla="*/ 876300 h 903922"/>
                <a:gd name="connsiteX5" fmla="*/ 922020 w 922019"/>
                <a:gd name="connsiteY5" fmla="*/ 903922 h 903922"/>
                <a:gd name="connsiteX6" fmla="*/ 908685 w 922019"/>
                <a:gd name="connsiteY6" fmla="*/ 885825 h 903922"/>
                <a:gd name="connsiteX7" fmla="*/ 646747 w 922019"/>
                <a:gd name="connsiteY7" fmla="*/ 363855 h 903922"/>
                <a:gd name="connsiteX8" fmla="*/ 630555 w 922019"/>
                <a:gd name="connsiteY8" fmla="*/ 348615 h 90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2019" h="903922">
                  <a:moveTo>
                    <a:pt x="630555" y="348615"/>
                  </a:moveTo>
                  <a:cubicBezTo>
                    <a:pt x="464820" y="187642"/>
                    <a:pt x="252413" y="70485"/>
                    <a:pt x="0" y="0"/>
                  </a:cubicBezTo>
                  <a:cubicBezTo>
                    <a:pt x="11430" y="223838"/>
                    <a:pt x="68580" y="412432"/>
                    <a:pt x="170497" y="560070"/>
                  </a:cubicBezTo>
                  <a:cubicBezTo>
                    <a:pt x="190500" y="561975"/>
                    <a:pt x="209550" y="564833"/>
                    <a:pt x="227647" y="567690"/>
                  </a:cubicBezTo>
                  <a:cubicBezTo>
                    <a:pt x="492442" y="608647"/>
                    <a:pt x="731520" y="758190"/>
                    <a:pt x="885825" y="876300"/>
                  </a:cubicBezTo>
                  <a:cubicBezTo>
                    <a:pt x="897255" y="884872"/>
                    <a:pt x="909638" y="894397"/>
                    <a:pt x="922020" y="903922"/>
                  </a:cubicBezTo>
                  <a:cubicBezTo>
                    <a:pt x="917257" y="898208"/>
                    <a:pt x="912495" y="891540"/>
                    <a:pt x="908685" y="885825"/>
                  </a:cubicBezTo>
                  <a:cubicBezTo>
                    <a:pt x="788670" y="727710"/>
                    <a:pt x="700088" y="551497"/>
                    <a:pt x="646747" y="363855"/>
                  </a:cubicBezTo>
                  <a:cubicBezTo>
                    <a:pt x="641985" y="358140"/>
                    <a:pt x="636270" y="353378"/>
                    <a:pt x="630555" y="348615"/>
                  </a:cubicBezTo>
                  <a:close/>
                </a:path>
              </a:pathLst>
            </a:custGeom>
            <a:solidFill>
              <a:srgbClr val="F4F4F5"/>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5A7CBDD-EC10-62D3-61EB-565A46A8C60A}"/>
                </a:ext>
              </a:extLst>
            </p:cNvPr>
            <p:cNvSpPr/>
            <p:nvPr/>
          </p:nvSpPr>
          <p:spPr>
            <a:xfrm>
              <a:off x="8866538" y="5730990"/>
              <a:ext cx="905827" cy="523875"/>
            </a:xfrm>
            <a:custGeom>
              <a:avLst/>
              <a:gdLst>
                <a:gd name="connsiteX0" fmla="*/ 669608 w 905827"/>
                <a:gd name="connsiteY0" fmla="*/ 305753 h 523875"/>
                <a:gd name="connsiteX1" fmla="*/ 26670 w 905827"/>
                <a:gd name="connsiteY1" fmla="*/ 3810 h 523875"/>
                <a:gd name="connsiteX2" fmla="*/ 0 w 905827"/>
                <a:gd name="connsiteY2" fmla="*/ 0 h 523875"/>
                <a:gd name="connsiteX3" fmla="*/ 6668 w 905827"/>
                <a:gd name="connsiteY3" fmla="*/ 8573 h 523875"/>
                <a:gd name="connsiteX4" fmla="*/ 6668 w 905827"/>
                <a:gd name="connsiteY4" fmla="*/ 10478 h 523875"/>
                <a:gd name="connsiteX5" fmla="*/ 16193 w 905827"/>
                <a:gd name="connsiteY5" fmla="*/ 21908 h 523875"/>
                <a:gd name="connsiteX6" fmla="*/ 16193 w 905827"/>
                <a:gd name="connsiteY6" fmla="*/ 23813 h 523875"/>
                <a:gd name="connsiteX7" fmla="*/ 36195 w 905827"/>
                <a:gd name="connsiteY7" fmla="*/ 46673 h 523875"/>
                <a:gd name="connsiteX8" fmla="*/ 36195 w 905827"/>
                <a:gd name="connsiteY8" fmla="*/ 48578 h 523875"/>
                <a:gd name="connsiteX9" fmla="*/ 57150 w 905827"/>
                <a:gd name="connsiteY9" fmla="*/ 72390 h 523875"/>
                <a:gd name="connsiteX10" fmla="*/ 304800 w 905827"/>
                <a:gd name="connsiteY10" fmla="*/ 298133 h 523875"/>
                <a:gd name="connsiteX11" fmla="*/ 304800 w 905827"/>
                <a:gd name="connsiteY11" fmla="*/ 300038 h 523875"/>
                <a:gd name="connsiteX12" fmla="*/ 304800 w 905827"/>
                <a:gd name="connsiteY12" fmla="*/ 299085 h 523875"/>
                <a:gd name="connsiteX13" fmla="*/ 314325 w 905827"/>
                <a:gd name="connsiteY13" fmla="*/ 305753 h 523875"/>
                <a:gd name="connsiteX14" fmla="*/ 314325 w 905827"/>
                <a:gd name="connsiteY14" fmla="*/ 307658 h 523875"/>
                <a:gd name="connsiteX15" fmla="*/ 314325 w 905827"/>
                <a:gd name="connsiteY15" fmla="*/ 306705 h 523875"/>
                <a:gd name="connsiteX16" fmla="*/ 323850 w 905827"/>
                <a:gd name="connsiteY16" fmla="*/ 313373 h 523875"/>
                <a:gd name="connsiteX17" fmla="*/ 323850 w 905827"/>
                <a:gd name="connsiteY17" fmla="*/ 313373 h 523875"/>
                <a:gd name="connsiteX18" fmla="*/ 333375 w 905827"/>
                <a:gd name="connsiteY18" fmla="*/ 320040 h 523875"/>
                <a:gd name="connsiteX19" fmla="*/ 333375 w 905827"/>
                <a:gd name="connsiteY19" fmla="*/ 320040 h 523875"/>
                <a:gd name="connsiteX20" fmla="*/ 341948 w 905827"/>
                <a:gd name="connsiteY20" fmla="*/ 326708 h 523875"/>
                <a:gd name="connsiteX21" fmla="*/ 342900 w 905827"/>
                <a:gd name="connsiteY21" fmla="*/ 326708 h 523875"/>
                <a:gd name="connsiteX22" fmla="*/ 351473 w 905827"/>
                <a:gd name="connsiteY22" fmla="*/ 333375 h 523875"/>
                <a:gd name="connsiteX23" fmla="*/ 353378 w 905827"/>
                <a:gd name="connsiteY23" fmla="*/ 333375 h 523875"/>
                <a:gd name="connsiteX24" fmla="*/ 361950 w 905827"/>
                <a:gd name="connsiteY24" fmla="*/ 340043 h 523875"/>
                <a:gd name="connsiteX25" fmla="*/ 363855 w 905827"/>
                <a:gd name="connsiteY25" fmla="*/ 340043 h 523875"/>
                <a:gd name="connsiteX26" fmla="*/ 371475 w 905827"/>
                <a:gd name="connsiteY26" fmla="*/ 345758 h 523875"/>
                <a:gd name="connsiteX27" fmla="*/ 373380 w 905827"/>
                <a:gd name="connsiteY27" fmla="*/ 345758 h 523875"/>
                <a:gd name="connsiteX28" fmla="*/ 381000 w 905827"/>
                <a:gd name="connsiteY28" fmla="*/ 351473 h 523875"/>
                <a:gd name="connsiteX29" fmla="*/ 383858 w 905827"/>
                <a:gd name="connsiteY29" fmla="*/ 353378 h 523875"/>
                <a:gd name="connsiteX30" fmla="*/ 391478 w 905827"/>
                <a:gd name="connsiteY30" fmla="*/ 357188 h 523875"/>
                <a:gd name="connsiteX31" fmla="*/ 394335 w 905827"/>
                <a:gd name="connsiteY31" fmla="*/ 359093 h 523875"/>
                <a:gd name="connsiteX32" fmla="*/ 400050 w 905827"/>
                <a:gd name="connsiteY32" fmla="*/ 362903 h 523875"/>
                <a:gd name="connsiteX33" fmla="*/ 403860 w 905827"/>
                <a:gd name="connsiteY33" fmla="*/ 364808 h 523875"/>
                <a:gd name="connsiteX34" fmla="*/ 410528 w 905827"/>
                <a:gd name="connsiteY34" fmla="*/ 368618 h 523875"/>
                <a:gd name="connsiteX35" fmla="*/ 414338 w 905827"/>
                <a:gd name="connsiteY35" fmla="*/ 370523 h 523875"/>
                <a:gd name="connsiteX36" fmla="*/ 420053 w 905827"/>
                <a:gd name="connsiteY36" fmla="*/ 373380 h 523875"/>
                <a:gd name="connsiteX37" fmla="*/ 473393 w 905827"/>
                <a:gd name="connsiteY37" fmla="*/ 401003 h 523875"/>
                <a:gd name="connsiteX38" fmla="*/ 515303 w 905827"/>
                <a:gd name="connsiteY38" fmla="*/ 421005 h 523875"/>
                <a:gd name="connsiteX39" fmla="*/ 520065 w 905827"/>
                <a:gd name="connsiteY39" fmla="*/ 422910 h 523875"/>
                <a:gd name="connsiteX40" fmla="*/ 550545 w 905827"/>
                <a:gd name="connsiteY40" fmla="*/ 436245 h 523875"/>
                <a:gd name="connsiteX41" fmla="*/ 556260 w 905827"/>
                <a:gd name="connsiteY41" fmla="*/ 438150 h 523875"/>
                <a:gd name="connsiteX42" fmla="*/ 609600 w 905827"/>
                <a:gd name="connsiteY42" fmla="*/ 458153 h 523875"/>
                <a:gd name="connsiteX43" fmla="*/ 620078 w 905827"/>
                <a:gd name="connsiteY43" fmla="*/ 461963 h 523875"/>
                <a:gd name="connsiteX44" fmla="*/ 622935 w 905827"/>
                <a:gd name="connsiteY44" fmla="*/ 461963 h 523875"/>
                <a:gd name="connsiteX45" fmla="*/ 634365 w 905827"/>
                <a:gd name="connsiteY45" fmla="*/ 466725 h 523875"/>
                <a:gd name="connsiteX46" fmla="*/ 637223 w 905827"/>
                <a:gd name="connsiteY46" fmla="*/ 466725 h 523875"/>
                <a:gd name="connsiteX47" fmla="*/ 646748 w 905827"/>
                <a:gd name="connsiteY47" fmla="*/ 470535 h 523875"/>
                <a:gd name="connsiteX48" fmla="*/ 649605 w 905827"/>
                <a:gd name="connsiteY48" fmla="*/ 470535 h 523875"/>
                <a:gd name="connsiteX49" fmla="*/ 660083 w 905827"/>
                <a:gd name="connsiteY49" fmla="*/ 475298 h 523875"/>
                <a:gd name="connsiteX50" fmla="*/ 663893 w 905827"/>
                <a:gd name="connsiteY50" fmla="*/ 475298 h 523875"/>
                <a:gd name="connsiteX51" fmla="*/ 671513 w 905827"/>
                <a:gd name="connsiteY51" fmla="*/ 479108 h 523875"/>
                <a:gd name="connsiteX52" fmla="*/ 677228 w 905827"/>
                <a:gd name="connsiteY52" fmla="*/ 481013 h 523875"/>
                <a:gd name="connsiteX53" fmla="*/ 684848 w 905827"/>
                <a:gd name="connsiteY53" fmla="*/ 482918 h 523875"/>
                <a:gd name="connsiteX54" fmla="*/ 695325 w 905827"/>
                <a:gd name="connsiteY54" fmla="*/ 485775 h 523875"/>
                <a:gd name="connsiteX55" fmla="*/ 705803 w 905827"/>
                <a:gd name="connsiteY55" fmla="*/ 488633 h 523875"/>
                <a:gd name="connsiteX56" fmla="*/ 708660 w 905827"/>
                <a:gd name="connsiteY56" fmla="*/ 488633 h 523875"/>
                <a:gd name="connsiteX57" fmla="*/ 731520 w 905827"/>
                <a:gd name="connsiteY57" fmla="*/ 495300 h 523875"/>
                <a:gd name="connsiteX58" fmla="*/ 905828 w 905827"/>
                <a:gd name="connsiteY58" fmla="*/ 523875 h 523875"/>
                <a:gd name="connsiteX59" fmla="*/ 663893 w 905827"/>
                <a:gd name="connsiteY59" fmla="*/ 307658 h 52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05827" h="523875">
                  <a:moveTo>
                    <a:pt x="669608" y="305753"/>
                  </a:moveTo>
                  <a:cubicBezTo>
                    <a:pt x="519113" y="190500"/>
                    <a:pt x="284798" y="43815"/>
                    <a:pt x="26670" y="3810"/>
                  </a:cubicBezTo>
                  <a:cubicBezTo>
                    <a:pt x="18098" y="2858"/>
                    <a:pt x="9525" y="953"/>
                    <a:pt x="0" y="0"/>
                  </a:cubicBezTo>
                  <a:cubicBezTo>
                    <a:pt x="1905" y="2858"/>
                    <a:pt x="3810" y="5715"/>
                    <a:pt x="6668" y="8573"/>
                  </a:cubicBezTo>
                  <a:lnTo>
                    <a:pt x="6668" y="10478"/>
                  </a:lnTo>
                  <a:cubicBezTo>
                    <a:pt x="10478" y="14288"/>
                    <a:pt x="13335" y="18098"/>
                    <a:pt x="16193" y="21908"/>
                  </a:cubicBezTo>
                  <a:lnTo>
                    <a:pt x="16193" y="23813"/>
                  </a:lnTo>
                  <a:cubicBezTo>
                    <a:pt x="22860" y="31433"/>
                    <a:pt x="29528" y="39053"/>
                    <a:pt x="36195" y="46673"/>
                  </a:cubicBezTo>
                  <a:lnTo>
                    <a:pt x="36195" y="48578"/>
                  </a:lnTo>
                  <a:cubicBezTo>
                    <a:pt x="43815" y="56198"/>
                    <a:pt x="50483" y="64770"/>
                    <a:pt x="57150" y="72390"/>
                  </a:cubicBezTo>
                  <a:cubicBezTo>
                    <a:pt x="130493" y="159068"/>
                    <a:pt x="214313" y="234315"/>
                    <a:pt x="304800" y="298133"/>
                  </a:cubicBezTo>
                  <a:lnTo>
                    <a:pt x="304800" y="300038"/>
                  </a:lnTo>
                  <a:cubicBezTo>
                    <a:pt x="304800" y="300038"/>
                    <a:pt x="304800" y="299085"/>
                    <a:pt x="304800" y="299085"/>
                  </a:cubicBezTo>
                  <a:cubicBezTo>
                    <a:pt x="307658" y="300990"/>
                    <a:pt x="311468" y="303848"/>
                    <a:pt x="314325" y="305753"/>
                  </a:cubicBezTo>
                  <a:lnTo>
                    <a:pt x="314325" y="307658"/>
                  </a:lnTo>
                  <a:cubicBezTo>
                    <a:pt x="314325" y="307658"/>
                    <a:pt x="314325" y="306705"/>
                    <a:pt x="314325" y="306705"/>
                  </a:cubicBezTo>
                  <a:cubicBezTo>
                    <a:pt x="317183" y="308610"/>
                    <a:pt x="320993" y="311468"/>
                    <a:pt x="323850" y="313373"/>
                  </a:cubicBezTo>
                  <a:lnTo>
                    <a:pt x="323850" y="313373"/>
                  </a:lnTo>
                  <a:cubicBezTo>
                    <a:pt x="326708" y="316230"/>
                    <a:pt x="330518" y="318135"/>
                    <a:pt x="333375" y="320040"/>
                  </a:cubicBezTo>
                  <a:lnTo>
                    <a:pt x="333375" y="320040"/>
                  </a:lnTo>
                  <a:cubicBezTo>
                    <a:pt x="336233" y="322898"/>
                    <a:pt x="339090" y="324803"/>
                    <a:pt x="341948" y="326708"/>
                  </a:cubicBezTo>
                  <a:lnTo>
                    <a:pt x="342900" y="326708"/>
                  </a:lnTo>
                  <a:cubicBezTo>
                    <a:pt x="345758" y="329565"/>
                    <a:pt x="348615" y="331470"/>
                    <a:pt x="351473" y="333375"/>
                  </a:cubicBezTo>
                  <a:lnTo>
                    <a:pt x="353378" y="333375"/>
                  </a:lnTo>
                  <a:cubicBezTo>
                    <a:pt x="356235" y="336233"/>
                    <a:pt x="359093" y="338138"/>
                    <a:pt x="361950" y="340043"/>
                  </a:cubicBezTo>
                  <a:lnTo>
                    <a:pt x="363855" y="340043"/>
                  </a:lnTo>
                  <a:cubicBezTo>
                    <a:pt x="366713" y="342900"/>
                    <a:pt x="369570" y="344805"/>
                    <a:pt x="371475" y="345758"/>
                  </a:cubicBezTo>
                  <a:lnTo>
                    <a:pt x="373380" y="345758"/>
                  </a:lnTo>
                  <a:cubicBezTo>
                    <a:pt x="376238" y="348615"/>
                    <a:pt x="378143" y="350520"/>
                    <a:pt x="381000" y="351473"/>
                  </a:cubicBezTo>
                  <a:lnTo>
                    <a:pt x="383858" y="353378"/>
                  </a:lnTo>
                  <a:cubicBezTo>
                    <a:pt x="386715" y="354330"/>
                    <a:pt x="388620" y="356235"/>
                    <a:pt x="391478" y="357188"/>
                  </a:cubicBezTo>
                  <a:lnTo>
                    <a:pt x="394335" y="359093"/>
                  </a:lnTo>
                  <a:cubicBezTo>
                    <a:pt x="396240" y="360045"/>
                    <a:pt x="398145" y="360998"/>
                    <a:pt x="400050" y="362903"/>
                  </a:cubicBezTo>
                  <a:lnTo>
                    <a:pt x="403860" y="364808"/>
                  </a:lnTo>
                  <a:cubicBezTo>
                    <a:pt x="405765" y="365760"/>
                    <a:pt x="408623" y="367665"/>
                    <a:pt x="410528" y="368618"/>
                  </a:cubicBezTo>
                  <a:lnTo>
                    <a:pt x="414338" y="370523"/>
                  </a:lnTo>
                  <a:cubicBezTo>
                    <a:pt x="416243" y="371475"/>
                    <a:pt x="418148" y="372428"/>
                    <a:pt x="420053" y="373380"/>
                  </a:cubicBezTo>
                  <a:lnTo>
                    <a:pt x="473393" y="401003"/>
                  </a:lnTo>
                  <a:lnTo>
                    <a:pt x="515303" y="421005"/>
                  </a:lnTo>
                  <a:cubicBezTo>
                    <a:pt x="517208" y="421005"/>
                    <a:pt x="519113" y="422910"/>
                    <a:pt x="520065" y="422910"/>
                  </a:cubicBezTo>
                  <a:lnTo>
                    <a:pt x="550545" y="436245"/>
                  </a:lnTo>
                  <a:cubicBezTo>
                    <a:pt x="552450" y="436245"/>
                    <a:pt x="554355" y="438150"/>
                    <a:pt x="556260" y="438150"/>
                  </a:cubicBezTo>
                  <a:lnTo>
                    <a:pt x="609600" y="458153"/>
                  </a:lnTo>
                  <a:cubicBezTo>
                    <a:pt x="613410" y="459105"/>
                    <a:pt x="617220" y="461010"/>
                    <a:pt x="620078" y="461963"/>
                  </a:cubicBezTo>
                  <a:lnTo>
                    <a:pt x="622935" y="461963"/>
                  </a:lnTo>
                  <a:cubicBezTo>
                    <a:pt x="626745" y="463868"/>
                    <a:pt x="630555" y="465773"/>
                    <a:pt x="634365" y="466725"/>
                  </a:cubicBezTo>
                  <a:lnTo>
                    <a:pt x="637223" y="466725"/>
                  </a:lnTo>
                  <a:cubicBezTo>
                    <a:pt x="640080" y="468630"/>
                    <a:pt x="643890" y="469583"/>
                    <a:pt x="646748" y="470535"/>
                  </a:cubicBezTo>
                  <a:lnTo>
                    <a:pt x="649605" y="470535"/>
                  </a:lnTo>
                  <a:cubicBezTo>
                    <a:pt x="653415" y="472440"/>
                    <a:pt x="657225" y="473393"/>
                    <a:pt x="660083" y="475298"/>
                  </a:cubicBezTo>
                  <a:lnTo>
                    <a:pt x="663893" y="475298"/>
                  </a:lnTo>
                  <a:cubicBezTo>
                    <a:pt x="666750" y="477203"/>
                    <a:pt x="668655" y="478155"/>
                    <a:pt x="671513" y="479108"/>
                  </a:cubicBezTo>
                  <a:lnTo>
                    <a:pt x="677228" y="481013"/>
                  </a:lnTo>
                  <a:cubicBezTo>
                    <a:pt x="680085" y="481013"/>
                    <a:pt x="681990" y="482918"/>
                    <a:pt x="684848" y="482918"/>
                  </a:cubicBezTo>
                  <a:lnTo>
                    <a:pt x="695325" y="485775"/>
                  </a:lnTo>
                  <a:cubicBezTo>
                    <a:pt x="699135" y="485775"/>
                    <a:pt x="701993" y="487680"/>
                    <a:pt x="705803" y="488633"/>
                  </a:cubicBezTo>
                  <a:lnTo>
                    <a:pt x="708660" y="488633"/>
                  </a:lnTo>
                  <a:cubicBezTo>
                    <a:pt x="716280" y="491490"/>
                    <a:pt x="723900" y="493395"/>
                    <a:pt x="731520" y="495300"/>
                  </a:cubicBezTo>
                  <a:cubicBezTo>
                    <a:pt x="806768" y="513398"/>
                    <a:pt x="866775" y="521018"/>
                    <a:pt x="905828" y="523875"/>
                  </a:cubicBezTo>
                  <a:cubicBezTo>
                    <a:pt x="863918" y="480060"/>
                    <a:pt x="778193" y="396240"/>
                    <a:pt x="663893" y="307658"/>
                  </a:cubicBezTo>
                  <a:close/>
                </a:path>
              </a:pathLst>
            </a:custGeom>
            <a:solidFill>
              <a:srgbClr val="F4F4F5"/>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D79EBCE-AD72-B2AB-8D7E-AF2119F72CE1}"/>
                </a:ext>
              </a:extLst>
            </p:cNvPr>
            <p:cNvSpPr/>
            <p:nvPr/>
          </p:nvSpPr>
          <p:spPr>
            <a:xfrm>
              <a:off x="10051448" y="5134726"/>
              <a:ext cx="922019" cy="903922"/>
            </a:xfrm>
            <a:custGeom>
              <a:avLst/>
              <a:gdLst>
                <a:gd name="connsiteX0" fmla="*/ 694372 w 922019"/>
                <a:gd name="connsiteY0" fmla="*/ 567690 h 903922"/>
                <a:gd name="connsiteX1" fmla="*/ 751522 w 922019"/>
                <a:gd name="connsiteY1" fmla="*/ 560070 h 903922"/>
                <a:gd name="connsiteX2" fmla="*/ 922020 w 922019"/>
                <a:gd name="connsiteY2" fmla="*/ 0 h 903922"/>
                <a:gd name="connsiteX3" fmla="*/ 291465 w 922019"/>
                <a:gd name="connsiteY3" fmla="*/ 348615 h 903922"/>
                <a:gd name="connsiteX4" fmla="*/ 275272 w 922019"/>
                <a:gd name="connsiteY4" fmla="*/ 363855 h 903922"/>
                <a:gd name="connsiteX5" fmla="*/ 13335 w 922019"/>
                <a:gd name="connsiteY5" fmla="*/ 885825 h 903922"/>
                <a:gd name="connsiteX6" fmla="*/ 0 w 922019"/>
                <a:gd name="connsiteY6" fmla="*/ 903922 h 903922"/>
                <a:gd name="connsiteX7" fmla="*/ 36195 w 922019"/>
                <a:gd name="connsiteY7" fmla="*/ 876300 h 903922"/>
                <a:gd name="connsiteX8" fmla="*/ 694372 w 922019"/>
                <a:gd name="connsiteY8" fmla="*/ 567690 h 90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2019" h="903922">
                  <a:moveTo>
                    <a:pt x="694372" y="567690"/>
                  </a:moveTo>
                  <a:cubicBezTo>
                    <a:pt x="712470" y="564833"/>
                    <a:pt x="731520" y="561975"/>
                    <a:pt x="751522" y="560070"/>
                  </a:cubicBezTo>
                  <a:cubicBezTo>
                    <a:pt x="853440" y="412432"/>
                    <a:pt x="910590" y="223838"/>
                    <a:pt x="922020" y="0"/>
                  </a:cubicBezTo>
                  <a:cubicBezTo>
                    <a:pt x="669607" y="70485"/>
                    <a:pt x="457200" y="187642"/>
                    <a:pt x="291465" y="348615"/>
                  </a:cubicBezTo>
                  <a:cubicBezTo>
                    <a:pt x="285750" y="353378"/>
                    <a:pt x="280988" y="359092"/>
                    <a:pt x="275272" y="363855"/>
                  </a:cubicBezTo>
                  <a:cubicBezTo>
                    <a:pt x="221932" y="551497"/>
                    <a:pt x="133350" y="727710"/>
                    <a:pt x="13335" y="885825"/>
                  </a:cubicBezTo>
                  <a:cubicBezTo>
                    <a:pt x="8572" y="891540"/>
                    <a:pt x="3810" y="897255"/>
                    <a:pt x="0" y="903922"/>
                  </a:cubicBezTo>
                  <a:cubicBezTo>
                    <a:pt x="12382" y="894397"/>
                    <a:pt x="23813" y="884872"/>
                    <a:pt x="36195" y="876300"/>
                  </a:cubicBezTo>
                  <a:cubicBezTo>
                    <a:pt x="190500" y="758190"/>
                    <a:pt x="429577" y="608647"/>
                    <a:pt x="694372" y="567690"/>
                  </a:cubicBezTo>
                  <a:close/>
                </a:path>
              </a:pathLst>
            </a:custGeom>
            <a:solidFill>
              <a:srgbClr val="F4F4F5"/>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D2CD8B5-AA23-9775-0B95-47951C57E563}"/>
                </a:ext>
              </a:extLst>
            </p:cNvPr>
            <p:cNvSpPr/>
            <p:nvPr/>
          </p:nvSpPr>
          <p:spPr>
            <a:xfrm>
              <a:off x="9876188" y="5551920"/>
              <a:ext cx="401955" cy="633412"/>
            </a:xfrm>
            <a:custGeom>
              <a:avLst/>
              <a:gdLst>
                <a:gd name="connsiteX0" fmla="*/ 398145 w 401955"/>
                <a:gd name="connsiteY0" fmla="*/ 1905 h 633412"/>
                <a:gd name="connsiteX1" fmla="*/ 398145 w 401955"/>
                <a:gd name="connsiteY1" fmla="*/ 1905 h 633412"/>
                <a:gd name="connsiteX2" fmla="*/ 141923 w 401955"/>
                <a:gd name="connsiteY2" fmla="*/ 346710 h 633412"/>
                <a:gd name="connsiteX3" fmla="*/ 135255 w 401955"/>
                <a:gd name="connsiteY3" fmla="*/ 359093 h 633412"/>
                <a:gd name="connsiteX4" fmla="*/ 135255 w 401955"/>
                <a:gd name="connsiteY4" fmla="*/ 359093 h 633412"/>
                <a:gd name="connsiteX5" fmla="*/ 10478 w 401955"/>
                <a:gd name="connsiteY5" fmla="*/ 606743 h 633412"/>
                <a:gd name="connsiteX6" fmla="*/ 10478 w 401955"/>
                <a:gd name="connsiteY6" fmla="*/ 608648 h 633412"/>
                <a:gd name="connsiteX7" fmla="*/ 0 w 401955"/>
                <a:gd name="connsiteY7" fmla="*/ 633413 h 633412"/>
                <a:gd name="connsiteX8" fmla="*/ 401955 w 401955"/>
                <a:gd name="connsiteY8" fmla="*/ 0 h 633412"/>
                <a:gd name="connsiteX9" fmla="*/ 400050 w 401955"/>
                <a:gd name="connsiteY9" fmla="*/ 1905 h 633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1955" h="633412">
                  <a:moveTo>
                    <a:pt x="398145" y="1905"/>
                  </a:moveTo>
                  <a:lnTo>
                    <a:pt x="398145" y="1905"/>
                  </a:lnTo>
                  <a:cubicBezTo>
                    <a:pt x="303848" y="104775"/>
                    <a:pt x="217170" y="220980"/>
                    <a:pt x="141923" y="346710"/>
                  </a:cubicBezTo>
                  <a:cubicBezTo>
                    <a:pt x="139065" y="350520"/>
                    <a:pt x="137160" y="354330"/>
                    <a:pt x="135255" y="359093"/>
                  </a:cubicBezTo>
                  <a:lnTo>
                    <a:pt x="135255" y="359093"/>
                  </a:lnTo>
                  <a:cubicBezTo>
                    <a:pt x="87630" y="441007"/>
                    <a:pt x="45720" y="523875"/>
                    <a:pt x="10478" y="606743"/>
                  </a:cubicBezTo>
                  <a:lnTo>
                    <a:pt x="10478" y="608648"/>
                  </a:lnTo>
                  <a:cubicBezTo>
                    <a:pt x="10478" y="608648"/>
                    <a:pt x="0" y="633413"/>
                    <a:pt x="0" y="633413"/>
                  </a:cubicBezTo>
                  <a:cubicBezTo>
                    <a:pt x="106680" y="532448"/>
                    <a:pt x="295275" y="320993"/>
                    <a:pt x="401955" y="0"/>
                  </a:cubicBezTo>
                  <a:cubicBezTo>
                    <a:pt x="401955" y="0"/>
                    <a:pt x="401003" y="1905"/>
                    <a:pt x="400050" y="1905"/>
                  </a:cubicBezTo>
                  <a:close/>
                </a:path>
              </a:pathLst>
            </a:custGeom>
            <a:solidFill>
              <a:srgbClr val="F4F4F5"/>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0A9C88E-6AFE-5736-E563-85FC48411A56}"/>
                </a:ext>
              </a:extLst>
            </p:cNvPr>
            <p:cNvSpPr/>
            <p:nvPr/>
          </p:nvSpPr>
          <p:spPr>
            <a:xfrm>
              <a:off x="9368506" y="5551920"/>
              <a:ext cx="401002" cy="632460"/>
            </a:xfrm>
            <a:custGeom>
              <a:avLst/>
              <a:gdLst>
                <a:gd name="connsiteX0" fmla="*/ 401002 w 401002"/>
                <a:gd name="connsiteY0" fmla="*/ 632460 h 632460"/>
                <a:gd name="connsiteX1" fmla="*/ 395288 w 401002"/>
                <a:gd name="connsiteY1" fmla="*/ 619125 h 632460"/>
                <a:gd name="connsiteX2" fmla="*/ 395288 w 401002"/>
                <a:gd name="connsiteY2" fmla="*/ 619125 h 632460"/>
                <a:gd name="connsiteX3" fmla="*/ 391477 w 401002"/>
                <a:gd name="connsiteY3" fmla="*/ 608648 h 632460"/>
                <a:gd name="connsiteX4" fmla="*/ 391477 w 401002"/>
                <a:gd name="connsiteY4" fmla="*/ 606743 h 632460"/>
                <a:gd name="connsiteX5" fmla="*/ 385763 w 401002"/>
                <a:gd name="connsiteY5" fmla="*/ 596265 h 632460"/>
                <a:gd name="connsiteX6" fmla="*/ 265748 w 401002"/>
                <a:gd name="connsiteY6" fmla="*/ 360045 h 632460"/>
                <a:gd name="connsiteX7" fmla="*/ 1905 w 401002"/>
                <a:gd name="connsiteY7" fmla="*/ 2858 h 632460"/>
                <a:gd name="connsiteX8" fmla="*/ 1905 w 401002"/>
                <a:gd name="connsiteY8" fmla="*/ 2858 h 632460"/>
                <a:gd name="connsiteX9" fmla="*/ 0 w 401002"/>
                <a:gd name="connsiteY9" fmla="*/ 0 h 632460"/>
                <a:gd name="connsiteX10" fmla="*/ 19050 w 401002"/>
                <a:gd name="connsiteY10" fmla="*/ 53340 h 632460"/>
                <a:gd name="connsiteX11" fmla="*/ 24765 w 401002"/>
                <a:gd name="connsiteY11" fmla="*/ 67627 h 632460"/>
                <a:gd name="connsiteX12" fmla="*/ 24765 w 401002"/>
                <a:gd name="connsiteY12" fmla="*/ 69533 h 632460"/>
                <a:gd name="connsiteX13" fmla="*/ 27622 w 401002"/>
                <a:gd name="connsiteY13" fmla="*/ 75248 h 632460"/>
                <a:gd name="connsiteX14" fmla="*/ 31432 w 401002"/>
                <a:gd name="connsiteY14" fmla="*/ 83820 h 632460"/>
                <a:gd name="connsiteX15" fmla="*/ 42863 w 401002"/>
                <a:gd name="connsiteY15" fmla="*/ 111443 h 632460"/>
                <a:gd name="connsiteX16" fmla="*/ 42863 w 401002"/>
                <a:gd name="connsiteY16" fmla="*/ 113348 h 632460"/>
                <a:gd name="connsiteX17" fmla="*/ 51435 w 401002"/>
                <a:gd name="connsiteY17" fmla="*/ 131445 h 632460"/>
                <a:gd name="connsiteX18" fmla="*/ 61913 w 401002"/>
                <a:gd name="connsiteY18" fmla="*/ 156210 h 632460"/>
                <a:gd name="connsiteX19" fmla="*/ 63818 w 401002"/>
                <a:gd name="connsiteY19" fmla="*/ 160020 h 632460"/>
                <a:gd name="connsiteX20" fmla="*/ 80963 w 401002"/>
                <a:gd name="connsiteY20" fmla="*/ 196215 h 632460"/>
                <a:gd name="connsiteX21" fmla="*/ 80963 w 401002"/>
                <a:gd name="connsiteY21" fmla="*/ 198120 h 632460"/>
                <a:gd name="connsiteX22" fmla="*/ 94297 w 401002"/>
                <a:gd name="connsiteY22" fmla="*/ 222885 h 632460"/>
                <a:gd name="connsiteX23" fmla="*/ 120968 w 401002"/>
                <a:gd name="connsiteY23" fmla="*/ 272415 h 632460"/>
                <a:gd name="connsiteX24" fmla="*/ 120968 w 401002"/>
                <a:gd name="connsiteY24" fmla="*/ 272415 h 632460"/>
                <a:gd name="connsiteX25" fmla="*/ 135255 w 401002"/>
                <a:gd name="connsiteY25" fmla="*/ 297180 h 632460"/>
                <a:gd name="connsiteX26" fmla="*/ 146685 w 401002"/>
                <a:gd name="connsiteY26" fmla="*/ 316230 h 632460"/>
                <a:gd name="connsiteX27" fmla="*/ 151447 w 401002"/>
                <a:gd name="connsiteY27" fmla="*/ 323850 h 632460"/>
                <a:gd name="connsiteX28" fmla="*/ 161925 w 401002"/>
                <a:gd name="connsiteY28" fmla="*/ 340043 h 632460"/>
                <a:gd name="connsiteX29" fmla="*/ 164782 w 401002"/>
                <a:gd name="connsiteY29" fmla="*/ 343853 h 632460"/>
                <a:gd name="connsiteX30" fmla="*/ 401002 w 401002"/>
                <a:gd name="connsiteY30" fmla="*/ 632460 h 6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1002" h="632460">
                  <a:moveTo>
                    <a:pt x="401002" y="632460"/>
                  </a:moveTo>
                  <a:cubicBezTo>
                    <a:pt x="399098" y="627698"/>
                    <a:pt x="397193" y="623888"/>
                    <a:pt x="395288" y="619125"/>
                  </a:cubicBezTo>
                  <a:lnTo>
                    <a:pt x="395288" y="619125"/>
                  </a:lnTo>
                  <a:cubicBezTo>
                    <a:pt x="394335" y="615315"/>
                    <a:pt x="392430" y="611505"/>
                    <a:pt x="391477" y="608648"/>
                  </a:cubicBezTo>
                  <a:lnTo>
                    <a:pt x="391477" y="606743"/>
                  </a:lnTo>
                  <a:cubicBezTo>
                    <a:pt x="389573" y="602932"/>
                    <a:pt x="387668" y="600075"/>
                    <a:pt x="385763" y="596265"/>
                  </a:cubicBezTo>
                  <a:cubicBezTo>
                    <a:pt x="351473" y="517207"/>
                    <a:pt x="311468" y="437198"/>
                    <a:pt x="265748" y="360045"/>
                  </a:cubicBezTo>
                  <a:cubicBezTo>
                    <a:pt x="188595" y="228600"/>
                    <a:pt x="100013" y="108585"/>
                    <a:pt x="1905" y="2858"/>
                  </a:cubicBezTo>
                  <a:lnTo>
                    <a:pt x="1905" y="2858"/>
                  </a:lnTo>
                  <a:cubicBezTo>
                    <a:pt x="1905" y="1905"/>
                    <a:pt x="953" y="952"/>
                    <a:pt x="0" y="0"/>
                  </a:cubicBezTo>
                  <a:cubicBezTo>
                    <a:pt x="5715" y="18098"/>
                    <a:pt x="12382" y="35243"/>
                    <a:pt x="19050" y="53340"/>
                  </a:cubicBezTo>
                  <a:cubicBezTo>
                    <a:pt x="20955" y="58102"/>
                    <a:pt x="22860" y="62865"/>
                    <a:pt x="24765" y="67627"/>
                  </a:cubicBezTo>
                  <a:lnTo>
                    <a:pt x="24765" y="69533"/>
                  </a:lnTo>
                  <a:cubicBezTo>
                    <a:pt x="26670" y="71438"/>
                    <a:pt x="27622" y="73343"/>
                    <a:pt x="27622" y="75248"/>
                  </a:cubicBezTo>
                  <a:lnTo>
                    <a:pt x="31432" y="83820"/>
                  </a:lnTo>
                  <a:cubicBezTo>
                    <a:pt x="35243" y="92393"/>
                    <a:pt x="39053" y="101918"/>
                    <a:pt x="42863" y="111443"/>
                  </a:cubicBezTo>
                  <a:lnTo>
                    <a:pt x="42863" y="113348"/>
                  </a:lnTo>
                  <a:cubicBezTo>
                    <a:pt x="45720" y="119063"/>
                    <a:pt x="48578" y="125730"/>
                    <a:pt x="51435" y="131445"/>
                  </a:cubicBezTo>
                  <a:cubicBezTo>
                    <a:pt x="55245" y="140018"/>
                    <a:pt x="59055" y="148590"/>
                    <a:pt x="61913" y="156210"/>
                  </a:cubicBezTo>
                  <a:lnTo>
                    <a:pt x="63818" y="160020"/>
                  </a:lnTo>
                  <a:cubicBezTo>
                    <a:pt x="69532" y="172402"/>
                    <a:pt x="75247" y="184785"/>
                    <a:pt x="80963" y="196215"/>
                  </a:cubicBezTo>
                  <a:lnTo>
                    <a:pt x="80963" y="198120"/>
                  </a:lnTo>
                  <a:cubicBezTo>
                    <a:pt x="85725" y="206693"/>
                    <a:pt x="90488" y="215265"/>
                    <a:pt x="94297" y="222885"/>
                  </a:cubicBezTo>
                  <a:cubicBezTo>
                    <a:pt x="102870" y="239077"/>
                    <a:pt x="112395" y="256223"/>
                    <a:pt x="120968" y="272415"/>
                  </a:cubicBezTo>
                  <a:lnTo>
                    <a:pt x="120968" y="272415"/>
                  </a:lnTo>
                  <a:cubicBezTo>
                    <a:pt x="125730" y="280988"/>
                    <a:pt x="130493" y="289560"/>
                    <a:pt x="135255" y="297180"/>
                  </a:cubicBezTo>
                  <a:cubicBezTo>
                    <a:pt x="139065" y="303848"/>
                    <a:pt x="142875" y="309563"/>
                    <a:pt x="146685" y="316230"/>
                  </a:cubicBezTo>
                  <a:cubicBezTo>
                    <a:pt x="148590" y="319088"/>
                    <a:pt x="149543" y="321945"/>
                    <a:pt x="151447" y="323850"/>
                  </a:cubicBezTo>
                  <a:cubicBezTo>
                    <a:pt x="155257" y="329565"/>
                    <a:pt x="158115" y="335280"/>
                    <a:pt x="161925" y="340043"/>
                  </a:cubicBezTo>
                  <a:lnTo>
                    <a:pt x="164782" y="343853"/>
                  </a:lnTo>
                  <a:cubicBezTo>
                    <a:pt x="250507" y="478155"/>
                    <a:pt x="340043" y="574357"/>
                    <a:pt x="401002" y="632460"/>
                  </a:cubicBezTo>
                  <a:close/>
                </a:path>
              </a:pathLst>
            </a:custGeom>
            <a:solidFill>
              <a:srgbClr val="F4F4F5"/>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F44B5FD-64A1-7F30-7A2F-8CF9BCC23CA6}"/>
                </a:ext>
              </a:extLst>
            </p:cNvPr>
            <p:cNvSpPr/>
            <p:nvPr/>
          </p:nvSpPr>
          <p:spPr>
            <a:xfrm>
              <a:off x="8153115" y="5354753"/>
              <a:ext cx="209550" cy="426719"/>
            </a:xfrm>
            <a:custGeom>
              <a:avLst/>
              <a:gdLst>
                <a:gd name="connsiteX0" fmla="*/ 47625 w 209550"/>
                <a:gd name="connsiteY0" fmla="*/ 53340 h 426719"/>
                <a:gd name="connsiteX1" fmla="*/ 27622 w 209550"/>
                <a:gd name="connsiteY1" fmla="*/ 0 h 426719"/>
                <a:gd name="connsiteX2" fmla="*/ 0 w 209550"/>
                <a:gd name="connsiteY2" fmla="*/ 1905 h 426719"/>
                <a:gd name="connsiteX3" fmla="*/ 0 w 209550"/>
                <a:gd name="connsiteY3" fmla="*/ 426720 h 426719"/>
                <a:gd name="connsiteX4" fmla="*/ 209550 w 209550"/>
                <a:gd name="connsiteY4" fmla="*/ 368618 h 426719"/>
                <a:gd name="connsiteX5" fmla="*/ 209550 w 209550"/>
                <a:gd name="connsiteY5" fmla="*/ 368618 h 426719"/>
                <a:gd name="connsiteX6" fmla="*/ 209550 w 209550"/>
                <a:gd name="connsiteY6" fmla="*/ 368618 h 426719"/>
                <a:gd name="connsiteX7" fmla="*/ 47625 w 209550"/>
                <a:gd name="connsiteY7" fmla="*/ 53340 h 42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50" h="426719">
                  <a:moveTo>
                    <a:pt x="47625" y="53340"/>
                  </a:moveTo>
                  <a:cubicBezTo>
                    <a:pt x="40958" y="35242"/>
                    <a:pt x="34290" y="18098"/>
                    <a:pt x="27622" y="0"/>
                  </a:cubicBezTo>
                  <a:cubicBezTo>
                    <a:pt x="18097" y="0"/>
                    <a:pt x="8572" y="952"/>
                    <a:pt x="0" y="1905"/>
                  </a:cubicBezTo>
                  <a:lnTo>
                    <a:pt x="0" y="426720"/>
                  </a:lnTo>
                  <a:cubicBezTo>
                    <a:pt x="69533" y="402907"/>
                    <a:pt x="140018" y="383857"/>
                    <a:pt x="209550" y="368618"/>
                  </a:cubicBezTo>
                  <a:lnTo>
                    <a:pt x="209550" y="368618"/>
                  </a:lnTo>
                  <a:cubicBezTo>
                    <a:pt x="209550" y="368618"/>
                    <a:pt x="209550" y="368618"/>
                    <a:pt x="209550" y="368618"/>
                  </a:cubicBezTo>
                  <a:cubicBezTo>
                    <a:pt x="145733" y="272415"/>
                    <a:pt x="91440" y="166688"/>
                    <a:pt x="47625" y="53340"/>
                  </a:cubicBezTo>
                  <a:close/>
                </a:path>
              </a:pathLst>
            </a:custGeom>
            <a:solidFill>
              <a:srgbClr val="F4F4F5"/>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11A3566-EC83-54AE-DEA9-FB8C231F73B1}"/>
                </a:ext>
              </a:extLst>
            </p:cNvPr>
            <p:cNvSpPr/>
            <p:nvPr/>
          </p:nvSpPr>
          <p:spPr>
            <a:xfrm>
              <a:off x="11281125" y="5353801"/>
              <a:ext cx="209550" cy="426720"/>
            </a:xfrm>
            <a:custGeom>
              <a:avLst/>
              <a:gdLst>
                <a:gd name="connsiteX0" fmla="*/ 161925 w 209550"/>
                <a:gd name="connsiteY0" fmla="*/ 54292 h 426720"/>
                <a:gd name="connsiteX1" fmla="*/ 0 w 209550"/>
                <a:gd name="connsiteY1" fmla="*/ 368617 h 426720"/>
                <a:gd name="connsiteX2" fmla="*/ 0 w 209550"/>
                <a:gd name="connsiteY2" fmla="*/ 368617 h 426720"/>
                <a:gd name="connsiteX3" fmla="*/ 0 w 209550"/>
                <a:gd name="connsiteY3" fmla="*/ 368617 h 426720"/>
                <a:gd name="connsiteX4" fmla="*/ 209550 w 209550"/>
                <a:gd name="connsiteY4" fmla="*/ 426720 h 426720"/>
                <a:gd name="connsiteX5" fmla="*/ 209550 w 209550"/>
                <a:gd name="connsiteY5" fmla="*/ 1905 h 426720"/>
                <a:gd name="connsiteX6" fmla="*/ 181928 w 209550"/>
                <a:gd name="connsiteY6" fmla="*/ 0 h 426720"/>
                <a:gd name="connsiteX7" fmla="*/ 161925 w 209550"/>
                <a:gd name="connsiteY7" fmla="*/ 53340 h 42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50" h="426720">
                  <a:moveTo>
                    <a:pt x="161925" y="54292"/>
                  </a:moveTo>
                  <a:cubicBezTo>
                    <a:pt x="118110" y="166688"/>
                    <a:pt x="63818" y="272415"/>
                    <a:pt x="0" y="368617"/>
                  </a:cubicBezTo>
                  <a:lnTo>
                    <a:pt x="0" y="368617"/>
                  </a:lnTo>
                  <a:lnTo>
                    <a:pt x="0" y="368617"/>
                  </a:lnTo>
                  <a:cubicBezTo>
                    <a:pt x="69532" y="383858"/>
                    <a:pt x="140018" y="402908"/>
                    <a:pt x="209550" y="426720"/>
                  </a:cubicBezTo>
                  <a:lnTo>
                    <a:pt x="209550" y="1905"/>
                  </a:lnTo>
                  <a:cubicBezTo>
                    <a:pt x="200025" y="1905"/>
                    <a:pt x="190500" y="0"/>
                    <a:pt x="181928" y="0"/>
                  </a:cubicBezTo>
                  <a:cubicBezTo>
                    <a:pt x="175260" y="18097"/>
                    <a:pt x="169545" y="36195"/>
                    <a:pt x="161925" y="53340"/>
                  </a:cubicBezTo>
                  <a:close/>
                </a:path>
              </a:pathLst>
            </a:custGeom>
            <a:solidFill>
              <a:srgbClr val="F4F4F5"/>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C1CEF12-14DC-21AA-36E1-C05AAF6AA20F}"/>
                </a:ext>
              </a:extLst>
            </p:cNvPr>
            <p:cNvSpPr/>
            <p:nvPr/>
          </p:nvSpPr>
          <p:spPr>
            <a:xfrm>
              <a:off x="8668579" y="4421303"/>
              <a:ext cx="663731" cy="1017269"/>
            </a:xfrm>
            <a:custGeom>
              <a:avLst/>
              <a:gdLst>
                <a:gd name="connsiteX0" fmla="*/ 3649 w 663731"/>
                <a:gd name="connsiteY0" fmla="*/ 680085 h 1017269"/>
                <a:gd name="connsiteX1" fmla="*/ 632299 w 663731"/>
                <a:gd name="connsiteY1" fmla="*/ 1017270 h 1017269"/>
                <a:gd name="connsiteX2" fmla="*/ 587532 w 663731"/>
                <a:gd name="connsiteY2" fmla="*/ 640080 h 1017269"/>
                <a:gd name="connsiteX3" fmla="*/ 659921 w 663731"/>
                <a:gd name="connsiteY3" fmla="*/ 171450 h 1017269"/>
                <a:gd name="connsiteX4" fmla="*/ 659921 w 663731"/>
                <a:gd name="connsiteY4" fmla="*/ 166688 h 1017269"/>
                <a:gd name="connsiteX5" fmla="*/ 663732 w 663731"/>
                <a:gd name="connsiteY5" fmla="*/ 160020 h 1017269"/>
                <a:gd name="connsiteX6" fmla="*/ 519904 w 663731"/>
                <a:gd name="connsiteY6" fmla="*/ 53340 h 1017269"/>
                <a:gd name="connsiteX7" fmla="*/ 434179 w 663731"/>
                <a:gd name="connsiteY7" fmla="*/ 0 h 1017269"/>
                <a:gd name="connsiteX8" fmla="*/ 93184 w 663731"/>
                <a:gd name="connsiteY8" fmla="*/ 0 h 1017269"/>
                <a:gd name="connsiteX9" fmla="*/ 16984 w 663731"/>
                <a:gd name="connsiteY9" fmla="*/ 368618 h 1017269"/>
                <a:gd name="connsiteX10" fmla="*/ 792 w 663731"/>
                <a:gd name="connsiteY10" fmla="*/ 678180 h 1017269"/>
                <a:gd name="connsiteX11" fmla="*/ 2696 w 663731"/>
                <a:gd name="connsiteY11" fmla="*/ 678180 h 101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3731" h="1017269">
                  <a:moveTo>
                    <a:pt x="3649" y="680085"/>
                  </a:moveTo>
                  <a:cubicBezTo>
                    <a:pt x="253204" y="748665"/>
                    <a:pt x="464659" y="862013"/>
                    <a:pt x="632299" y="1017270"/>
                  </a:cubicBezTo>
                  <a:cubicBezTo>
                    <a:pt x="602771" y="895350"/>
                    <a:pt x="587532" y="768668"/>
                    <a:pt x="587532" y="640080"/>
                  </a:cubicBezTo>
                  <a:cubicBezTo>
                    <a:pt x="587532" y="511493"/>
                    <a:pt x="612296" y="323850"/>
                    <a:pt x="659921" y="171450"/>
                  </a:cubicBezTo>
                  <a:lnTo>
                    <a:pt x="659921" y="166688"/>
                  </a:lnTo>
                  <a:cubicBezTo>
                    <a:pt x="661827" y="164783"/>
                    <a:pt x="662779" y="162878"/>
                    <a:pt x="663732" y="160020"/>
                  </a:cubicBezTo>
                  <a:cubicBezTo>
                    <a:pt x="617059" y="121920"/>
                    <a:pt x="569434" y="85725"/>
                    <a:pt x="519904" y="53340"/>
                  </a:cubicBezTo>
                  <a:cubicBezTo>
                    <a:pt x="490377" y="33338"/>
                    <a:pt x="461802" y="16193"/>
                    <a:pt x="434179" y="0"/>
                  </a:cubicBezTo>
                  <a:lnTo>
                    <a:pt x="93184" y="0"/>
                  </a:lnTo>
                  <a:cubicBezTo>
                    <a:pt x="66514" y="92393"/>
                    <a:pt x="36034" y="221933"/>
                    <a:pt x="16984" y="368618"/>
                  </a:cubicBezTo>
                  <a:cubicBezTo>
                    <a:pt x="2696" y="476250"/>
                    <a:pt x="-2066" y="580073"/>
                    <a:pt x="792" y="678180"/>
                  </a:cubicBezTo>
                  <a:lnTo>
                    <a:pt x="2696" y="678180"/>
                  </a:lnTo>
                  <a:close/>
                </a:path>
              </a:pathLst>
            </a:custGeom>
            <a:solidFill>
              <a:srgbClr val="F4F4F5"/>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12D9B95F-B827-5B30-DA5A-DCEEE016D393}"/>
                </a:ext>
              </a:extLst>
            </p:cNvPr>
            <p:cNvSpPr/>
            <p:nvPr/>
          </p:nvSpPr>
          <p:spPr>
            <a:xfrm>
              <a:off x="10482931" y="5751946"/>
              <a:ext cx="1006792" cy="532447"/>
            </a:xfrm>
            <a:custGeom>
              <a:avLst/>
              <a:gdLst>
                <a:gd name="connsiteX0" fmla="*/ 490538 w 1006792"/>
                <a:gd name="connsiteY0" fmla="*/ 304800 h 532447"/>
                <a:gd name="connsiteX1" fmla="*/ 94298 w 1006792"/>
                <a:gd name="connsiteY1" fmla="*/ 507682 h 532447"/>
                <a:gd name="connsiteX2" fmla="*/ 0 w 1006792"/>
                <a:gd name="connsiteY2" fmla="*/ 532447 h 532447"/>
                <a:gd name="connsiteX3" fmla="*/ 1006793 w 1006792"/>
                <a:gd name="connsiteY3" fmla="*/ 532447 h 532447"/>
                <a:gd name="connsiteX4" fmla="*/ 1006793 w 1006792"/>
                <a:gd name="connsiteY4" fmla="*/ 63817 h 532447"/>
                <a:gd name="connsiteX5" fmla="*/ 777240 w 1006792"/>
                <a:gd name="connsiteY5" fmla="*/ 0 h 532447"/>
                <a:gd name="connsiteX6" fmla="*/ 489585 w 1006792"/>
                <a:gd name="connsiteY6" fmla="*/ 303847 h 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6792" h="532447">
                  <a:moveTo>
                    <a:pt x="490538" y="304800"/>
                  </a:moveTo>
                  <a:cubicBezTo>
                    <a:pt x="374332" y="395288"/>
                    <a:pt x="240982" y="463867"/>
                    <a:pt x="94298" y="507682"/>
                  </a:cubicBezTo>
                  <a:cubicBezTo>
                    <a:pt x="63818" y="517207"/>
                    <a:pt x="32385" y="524827"/>
                    <a:pt x="0" y="532447"/>
                  </a:cubicBezTo>
                  <a:lnTo>
                    <a:pt x="1006793" y="532447"/>
                  </a:lnTo>
                  <a:lnTo>
                    <a:pt x="1006793" y="63817"/>
                  </a:lnTo>
                  <a:cubicBezTo>
                    <a:pt x="930593" y="37147"/>
                    <a:pt x="853440" y="16192"/>
                    <a:pt x="777240" y="0"/>
                  </a:cubicBezTo>
                  <a:cubicBezTo>
                    <a:pt x="695325" y="117157"/>
                    <a:pt x="598170" y="220027"/>
                    <a:pt x="489585" y="303847"/>
                  </a:cubicBezTo>
                  <a:close/>
                </a:path>
              </a:pathLst>
            </a:custGeom>
            <a:solidFill>
              <a:srgbClr val="F4F4F5"/>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BF6258E-85A7-E56D-9932-0F9A8A3CCC98}"/>
                </a:ext>
              </a:extLst>
            </p:cNvPr>
            <p:cNvSpPr/>
            <p:nvPr/>
          </p:nvSpPr>
          <p:spPr>
            <a:xfrm>
              <a:off x="8153115" y="5752898"/>
              <a:ext cx="1007745" cy="532447"/>
            </a:xfrm>
            <a:custGeom>
              <a:avLst/>
              <a:gdLst>
                <a:gd name="connsiteX0" fmla="*/ 517208 w 1007745"/>
                <a:gd name="connsiteY0" fmla="*/ 303848 h 532447"/>
                <a:gd name="connsiteX1" fmla="*/ 229553 w 1007745"/>
                <a:gd name="connsiteY1" fmla="*/ 0 h 532447"/>
                <a:gd name="connsiteX2" fmla="*/ 0 w 1007745"/>
                <a:gd name="connsiteY2" fmla="*/ 63817 h 532447"/>
                <a:gd name="connsiteX3" fmla="*/ 0 w 1007745"/>
                <a:gd name="connsiteY3" fmla="*/ 532448 h 532447"/>
                <a:gd name="connsiteX4" fmla="*/ 1007745 w 1007745"/>
                <a:gd name="connsiteY4" fmla="*/ 532448 h 532447"/>
                <a:gd name="connsiteX5" fmla="*/ 913447 w 1007745"/>
                <a:gd name="connsiteY5" fmla="*/ 507683 h 532447"/>
                <a:gd name="connsiteX6" fmla="*/ 517208 w 1007745"/>
                <a:gd name="connsiteY6" fmla="*/ 304800 h 53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7745" h="532447">
                  <a:moveTo>
                    <a:pt x="517208" y="303848"/>
                  </a:moveTo>
                  <a:cubicBezTo>
                    <a:pt x="408622" y="219075"/>
                    <a:pt x="311468" y="117158"/>
                    <a:pt x="229553" y="0"/>
                  </a:cubicBezTo>
                  <a:cubicBezTo>
                    <a:pt x="153353" y="16192"/>
                    <a:pt x="76200" y="37148"/>
                    <a:pt x="0" y="63817"/>
                  </a:cubicBezTo>
                  <a:lnTo>
                    <a:pt x="0" y="532448"/>
                  </a:lnTo>
                  <a:lnTo>
                    <a:pt x="1007745" y="532448"/>
                  </a:lnTo>
                  <a:cubicBezTo>
                    <a:pt x="975360" y="524828"/>
                    <a:pt x="943928" y="517208"/>
                    <a:pt x="913447" y="507683"/>
                  </a:cubicBezTo>
                  <a:cubicBezTo>
                    <a:pt x="767715" y="462915"/>
                    <a:pt x="634365" y="395288"/>
                    <a:pt x="517208" y="304800"/>
                  </a:cubicBezTo>
                  <a:close/>
                </a:path>
              </a:pathLst>
            </a:custGeom>
            <a:solidFill>
              <a:srgbClr val="F4F4F5"/>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7705E3B-BBFD-2282-E207-671DE5C1F80B}"/>
                </a:ext>
              </a:extLst>
            </p:cNvPr>
            <p:cNvSpPr/>
            <p:nvPr/>
          </p:nvSpPr>
          <p:spPr>
            <a:xfrm>
              <a:off x="9370411" y="4422256"/>
              <a:ext cx="902969" cy="737235"/>
            </a:xfrm>
            <a:custGeom>
              <a:avLst/>
              <a:gdLst>
                <a:gd name="connsiteX0" fmla="*/ 3810 w 902969"/>
                <a:gd name="connsiteY0" fmla="*/ 152400 h 737235"/>
                <a:gd name="connsiteX1" fmla="*/ 451485 w 902969"/>
                <a:gd name="connsiteY1" fmla="*/ 737235 h 737235"/>
                <a:gd name="connsiteX2" fmla="*/ 899160 w 902969"/>
                <a:gd name="connsiteY2" fmla="*/ 152400 h 737235"/>
                <a:gd name="connsiteX3" fmla="*/ 901065 w 902969"/>
                <a:gd name="connsiteY3" fmla="*/ 150495 h 737235"/>
                <a:gd name="connsiteX4" fmla="*/ 902970 w 902969"/>
                <a:gd name="connsiteY4" fmla="*/ 149543 h 737235"/>
                <a:gd name="connsiteX5" fmla="*/ 842963 w 902969"/>
                <a:gd name="connsiteY5" fmla="*/ 0 h 737235"/>
                <a:gd name="connsiteX6" fmla="*/ 60007 w 902969"/>
                <a:gd name="connsiteY6" fmla="*/ 0 h 737235"/>
                <a:gd name="connsiteX7" fmla="*/ 0 w 902969"/>
                <a:gd name="connsiteY7" fmla="*/ 149543 h 737235"/>
                <a:gd name="connsiteX8" fmla="*/ 1905 w 902969"/>
                <a:gd name="connsiteY8" fmla="*/ 150495 h 737235"/>
                <a:gd name="connsiteX9" fmla="*/ 3810 w 902969"/>
                <a:gd name="connsiteY9" fmla="*/ 152400 h 737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2969" h="737235">
                  <a:moveTo>
                    <a:pt x="3810" y="152400"/>
                  </a:moveTo>
                  <a:cubicBezTo>
                    <a:pt x="188595" y="310515"/>
                    <a:pt x="339090" y="507683"/>
                    <a:pt x="451485" y="737235"/>
                  </a:cubicBezTo>
                  <a:cubicBezTo>
                    <a:pt x="563880" y="507683"/>
                    <a:pt x="714375" y="310515"/>
                    <a:pt x="899160" y="152400"/>
                  </a:cubicBezTo>
                  <a:lnTo>
                    <a:pt x="901065" y="150495"/>
                  </a:lnTo>
                  <a:cubicBezTo>
                    <a:pt x="901065" y="150495"/>
                    <a:pt x="902018" y="150495"/>
                    <a:pt x="902970" y="149543"/>
                  </a:cubicBezTo>
                  <a:cubicBezTo>
                    <a:pt x="885825" y="99060"/>
                    <a:pt x="865822" y="48578"/>
                    <a:pt x="842963" y="0"/>
                  </a:cubicBezTo>
                  <a:lnTo>
                    <a:pt x="60007" y="0"/>
                  </a:lnTo>
                  <a:cubicBezTo>
                    <a:pt x="38100" y="48578"/>
                    <a:pt x="17145" y="99060"/>
                    <a:pt x="0" y="149543"/>
                  </a:cubicBezTo>
                  <a:cubicBezTo>
                    <a:pt x="0" y="149543"/>
                    <a:pt x="952" y="149543"/>
                    <a:pt x="1905" y="150495"/>
                  </a:cubicBezTo>
                  <a:lnTo>
                    <a:pt x="3810" y="152400"/>
                  </a:lnTo>
                  <a:close/>
                </a:path>
              </a:pathLst>
            </a:custGeom>
            <a:solidFill>
              <a:srgbClr val="F4F4F5"/>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FF1B41-270C-0811-9365-99625637EBE1}"/>
                </a:ext>
              </a:extLst>
            </p:cNvPr>
            <p:cNvSpPr/>
            <p:nvPr/>
          </p:nvSpPr>
          <p:spPr>
            <a:xfrm>
              <a:off x="10311481" y="4422256"/>
              <a:ext cx="663731" cy="1016317"/>
            </a:xfrm>
            <a:custGeom>
              <a:avLst/>
              <a:gdLst>
                <a:gd name="connsiteX0" fmla="*/ 76200 w 663731"/>
                <a:gd name="connsiteY0" fmla="*/ 639128 h 1016317"/>
                <a:gd name="connsiteX1" fmla="*/ 31432 w 663731"/>
                <a:gd name="connsiteY1" fmla="*/ 1016318 h 1016317"/>
                <a:gd name="connsiteX2" fmla="*/ 662940 w 663731"/>
                <a:gd name="connsiteY2" fmla="*/ 678180 h 1016317"/>
                <a:gd name="connsiteX3" fmla="*/ 646748 w 663731"/>
                <a:gd name="connsiteY3" fmla="*/ 368618 h 1016317"/>
                <a:gd name="connsiteX4" fmla="*/ 570548 w 663731"/>
                <a:gd name="connsiteY4" fmla="*/ 0 h 1016317"/>
                <a:gd name="connsiteX5" fmla="*/ 229552 w 663731"/>
                <a:gd name="connsiteY5" fmla="*/ 0 h 1016317"/>
                <a:gd name="connsiteX6" fmla="*/ 143827 w 663731"/>
                <a:gd name="connsiteY6" fmla="*/ 53340 h 1016317"/>
                <a:gd name="connsiteX7" fmla="*/ 0 w 663731"/>
                <a:gd name="connsiteY7" fmla="*/ 160020 h 1016317"/>
                <a:gd name="connsiteX8" fmla="*/ 0 w 663731"/>
                <a:gd name="connsiteY8" fmla="*/ 161925 h 1016317"/>
                <a:gd name="connsiteX9" fmla="*/ 75248 w 663731"/>
                <a:gd name="connsiteY9" fmla="*/ 639128 h 1016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3731" h="1016317">
                  <a:moveTo>
                    <a:pt x="76200" y="639128"/>
                  </a:moveTo>
                  <a:cubicBezTo>
                    <a:pt x="76200" y="767715"/>
                    <a:pt x="60960" y="894398"/>
                    <a:pt x="31432" y="1016318"/>
                  </a:cubicBezTo>
                  <a:cubicBezTo>
                    <a:pt x="200025" y="860108"/>
                    <a:pt x="412432" y="746760"/>
                    <a:pt x="662940" y="678180"/>
                  </a:cubicBezTo>
                  <a:cubicBezTo>
                    <a:pt x="665798" y="580073"/>
                    <a:pt x="661035" y="475298"/>
                    <a:pt x="646748" y="368618"/>
                  </a:cubicBezTo>
                  <a:cubicBezTo>
                    <a:pt x="627698" y="221933"/>
                    <a:pt x="597218" y="93345"/>
                    <a:pt x="570548" y="0"/>
                  </a:cubicBezTo>
                  <a:lnTo>
                    <a:pt x="229552" y="0"/>
                  </a:lnTo>
                  <a:cubicBezTo>
                    <a:pt x="201930" y="16193"/>
                    <a:pt x="173355" y="33338"/>
                    <a:pt x="143827" y="53340"/>
                  </a:cubicBezTo>
                  <a:cubicBezTo>
                    <a:pt x="95250" y="85725"/>
                    <a:pt x="46673" y="121920"/>
                    <a:pt x="0" y="160020"/>
                  </a:cubicBezTo>
                  <a:cubicBezTo>
                    <a:pt x="0" y="160020"/>
                    <a:pt x="0" y="160973"/>
                    <a:pt x="0" y="161925"/>
                  </a:cubicBezTo>
                  <a:cubicBezTo>
                    <a:pt x="49530" y="316230"/>
                    <a:pt x="75248" y="477203"/>
                    <a:pt x="75248" y="639128"/>
                  </a:cubicBezTo>
                  <a:close/>
                </a:path>
              </a:pathLst>
            </a:custGeom>
            <a:solidFill>
              <a:srgbClr val="F4F4F5"/>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461A9A5-418E-BF99-E82F-4017168282FC}"/>
                </a:ext>
              </a:extLst>
            </p:cNvPr>
            <p:cNvSpPr/>
            <p:nvPr/>
          </p:nvSpPr>
          <p:spPr>
            <a:xfrm>
              <a:off x="8152163" y="4422256"/>
              <a:ext cx="3338512" cy="1862137"/>
            </a:xfrm>
            <a:custGeom>
              <a:avLst/>
              <a:gdLst>
                <a:gd name="connsiteX0" fmla="*/ 3338513 w 3338512"/>
                <a:gd name="connsiteY0" fmla="*/ 1862138 h 1862137"/>
                <a:gd name="connsiteX1" fmla="*/ 0 w 3338512"/>
                <a:gd name="connsiteY1" fmla="*/ 1862138 h 1862137"/>
                <a:gd name="connsiteX2" fmla="*/ 0 w 3338512"/>
                <a:gd name="connsiteY2" fmla="*/ 0 h 1862137"/>
                <a:gd name="connsiteX3" fmla="*/ 3338513 w 3338512"/>
                <a:gd name="connsiteY3" fmla="*/ 0 h 1862137"/>
                <a:gd name="connsiteX4" fmla="*/ 3338513 w 3338512"/>
                <a:gd name="connsiteY4" fmla="*/ 1862138 h 1862137"/>
                <a:gd name="connsiteX5" fmla="*/ 5715 w 3338512"/>
                <a:gd name="connsiteY5" fmla="*/ 1857375 h 1862137"/>
                <a:gd name="connsiteX6" fmla="*/ 3334703 w 3338512"/>
                <a:gd name="connsiteY6" fmla="*/ 1857375 h 1862137"/>
                <a:gd name="connsiteX7" fmla="*/ 3334703 w 3338512"/>
                <a:gd name="connsiteY7" fmla="*/ 4763 h 1862137"/>
                <a:gd name="connsiteX8" fmla="*/ 5715 w 3338512"/>
                <a:gd name="connsiteY8" fmla="*/ 4763 h 1862137"/>
                <a:gd name="connsiteX9" fmla="*/ 5715 w 3338512"/>
                <a:gd name="connsiteY9" fmla="*/ 1857375 h 186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8512" h="1862137">
                  <a:moveTo>
                    <a:pt x="3338513" y="1862138"/>
                  </a:moveTo>
                  <a:lnTo>
                    <a:pt x="0" y="1862138"/>
                  </a:lnTo>
                  <a:lnTo>
                    <a:pt x="0" y="0"/>
                  </a:lnTo>
                  <a:lnTo>
                    <a:pt x="3338513" y="0"/>
                  </a:lnTo>
                  <a:lnTo>
                    <a:pt x="3338513" y="1862138"/>
                  </a:lnTo>
                  <a:close/>
                  <a:moveTo>
                    <a:pt x="5715" y="1857375"/>
                  </a:moveTo>
                  <a:lnTo>
                    <a:pt x="3334703" y="1857375"/>
                  </a:lnTo>
                  <a:lnTo>
                    <a:pt x="3334703" y="4763"/>
                  </a:lnTo>
                  <a:lnTo>
                    <a:pt x="5715" y="4763"/>
                  </a:lnTo>
                  <a:lnTo>
                    <a:pt x="5715" y="1857375"/>
                  </a:lnTo>
                  <a:close/>
                </a:path>
              </a:pathLst>
            </a:custGeom>
            <a:solidFill>
              <a:srgbClr val="B3B3BD"/>
            </a:solidFill>
            <a:ln w="9525" cap="flat">
              <a:noFill/>
              <a:prstDash val="solid"/>
              <a:miter/>
            </a:ln>
          </p:spPr>
          <p:txBody>
            <a:bodyPr rtlCol="0" anchor="ctr"/>
            <a:lstStyle/>
            <a:p>
              <a:endParaRPr lang="en-US"/>
            </a:p>
          </p:txBody>
        </p:sp>
      </p:grpSp>
      <p:sp>
        <p:nvSpPr>
          <p:cNvPr id="5" name="TextBox 4">
            <a:extLst>
              <a:ext uri="{FF2B5EF4-FFF2-40B4-BE49-F238E27FC236}">
                <a16:creationId xmlns:a16="http://schemas.microsoft.com/office/drawing/2014/main" id="{3AA5B97D-1283-5FAF-2DDE-2F971364FE2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7" name="TextBox 6">
            <a:extLst>
              <a:ext uri="{FF2B5EF4-FFF2-40B4-BE49-F238E27FC236}">
                <a16:creationId xmlns:a16="http://schemas.microsoft.com/office/drawing/2014/main" id="{9B70F80B-8C02-7BDD-2630-082B2100852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8" name="TextBox 7">
            <a:extLst>
              <a:ext uri="{FF2B5EF4-FFF2-40B4-BE49-F238E27FC236}">
                <a16:creationId xmlns:a16="http://schemas.microsoft.com/office/drawing/2014/main" id="{CDF13037-99A5-AB8B-6172-CF0902CDC883}"/>
              </a:ext>
            </a:extLst>
          </p:cNvPr>
          <p:cNvSpPr txBox="1"/>
          <p:nvPr/>
        </p:nvSpPr>
        <p:spPr>
          <a:xfrm>
            <a:off x="1155242" y="1444395"/>
            <a:ext cx="6096000" cy="533351"/>
          </a:xfrm>
          <a:prstGeom prst="rect">
            <a:avLst/>
          </a:prstGeom>
        </p:spPr>
        <p:txBody>
          <a:bodyPr lIns="0" tIns="0" rIns="0" bIns="0"/>
          <a:lstStyle>
            <a:defPPr>
              <a:defRPr kern="0"/>
            </a:defPPr>
            <a:lvl1pPr algn="l">
              <a:lnSpc>
                <a:spcPts val="3600"/>
              </a:lnSpc>
              <a:defRPr sz="2800">
                <a:solidFill>
                  <a:schemeClr val="tx1"/>
                </a:solidFill>
                <a:latin typeface="Cormorant Infant" pitchFamily="2" charset="0"/>
                <a:ea typeface="+mj-ea"/>
                <a:cs typeface="+mj-cs"/>
              </a:defRPr>
            </a:lvl1pPr>
          </a:lstStyle>
          <a:p>
            <a:r>
              <a:rPr lang="en-US" dirty="0"/>
              <a:t>Projected After-Tax Annual Income</a:t>
            </a:r>
          </a:p>
        </p:txBody>
      </p:sp>
      <p:sp>
        <p:nvSpPr>
          <p:cNvPr id="9" name="IncomeStmt1">
            <a:extLst>
              <a:ext uri="{FF2B5EF4-FFF2-40B4-BE49-F238E27FC236}">
                <a16:creationId xmlns:a16="http://schemas.microsoft.com/office/drawing/2014/main" id="{C469764A-313D-FD2C-D970-D1B1D3B4D5FA}"/>
              </a:ext>
            </a:extLst>
          </p:cNvPr>
          <p:cNvSpPr>
            <a:spLocks noGrp="1"/>
          </p:cNvSpPr>
          <p:nvPr>
            <p:ph sz="quarter" idx="10"/>
          </p:nvPr>
        </p:nvSpPr>
        <p:spPr>
          <a:xfrm>
            <a:off x="1155242" y="2026596"/>
            <a:ext cx="9943305" cy="2395660"/>
          </a:xfrm>
        </p:spPr>
        <p:txBody>
          <a:bodyPr wrap="none">
            <a:noAutofit/>
          </a:bodyPr>
          <a:lstStyle/>
          <a:p>
            <a:endParaRPr lang="en-US" sz="1000" dirty="0">
              <a:latin typeface="Cormorant Infant" pitchFamily="2" charset="0"/>
              <a:ea typeface="Cormorant Infant" pitchFamily="2" charset="0"/>
              <a:cs typeface="Cormorant Infant" pitchFamily="2" charset="0"/>
            </a:endParaRPr>
          </a:p>
        </p:txBody>
      </p:sp>
      <p:sp>
        <p:nvSpPr>
          <p:cNvPr id="33" name="TextBox 32">
            <a:extLst>
              <a:ext uri="{FF2B5EF4-FFF2-40B4-BE49-F238E27FC236}">
                <a16:creationId xmlns:a16="http://schemas.microsoft.com/office/drawing/2014/main" id="{2A579FB0-82ED-E733-0BAA-B7CEA4D699EA}"/>
              </a:ext>
            </a:extLst>
          </p:cNvPr>
          <p:cNvSpPr txBox="1"/>
          <p:nvPr/>
        </p:nvSpPr>
        <p:spPr>
          <a:xfrm>
            <a:off x="5952444" y="762076"/>
            <a:ext cx="6096000" cy="1136465"/>
          </a:xfrm>
          <a:prstGeom prst="rect">
            <a:avLst/>
          </a:prstGeom>
          <a:noFill/>
        </p:spPr>
        <p:txBody>
          <a:bodyPr wrap="square">
            <a:spAutoFit/>
          </a:bodyPr>
          <a:lstStyle/>
          <a:p>
            <a:pPr marR="0" lvl="0">
              <a:lnSpc>
                <a:spcPct val="115000"/>
              </a:lnSpc>
              <a:spcAft>
                <a:spcPts val="800"/>
              </a:spcAft>
              <a:tabLst>
                <a:tab pos="457200" algn="l"/>
              </a:tabLst>
            </a:pPr>
            <a:r>
              <a:rPr lang="en-US" sz="1200" kern="100" dirty="0">
                <a:solidFill>
                  <a:srgbClr val="FF3399"/>
                </a:solidFill>
                <a:effectLst/>
                <a:latin typeface="Aptos" panose="020B0004020202020204" pitchFamily="34" charset="0"/>
                <a:ea typeface="Aptos" panose="020B0004020202020204" pitchFamily="34" charset="0"/>
                <a:cs typeface="Times New Roman" panose="02020603050405020304" pitchFamily="18" charset="0"/>
              </a:rPr>
              <a:t>Projected After-Tax Annual Income (Page 5)</a:t>
            </a:r>
          </a:p>
          <a:p>
            <a:pPr marL="742950" marR="0" lvl="1" indent="-285750">
              <a:lnSpc>
                <a:spcPct val="115000"/>
              </a:lnSpc>
              <a:spcAft>
                <a:spcPts val="800"/>
              </a:spcAft>
              <a:buFont typeface="+mj-lt"/>
              <a:buAutoNum type="alphaLcPeriod"/>
              <a:tabLst>
                <a:tab pos="914400" algn="l"/>
              </a:tabLst>
            </a:pPr>
            <a:r>
              <a:rPr lang="en-US" sz="1200" kern="100" dirty="0">
                <a:solidFill>
                  <a:srgbClr val="FF3399"/>
                </a:solidFill>
                <a:effectLst/>
                <a:latin typeface="Aptos" panose="020B0004020202020204" pitchFamily="34" charset="0"/>
                <a:ea typeface="Aptos" panose="020B0004020202020204" pitchFamily="34" charset="0"/>
                <a:cs typeface="Times New Roman" panose="02020603050405020304" pitchFamily="18" charset="0"/>
              </a:rPr>
              <a:t>Great. If we have their expenses and sources of income, keep this to show unused retirement assets.</a:t>
            </a:r>
          </a:p>
          <a:p>
            <a:pPr marL="742950" marR="0" lvl="1" indent="-285750">
              <a:lnSpc>
                <a:spcPct val="115000"/>
              </a:lnSpc>
              <a:spcAft>
                <a:spcPts val="800"/>
              </a:spcAft>
              <a:buFont typeface="+mj-lt"/>
              <a:buAutoNum type="alphaLcPeriod"/>
              <a:tabLst>
                <a:tab pos="914400" algn="l"/>
              </a:tabLst>
            </a:pPr>
            <a:r>
              <a:rPr lang="en-US" sz="1200" kern="100" dirty="0">
                <a:solidFill>
                  <a:srgbClr val="FF3399"/>
                </a:solidFill>
                <a:effectLst/>
                <a:latin typeface="Aptos" panose="020B0004020202020204" pitchFamily="34" charset="0"/>
                <a:ea typeface="Aptos" panose="020B0004020202020204" pitchFamily="34" charset="0"/>
                <a:cs typeface="Times New Roman" panose="02020603050405020304" pitchFamily="18" charset="0"/>
              </a:rPr>
              <a:t>If we </a:t>
            </a:r>
            <a:r>
              <a:rPr lang="en-US" sz="1200" kern="100" dirty="0" err="1">
                <a:solidFill>
                  <a:srgbClr val="FF3399"/>
                </a:solidFill>
                <a:effectLst/>
                <a:latin typeface="Aptos" panose="020B0004020202020204" pitchFamily="34" charset="0"/>
                <a:ea typeface="Aptos" panose="020B0004020202020204" pitchFamily="34" charset="0"/>
                <a:cs typeface="Times New Roman" panose="02020603050405020304" pitchFamily="18" charset="0"/>
              </a:rPr>
              <a:t>dont</a:t>
            </a:r>
            <a:r>
              <a:rPr lang="en-US" sz="1200" kern="100" dirty="0">
                <a:solidFill>
                  <a:srgbClr val="FF3399"/>
                </a:solidFill>
                <a:effectLst/>
                <a:latin typeface="Aptos" panose="020B0004020202020204" pitchFamily="34" charset="0"/>
                <a:ea typeface="Aptos" panose="020B0004020202020204" pitchFamily="34" charset="0"/>
                <a:cs typeface="Times New Roman" panose="02020603050405020304" pitchFamily="18" charset="0"/>
              </a:rPr>
              <a:t> have cash flow information, eliminate from output</a:t>
            </a:r>
          </a:p>
        </p:txBody>
      </p:sp>
    </p:spTree>
    <p:extLst>
      <p:ext uri="{BB962C8B-B14F-4D97-AF65-F5344CB8AC3E}">
        <p14:creationId xmlns:p14="http://schemas.microsoft.com/office/powerpoint/2010/main" val="253306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82DA-81FF-AEF0-C788-EDB9AD46549E}"/>
            </a:ext>
          </a:extLst>
        </p:cNvPr>
        <p:cNvGrpSpPr/>
        <p:nvPr/>
      </p:nvGrpSpPr>
      <p:grpSpPr>
        <a:xfrm>
          <a:off x="0" y="0"/>
          <a:ext cx="0" cy="0"/>
          <a:chOff x="0" y="0"/>
          <a:chExt cx="0" cy="0"/>
        </a:xfrm>
      </p:grpSpPr>
      <p:sp>
        <p:nvSpPr>
          <p:cNvPr id="2" name="object 4">
            <a:extLst>
              <a:ext uri="{FF2B5EF4-FFF2-40B4-BE49-F238E27FC236}">
                <a16:creationId xmlns:a16="http://schemas.microsoft.com/office/drawing/2014/main" id="{A8EAA393-019A-A686-1EAA-5EAD8F35AE9C}"/>
              </a:ext>
            </a:extLst>
          </p:cNvPr>
          <p:cNvSpPr txBox="1">
            <a:spLocks/>
          </p:cNvSpPr>
          <p:nvPr/>
        </p:nvSpPr>
        <p:spPr>
          <a:xfrm>
            <a:off x="1859279" y="1807322"/>
            <a:ext cx="6440866"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What is the outcome of the current planning?</a:t>
            </a:r>
          </a:p>
        </p:txBody>
      </p:sp>
      <p:graphicFrame>
        <p:nvGraphicFramePr>
          <p:cNvPr id="43" name="Table 42">
            <a:extLst>
              <a:ext uri="{FF2B5EF4-FFF2-40B4-BE49-F238E27FC236}">
                <a16:creationId xmlns:a16="http://schemas.microsoft.com/office/drawing/2014/main" id="{94ADB0E7-651F-DC2C-EACE-C397806A0E02}"/>
              </a:ext>
            </a:extLst>
          </p:cNvPr>
          <p:cNvGraphicFramePr>
            <a:graphicFrameLocks noGrp="1"/>
          </p:cNvGraphicFramePr>
          <p:nvPr>
            <p:extLst>
              <p:ext uri="{D42A27DB-BD31-4B8C-83A1-F6EECF244321}">
                <p14:modId xmlns:p14="http://schemas.microsoft.com/office/powerpoint/2010/main" val="233410411"/>
              </p:ext>
            </p:extLst>
          </p:nvPr>
        </p:nvGraphicFramePr>
        <p:xfrm>
          <a:off x="1859279" y="2697086"/>
          <a:ext cx="8595360" cy="2606040"/>
        </p:xfrm>
        <a:graphic>
          <a:graphicData uri="http://schemas.openxmlformats.org/drawingml/2006/table">
            <a:tbl>
              <a:tblPr firstRow="1" bandRow="1">
                <a:tableStyleId>{2D5ABB26-0587-4C30-8999-92F81FD0307C}</a:tableStyleId>
              </a:tblPr>
              <a:tblGrid>
                <a:gridCol w="2148840">
                  <a:extLst>
                    <a:ext uri="{9D8B030D-6E8A-4147-A177-3AD203B41FA5}">
                      <a16:colId xmlns:a16="http://schemas.microsoft.com/office/drawing/2014/main" val="858325170"/>
                    </a:ext>
                  </a:extLst>
                </a:gridCol>
                <a:gridCol w="2148840">
                  <a:extLst>
                    <a:ext uri="{9D8B030D-6E8A-4147-A177-3AD203B41FA5}">
                      <a16:colId xmlns:a16="http://schemas.microsoft.com/office/drawing/2014/main" val="2502304848"/>
                    </a:ext>
                  </a:extLst>
                </a:gridCol>
                <a:gridCol w="2148840">
                  <a:extLst>
                    <a:ext uri="{9D8B030D-6E8A-4147-A177-3AD203B41FA5}">
                      <a16:colId xmlns:a16="http://schemas.microsoft.com/office/drawing/2014/main" val="1171565126"/>
                    </a:ext>
                  </a:extLst>
                </a:gridCol>
                <a:gridCol w="2148840">
                  <a:extLst>
                    <a:ext uri="{9D8B030D-6E8A-4147-A177-3AD203B41FA5}">
                      <a16:colId xmlns:a16="http://schemas.microsoft.com/office/drawing/2014/main" val="4161518431"/>
                    </a:ext>
                  </a:extLst>
                </a:gridCol>
              </a:tblGrid>
              <a:tr h="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Cormorant Infant" pitchFamily="2" charset="0"/>
                          <a:ea typeface="Cormorant Infant" pitchFamily="2" charset="0"/>
                          <a:cs typeface="Cormorant Infant" pitchFamily="2" charset="0"/>
                        </a:rPr>
                        <a:t>Pre-Tax Rollover IRA</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Cormorant Infant" pitchFamily="2" charset="0"/>
                          <a:ea typeface="Cormorant Infant" pitchFamily="2" charset="0"/>
                          <a:cs typeface="Cormorant Infant" pitchFamily="2" charset="0"/>
                        </a:rPr>
                        <a:t>Amount Subtracted from</a:t>
                      </a:r>
                      <a:br>
                        <a:rPr lang="en-US" sz="1200" b="0" dirty="0">
                          <a:solidFill>
                            <a:schemeClr val="tx1"/>
                          </a:solidFill>
                          <a:latin typeface="Cormorant Infant" pitchFamily="2" charset="0"/>
                          <a:ea typeface="Cormorant Infant" pitchFamily="2" charset="0"/>
                          <a:cs typeface="Cormorant Infant" pitchFamily="2" charset="0"/>
                        </a:rPr>
                      </a:br>
                      <a:r>
                        <a:rPr lang="en-US" sz="1200" b="0" dirty="0">
                          <a:solidFill>
                            <a:schemeClr val="tx1"/>
                          </a:solidFill>
                          <a:latin typeface="Cormorant Infant" pitchFamily="2" charset="0"/>
                          <a:ea typeface="Cormorant Infant" pitchFamily="2" charset="0"/>
                          <a:cs typeface="Cormorant Infant" pitchFamily="2" charset="0"/>
                        </a:rPr>
                        <a:t>Estate Taxes: &lt;</a:t>
                      </a:r>
                      <a:r>
                        <a:rPr lang="en-US" sz="1200" b="0" dirty="0" err="1">
                          <a:solidFill>
                            <a:schemeClr val="tx1"/>
                          </a:solidFill>
                          <a:latin typeface="Cormorant Infant" pitchFamily="2" charset="0"/>
                          <a:ea typeface="Cormorant Infant" pitchFamily="2" charset="0"/>
                          <a:cs typeface="Cormorant Infant" pitchFamily="2" charset="0"/>
                        </a:rPr>
                        <a:t>EstateRate</a:t>
                      </a:r>
                      <a:r>
                        <a:rPr lang="en-US" sz="1200" b="0" dirty="0">
                          <a:solidFill>
                            <a:schemeClr val="tx1"/>
                          </a:solidFill>
                          <a:latin typeface="Cormorant Infant" pitchFamily="2" charset="0"/>
                          <a:ea typeface="Cormorant Infant" pitchFamily="2" charset="0"/>
                          <a:cs typeface="Cormorant Infant" pitchFamily="2" charset="0"/>
                        </a:rPr>
                        <a:t>&gt;</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Cormorant Infant" pitchFamily="2" charset="0"/>
                          <a:ea typeface="Cormorant Infant" pitchFamily="2" charset="0"/>
                          <a:cs typeface="Cormorant Infant" pitchFamily="2" charset="0"/>
                        </a:rPr>
                        <a:t>Amount Subtracted from </a:t>
                      </a:r>
                      <a:br>
                        <a:rPr lang="en-US" sz="1200" b="0" dirty="0">
                          <a:solidFill>
                            <a:schemeClr val="tx1"/>
                          </a:solidFill>
                          <a:latin typeface="Cormorant Infant" pitchFamily="2" charset="0"/>
                          <a:ea typeface="Cormorant Infant" pitchFamily="2" charset="0"/>
                          <a:cs typeface="Cormorant Infant" pitchFamily="2" charset="0"/>
                        </a:rPr>
                      </a:br>
                      <a:r>
                        <a:rPr lang="en-US" sz="1200" b="0" dirty="0">
                          <a:solidFill>
                            <a:schemeClr val="tx1"/>
                          </a:solidFill>
                          <a:latin typeface="Cormorant Infant" pitchFamily="2" charset="0"/>
                          <a:ea typeface="Cormorant Infant" pitchFamily="2" charset="0"/>
                          <a:cs typeface="Cormorant Infant" pitchFamily="2" charset="0"/>
                        </a:rPr>
                        <a:t>Income Taxes: &lt;</a:t>
                      </a:r>
                      <a:r>
                        <a:rPr lang="en-US" sz="1200" b="0" dirty="0" err="1">
                          <a:solidFill>
                            <a:schemeClr val="tx1"/>
                          </a:solidFill>
                          <a:latin typeface="Cormorant Infant" pitchFamily="2" charset="0"/>
                          <a:ea typeface="Cormorant Infant" pitchFamily="2" charset="0"/>
                          <a:cs typeface="Cormorant Infant" pitchFamily="2" charset="0"/>
                        </a:rPr>
                        <a:t>TaxRate</a:t>
                      </a:r>
                      <a:r>
                        <a:rPr lang="en-US" sz="1200" b="0" dirty="0">
                          <a:solidFill>
                            <a:schemeClr val="tx1"/>
                          </a:solidFill>
                          <a:latin typeface="Cormorant Infant" pitchFamily="2" charset="0"/>
                          <a:ea typeface="Cormorant Infant" pitchFamily="2" charset="0"/>
                          <a:cs typeface="Cormorant Infant" pitchFamily="2" charset="0"/>
                        </a:rPr>
                        <a:t>&gt; </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algn="ctr"/>
                      <a:r>
                        <a:rPr lang="en-US" sz="1200" b="0" dirty="0">
                          <a:solidFill>
                            <a:schemeClr val="tx1"/>
                          </a:solidFill>
                          <a:latin typeface="Cormorant Infant" pitchFamily="2" charset="0"/>
                          <a:ea typeface="Cormorant Infant" pitchFamily="2" charset="0"/>
                          <a:cs typeface="Cormorant Infant" pitchFamily="2" charset="0"/>
                        </a:rPr>
                        <a:t>Total Net to Heirs After</a:t>
                      </a:r>
                      <a:br>
                        <a:rPr lang="en-US" sz="1200" b="0" dirty="0">
                          <a:solidFill>
                            <a:schemeClr val="tx1"/>
                          </a:solidFill>
                          <a:latin typeface="Cormorant Infant" pitchFamily="2" charset="0"/>
                          <a:ea typeface="Cormorant Infant" pitchFamily="2" charset="0"/>
                          <a:cs typeface="Cormorant Infant" pitchFamily="2" charset="0"/>
                        </a:rPr>
                      </a:br>
                      <a:r>
                        <a:rPr lang="en-US" sz="1200" b="0" dirty="0">
                          <a:solidFill>
                            <a:schemeClr val="tx1"/>
                          </a:solidFill>
                          <a:latin typeface="Cormorant Infant" pitchFamily="2" charset="0"/>
                          <a:ea typeface="Cormorant Infant" pitchFamily="2" charset="0"/>
                          <a:cs typeface="Cormorant Infant" pitchFamily="2" charset="0"/>
                        </a:rPr>
                        <a:t> Income &amp; Estate Taxes</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50977972"/>
                  </a:ext>
                </a:extLst>
              </a:tr>
              <a:tr h="91440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Cormorant Infant" pitchFamily="2" charset="0"/>
                          <a:ea typeface="Cormorant Infant" pitchFamily="2" charset="0"/>
                          <a:cs typeface="Cormorant Infant" pitchFamily="2" charset="0"/>
                        </a:rPr>
                        <a:t>&lt;</a:t>
                      </a:r>
                      <a:r>
                        <a:rPr lang="en-US" sz="1300" b="0" dirty="0" err="1">
                          <a:solidFill>
                            <a:schemeClr val="tx1"/>
                          </a:solidFill>
                          <a:latin typeface="Cormorant Infant" pitchFamily="2" charset="0"/>
                          <a:ea typeface="Cormorant Infant" pitchFamily="2" charset="0"/>
                          <a:cs typeface="Cormorant Infant" pitchFamily="2" charset="0"/>
                        </a:rPr>
                        <a:t>ClientIRA</a:t>
                      </a:r>
                      <a:r>
                        <a:rPr lang="en-US" sz="1300" b="0" dirty="0">
                          <a:solidFill>
                            <a:schemeClr val="tx1"/>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Cormorant Infant" pitchFamily="2" charset="0"/>
                          <a:ea typeface="Cormorant Infant" pitchFamily="2" charset="0"/>
                          <a:cs typeface="Cormorant Infant" pitchFamily="2" charset="0"/>
                        </a:rPr>
                        <a:t>- &lt;</a:t>
                      </a:r>
                      <a:r>
                        <a:rPr lang="en-US" sz="1300" b="0" dirty="0" err="1">
                          <a:solidFill>
                            <a:schemeClr val="tx1"/>
                          </a:solidFill>
                          <a:latin typeface="Cormorant Infant" pitchFamily="2" charset="0"/>
                          <a:ea typeface="Cormorant Infant" pitchFamily="2" charset="0"/>
                          <a:cs typeface="Cormorant Infant" pitchFamily="2" charset="0"/>
                        </a:rPr>
                        <a:t>ClientEstateTax</a:t>
                      </a:r>
                      <a:r>
                        <a:rPr lang="en-US" sz="1300" b="0" dirty="0">
                          <a:solidFill>
                            <a:schemeClr val="tx1"/>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Cormorant Infant" pitchFamily="2" charset="0"/>
                          <a:ea typeface="Cormorant Infant" pitchFamily="2" charset="0"/>
                          <a:cs typeface="Cormorant Infant" pitchFamily="2" charset="0"/>
                        </a:rPr>
                        <a:t>- &lt;</a:t>
                      </a:r>
                      <a:r>
                        <a:rPr lang="en-US" sz="1300" b="0" dirty="0" err="1">
                          <a:solidFill>
                            <a:schemeClr val="tx1"/>
                          </a:solidFill>
                          <a:latin typeface="Cormorant Infant" pitchFamily="2" charset="0"/>
                          <a:ea typeface="Cormorant Infant" pitchFamily="2" charset="0"/>
                          <a:cs typeface="Cormorant Infant" pitchFamily="2" charset="0"/>
                        </a:rPr>
                        <a:t>ClientIRDTaxes</a:t>
                      </a:r>
                      <a:r>
                        <a:rPr lang="en-US" sz="1300" b="0" dirty="0">
                          <a:solidFill>
                            <a:schemeClr val="tx1"/>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chemeClr val="tx1"/>
                          </a:solidFill>
                          <a:latin typeface="Cormorant Infant" pitchFamily="2" charset="0"/>
                          <a:ea typeface="Cormorant Infant" pitchFamily="2" charset="0"/>
                          <a:cs typeface="Cormorant Infant" pitchFamily="2" charset="0"/>
                        </a:rPr>
                        <a:t>&lt;</a:t>
                      </a:r>
                      <a:r>
                        <a:rPr lang="en-US" sz="1300" b="0" dirty="0" err="1">
                          <a:solidFill>
                            <a:schemeClr val="tx1"/>
                          </a:solidFill>
                          <a:latin typeface="Cormorant Infant" pitchFamily="2" charset="0"/>
                          <a:ea typeface="Cormorant Infant" pitchFamily="2" charset="0"/>
                          <a:cs typeface="Cormorant Infant" pitchFamily="2" charset="0"/>
                        </a:rPr>
                        <a:t>ClientNetIRA</a:t>
                      </a:r>
                      <a:r>
                        <a:rPr lang="en-US" sz="1300" b="0" dirty="0">
                          <a:solidFill>
                            <a:schemeClr val="tx1"/>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92543440"/>
                  </a:ext>
                </a:extLst>
              </a:tr>
              <a:tr h="914400">
                <a:tc>
                  <a:txBody>
                    <a:bodyPr/>
                    <a:lstStyle/>
                    <a:p>
                      <a:pPr algn="ctr"/>
                      <a:endParaRPr lang="en-US" sz="1300" b="0" dirty="0">
                        <a:solidFill>
                          <a:schemeClr val="tx1"/>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no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i="0" dirty="0">
                          <a:solidFill>
                            <a:schemeClr val="tx1"/>
                          </a:solidFill>
                          <a:latin typeface="Cormorant Infant" pitchFamily="2" charset="0"/>
                          <a:ea typeface="Cormorant Infant" pitchFamily="2" charset="0"/>
                          <a:cs typeface="Cormorant Infant" pitchFamily="2" charset="0"/>
                        </a:rPr>
                        <a:t>Total Tax Erosion: </a:t>
                      </a:r>
                      <a:br>
                        <a:rPr lang="en-US" sz="1300" b="0" i="0" dirty="0">
                          <a:solidFill>
                            <a:schemeClr val="tx1"/>
                          </a:solidFill>
                          <a:latin typeface="Cormorant Infant" pitchFamily="2" charset="0"/>
                          <a:ea typeface="Cormorant Infant" pitchFamily="2" charset="0"/>
                          <a:cs typeface="Cormorant Infant" pitchFamily="2" charset="0"/>
                        </a:rPr>
                      </a:br>
                      <a:r>
                        <a:rPr lang="en-US" sz="1300" b="0" i="0" dirty="0">
                          <a:solidFill>
                            <a:schemeClr val="tx1"/>
                          </a:solidFill>
                          <a:latin typeface="Cormorant Infant" pitchFamily="2" charset="0"/>
                          <a:ea typeface="Cormorant Infant" pitchFamily="2" charset="0"/>
                          <a:cs typeface="Cormorant Infant" pitchFamily="2" charset="0"/>
                        </a:rPr>
                        <a:t>&lt;</a:t>
                      </a:r>
                      <a:r>
                        <a:rPr lang="en-US" sz="1300" b="0" i="0" dirty="0" err="1">
                          <a:solidFill>
                            <a:schemeClr val="tx1"/>
                          </a:solidFill>
                          <a:latin typeface="Cormorant Infant" pitchFamily="2" charset="0"/>
                          <a:ea typeface="Cormorant Infant" pitchFamily="2" charset="0"/>
                          <a:cs typeface="Cormorant Infant" pitchFamily="2" charset="0"/>
                        </a:rPr>
                        <a:t>ErodeRate</a:t>
                      </a:r>
                      <a:r>
                        <a:rPr lang="en-US" sz="1300" b="0" i="0" dirty="0">
                          <a:solidFill>
                            <a:schemeClr val="tx1"/>
                          </a:solidFill>
                          <a:latin typeface="Cormorant Infant" pitchFamily="2" charset="0"/>
                          <a:ea typeface="Cormorant Infant" pitchFamily="2" charset="0"/>
                          <a:cs typeface="Cormorant Infant" pitchFamily="2" charset="0"/>
                        </a:rPr>
                        <a:t>&gt;</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n-US" dirty="0"/>
                    </a:p>
                  </a:txBody>
                  <a:tcPr>
                    <a:lnL w="6350" cap="flat" cmpd="sng" algn="ctr">
                      <a:solidFill>
                        <a:schemeClr val="accent1">
                          <a:lumMod val="60000"/>
                          <a:lumOff val="40000"/>
                        </a:schemeClr>
                      </a:solidFill>
                      <a:prstDash val="solid"/>
                      <a:round/>
                      <a:headEnd type="none" w="med" len="med"/>
                      <a:tailEnd type="none" w="med" len="med"/>
                    </a:lnL>
                    <a:lnR w="6350" cap="flat" cmpd="sng" algn="ctr">
                      <a:solidFill>
                        <a:schemeClr val="accent1">
                          <a:lumMod val="60000"/>
                          <a:lumOff val="40000"/>
                        </a:schemeClr>
                      </a:solidFill>
                      <a:prstDash val="solid"/>
                      <a:round/>
                      <a:headEnd type="none" w="med" len="med"/>
                      <a:tailEnd type="none" w="med" len="med"/>
                    </a:lnR>
                    <a:lnT w="6350" cap="flat" cmpd="sng" algn="ctr">
                      <a:solidFill>
                        <a:schemeClr val="accent1">
                          <a:lumMod val="60000"/>
                          <a:lumOff val="40000"/>
                        </a:schemeClr>
                      </a:solidFill>
                      <a:prstDash val="solid"/>
                      <a:round/>
                      <a:headEnd type="none" w="med" len="med"/>
                      <a:tailEnd type="none" w="med" len="med"/>
                    </a:lnT>
                    <a:lnB w="6350" cap="flat" cmpd="sng" algn="ctr">
                      <a:solidFill>
                        <a:schemeClr val="accent1">
                          <a:lumMod val="60000"/>
                          <a:lumOff val="40000"/>
                        </a:schemeClr>
                      </a:solidFill>
                      <a:prstDash val="solid"/>
                      <a:round/>
                      <a:headEnd type="none" w="med" len="med"/>
                      <a:tailEnd type="none" w="med" len="med"/>
                    </a:lnB>
                  </a:tcPr>
                </a:tc>
                <a:tc>
                  <a:txBody>
                    <a:bodyPr/>
                    <a:lstStyle/>
                    <a:p>
                      <a:pPr algn="ctr"/>
                      <a:endParaRPr lang="en-US" sz="1300" b="0" dirty="0">
                        <a:solidFill>
                          <a:schemeClr val="tx1"/>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6703475"/>
                  </a:ext>
                </a:extLst>
              </a:tr>
            </a:tbl>
          </a:graphicData>
        </a:graphic>
      </p:graphicFrame>
      <p:sp>
        <p:nvSpPr>
          <p:cNvPr id="44" name="object 4">
            <a:extLst>
              <a:ext uri="{FF2B5EF4-FFF2-40B4-BE49-F238E27FC236}">
                <a16:creationId xmlns:a16="http://schemas.microsoft.com/office/drawing/2014/main" id="{7D65FEDE-CCEE-5F39-576A-15FA395BB2C4}"/>
              </a:ext>
            </a:extLst>
          </p:cNvPr>
          <p:cNvSpPr txBox="1">
            <a:spLocks/>
          </p:cNvSpPr>
          <p:nvPr/>
        </p:nvSpPr>
        <p:spPr>
          <a:xfrm>
            <a:off x="1859279" y="2344120"/>
            <a:ext cx="4395434" cy="184666"/>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Impact of Income &amp; Estate Taxes on Inherited Retirement Accounts</a:t>
            </a:r>
          </a:p>
        </p:txBody>
      </p:sp>
      <p:sp>
        <p:nvSpPr>
          <p:cNvPr id="3" name="TextBox 2">
            <a:extLst>
              <a:ext uri="{FF2B5EF4-FFF2-40B4-BE49-F238E27FC236}">
                <a16:creationId xmlns:a16="http://schemas.microsoft.com/office/drawing/2014/main" id="{32FDF35E-CA66-51A1-0C51-4B45C735B81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3B983316-A62C-E6E9-EDC5-21CC2F4D62F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309047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F87E1-5459-2B89-5E84-486901B7B40F}"/>
            </a:ext>
          </a:extLst>
        </p:cNvPr>
        <p:cNvGrpSpPr/>
        <p:nvPr/>
      </p:nvGrpSpPr>
      <p:grpSpPr>
        <a:xfrm>
          <a:off x="0" y="0"/>
          <a:ext cx="0" cy="0"/>
          <a:chOff x="0" y="0"/>
          <a:chExt cx="0" cy="0"/>
        </a:xfrm>
      </p:grpSpPr>
      <p:sp>
        <p:nvSpPr>
          <p:cNvPr id="2" name="object 4">
            <a:extLst>
              <a:ext uri="{FF2B5EF4-FFF2-40B4-BE49-F238E27FC236}">
                <a16:creationId xmlns:a16="http://schemas.microsoft.com/office/drawing/2014/main" id="{007FD5A7-92B9-9FE2-9EE2-B1B9DCDD785E}"/>
              </a:ext>
            </a:extLst>
          </p:cNvPr>
          <p:cNvSpPr txBox="1">
            <a:spLocks/>
          </p:cNvSpPr>
          <p:nvPr/>
        </p:nvSpPr>
        <p:spPr>
          <a:xfrm>
            <a:off x="1859279" y="1807322"/>
            <a:ext cx="6440866"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What is the outcome of the current planning?</a:t>
            </a:r>
          </a:p>
        </p:txBody>
      </p:sp>
      <p:graphicFrame>
        <p:nvGraphicFramePr>
          <p:cNvPr id="43" name="Table 42">
            <a:extLst>
              <a:ext uri="{FF2B5EF4-FFF2-40B4-BE49-F238E27FC236}">
                <a16:creationId xmlns:a16="http://schemas.microsoft.com/office/drawing/2014/main" id="{CE5A03DB-1F98-7BC7-9FBA-DB7B08ADDB62}"/>
              </a:ext>
            </a:extLst>
          </p:cNvPr>
          <p:cNvGraphicFramePr>
            <a:graphicFrameLocks noGrp="1"/>
          </p:cNvGraphicFramePr>
          <p:nvPr>
            <p:extLst>
              <p:ext uri="{D42A27DB-BD31-4B8C-83A1-F6EECF244321}">
                <p14:modId xmlns:p14="http://schemas.microsoft.com/office/powerpoint/2010/main" val="1605038276"/>
              </p:ext>
            </p:extLst>
          </p:nvPr>
        </p:nvGraphicFramePr>
        <p:xfrm>
          <a:off x="1859278" y="2697086"/>
          <a:ext cx="8915400" cy="2636520"/>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858325170"/>
                    </a:ext>
                  </a:extLst>
                </a:gridCol>
                <a:gridCol w="2971800">
                  <a:extLst>
                    <a:ext uri="{9D8B030D-6E8A-4147-A177-3AD203B41FA5}">
                      <a16:colId xmlns:a16="http://schemas.microsoft.com/office/drawing/2014/main" val="1171565126"/>
                    </a:ext>
                  </a:extLst>
                </a:gridCol>
                <a:gridCol w="2971800">
                  <a:extLst>
                    <a:ext uri="{9D8B030D-6E8A-4147-A177-3AD203B41FA5}">
                      <a16:colId xmlns:a16="http://schemas.microsoft.com/office/drawing/2014/main" val="4161518431"/>
                    </a:ext>
                  </a:extLst>
                </a:gridCol>
              </a:tblGrid>
              <a:tr h="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Pre-Tax Rollover IRA</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Amount  Subtracted from </a:t>
                      </a:r>
                      <a:br>
                        <a:rPr lang="en-US" sz="1300" b="0" dirty="0">
                          <a:solidFill>
                            <a:srgbClr val="000000"/>
                          </a:solidFill>
                          <a:latin typeface="Cormorant Infant" pitchFamily="2" charset="0"/>
                          <a:ea typeface="Cormorant Infant" pitchFamily="2" charset="0"/>
                          <a:cs typeface="Cormorant Infant" pitchFamily="2" charset="0"/>
                        </a:rPr>
                      </a:br>
                      <a:r>
                        <a:rPr lang="en-US" sz="1300" b="0" dirty="0">
                          <a:solidFill>
                            <a:srgbClr val="000000"/>
                          </a:solidFill>
                          <a:latin typeface="Cormorant Infant" pitchFamily="2" charset="0"/>
                          <a:ea typeface="Cormorant Infant" pitchFamily="2" charset="0"/>
                          <a:cs typeface="Cormorant Infant" pitchFamily="2" charset="0"/>
                        </a:rPr>
                        <a:t>Income Taxes: &lt;</a:t>
                      </a:r>
                      <a:r>
                        <a:rPr lang="en-US" sz="1300" b="0" dirty="0" err="1">
                          <a:solidFill>
                            <a:srgbClr val="000000"/>
                          </a:solidFill>
                          <a:latin typeface="Cormorant Infant" pitchFamily="2" charset="0"/>
                          <a:ea typeface="Cormorant Infant" pitchFamily="2" charset="0"/>
                          <a:cs typeface="Cormorant Infant" pitchFamily="2" charset="0"/>
                        </a:rPr>
                        <a:t>TaxRate</a:t>
                      </a:r>
                      <a:r>
                        <a:rPr lang="en-US" sz="1300" b="0" dirty="0">
                          <a:solidFill>
                            <a:srgbClr val="000000"/>
                          </a:solidFill>
                          <a:latin typeface="Cormorant Infant" pitchFamily="2" charset="0"/>
                          <a:ea typeface="Cormorant Infant" pitchFamily="2" charset="0"/>
                          <a:cs typeface="Cormorant Infant" pitchFamily="2" charset="0"/>
                        </a:rPr>
                        <a:t>&gt; </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algn="ctr"/>
                      <a:r>
                        <a:rPr lang="en-US" sz="1300" b="0" dirty="0">
                          <a:solidFill>
                            <a:srgbClr val="000000"/>
                          </a:solidFill>
                          <a:latin typeface="Cormorant Infant" pitchFamily="2" charset="0"/>
                          <a:ea typeface="Cormorant Infant" pitchFamily="2" charset="0"/>
                          <a:cs typeface="Cormorant Infant" pitchFamily="2" charset="0"/>
                        </a:rPr>
                        <a:t>Total Net to </a:t>
                      </a:r>
                      <a:br>
                        <a:rPr lang="en-US" sz="1300" b="0" dirty="0">
                          <a:solidFill>
                            <a:srgbClr val="000000"/>
                          </a:solidFill>
                          <a:latin typeface="Cormorant Infant" pitchFamily="2" charset="0"/>
                          <a:ea typeface="Cormorant Infant" pitchFamily="2" charset="0"/>
                          <a:cs typeface="Cormorant Infant" pitchFamily="2" charset="0"/>
                        </a:rPr>
                      </a:br>
                      <a:r>
                        <a:rPr lang="en-US" sz="1300" b="0" dirty="0">
                          <a:solidFill>
                            <a:srgbClr val="000000"/>
                          </a:solidFill>
                          <a:latin typeface="Cormorant Infant" pitchFamily="2" charset="0"/>
                          <a:ea typeface="Cormorant Infant" pitchFamily="2" charset="0"/>
                          <a:cs typeface="Cormorant Infant" pitchFamily="2" charset="0"/>
                        </a:rPr>
                        <a:t>Heirs After Income Taxes</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50977972"/>
                  </a:ext>
                </a:extLst>
              </a:tr>
              <a:tr h="91440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&lt;</a:t>
                      </a:r>
                      <a:r>
                        <a:rPr lang="en-US" sz="1300" b="0" dirty="0" err="1">
                          <a:solidFill>
                            <a:srgbClr val="000000"/>
                          </a:solidFill>
                          <a:latin typeface="Cormorant Infant" pitchFamily="2" charset="0"/>
                          <a:ea typeface="Cormorant Infant" pitchFamily="2" charset="0"/>
                          <a:cs typeface="Cormorant Infant" pitchFamily="2" charset="0"/>
                        </a:rPr>
                        <a:t>ClientIRA</a:t>
                      </a:r>
                      <a:r>
                        <a:rPr lang="en-US" sz="1300" b="0" dirty="0">
                          <a:solidFill>
                            <a:srgbClr val="000000"/>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 &lt;</a:t>
                      </a:r>
                      <a:r>
                        <a:rPr lang="en-US" sz="1300" b="0" dirty="0" err="1">
                          <a:solidFill>
                            <a:srgbClr val="000000"/>
                          </a:solidFill>
                          <a:latin typeface="Cormorant Infant" pitchFamily="2" charset="0"/>
                          <a:ea typeface="Cormorant Infant" pitchFamily="2" charset="0"/>
                          <a:cs typeface="Cormorant Infant" pitchFamily="2" charset="0"/>
                        </a:rPr>
                        <a:t>ClientIRDTaxes</a:t>
                      </a:r>
                      <a:r>
                        <a:rPr lang="en-US" sz="1300" b="0" dirty="0">
                          <a:solidFill>
                            <a:srgbClr val="000000"/>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&lt;</a:t>
                      </a:r>
                      <a:r>
                        <a:rPr lang="en-US" sz="1300" b="0" dirty="0" err="1">
                          <a:solidFill>
                            <a:srgbClr val="000000"/>
                          </a:solidFill>
                          <a:latin typeface="Cormorant Infant" pitchFamily="2" charset="0"/>
                          <a:ea typeface="Cormorant Infant" pitchFamily="2" charset="0"/>
                          <a:cs typeface="Cormorant Infant" pitchFamily="2" charset="0"/>
                        </a:rPr>
                        <a:t>ClientNetIRA</a:t>
                      </a:r>
                      <a:r>
                        <a:rPr lang="en-US" sz="1300" b="0" dirty="0">
                          <a:solidFill>
                            <a:srgbClr val="000000"/>
                          </a:solidFill>
                          <a:latin typeface="Cormorant Infant" pitchFamily="2" charset="0"/>
                          <a:ea typeface="Cormorant Infant" pitchFamily="2" charset="0"/>
                          <a:cs typeface="Cormorant Infant" pitchFamily="2" charset="0"/>
                        </a:rPr>
                        <a:t>&gt;</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92543440"/>
                  </a:ext>
                </a:extLst>
              </a:tr>
              <a:tr h="914400">
                <a:tc>
                  <a:txBody>
                    <a:bodyPr/>
                    <a:lstStyle/>
                    <a:p>
                      <a:pPr algn="ctr"/>
                      <a:endParaRPr lang="en-US" sz="1300" b="0" dirty="0">
                        <a:solidFill>
                          <a:srgbClr val="000000"/>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no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i="0" dirty="0">
                          <a:solidFill>
                            <a:srgbClr val="000000"/>
                          </a:solidFill>
                          <a:latin typeface="Cormorant Infant" pitchFamily="2" charset="0"/>
                          <a:ea typeface="Cormorant Infant" pitchFamily="2" charset="0"/>
                          <a:cs typeface="Cormorant Infant" pitchFamily="2" charset="0"/>
                        </a:rPr>
                        <a:t>Total Tax Erosion: </a:t>
                      </a:r>
                      <a:br>
                        <a:rPr lang="en-US" sz="1300" b="0" i="0" dirty="0">
                          <a:solidFill>
                            <a:srgbClr val="000000"/>
                          </a:solidFill>
                          <a:latin typeface="Cormorant Infant" pitchFamily="2" charset="0"/>
                          <a:ea typeface="Cormorant Infant" pitchFamily="2" charset="0"/>
                          <a:cs typeface="Cormorant Infant" pitchFamily="2" charset="0"/>
                        </a:rPr>
                      </a:br>
                      <a:r>
                        <a:rPr lang="en-US" sz="1300" b="0" i="0" dirty="0">
                          <a:solidFill>
                            <a:srgbClr val="000000"/>
                          </a:solidFill>
                          <a:latin typeface="Cormorant Infant" pitchFamily="2" charset="0"/>
                          <a:ea typeface="Cormorant Infant" pitchFamily="2" charset="0"/>
                          <a:cs typeface="Cormorant Infant" pitchFamily="2" charset="0"/>
                        </a:rPr>
                        <a:t>&lt;</a:t>
                      </a:r>
                      <a:r>
                        <a:rPr lang="en-US" sz="1300" b="0" i="0" dirty="0" err="1">
                          <a:solidFill>
                            <a:srgbClr val="000000"/>
                          </a:solidFill>
                          <a:latin typeface="Cormorant Infant" pitchFamily="2" charset="0"/>
                          <a:ea typeface="Cormorant Infant" pitchFamily="2" charset="0"/>
                          <a:cs typeface="Cormorant Infant" pitchFamily="2" charset="0"/>
                        </a:rPr>
                        <a:t>ErodeRate</a:t>
                      </a:r>
                      <a:r>
                        <a:rPr lang="en-US" sz="1300" b="0" i="0" dirty="0">
                          <a:solidFill>
                            <a:srgbClr val="000000"/>
                          </a:solidFill>
                          <a:latin typeface="Cormorant Infant" pitchFamily="2" charset="0"/>
                          <a:ea typeface="Cormorant Infant" pitchFamily="2" charset="0"/>
                          <a:cs typeface="Cormorant Infant" pitchFamily="2" charset="0"/>
                        </a:rPr>
                        <a:t>&gt;</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US" sz="1300" b="0" dirty="0">
                        <a:solidFill>
                          <a:srgbClr val="000000"/>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6703475"/>
                  </a:ext>
                </a:extLst>
              </a:tr>
            </a:tbl>
          </a:graphicData>
        </a:graphic>
      </p:graphicFrame>
      <p:sp>
        <p:nvSpPr>
          <p:cNvPr id="44" name="object 4">
            <a:extLst>
              <a:ext uri="{FF2B5EF4-FFF2-40B4-BE49-F238E27FC236}">
                <a16:creationId xmlns:a16="http://schemas.microsoft.com/office/drawing/2014/main" id="{30415E76-6706-32A9-2168-2ACA62471C20}"/>
              </a:ext>
            </a:extLst>
          </p:cNvPr>
          <p:cNvSpPr txBox="1">
            <a:spLocks/>
          </p:cNvSpPr>
          <p:nvPr/>
        </p:nvSpPr>
        <p:spPr>
          <a:xfrm>
            <a:off x="1859279" y="2344120"/>
            <a:ext cx="3877665" cy="184666"/>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Impact of Income Taxes on Inherited Retirement Accounts</a:t>
            </a:r>
          </a:p>
        </p:txBody>
      </p:sp>
      <p:sp>
        <p:nvSpPr>
          <p:cNvPr id="3" name="TextBox 2">
            <a:extLst>
              <a:ext uri="{FF2B5EF4-FFF2-40B4-BE49-F238E27FC236}">
                <a16:creationId xmlns:a16="http://schemas.microsoft.com/office/drawing/2014/main" id="{D4281FE7-C0C0-CB03-4CB5-5297E7D12BD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BE34FEE0-BCDA-2395-133C-D1D24B784373}"/>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2616192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BE3B2-F109-8987-21E3-BBCD5FB8E082}"/>
            </a:ext>
          </a:extLst>
        </p:cNvPr>
        <p:cNvGrpSpPr/>
        <p:nvPr/>
      </p:nvGrpSpPr>
      <p:grpSpPr>
        <a:xfrm>
          <a:off x="0" y="0"/>
          <a:ext cx="0" cy="0"/>
          <a:chOff x="0" y="0"/>
          <a:chExt cx="0" cy="0"/>
        </a:xfrm>
      </p:grpSpPr>
      <p:sp>
        <p:nvSpPr>
          <p:cNvPr id="4" name="CurrentTable1">
            <a:extLst>
              <a:ext uri="{FF2B5EF4-FFF2-40B4-BE49-F238E27FC236}">
                <a16:creationId xmlns:a16="http://schemas.microsoft.com/office/drawing/2014/main" id="{89522503-ACFF-F501-E036-7991DDD9B3E0}"/>
              </a:ext>
            </a:extLst>
          </p:cNvPr>
          <p:cNvSpPr>
            <a:spLocks noGrp="1"/>
          </p:cNvSpPr>
          <p:nvPr>
            <p:ph sz="quarter" idx="10"/>
          </p:nvPr>
        </p:nvSpPr>
        <p:spPr>
          <a:xfrm>
            <a:off x="3630168" y="1177081"/>
            <a:ext cx="7863840" cy="4818888"/>
          </a:xfrm>
        </p:spPr>
        <p:txBody>
          <a:bodyPr wrap="none" lIns="0" tIns="0" rIns="0" bIns="0"/>
          <a:lstStyle/>
          <a:p>
            <a:endParaRPr lang="en-US" dirty="0"/>
          </a:p>
        </p:txBody>
      </p:sp>
      <p:sp>
        <p:nvSpPr>
          <p:cNvPr id="12" name="object 4">
            <a:extLst>
              <a:ext uri="{FF2B5EF4-FFF2-40B4-BE49-F238E27FC236}">
                <a16:creationId xmlns:a16="http://schemas.microsoft.com/office/drawing/2014/main" id="{D179E3F4-2A42-F4F5-9099-F0C9558967D4}"/>
              </a:ext>
            </a:extLst>
          </p:cNvPr>
          <p:cNvSpPr txBox="1">
            <a:spLocks/>
          </p:cNvSpPr>
          <p:nvPr/>
        </p:nvSpPr>
        <p:spPr>
          <a:xfrm>
            <a:off x="895350" y="29025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5A657E6A-121B-167C-BD21-B6FB7A45F59D}"/>
              </a:ext>
            </a:extLst>
          </p:cNvPr>
          <p:cNvSpPr txBox="1">
            <a:spLocks/>
          </p:cNvSpPr>
          <p:nvPr/>
        </p:nvSpPr>
        <p:spPr>
          <a:xfrm>
            <a:off x="895350" y="1439047"/>
            <a:ext cx="2452151" cy="1200329"/>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600" b="0" dirty="0">
                <a:solidFill>
                  <a:sysClr val="windowText" lastClr="000000"/>
                </a:solidFill>
                <a:latin typeface="Cormorant Infant" pitchFamily="2" charset="0"/>
                <a:cs typeface="Cormorant Infant" pitchFamily="2" charset="0"/>
              </a:rPr>
              <a:t>What is the outcome of the current planning?</a:t>
            </a:r>
          </a:p>
        </p:txBody>
      </p:sp>
      <p:pic>
        <p:nvPicPr>
          <p:cNvPr id="9" name="Graphic 8">
            <a:extLst>
              <a:ext uri="{FF2B5EF4-FFF2-40B4-BE49-F238E27FC236}">
                <a16:creationId xmlns:a16="http://schemas.microsoft.com/office/drawing/2014/main" id="{C25B9414-06DF-9A33-3F51-10AAE4E568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TextBox 4">
            <a:extLst>
              <a:ext uri="{FF2B5EF4-FFF2-40B4-BE49-F238E27FC236}">
                <a16:creationId xmlns:a16="http://schemas.microsoft.com/office/drawing/2014/main" id="{5F6D3835-0F0C-058D-3F0F-961814DA8FF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1" name="TextBox 10">
            <a:extLst>
              <a:ext uri="{FF2B5EF4-FFF2-40B4-BE49-F238E27FC236}">
                <a16:creationId xmlns:a16="http://schemas.microsoft.com/office/drawing/2014/main" id="{19A85FE5-E7EA-F2F1-9234-95B05A08FA3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968159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1C8B7-7429-6D43-AADA-8C17C4B975AD}"/>
            </a:ext>
          </a:extLst>
        </p:cNvPr>
        <p:cNvGrpSpPr/>
        <p:nvPr/>
      </p:nvGrpSpPr>
      <p:grpSpPr>
        <a:xfrm>
          <a:off x="0" y="0"/>
          <a:ext cx="0" cy="0"/>
          <a:chOff x="0" y="0"/>
          <a:chExt cx="0" cy="0"/>
        </a:xfrm>
      </p:grpSpPr>
      <p:sp>
        <p:nvSpPr>
          <p:cNvPr id="4" name="CurrentTable2">
            <a:extLst>
              <a:ext uri="{FF2B5EF4-FFF2-40B4-BE49-F238E27FC236}">
                <a16:creationId xmlns:a16="http://schemas.microsoft.com/office/drawing/2014/main" id="{F4E3541D-FCBD-761E-FB8D-1ED052BB8E7A}"/>
              </a:ext>
            </a:extLst>
          </p:cNvPr>
          <p:cNvSpPr>
            <a:spLocks noGrp="1"/>
          </p:cNvSpPr>
          <p:nvPr>
            <p:ph sz="quarter" idx="10"/>
          </p:nvPr>
        </p:nvSpPr>
        <p:spPr>
          <a:xfrm>
            <a:off x="3630168" y="1177081"/>
            <a:ext cx="7863840" cy="4818888"/>
          </a:xfrm>
        </p:spPr>
        <p:txBody>
          <a:bodyPr wrap="none" lIns="0" tIns="0" rIns="0" bIns="0"/>
          <a:lstStyle/>
          <a:p>
            <a:endParaRPr lang="en-US" dirty="0"/>
          </a:p>
        </p:txBody>
      </p:sp>
      <p:sp>
        <p:nvSpPr>
          <p:cNvPr id="12" name="object 4">
            <a:extLst>
              <a:ext uri="{FF2B5EF4-FFF2-40B4-BE49-F238E27FC236}">
                <a16:creationId xmlns:a16="http://schemas.microsoft.com/office/drawing/2014/main" id="{8BDF4A59-3D16-B715-B7B9-3A512D08A7DD}"/>
              </a:ext>
            </a:extLst>
          </p:cNvPr>
          <p:cNvSpPr txBox="1">
            <a:spLocks/>
          </p:cNvSpPr>
          <p:nvPr/>
        </p:nvSpPr>
        <p:spPr>
          <a:xfrm>
            <a:off x="895350" y="29025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pic>
        <p:nvPicPr>
          <p:cNvPr id="9" name="Graphic 8">
            <a:extLst>
              <a:ext uri="{FF2B5EF4-FFF2-40B4-BE49-F238E27FC236}">
                <a16:creationId xmlns:a16="http://schemas.microsoft.com/office/drawing/2014/main" id="{ABB08861-C516-F7C3-4354-54CB0AE398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3" name="object 4">
            <a:extLst>
              <a:ext uri="{FF2B5EF4-FFF2-40B4-BE49-F238E27FC236}">
                <a16:creationId xmlns:a16="http://schemas.microsoft.com/office/drawing/2014/main" id="{ACAD0FC7-B5C7-848B-5B48-DB2969364799}"/>
              </a:ext>
            </a:extLst>
          </p:cNvPr>
          <p:cNvSpPr txBox="1">
            <a:spLocks/>
          </p:cNvSpPr>
          <p:nvPr/>
        </p:nvSpPr>
        <p:spPr>
          <a:xfrm>
            <a:off x="895350" y="1439047"/>
            <a:ext cx="2452151" cy="1200329"/>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600" b="0" dirty="0">
                <a:solidFill>
                  <a:sysClr val="windowText" lastClr="000000"/>
                </a:solidFill>
                <a:latin typeface="Cormorant Infant" pitchFamily="2" charset="0"/>
                <a:cs typeface="Cormorant Infant" pitchFamily="2" charset="0"/>
              </a:rPr>
              <a:t>Outcome of current planning continued:</a:t>
            </a:r>
          </a:p>
        </p:txBody>
      </p:sp>
      <p:sp>
        <p:nvSpPr>
          <p:cNvPr id="5" name="TextBox 4">
            <a:extLst>
              <a:ext uri="{FF2B5EF4-FFF2-40B4-BE49-F238E27FC236}">
                <a16:creationId xmlns:a16="http://schemas.microsoft.com/office/drawing/2014/main" id="{95892D8A-4319-E794-CD52-2A9332AE8A17}"/>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TextBox 5">
            <a:extLst>
              <a:ext uri="{FF2B5EF4-FFF2-40B4-BE49-F238E27FC236}">
                <a16:creationId xmlns:a16="http://schemas.microsoft.com/office/drawing/2014/main" id="{658A3F20-DD9D-07DC-EA05-97A576A3D64F}"/>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4216050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E4F5-C51B-FB61-3963-752550760F3D}"/>
            </a:ext>
          </a:extLst>
        </p:cNvPr>
        <p:cNvGrpSpPr/>
        <p:nvPr/>
      </p:nvGrpSpPr>
      <p:grpSpPr>
        <a:xfrm>
          <a:off x="0" y="0"/>
          <a:ext cx="0" cy="0"/>
          <a:chOff x="0" y="0"/>
          <a:chExt cx="0" cy="0"/>
        </a:xfrm>
      </p:grpSpPr>
      <p:sp>
        <p:nvSpPr>
          <p:cNvPr id="4" name="CurrentTable3">
            <a:extLst>
              <a:ext uri="{FF2B5EF4-FFF2-40B4-BE49-F238E27FC236}">
                <a16:creationId xmlns:a16="http://schemas.microsoft.com/office/drawing/2014/main" id="{508C727C-D585-A1A1-36E8-E1B1083324CB}"/>
              </a:ext>
            </a:extLst>
          </p:cNvPr>
          <p:cNvSpPr>
            <a:spLocks noGrp="1"/>
          </p:cNvSpPr>
          <p:nvPr>
            <p:ph sz="quarter" idx="10"/>
          </p:nvPr>
        </p:nvSpPr>
        <p:spPr>
          <a:xfrm>
            <a:off x="3630168" y="1177081"/>
            <a:ext cx="7863840" cy="4818888"/>
          </a:xfrm>
        </p:spPr>
        <p:txBody>
          <a:bodyPr wrap="none" lIns="0" tIns="0" rIns="0" bIns="0"/>
          <a:lstStyle/>
          <a:p>
            <a:endParaRPr lang="en-US" dirty="0"/>
          </a:p>
        </p:txBody>
      </p:sp>
      <p:sp>
        <p:nvSpPr>
          <p:cNvPr id="12" name="object 4">
            <a:extLst>
              <a:ext uri="{FF2B5EF4-FFF2-40B4-BE49-F238E27FC236}">
                <a16:creationId xmlns:a16="http://schemas.microsoft.com/office/drawing/2014/main" id="{888BCE1C-70DF-46FD-FF2F-27FD6A255CBB}"/>
              </a:ext>
            </a:extLst>
          </p:cNvPr>
          <p:cNvSpPr txBox="1">
            <a:spLocks/>
          </p:cNvSpPr>
          <p:nvPr/>
        </p:nvSpPr>
        <p:spPr>
          <a:xfrm>
            <a:off x="895350" y="29025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pic>
        <p:nvPicPr>
          <p:cNvPr id="9" name="Graphic 8">
            <a:extLst>
              <a:ext uri="{FF2B5EF4-FFF2-40B4-BE49-F238E27FC236}">
                <a16:creationId xmlns:a16="http://schemas.microsoft.com/office/drawing/2014/main" id="{1C0BB33C-F41F-00AF-34B6-3E80CC1F27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3" name="object 4">
            <a:extLst>
              <a:ext uri="{FF2B5EF4-FFF2-40B4-BE49-F238E27FC236}">
                <a16:creationId xmlns:a16="http://schemas.microsoft.com/office/drawing/2014/main" id="{121B7EB0-7CA2-E257-148E-6A240276578C}"/>
              </a:ext>
            </a:extLst>
          </p:cNvPr>
          <p:cNvSpPr txBox="1">
            <a:spLocks/>
          </p:cNvSpPr>
          <p:nvPr/>
        </p:nvSpPr>
        <p:spPr>
          <a:xfrm>
            <a:off x="895350" y="1439047"/>
            <a:ext cx="2452151" cy="1200329"/>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600" b="0" dirty="0">
                <a:solidFill>
                  <a:sysClr val="windowText" lastClr="000000"/>
                </a:solidFill>
                <a:latin typeface="Cormorant Infant" pitchFamily="2" charset="0"/>
                <a:cs typeface="Cormorant Infant" pitchFamily="2" charset="0"/>
              </a:rPr>
              <a:t>Outcome of current planning continued:</a:t>
            </a:r>
          </a:p>
        </p:txBody>
      </p:sp>
      <p:sp>
        <p:nvSpPr>
          <p:cNvPr id="5" name="TextBox 4">
            <a:extLst>
              <a:ext uri="{FF2B5EF4-FFF2-40B4-BE49-F238E27FC236}">
                <a16:creationId xmlns:a16="http://schemas.microsoft.com/office/drawing/2014/main" id="{693261D9-43AD-A933-25ED-AD11EF8E0302}"/>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TextBox 5">
            <a:extLst>
              <a:ext uri="{FF2B5EF4-FFF2-40B4-BE49-F238E27FC236}">
                <a16:creationId xmlns:a16="http://schemas.microsoft.com/office/drawing/2014/main" id="{E994314C-02AC-B0A0-6251-00CA5D4DEE0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2959806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1C5A-FD82-6CFE-1020-DDF0BDDEF717}"/>
            </a:ext>
          </a:extLst>
        </p:cNvPr>
        <p:cNvGrpSpPr/>
        <p:nvPr/>
      </p:nvGrpSpPr>
      <p:grpSpPr>
        <a:xfrm>
          <a:off x="0" y="0"/>
          <a:ext cx="0" cy="0"/>
          <a:chOff x="0" y="0"/>
          <a:chExt cx="0" cy="0"/>
        </a:xfrm>
      </p:grpSpPr>
      <p:grpSp>
        <p:nvGrpSpPr>
          <p:cNvPr id="91" name="Group 90">
            <a:extLst>
              <a:ext uri="{FF2B5EF4-FFF2-40B4-BE49-F238E27FC236}">
                <a16:creationId xmlns:a16="http://schemas.microsoft.com/office/drawing/2014/main" id="{4DFC1247-05C1-A853-F213-ED8311262B07}"/>
              </a:ext>
            </a:extLst>
          </p:cNvPr>
          <p:cNvGrpSpPr/>
          <p:nvPr/>
        </p:nvGrpSpPr>
        <p:grpSpPr>
          <a:xfrm>
            <a:off x="838200" y="1496315"/>
            <a:ext cx="10898164" cy="3013424"/>
            <a:chOff x="838200" y="1496315"/>
            <a:chExt cx="10898164" cy="3013424"/>
          </a:xfrm>
        </p:grpSpPr>
        <p:sp>
          <p:nvSpPr>
            <p:cNvPr id="36" name="Rectangle 35">
              <a:extLst>
                <a:ext uri="{FF2B5EF4-FFF2-40B4-BE49-F238E27FC236}">
                  <a16:creationId xmlns:a16="http://schemas.microsoft.com/office/drawing/2014/main" id="{605E6892-4C14-C4B0-2219-8EED3D394FEA}"/>
                </a:ext>
              </a:extLst>
            </p:cNvPr>
            <p:cNvSpPr/>
            <p:nvPr/>
          </p:nvSpPr>
          <p:spPr>
            <a:xfrm>
              <a:off x="838203" y="1496315"/>
              <a:ext cx="5380971" cy="1505330"/>
            </a:xfrm>
            <a:prstGeom prst="rect">
              <a:avLst/>
            </a:prstGeom>
            <a:solidFill>
              <a:schemeClr val="bg2"/>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BE0FF4-EE57-0EA6-EC24-DB0B98E5D463}"/>
                </a:ext>
              </a:extLst>
            </p:cNvPr>
            <p:cNvSpPr/>
            <p:nvPr/>
          </p:nvSpPr>
          <p:spPr>
            <a:xfrm>
              <a:off x="6219173" y="1496315"/>
              <a:ext cx="5517191" cy="1505330"/>
            </a:xfrm>
            <a:prstGeom prst="rect">
              <a:avLst/>
            </a:prstGeom>
            <a:solidFill>
              <a:schemeClr val="accent1">
                <a:lumMod val="20000"/>
                <a:lumOff val="8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1741D78-07DA-3C97-9525-225EF930F087}"/>
                </a:ext>
              </a:extLst>
            </p:cNvPr>
            <p:cNvSpPr/>
            <p:nvPr/>
          </p:nvSpPr>
          <p:spPr>
            <a:xfrm>
              <a:off x="838200" y="3004409"/>
              <a:ext cx="5380973" cy="1505330"/>
            </a:xfrm>
            <a:prstGeom prst="rect">
              <a:avLst/>
            </a:prstGeom>
            <a:solidFill>
              <a:schemeClr val="accent1">
                <a:lumMod val="20000"/>
                <a:lumOff val="8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1134535-B12A-B947-D382-6DA6CD489689}"/>
                </a:ext>
              </a:extLst>
            </p:cNvPr>
            <p:cNvSpPr/>
            <p:nvPr/>
          </p:nvSpPr>
          <p:spPr>
            <a:xfrm>
              <a:off x="6219173" y="3004409"/>
              <a:ext cx="5517191" cy="1505330"/>
            </a:xfrm>
            <a:prstGeom prst="rect">
              <a:avLst/>
            </a:prstGeom>
            <a:solidFill>
              <a:schemeClr val="bg2"/>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TextBox 40">
            <a:extLst>
              <a:ext uri="{FF2B5EF4-FFF2-40B4-BE49-F238E27FC236}">
                <a16:creationId xmlns:a16="http://schemas.microsoft.com/office/drawing/2014/main" id="{5BBDE833-2150-0D9F-6EB3-6C8FB7E11ED5}"/>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2" name="TextBox 41">
            <a:extLst>
              <a:ext uri="{FF2B5EF4-FFF2-40B4-BE49-F238E27FC236}">
                <a16:creationId xmlns:a16="http://schemas.microsoft.com/office/drawing/2014/main" id="{C0C2F734-17A8-7420-014C-754D7B78601A}"/>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3" name="TextBox 42">
            <a:extLst>
              <a:ext uri="{FF2B5EF4-FFF2-40B4-BE49-F238E27FC236}">
                <a16:creationId xmlns:a16="http://schemas.microsoft.com/office/drawing/2014/main" id="{69CAF5EB-9403-F4B3-034C-E4A21179EA1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1" name="TextBox 50">
            <a:extLst>
              <a:ext uri="{FF2B5EF4-FFF2-40B4-BE49-F238E27FC236}">
                <a16:creationId xmlns:a16="http://schemas.microsoft.com/office/drawing/2014/main" id="{FF150C4B-1B23-823D-32E0-C0AC1172C4E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grpSp>
        <p:nvGrpSpPr>
          <p:cNvPr id="52" name="Group 51">
            <a:extLst>
              <a:ext uri="{FF2B5EF4-FFF2-40B4-BE49-F238E27FC236}">
                <a16:creationId xmlns:a16="http://schemas.microsoft.com/office/drawing/2014/main" id="{18616E6B-1F98-E153-4484-AEE407A96664}"/>
              </a:ext>
            </a:extLst>
          </p:cNvPr>
          <p:cNvGrpSpPr/>
          <p:nvPr/>
        </p:nvGrpSpPr>
        <p:grpSpPr>
          <a:xfrm>
            <a:off x="838200" y="972402"/>
            <a:ext cx="6761280" cy="430887"/>
            <a:chOff x="838200" y="1041875"/>
            <a:chExt cx="6761280" cy="430887"/>
          </a:xfrm>
        </p:grpSpPr>
        <p:sp>
          <p:nvSpPr>
            <p:cNvPr id="53" name="object 4">
              <a:extLst>
                <a:ext uri="{FF2B5EF4-FFF2-40B4-BE49-F238E27FC236}">
                  <a16:creationId xmlns:a16="http://schemas.microsoft.com/office/drawing/2014/main" id="{CC9A9B16-5A73-FFBB-740F-1F6A7DF2B5DD}"/>
                </a:ext>
              </a:extLst>
            </p:cNvPr>
            <p:cNvSpPr txBox="1">
              <a:spLocks/>
            </p:cNvSpPr>
            <p:nvPr/>
          </p:nvSpPr>
          <p:spPr>
            <a:xfrm>
              <a:off x="838200" y="1041875"/>
              <a:ext cx="3270126"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Repetitive Tax Erosion</a:t>
              </a:r>
            </a:p>
          </p:txBody>
        </p:sp>
        <p:sp>
          <p:nvSpPr>
            <p:cNvPr id="54" name="object 4">
              <a:extLst>
                <a:ext uri="{FF2B5EF4-FFF2-40B4-BE49-F238E27FC236}">
                  <a16:creationId xmlns:a16="http://schemas.microsoft.com/office/drawing/2014/main" id="{F0D36DAB-ED41-5005-6F97-67F467C28401}"/>
                </a:ext>
              </a:extLst>
            </p:cNvPr>
            <p:cNvSpPr txBox="1">
              <a:spLocks/>
            </p:cNvSpPr>
            <p:nvPr/>
          </p:nvSpPr>
          <p:spPr>
            <a:xfrm>
              <a:off x="4127376" y="1215092"/>
              <a:ext cx="3472104" cy="184666"/>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    |     Conventional Planning for Retirement Plan Assets </a:t>
              </a:r>
            </a:p>
          </p:txBody>
        </p:sp>
      </p:grpSp>
      <p:grpSp>
        <p:nvGrpSpPr>
          <p:cNvPr id="86" name="Group 85">
            <a:extLst>
              <a:ext uri="{FF2B5EF4-FFF2-40B4-BE49-F238E27FC236}">
                <a16:creationId xmlns:a16="http://schemas.microsoft.com/office/drawing/2014/main" id="{99023743-7DDE-60E2-4A4E-FA615BFC9C1A}"/>
              </a:ext>
            </a:extLst>
          </p:cNvPr>
          <p:cNvGrpSpPr/>
          <p:nvPr/>
        </p:nvGrpSpPr>
        <p:grpSpPr>
          <a:xfrm>
            <a:off x="1091477" y="1700125"/>
            <a:ext cx="4918472" cy="1021132"/>
            <a:chOff x="1091477" y="1700125"/>
            <a:chExt cx="4918472" cy="1021132"/>
          </a:xfrm>
        </p:grpSpPr>
        <p:sp>
          <p:nvSpPr>
            <p:cNvPr id="58" name="object 4">
              <a:extLst>
                <a:ext uri="{FF2B5EF4-FFF2-40B4-BE49-F238E27FC236}">
                  <a16:creationId xmlns:a16="http://schemas.microsoft.com/office/drawing/2014/main" id="{9A0E7450-FD60-03B9-8421-CDB6979A0637}"/>
                </a:ext>
              </a:extLst>
            </p:cNvPr>
            <p:cNvSpPr txBox="1">
              <a:spLocks/>
            </p:cNvSpPr>
            <p:nvPr/>
          </p:nvSpPr>
          <p:spPr>
            <a:xfrm>
              <a:off x="1094798" y="1700125"/>
              <a:ext cx="4915151" cy="28714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No Withdrawals Until RMDs, Leave Balance to Heirs</a:t>
              </a:r>
            </a:p>
          </p:txBody>
        </p:sp>
        <p:sp>
          <p:nvSpPr>
            <p:cNvPr id="62" name="object 4">
              <a:extLst>
                <a:ext uri="{FF2B5EF4-FFF2-40B4-BE49-F238E27FC236}">
                  <a16:creationId xmlns:a16="http://schemas.microsoft.com/office/drawing/2014/main" id="{DE2E93AB-98D9-B064-4227-0E01F79ABB35}"/>
                </a:ext>
              </a:extLst>
            </p:cNvPr>
            <p:cNvSpPr txBox="1">
              <a:spLocks/>
            </p:cNvSpPr>
            <p:nvPr/>
          </p:nvSpPr>
          <p:spPr>
            <a:xfrm>
              <a:off x="1091477" y="2004844"/>
              <a:ext cx="4915151" cy="23044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Preserves tax-deferred compounding during your lifetime</a:t>
              </a:r>
            </a:p>
          </p:txBody>
        </p:sp>
        <p:sp>
          <p:nvSpPr>
            <p:cNvPr id="70" name="object 4">
              <a:extLst>
                <a:ext uri="{FF2B5EF4-FFF2-40B4-BE49-F238E27FC236}">
                  <a16:creationId xmlns:a16="http://schemas.microsoft.com/office/drawing/2014/main" id="{E8DF10B6-2351-2ADA-F111-7290E02CEC81}"/>
                </a:ext>
              </a:extLst>
            </p:cNvPr>
            <p:cNvSpPr txBox="1">
              <a:spLocks/>
            </p:cNvSpPr>
            <p:nvPr/>
          </p:nvSpPr>
          <p:spPr>
            <a:xfrm>
              <a:off x="1094797" y="2310406"/>
              <a:ext cx="4915151" cy="41085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Pre-tax assets remain subject to estate/GST and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income taxes for heirs</a:t>
              </a:r>
            </a:p>
          </p:txBody>
        </p:sp>
      </p:grpSp>
      <p:grpSp>
        <p:nvGrpSpPr>
          <p:cNvPr id="88" name="Group 87">
            <a:extLst>
              <a:ext uri="{FF2B5EF4-FFF2-40B4-BE49-F238E27FC236}">
                <a16:creationId xmlns:a16="http://schemas.microsoft.com/office/drawing/2014/main" id="{4E4D9911-1644-AAAE-27C2-AA3409EC58F2}"/>
              </a:ext>
            </a:extLst>
          </p:cNvPr>
          <p:cNvGrpSpPr/>
          <p:nvPr/>
        </p:nvGrpSpPr>
        <p:grpSpPr>
          <a:xfrm>
            <a:off x="6472450" y="1716069"/>
            <a:ext cx="4628073" cy="1027433"/>
            <a:chOff x="6472450" y="1716069"/>
            <a:chExt cx="4628073" cy="1027433"/>
          </a:xfrm>
        </p:grpSpPr>
        <p:sp>
          <p:nvSpPr>
            <p:cNvPr id="59" name="object 4">
              <a:extLst>
                <a:ext uri="{FF2B5EF4-FFF2-40B4-BE49-F238E27FC236}">
                  <a16:creationId xmlns:a16="http://schemas.microsoft.com/office/drawing/2014/main" id="{BAC9DAF0-D4E9-316B-4944-9C35E5355553}"/>
                </a:ext>
              </a:extLst>
            </p:cNvPr>
            <p:cNvSpPr txBox="1">
              <a:spLocks/>
            </p:cNvSpPr>
            <p:nvPr/>
          </p:nvSpPr>
          <p:spPr>
            <a:xfrm>
              <a:off x="6475771" y="1716069"/>
              <a:ext cx="4417873" cy="27119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Roth Conversion</a:t>
              </a:r>
            </a:p>
          </p:txBody>
        </p:sp>
        <p:sp>
          <p:nvSpPr>
            <p:cNvPr id="63" name="object 4">
              <a:extLst>
                <a:ext uri="{FF2B5EF4-FFF2-40B4-BE49-F238E27FC236}">
                  <a16:creationId xmlns:a16="http://schemas.microsoft.com/office/drawing/2014/main" id="{1E01982E-459F-1E9D-2DED-39450EACCFEB}"/>
                </a:ext>
              </a:extLst>
            </p:cNvPr>
            <p:cNvSpPr txBox="1">
              <a:spLocks/>
            </p:cNvSpPr>
            <p:nvPr/>
          </p:nvSpPr>
          <p:spPr>
            <a:xfrm>
              <a:off x="6472450" y="2020788"/>
              <a:ext cx="4628073" cy="21449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Eliminates future income tax on growth and distribution to heirs</a:t>
              </a:r>
            </a:p>
          </p:txBody>
        </p:sp>
        <p:sp>
          <p:nvSpPr>
            <p:cNvPr id="75" name="object 4">
              <a:extLst>
                <a:ext uri="{FF2B5EF4-FFF2-40B4-BE49-F238E27FC236}">
                  <a16:creationId xmlns:a16="http://schemas.microsoft.com/office/drawing/2014/main" id="{E77D19F7-B731-9481-B19B-C21FE7AB957D}"/>
                </a:ext>
              </a:extLst>
            </p:cNvPr>
            <p:cNvSpPr txBox="1">
              <a:spLocks/>
            </p:cNvSpPr>
            <p:nvPr/>
          </p:nvSpPr>
          <p:spPr>
            <a:xfrm>
              <a:off x="6475770" y="2326350"/>
              <a:ext cx="4417873" cy="41715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Immediate income tax due; remaining assets subject to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estate/GST taxes</a:t>
              </a:r>
            </a:p>
          </p:txBody>
        </p:sp>
      </p:grpSp>
      <p:grpSp>
        <p:nvGrpSpPr>
          <p:cNvPr id="87" name="Group 86">
            <a:extLst>
              <a:ext uri="{FF2B5EF4-FFF2-40B4-BE49-F238E27FC236}">
                <a16:creationId xmlns:a16="http://schemas.microsoft.com/office/drawing/2014/main" id="{9B2F7081-332A-8ACE-DFB4-4D0461E6CA2E}"/>
              </a:ext>
            </a:extLst>
          </p:cNvPr>
          <p:cNvGrpSpPr/>
          <p:nvPr/>
        </p:nvGrpSpPr>
        <p:grpSpPr>
          <a:xfrm>
            <a:off x="1091477" y="3208219"/>
            <a:ext cx="4741257" cy="1111394"/>
            <a:chOff x="1091477" y="3208219"/>
            <a:chExt cx="4741257" cy="1111394"/>
          </a:xfrm>
        </p:grpSpPr>
        <p:sp>
          <p:nvSpPr>
            <p:cNvPr id="60" name="object 4">
              <a:extLst>
                <a:ext uri="{FF2B5EF4-FFF2-40B4-BE49-F238E27FC236}">
                  <a16:creationId xmlns:a16="http://schemas.microsoft.com/office/drawing/2014/main" id="{A87FA4CB-B158-44B4-C64E-97B81895F6E2}"/>
                </a:ext>
              </a:extLst>
            </p:cNvPr>
            <p:cNvSpPr txBox="1">
              <a:spLocks/>
            </p:cNvSpPr>
            <p:nvPr/>
          </p:nvSpPr>
          <p:spPr>
            <a:xfrm>
              <a:off x="1094798" y="3208219"/>
              <a:ext cx="4737936" cy="22078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Take Distributions, Gift to Trust, &amp; Buy Life Insurance</a:t>
              </a:r>
            </a:p>
          </p:txBody>
        </p:sp>
        <p:sp>
          <p:nvSpPr>
            <p:cNvPr id="64" name="object 4">
              <a:extLst>
                <a:ext uri="{FF2B5EF4-FFF2-40B4-BE49-F238E27FC236}">
                  <a16:creationId xmlns:a16="http://schemas.microsoft.com/office/drawing/2014/main" id="{32AFDA9F-E1F4-E4FD-B259-F49912E466BE}"/>
                </a:ext>
              </a:extLst>
            </p:cNvPr>
            <p:cNvSpPr txBox="1">
              <a:spLocks/>
            </p:cNvSpPr>
            <p:nvPr/>
          </p:nvSpPr>
          <p:spPr>
            <a:xfrm>
              <a:off x="1091477" y="3512939"/>
              <a:ext cx="4737936" cy="25261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Creates a protected, leveraged, and estate tax free death benefit</a:t>
              </a:r>
            </a:p>
          </p:txBody>
        </p:sp>
        <p:sp>
          <p:nvSpPr>
            <p:cNvPr id="84" name="object 4">
              <a:extLst>
                <a:ext uri="{FF2B5EF4-FFF2-40B4-BE49-F238E27FC236}">
                  <a16:creationId xmlns:a16="http://schemas.microsoft.com/office/drawing/2014/main" id="{3BE3DBA2-67A4-E5FC-4F85-E25E006E8CC2}"/>
                </a:ext>
              </a:extLst>
            </p:cNvPr>
            <p:cNvSpPr txBox="1">
              <a:spLocks/>
            </p:cNvSpPr>
            <p:nvPr/>
          </p:nvSpPr>
          <p:spPr>
            <a:xfrm>
              <a:off x="1094797" y="3818500"/>
              <a:ext cx="4737936" cy="501113"/>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Taxes on excess distributions; gifts may use lifetime exemption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and are not discountable</a:t>
              </a:r>
            </a:p>
            <a:p>
              <a:pPr algn="l">
                <a:lnSpc>
                  <a:spcPts val="1800"/>
                </a:lnSpc>
              </a:pPr>
              <a:endParaRPr lang="en-US" sz="1800" b="0" dirty="0">
                <a:solidFill>
                  <a:srgbClr val="000000"/>
                </a:solidFill>
                <a:latin typeface="Cormorant Infant" pitchFamily="2" charset="0"/>
                <a:cs typeface="Cormorant Infant" pitchFamily="2" charset="0"/>
              </a:endParaRPr>
            </a:p>
          </p:txBody>
        </p:sp>
      </p:grpSp>
      <p:grpSp>
        <p:nvGrpSpPr>
          <p:cNvPr id="90" name="Group 89">
            <a:extLst>
              <a:ext uri="{FF2B5EF4-FFF2-40B4-BE49-F238E27FC236}">
                <a16:creationId xmlns:a16="http://schemas.microsoft.com/office/drawing/2014/main" id="{71D2EFC1-5ECD-2C34-6361-83C66DB02F04}"/>
              </a:ext>
            </a:extLst>
          </p:cNvPr>
          <p:cNvGrpSpPr/>
          <p:nvPr/>
        </p:nvGrpSpPr>
        <p:grpSpPr>
          <a:xfrm>
            <a:off x="6472449" y="3228438"/>
            <a:ext cx="4628073" cy="1020394"/>
            <a:chOff x="6472449" y="3228438"/>
            <a:chExt cx="4628073" cy="1020394"/>
          </a:xfrm>
        </p:grpSpPr>
        <p:sp>
          <p:nvSpPr>
            <p:cNvPr id="61" name="object 4">
              <a:extLst>
                <a:ext uri="{FF2B5EF4-FFF2-40B4-BE49-F238E27FC236}">
                  <a16:creationId xmlns:a16="http://schemas.microsoft.com/office/drawing/2014/main" id="{E901BE71-52BB-7D0F-3F74-C251140D016E}"/>
                </a:ext>
              </a:extLst>
            </p:cNvPr>
            <p:cNvSpPr txBox="1">
              <a:spLocks/>
            </p:cNvSpPr>
            <p:nvPr/>
          </p:nvSpPr>
          <p:spPr>
            <a:xfrm>
              <a:off x="6475771" y="3228438"/>
              <a:ext cx="4246180" cy="30372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Donate RMDs to Charity, Leave Balance to Heirs</a:t>
              </a:r>
            </a:p>
            <a:p>
              <a:pPr algn="l">
                <a:lnSpc>
                  <a:spcPts val="1800"/>
                </a:lnSpc>
              </a:pPr>
              <a:endParaRPr lang="en-US" sz="1800" b="0" dirty="0">
                <a:solidFill>
                  <a:srgbClr val="000000"/>
                </a:solidFill>
                <a:latin typeface="Cormorant Infant" pitchFamily="2" charset="0"/>
                <a:cs typeface="Cormorant Infant" pitchFamily="2" charset="0"/>
              </a:endParaRPr>
            </a:p>
          </p:txBody>
        </p:sp>
        <p:sp>
          <p:nvSpPr>
            <p:cNvPr id="65" name="object 4">
              <a:extLst>
                <a:ext uri="{FF2B5EF4-FFF2-40B4-BE49-F238E27FC236}">
                  <a16:creationId xmlns:a16="http://schemas.microsoft.com/office/drawing/2014/main" id="{337D1E48-DCE9-5153-0592-410B654C6571}"/>
                </a:ext>
              </a:extLst>
            </p:cNvPr>
            <p:cNvSpPr txBox="1">
              <a:spLocks/>
            </p:cNvSpPr>
            <p:nvPr/>
          </p:nvSpPr>
          <p:spPr>
            <a:xfrm>
              <a:off x="6472449" y="3533158"/>
              <a:ext cx="4628073" cy="232394"/>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Supports charitable goals while reducing income tax exposure</a:t>
              </a:r>
            </a:p>
          </p:txBody>
        </p:sp>
        <p:sp>
          <p:nvSpPr>
            <p:cNvPr id="85" name="object 4">
              <a:extLst>
                <a:ext uri="{FF2B5EF4-FFF2-40B4-BE49-F238E27FC236}">
                  <a16:creationId xmlns:a16="http://schemas.microsoft.com/office/drawing/2014/main" id="{8D87F5CF-F995-FB60-46BB-0F18827221B3}"/>
                </a:ext>
              </a:extLst>
            </p:cNvPr>
            <p:cNvSpPr txBox="1">
              <a:spLocks/>
            </p:cNvSpPr>
            <p:nvPr/>
          </p:nvSpPr>
          <p:spPr>
            <a:xfrm>
              <a:off x="6475770" y="3838720"/>
              <a:ext cx="4246180" cy="41011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Smaller inheritance; remaining assets subject to estate/GST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and income taxes</a:t>
              </a:r>
            </a:p>
            <a:p>
              <a:pPr algn="l">
                <a:lnSpc>
                  <a:spcPts val="1800"/>
                </a:lnSpc>
              </a:pPr>
              <a:endParaRPr lang="en-US" sz="1800" b="0" dirty="0">
                <a:solidFill>
                  <a:srgbClr val="000000"/>
                </a:solidFill>
                <a:latin typeface="Cormorant Infant" pitchFamily="2" charset="0"/>
                <a:cs typeface="Cormorant Infant" pitchFamily="2" charset="0"/>
              </a:endParaRPr>
            </a:p>
          </p:txBody>
        </p:sp>
      </p:grpSp>
    </p:spTree>
    <p:extLst>
      <p:ext uri="{BB962C8B-B14F-4D97-AF65-F5344CB8AC3E}">
        <p14:creationId xmlns:p14="http://schemas.microsoft.com/office/powerpoint/2010/main" val="30886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fade">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Effect transition="in" filter="fade">
                                      <p:cBhvr>
                                        <p:cTn id="17" dur="500"/>
                                        <p:tgtEl>
                                          <p:spTgt spid="8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fade">
                                      <p:cBhvr>
                                        <p:cTn id="2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A2B6-5486-2754-5452-89DA90761ED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DC4A285-7B1C-4450-1D19-B40E28F19F9C}"/>
              </a:ext>
            </a:extLst>
          </p:cNvPr>
          <p:cNvSpPr/>
          <p:nvPr/>
        </p:nvSpPr>
        <p:spPr>
          <a:xfrm>
            <a:off x="838203" y="1496315"/>
            <a:ext cx="5380971" cy="1505330"/>
          </a:xfrm>
          <a:prstGeom prst="rect">
            <a:avLst/>
          </a:prstGeom>
          <a:solidFill>
            <a:schemeClr val="bg2"/>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75E46D8-CAA0-144B-C3AC-F31CB2B0BB34}"/>
              </a:ext>
            </a:extLst>
          </p:cNvPr>
          <p:cNvSpPr/>
          <p:nvPr/>
        </p:nvSpPr>
        <p:spPr>
          <a:xfrm>
            <a:off x="6219173" y="1496315"/>
            <a:ext cx="5517191" cy="1505330"/>
          </a:xfrm>
          <a:prstGeom prst="rect">
            <a:avLst/>
          </a:prstGeom>
          <a:solidFill>
            <a:schemeClr val="accent1">
              <a:lumMod val="20000"/>
              <a:lumOff val="8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98140C5-83E8-5F6F-8D13-B00B0C71D95E}"/>
              </a:ext>
            </a:extLst>
          </p:cNvPr>
          <p:cNvSpPr/>
          <p:nvPr/>
        </p:nvSpPr>
        <p:spPr>
          <a:xfrm>
            <a:off x="838200" y="3004409"/>
            <a:ext cx="5380973" cy="1505330"/>
          </a:xfrm>
          <a:prstGeom prst="rect">
            <a:avLst/>
          </a:prstGeom>
          <a:solidFill>
            <a:schemeClr val="accent1">
              <a:lumMod val="20000"/>
              <a:lumOff val="8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BBF792-3058-89A1-EB7B-A15003F814E1}"/>
              </a:ext>
            </a:extLst>
          </p:cNvPr>
          <p:cNvSpPr/>
          <p:nvPr/>
        </p:nvSpPr>
        <p:spPr>
          <a:xfrm>
            <a:off x="6219173" y="3004409"/>
            <a:ext cx="5517191" cy="1505330"/>
          </a:xfrm>
          <a:prstGeom prst="rect">
            <a:avLst/>
          </a:prstGeom>
          <a:solidFill>
            <a:schemeClr val="bg2"/>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40C483B-C037-7D93-16D8-F7FDC8BA2EC1}"/>
              </a:ext>
            </a:extLst>
          </p:cNvPr>
          <p:cNvSpPr/>
          <p:nvPr/>
        </p:nvSpPr>
        <p:spPr>
          <a:xfrm>
            <a:off x="6219173" y="4587465"/>
            <a:ext cx="5517191" cy="1674169"/>
          </a:xfrm>
          <a:prstGeom prst="rect">
            <a:avLst/>
          </a:prstGeom>
          <a:solidFill>
            <a:schemeClr val="accent2">
              <a:lumMod val="20000"/>
              <a:lumOff val="8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4B6D7821-F1AF-F8B0-B69F-C03A8B8AD922}"/>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0" name="TextBox 9">
            <a:extLst>
              <a:ext uri="{FF2B5EF4-FFF2-40B4-BE49-F238E27FC236}">
                <a16:creationId xmlns:a16="http://schemas.microsoft.com/office/drawing/2014/main" id="{39CDBA4F-BD73-C5E7-E07C-5FF2815AF4C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1" name="TextBox 10">
            <a:extLst>
              <a:ext uri="{FF2B5EF4-FFF2-40B4-BE49-F238E27FC236}">
                <a16:creationId xmlns:a16="http://schemas.microsoft.com/office/drawing/2014/main" id="{71E2E91C-1E84-CEC5-E7E7-DBDC65640852}"/>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4" name="TextBox 13">
            <a:extLst>
              <a:ext uri="{FF2B5EF4-FFF2-40B4-BE49-F238E27FC236}">
                <a16:creationId xmlns:a16="http://schemas.microsoft.com/office/drawing/2014/main" id="{C17D4388-FAD9-7815-C2BD-BD083E3E9DD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grpSp>
        <p:nvGrpSpPr>
          <p:cNvPr id="15" name="Group 14">
            <a:extLst>
              <a:ext uri="{FF2B5EF4-FFF2-40B4-BE49-F238E27FC236}">
                <a16:creationId xmlns:a16="http://schemas.microsoft.com/office/drawing/2014/main" id="{4F51375B-EFFC-0D9F-FCA3-244E3CE56224}"/>
              </a:ext>
            </a:extLst>
          </p:cNvPr>
          <p:cNvGrpSpPr/>
          <p:nvPr/>
        </p:nvGrpSpPr>
        <p:grpSpPr>
          <a:xfrm>
            <a:off x="838200" y="972402"/>
            <a:ext cx="6761280" cy="430887"/>
            <a:chOff x="838200" y="1041875"/>
            <a:chExt cx="6761280" cy="430887"/>
          </a:xfrm>
        </p:grpSpPr>
        <p:sp>
          <p:nvSpPr>
            <p:cNvPr id="16" name="object 4">
              <a:extLst>
                <a:ext uri="{FF2B5EF4-FFF2-40B4-BE49-F238E27FC236}">
                  <a16:creationId xmlns:a16="http://schemas.microsoft.com/office/drawing/2014/main" id="{715AE662-F7BC-1841-F22C-9CF6E8036BD7}"/>
                </a:ext>
              </a:extLst>
            </p:cNvPr>
            <p:cNvSpPr txBox="1">
              <a:spLocks/>
            </p:cNvSpPr>
            <p:nvPr/>
          </p:nvSpPr>
          <p:spPr>
            <a:xfrm>
              <a:off x="838200" y="1041875"/>
              <a:ext cx="3270126"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Repetitive Tax Erosion</a:t>
              </a:r>
            </a:p>
          </p:txBody>
        </p:sp>
        <p:sp>
          <p:nvSpPr>
            <p:cNvPr id="17" name="object 4">
              <a:extLst>
                <a:ext uri="{FF2B5EF4-FFF2-40B4-BE49-F238E27FC236}">
                  <a16:creationId xmlns:a16="http://schemas.microsoft.com/office/drawing/2014/main" id="{9AD0DBC4-1A50-0349-9B85-D6B4A7841310}"/>
                </a:ext>
              </a:extLst>
            </p:cNvPr>
            <p:cNvSpPr txBox="1">
              <a:spLocks/>
            </p:cNvSpPr>
            <p:nvPr/>
          </p:nvSpPr>
          <p:spPr>
            <a:xfrm>
              <a:off x="4127376" y="1215092"/>
              <a:ext cx="3472104" cy="184666"/>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    |     Conventional Planning for Retirement Plan Assets </a:t>
              </a:r>
            </a:p>
          </p:txBody>
        </p:sp>
      </p:grpSp>
      <p:grpSp>
        <p:nvGrpSpPr>
          <p:cNvPr id="23" name="Group 22">
            <a:extLst>
              <a:ext uri="{FF2B5EF4-FFF2-40B4-BE49-F238E27FC236}">
                <a16:creationId xmlns:a16="http://schemas.microsoft.com/office/drawing/2014/main" id="{FAD16179-6824-85FC-5735-7A5023CAA7AD}"/>
              </a:ext>
            </a:extLst>
          </p:cNvPr>
          <p:cNvGrpSpPr/>
          <p:nvPr/>
        </p:nvGrpSpPr>
        <p:grpSpPr>
          <a:xfrm>
            <a:off x="2952749" y="4587464"/>
            <a:ext cx="3266897" cy="1674169"/>
            <a:chOff x="2952749" y="4587464"/>
            <a:chExt cx="3266897" cy="1674169"/>
          </a:xfrm>
        </p:grpSpPr>
        <p:sp>
          <p:nvSpPr>
            <p:cNvPr id="25" name="Rectangle 24">
              <a:extLst>
                <a:ext uri="{FF2B5EF4-FFF2-40B4-BE49-F238E27FC236}">
                  <a16:creationId xmlns:a16="http://schemas.microsoft.com/office/drawing/2014/main" id="{A0958E9E-3975-6947-E494-BE3EAE7C58AB}"/>
                </a:ext>
              </a:extLst>
            </p:cNvPr>
            <p:cNvSpPr/>
            <p:nvPr/>
          </p:nvSpPr>
          <p:spPr>
            <a:xfrm>
              <a:off x="2952749" y="4587464"/>
              <a:ext cx="3266897" cy="1674169"/>
            </a:xfrm>
            <a:prstGeom prst="rect">
              <a:avLst/>
            </a:prstGeom>
            <a:solidFill>
              <a:schemeClr val="accent2">
                <a:lumMod val="40000"/>
                <a:lumOff val="6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9C6F46D9-4C8F-7FB8-FAA8-8E5DEACA856C}"/>
                </a:ext>
              </a:extLst>
            </p:cNvPr>
            <p:cNvSpPr txBox="1"/>
            <p:nvPr/>
          </p:nvSpPr>
          <p:spPr>
            <a:xfrm>
              <a:off x="3314700" y="4801614"/>
              <a:ext cx="2648349" cy="982577"/>
            </a:xfrm>
            <a:prstGeom prst="rect">
              <a:avLst/>
            </a:prstGeom>
            <a:noFill/>
          </p:spPr>
          <p:txBody>
            <a:bodyPr wrap="square" lIns="0" tIns="0" rIns="0" bIns="0">
              <a:spAutoFit/>
            </a:bodyPr>
            <a:lstStyle/>
            <a:p>
              <a:pPr algn="r">
                <a:lnSpc>
                  <a:spcPts val="2600"/>
                </a:lnSpc>
              </a:pPr>
              <a:r>
                <a:rPr lang="en-US" sz="1800" b="0" dirty="0">
                  <a:solidFill>
                    <a:srgbClr val="000000"/>
                  </a:solidFill>
                  <a:latin typeface="Cormorant Infant" pitchFamily="2" charset="0"/>
                  <a:cs typeface="Cormorant Infant" pitchFamily="2" charset="0"/>
                </a:rPr>
                <a:t>The Legacy‑IRA Strategy </a:t>
              </a:r>
              <a:br>
                <a:rPr lang="en-US" sz="1800" b="0" dirty="0">
                  <a:solidFill>
                    <a:srgbClr val="000000"/>
                  </a:solidFill>
                  <a:latin typeface="Cormorant Infant" pitchFamily="2" charset="0"/>
                  <a:cs typeface="Cormorant Infant" pitchFamily="2" charset="0"/>
                </a:rPr>
              </a:br>
              <a:r>
                <a:rPr lang="en-US" sz="1800" b="0" dirty="0">
                  <a:solidFill>
                    <a:srgbClr val="000000"/>
                  </a:solidFill>
                  <a:latin typeface="Cormorant Infant" pitchFamily="2" charset="0"/>
                  <a:cs typeface="Cormorant Infant" pitchFamily="2" charset="0"/>
                </a:rPr>
                <a:t>combines the benefits while minimizing the drawbacks:</a:t>
              </a:r>
            </a:p>
          </p:txBody>
        </p:sp>
      </p:grpSp>
      <p:sp>
        <p:nvSpPr>
          <p:cNvPr id="27" name="object 4">
            <a:extLst>
              <a:ext uri="{FF2B5EF4-FFF2-40B4-BE49-F238E27FC236}">
                <a16:creationId xmlns:a16="http://schemas.microsoft.com/office/drawing/2014/main" id="{7437CCD0-39C3-F848-E4BC-EC7A3D164746}"/>
              </a:ext>
            </a:extLst>
          </p:cNvPr>
          <p:cNvSpPr txBox="1">
            <a:spLocks/>
          </p:cNvSpPr>
          <p:nvPr/>
        </p:nvSpPr>
        <p:spPr>
          <a:xfrm>
            <a:off x="1094798" y="1700125"/>
            <a:ext cx="4915151" cy="28714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No Withdrawals Until RMDs, Leave Balance to Heirs</a:t>
            </a:r>
          </a:p>
        </p:txBody>
      </p:sp>
      <p:sp>
        <p:nvSpPr>
          <p:cNvPr id="28" name="object 4">
            <a:extLst>
              <a:ext uri="{FF2B5EF4-FFF2-40B4-BE49-F238E27FC236}">
                <a16:creationId xmlns:a16="http://schemas.microsoft.com/office/drawing/2014/main" id="{19C1111B-20D6-9061-FFC5-D4B26538EA14}"/>
              </a:ext>
            </a:extLst>
          </p:cNvPr>
          <p:cNvSpPr txBox="1">
            <a:spLocks/>
          </p:cNvSpPr>
          <p:nvPr/>
        </p:nvSpPr>
        <p:spPr>
          <a:xfrm>
            <a:off x="6475771" y="1716069"/>
            <a:ext cx="4417873" cy="27119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Roth Conversion</a:t>
            </a:r>
          </a:p>
        </p:txBody>
      </p:sp>
      <p:sp>
        <p:nvSpPr>
          <p:cNvPr id="29" name="object 4">
            <a:extLst>
              <a:ext uri="{FF2B5EF4-FFF2-40B4-BE49-F238E27FC236}">
                <a16:creationId xmlns:a16="http://schemas.microsoft.com/office/drawing/2014/main" id="{7AE3EABC-D410-DEB8-691F-5B79D1D671BC}"/>
              </a:ext>
            </a:extLst>
          </p:cNvPr>
          <p:cNvSpPr txBox="1">
            <a:spLocks/>
          </p:cNvSpPr>
          <p:nvPr/>
        </p:nvSpPr>
        <p:spPr>
          <a:xfrm>
            <a:off x="1094798" y="3208219"/>
            <a:ext cx="4737936" cy="22078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Take Distributions, Gift to Trust, &amp; Buy Life Insurance</a:t>
            </a:r>
          </a:p>
        </p:txBody>
      </p:sp>
      <p:sp>
        <p:nvSpPr>
          <p:cNvPr id="30" name="object 4">
            <a:extLst>
              <a:ext uri="{FF2B5EF4-FFF2-40B4-BE49-F238E27FC236}">
                <a16:creationId xmlns:a16="http://schemas.microsoft.com/office/drawing/2014/main" id="{A51CEC98-064E-2A6C-62E0-428D4DADB40D}"/>
              </a:ext>
            </a:extLst>
          </p:cNvPr>
          <p:cNvSpPr txBox="1">
            <a:spLocks/>
          </p:cNvSpPr>
          <p:nvPr/>
        </p:nvSpPr>
        <p:spPr>
          <a:xfrm>
            <a:off x="6475771" y="3228438"/>
            <a:ext cx="4246180" cy="30372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lnSpc>
                <a:spcPts val="1800"/>
              </a:lnSpc>
            </a:pPr>
            <a:r>
              <a:rPr lang="en-US" sz="1600" b="0" dirty="0">
                <a:solidFill>
                  <a:srgbClr val="000000"/>
                </a:solidFill>
                <a:latin typeface="Cormorant Infant" pitchFamily="2" charset="0"/>
                <a:cs typeface="Cormorant Infant" pitchFamily="2" charset="0"/>
              </a:rPr>
              <a:t>Donate RMDs to Charity, Leave Balance to Heirs</a:t>
            </a:r>
          </a:p>
          <a:p>
            <a:pPr algn="l">
              <a:lnSpc>
                <a:spcPts val="1800"/>
              </a:lnSpc>
            </a:pPr>
            <a:endParaRPr lang="en-US" sz="1800" b="0" dirty="0">
              <a:solidFill>
                <a:srgbClr val="000000"/>
              </a:solidFill>
              <a:latin typeface="Cormorant Infant" pitchFamily="2" charset="0"/>
              <a:cs typeface="Cormorant Infant" pitchFamily="2" charset="0"/>
            </a:endParaRPr>
          </a:p>
        </p:txBody>
      </p:sp>
      <p:sp>
        <p:nvSpPr>
          <p:cNvPr id="31" name="object 4">
            <a:extLst>
              <a:ext uri="{FF2B5EF4-FFF2-40B4-BE49-F238E27FC236}">
                <a16:creationId xmlns:a16="http://schemas.microsoft.com/office/drawing/2014/main" id="{88B1A20E-83AF-7511-542C-C719AA7C1D81}"/>
              </a:ext>
            </a:extLst>
          </p:cNvPr>
          <p:cNvSpPr txBox="1">
            <a:spLocks/>
          </p:cNvSpPr>
          <p:nvPr/>
        </p:nvSpPr>
        <p:spPr>
          <a:xfrm>
            <a:off x="1091477" y="2004844"/>
            <a:ext cx="4915151" cy="23044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Preserves tax-deferred compounding during your lifetime</a:t>
            </a:r>
          </a:p>
        </p:txBody>
      </p:sp>
      <p:sp>
        <p:nvSpPr>
          <p:cNvPr id="32" name="object 4">
            <a:extLst>
              <a:ext uri="{FF2B5EF4-FFF2-40B4-BE49-F238E27FC236}">
                <a16:creationId xmlns:a16="http://schemas.microsoft.com/office/drawing/2014/main" id="{FBDB8DC0-1CF1-FD15-48E5-713768098E07}"/>
              </a:ext>
            </a:extLst>
          </p:cNvPr>
          <p:cNvSpPr txBox="1">
            <a:spLocks/>
          </p:cNvSpPr>
          <p:nvPr/>
        </p:nvSpPr>
        <p:spPr>
          <a:xfrm>
            <a:off x="6472450" y="2020788"/>
            <a:ext cx="4628073" cy="214497"/>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Eliminates future income tax on growth and distribution to heirs</a:t>
            </a:r>
          </a:p>
        </p:txBody>
      </p:sp>
      <p:sp>
        <p:nvSpPr>
          <p:cNvPr id="33" name="object 4">
            <a:extLst>
              <a:ext uri="{FF2B5EF4-FFF2-40B4-BE49-F238E27FC236}">
                <a16:creationId xmlns:a16="http://schemas.microsoft.com/office/drawing/2014/main" id="{5399F816-F9F2-D028-4C60-C4C6F75380A1}"/>
              </a:ext>
            </a:extLst>
          </p:cNvPr>
          <p:cNvSpPr txBox="1">
            <a:spLocks/>
          </p:cNvSpPr>
          <p:nvPr/>
        </p:nvSpPr>
        <p:spPr>
          <a:xfrm>
            <a:off x="1091477" y="3512939"/>
            <a:ext cx="4737936" cy="25261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Creates a protected, leveraged, and estate tax free death benefit</a:t>
            </a:r>
          </a:p>
        </p:txBody>
      </p:sp>
      <p:sp>
        <p:nvSpPr>
          <p:cNvPr id="34" name="object 4">
            <a:extLst>
              <a:ext uri="{FF2B5EF4-FFF2-40B4-BE49-F238E27FC236}">
                <a16:creationId xmlns:a16="http://schemas.microsoft.com/office/drawing/2014/main" id="{D9A0A169-F315-7EC6-40BA-3C4FE76DDBEC}"/>
              </a:ext>
            </a:extLst>
          </p:cNvPr>
          <p:cNvSpPr txBox="1">
            <a:spLocks/>
          </p:cNvSpPr>
          <p:nvPr/>
        </p:nvSpPr>
        <p:spPr>
          <a:xfrm>
            <a:off x="6472449" y="3533158"/>
            <a:ext cx="4628073" cy="232394"/>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Supports charitable goals while reducing income tax exposure</a:t>
            </a:r>
          </a:p>
        </p:txBody>
      </p:sp>
      <p:grpSp>
        <p:nvGrpSpPr>
          <p:cNvPr id="35" name="Group 34">
            <a:extLst>
              <a:ext uri="{FF2B5EF4-FFF2-40B4-BE49-F238E27FC236}">
                <a16:creationId xmlns:a16="http://schemas.microsoft.com/office/drawing/2014/main" id="{E5BD501E-DEEE-FCC4-679D-36395E77CE13}"/>
              </a:ext>
            </a:extLst>
          </p:cNvPr>
          <p:cNvGrpSpPr/>
          <p:nvPr/>
        </p:nvGrpSpPr>
        <p:grpSpPr>
          <a:xfrm>
            <a:off x="1094797" y="2310406"/>
            <a:ext cx="9798846" cy="2009207"/>
            <a:chOff x="1094797" y="2310406"/>
            <a:chExt cx="9798846" cy="2009207"/>
          </a:xfrm>
        </p:grpSpPr>
        <p:sp>
          <p:nvSpPr>
            <p:cNvPr id="36" name="object 4">
              <a:extLst>
                <a:ext uri="{FF2B5EF4-FFF2-40B4-BE49-F238E27FC236}">
                  <a16:creationId xmlns:a16="http://schemas.microsoft.com/office/drawing/2014/main" id="{EFAAC7E7-25B3-A760-D8E7-D6ECE923E456}"/>
                </a:ext>
              </a:extLst>
            </p:cNvPr>
            <p:cNvSpPr txBox="1">
              <a:spLocks/>
            </p:cNvSpPr>
            <p:nvPr/>
          </p:nvSpPr>
          <p:spPr>
            <a:xfrm>
              <a:off x="1094797" y="2310406"/>
              <a:ext cx="4915151" cy="410851"/>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Pre-tax assets remain subject to estate/GST and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income taxes for heirs</a:t>
              </a:r>
            </a:p>
          </p:txBody>
        </p:sp>
        <p:sp>
          <p:nvSpPr>
            <p:cNvPr id="37" name="object 4">
              <a:extLst>
                <a:ext uri="{FF2B5EF4-FFF2-40B4-BE49-F238E27FC236}">
                  <a16:creationId xmlns:a16="http://schemas.microsoft.com/office/drawing/2014/main" id="{B0AE1BB4-022E-673A-DB27-E75D49D3A322}"/>
                </a:ext>
              </a:extLst>
            </p:cNvPr>
            <p:cNvSpPr txBox="1">
              <a:spLocks/>
            </p:cNvSpPr>
            <p:nvPr/>
          </p:nvSpPr>
          <p:spPr>
            <a:xfrm>
              <a:off x="6475770" y="2326350"/>
              <a:ext cx="4417873" cy="41715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Immediate income tax due; remaining assets subject to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estate/GST taxes</a:t>
              </a:r>
            </a:p>
          </p:txBody>
        </p:sp>
        <p:sp>
          <p:nvSpPr>
            <p:cNvPr id="38" name="object 4">
              <a:extLst>
                <a:ext uri="{FF2B5EF4-FFF2-40B4-BE49-F238E27FC236}">
                  <a16:creationId xmlns:a16="http://schemas.microsoft.com/office/drawing/2014/main" id="{D2BC538A-9DCC-24BC-3277-45A2EFC5C7D9}"/>
                </a:ext>
              </a:extLst>
            </p:cNvPr>
            <p:cNvSpPr txBox="1">
              <a:spLocks/>
            </p:cNvSpPr>
            <p:nvPr/>
          </p:nvSpPr>
          <p:spPr>
            <a:xfrm>
              <a:off x="1094797" y="3818500"/>
              <a:ext cx="4737936" cy="501113"/>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Taxes on excess distributions; gifts may use lifetime exemption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and are not discountable</a:t>
              </a:r>
            </a:p>
            <a:p>
              <a:pPr algn="l">
                <a:lnSpc>
                  <a:spcPts val="1800"/>
                </a:lnSpc>
              </a:pPr>
              <a:endParaRPr lang="en-US" sz="1800" b="0" dirty="0">
                <a:solidFill>
                  <a:srgbClr val="000000"/>
                </a:solidFill>
                <a:latin typeface="Cormorant Infant" pitchFamily="2" charset="0"/>
                <a:cs typeface="Cormorant Infant" pitchFamily="2" charset="0"/>
              </a:endParaRPr>
            </a:p>
          </p:txBody>
        </p:sp>
        <p:sp>
          <p:nvSpPr>
            <p:cNvPr id="39" name="object 4">
              <a:extLst>
                <a:ext uri="{FF2B5EF4-FFF2-40B4-BE49-F238E27FC236}">
                  <a16:creationId xmlns:a16="http://schemas.microsoft.com/office/drawing/2014/main" id="{08E2C9B6-6053-5380-2746-C141913316AA}"/>
                </a:ext>
              </a:extLst>
            </p:cNvPr>
            <p:cNvSpPr txBox="1">
              <a:spLocks/>
            </p:cNvSpPr>
            <p:nvPr/>
          </p:nvSpPr>
          <p:spPr>
            <a:xfrm>
              <a:off x="6475770" y="3838720"/>
              <a:ext cx="4246180" cy="410112"/>
            </a:xfrm>
            <a:prstGeom prst="rect">
              <a:avLst/>
            </a:prstGeom>
            <a:noFill/>
            <a:ln>
              <a:noFill/>
            </a:ln>
            <a:scene3d>
              <a:camera prst="orthographicFront"/>
              <a:lightRig rig="threePt" dir="t"/>
            </a:scene3d>
            <a:sp3d>
              <a:bevelT/>
            </a:sp3d>
          </p:spPr>
          <p:txBody>
            <a:bodyPr vert="horz" wrap="square" lIns="0" tIns="0" rIns="0" bIns="0" rtlCol="0" anchor="t">
              <a:no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298450" indent="-182880" algn="l" defTabSz="914363" rtl="0">
                <a:lnSpc>
                  <a:spcPts val="1700"/>
                </a:lnSpc>
                <a:spcBef>
                  <a:spcPts val="400"/>
                </a:spcBef>
                <a:spcAft>
                  <a:spcPts val="500"/>
                </a:spcAft>
                <a:buClr>
                  <a:schemeClr val="accent3"/>
                </a:buClr>
                <a:buFont typeface="Arial" panose="020B0604020202020204" pitchFamily="34" charset="0"/>
                <a:buChar char="•"/>
                <a:defRPr/>
              </a:pPr>
              <a:r>
                <a:rPr lang="en-US" sz="1300" b="0" dirty="0">
                  <a:solidFill>
                    <a:srgbClr val="000000"/>
                  </a:solidFill>
                  <a:latin typeface="Cormorant Infant" pitchFamily="2" charset="0"/>
                  <a:cs typeface="Cormorant Infant" pitchFamily="2" charset="0"/>
                </a:rPr>
                <a:t>Smaller inheritance; remaining assets subject to estate/GST </a:t>
              </a:r>
              <a:br>
                <a:rPr lang="en-US" sz="1300" b="0" dirty="0">
                  <a:solidFill>
                    <a:srgbClr val="000000"/>
                  </a:solidFill>
                  <a:latin typeface="Cormorant Infant" pitchFamily="2" charset="0"/>
                  <a:cs typeface="Cormorant Infant" pitchFamily="2" charset="0"/>
                </a:rPr>
              </a:br>
              <a:r>
                <a:rPr lang="en-US" sz="1300" b="0" dirty="0">
                  <a:solidFill>
                    <a:srgbClr val="000000"/>
                  </a:solidFill>
                  <a:latin typeface="Cormorant Infant" pitchFamily="2" charset="0"/>
                  <a:cs typeface="Cormorant Infant" pitchFamily="2" charset="0"/>
                </a:rPr>
                <a:t>and income taxes</a:t>
              </a:r>
            </a:p>
            <a:p>
              <a:pPr algn="l">
                <a:lnSpc>
                  <a:spcPts val="1800"/>
                </a:lnSpc>
              </a:pPr>
              <a:endParaRPr lang="en-US" sz="1800" b="0" dirty="0">
                <a:solidFill>
                  <a:srgbClr val="000000"/>
                </a:solidFill>
                <a:latin typeface="Cormorant Infant" pitchFamily="2" charset="0"/>
                <a:cs typeface="Cormorant Infant" pitchFamily="2" charset="0"/>
              </a:endParaRPr>
            </a:p>
          </p:txBody>
        </p:sp>
      </p:grpSp>
    </p:spTree>
    <p:extLst>
      <p:ext uri="{BB962C8B-B14F-4D97-AF65-F5344CB8AC3E}">
        <p14:creationId xmlns:p14="http://schemas.microsoft.com/office/powerpoint/2010/main" val="183101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0" nodeType="clickEffect">
                                  <p:stCondLst>
                                    <p:cond delay="0"/>
                                  </p:stCondLst>
                                  <p:childTnLst>
                                    <p:animMotion origin="layout" path="M 4.16667E-6 2.22222E-6 L 0.44062 0.40764 " pathEditMode="relative" rAng="0" ptsTypes="AA">
                                      <p:cBhvr>
                                        <p:cTn id="15" dur="1000" fill="hold"/>
                                        <p:tgtEl>
                                          <p:spTgt spid="31"/>
                                        </p:tgtEl>
                                        <p:attrNameLst>
                                          <p:attrName>ppt_x</p:attrName>
                                          <p:attrName>ppt_y</p:attrName>
                                        </p:attrNameLst>
                                      </p:cBhvr>
                                      <p:rCtr x="22031" y="20370"/>
                                    </p:animMotion>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0" nodeType="clickEffect">
                                  <p:stCondLst>
                                    <p:cond delay="0"/>
                                  </p:stCondLst>
                                  <p:childTnLst>
                                    <p:animMotion origin="layout" path="M -2.91667E-6 4.81481E-6 L -2.91667E-6 0.45416 " pathEditMode="relative" rAng="0" ptsTypes="AA">
                                      <p:cBhvr>
                                        <p:cTn id="19" dur="1000" fill="hold"/>
                                        <p:tgtEl>
                                          <p:spTgt spid="32"/>
                                        </p:tgtEl>
                                        <p:attrNameLst>
                                          <p:attrName>ppt_x</p:attrName>
                                          <p:attrName>ppt_y</p:attrName>
                                        </p:attrNameLst>
                                      </p:cBhvr>
                                      <p:rCtr x="0" y="22708"/>
                                    </p:animMotion>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grpId="0" nodeType="clickEffect">
                                  <p:stCondLst>
                                    <p:cond delay="0"/>
                                  </p:stCondLst>
                                  <p:childTnLst>
                                    <p:animMotion origin="layout" path="M -4.16667E-6 4.44444E-6 L 0.44115 0.28425 " pathEditMode="relative" rAng="0" ptsTypes="AA">
                                      <p:cBhvr>
                                        <p:cTn id="23" dur="1000" fill="hold"/>
                                        <p:tgtEl>
                                          <p:spTgt spid="33"/>
                                        </p:tgtEl>
                                        <p:attrNameLst>
                                          <p:attrName>ppt_x</p:attrName>
                                          <p:attrName>ppt_y</p:attrName>
                                        </p:attrNameLst>
                                      </p:cBhvr>
                                      <p:rCtr x="22057" y="14213"/>
                                    </p:animMotion>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0" nodeType="clickEffect">
                                  <p:stCondLst>
                                    <p:cond delay="0"/>
                                  </p:stCondLst>
                                  <p:childTnLst>
                                    <p:animMotion origin="layout" path="M -2.91667E-6 4.07407E-6 L 0.00078 0.32939 " pathEditMode="relative" rAng="0" ptsTypes="AA">
                                      <p:cBhvr>
                                        <p:cTn id="27" dur="1000" fill="hold"/>
                                        <p:tgtEl>
                                          <p:spTgt spid="34"/>
                                        </p:tgtEl>
                                        <p:attrNameLst>
                                          <p:attrName>ppt_x</p:attrName>
                                          <p:attrName>ppt_y</p:attrName>
                                        </p:attrNameLst>
                                      </p:cBhvr>
                                      <p:rCtr x="39" y="164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1" grpId="0"/>
      <p:bldP spid="32" grpId="0"/>
      <p:bldP spid="33"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19F8-6994-6403-6A19-AAE20899E0BA}"/>
            </a:ext>
          </a:extLst>
        </p:cNvPr>
        <p:cNvGrpSpPr/>
        <p:nvPr/>
      </p:nvGrpSpPr>
      <p:grpSpPr>
        <a:xfrm>
          <a:off x="0" y="0"/>
          <a:ext cx="0" cy="0"/>
          <a:chOff x="0" y="0"/>
          <a:chExt cx="0" cy="0"/>
        </a:xfrm>
      </p:grpSpPr>
      <p:sp>
        <p:nvSpPr>
          <p:cNvPr id="2" name="object 4">
            <a:extLst>
              <a:ext uri="{FF2B5EF4-FFF2-40B4-BE49-F238E27FC236}">
                <a16:creationId xmlns:a16="http://schemas.microsoft.com/office/drawing/2014/main" id="{1F4BCE7D-177C-6887-F1CE-EE6E9E066014}"/>
              </a:ext>
            </a:extLst>
          </p:cNvPr>
          <p:cNvSpPr txBox="1">
            <a:spLocks/>
          </p:cNvSpPr>
          <p:nvPr/>
        </p:nvSpPr>
        <p:spPr>
          <a:xfrm>
            <a:off x="1859279" y="2121647"/>
            <a:ext cx="6303008"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a:solidFill>
                  <a:sysClr val="windowText" lastClr="000000"/>
                </a:solidFill>
                <a:latin typeface="Cormorant Infant" pitchFamily="2" charset="0"/>
                <a:cs typeface="Cormorant Infant" pitchFamily="2" charset="0"/>
              </a:rPr>
              <a:t>What could be the result of LIRA planning? </a:t>
            </a:r>
            <a:endParaRPr lang="en-US" b="0" dirty="0">
              <a:solidFill>
                <a:sysClr val="windowText" lastClr="000000"/>
              </a:solidFill>
              <a:latin typeface="Cormorant Infant" pitchFamily="2" charset="0"/>
              <a:cs typeface="Cormorant Infant" pitchFamily="2" charset="0"/>
            </a:endParaRPr>
          </a:p>
        </p:txBody>
      </p:sp>
      <p:graphicFrame>
        <p:nvGraphicFramePr>
          <p:cNvPr id="43" name="Table 42">
            <a:extLst>
              <a:ext uri="{FF2B5EF4-FFF2-40B4-BE49-F238E27FC236}">
                <a16:creationId xmlns:a16="http://schemas.microsoft.com/office/drawing/2014/main" id="{0F14FC15-9410-3E9C-4483-F78A58FE59AB}"/>
              </a:ext>
            </a:extLst>
          </p:cNvPr>
          <p:cNvGraphicFramePr>
            <a:graphicFrameLocks noGrp="1"/>
          </p:cNvGraphicFramePr>
          <p:nvPr/>
        </p:nvGraphicFramePr>
        <p:xfrm>
          <a:off x="1859278" y="2697086"/>
          <a:ext cx="8915400" cy="2636520"/>
        </p:xfrm>
        <a:graphic>
          <a:graphicData uri="http://schemas.openxmlformats.org/drawingml/2006/table">
            <a:tbl>
              <a:tblPr firstRow="1" bandRow="1">
                <a:tableStyleId>{2D5ABB26-0587-4C30-8999-92F81FD0307C}</a:tableStyleId>
              </a:tblPr>
              <a:tblGrid>
                <a:gridCol w="2971800">
                  <a:extLst>
                    <a:ext uri="{9D8B030D-6E8A-4147-A177-3AD203B41FA5}">
                      <a16:colId xmlns:a16="http://schemas.microsoft.com/office/drawing/2014/main" val="858325170"/>
                    </a:ext>
                  </a:extLst>
                </a:gridCol>
                <a:gridCol w="2971800">
                  <a:extLst>
                    <a:ext uri="{9D8B030D-6E8A-4147-A177-3AD203B41FA5}">
                      <a16:colId xmlns:a16="http://schemas.microsoft.com/office/drawing/2014/main" val="1171565126"/>
                    </a:ext>
                  </a:extLst>
                </a:gridCol>
                <a:gridCol w="2971800">
                  <a:extLst>
                    <a:ext uri="{9D8B030D-6E8A-4147-A177-3AD203B41FA5}">
                      <a16:colId xmlns:a16="http://schemas.microsoft.com/office/drawing/2014/main" val="4161518431"/>
                    </a:ext>
                  </a:extLst>
                </a:gridCol>
              </a:tblGrid>
              <a:tr h="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Pre-Tax Rollover IRA</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Amount  Subtracted from </a:t>
                      </a:r>
                      <a:br>
                        <a:rPr lang="en-US" sz="1300" b="0" dirty="0">
                          <a:solidFill>
                            <a:srgbClr val="000000"/>
                          </a:solidFill>
                          <a:latin typeface="Cormorant Infant" pitchFamily="2" charset="0"/>
                          <a:ea typeface="Cormorant Infant" pitchFamily="2" charset="0"/>
                          <a:cs typeface="Cormorant Infant" pitchFamily="2" charset="0"/>
                        </a:rPr>
                      </a:br>
                      <a:r>
                        <a:rPr lang="en-US" sz="1300" b="0" dirty="0">
                          <a:solidFill>
                            <a:srgbClr val="000000"/>
                          </a:solidFill>
                          <a:latin typeface="Cormorant Infant" pitchFamily="2" charset="0"/>
                          <a:ea typeface="Cormorant Infant" pitchFamily="2" charset="0"/>
                          <a:cs typeface="Cormorant Infant" pitchFamily="2" charset="0"/>
                        </a:rPr>
                        <a:t>Income Taxes: &lt;</a:t>
                      </a:r>
                      <a:r>
                        <a:rPr lang="en-US" sz="1300" b="0" dirty="0" err="1">
                          <a:solidFill>
                            <a:srgbClr val="000000"/>
                          </a:solidFill>
                          <a:latin typeface="Cormorant Infant" pitchFamily="2" charset="0"/>
                          <a:ea typeface="Cormorant Infant" pitchFamily="2" charset="0"/>
                          <a:cs typeface="Cormorant Infant" pitchFamily="2" charset="0"/>
                        </a:rPr>
                        <a:t>TaxRate</a:t>
                      </a:r>
                      <a:r>
                        <a:rPr lang="en-US" sz="1300" b="0" dirty="0">
                          <a:solidFill>
                            <a:srgbClr val="000000"/>
                          </a:solidFill>
                          <a:latin typeface="Cormorant Infant" pitchFamily="2" charset="0"/>
                          <a:ea typeface="Cormorant Infant" pitchFamily="2" charset="0"/>
                          <a:cs typeface="Cormorant Infant" pitchFamily="2" charset="0"/>
                        </a:rPr>
                        <a:t>&gt; </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algn="ctr"/>
                      <a:r>
                        <a:rPr lang="en-US" sz="1300" b="0" dirty="0">
                          <a:solidFill>
                            <a:srgbClr val="000000"/>
                          </a:solidFill>
                          <a:latin typeface="Cormorant Infant" pitchFamily="2" charset="0"/>
                          <a:ea typeface="Cormorant Infant" pitchFamily="2" charset="0"/>
                          <a:cs typeface="Cormorant Infant" pitchFamily="2" charset="0"/>
                        </a:rPr>
                        <a:t>Total Net to </a:t>
                      </a:r>
                      <a:br>
                        <a:rPr lang="en-US" sz="1300" b="0" dirty="0">
                          <a:solidFill>
                            <a:srgbClr val="000000"/>
                          </a:solidFill>
                          <a:latin typeface="Cormorant Infant" pitchFamily="2" charset="0"/>
                          <a:ea typeface="Cormorant Infant" pitchFamily="2" charset="0"/>
                          <a:cs typeface="Cormorant Infant" pitchFamily="2" charset="0"/>
                        </a:rPr>
                      </a:br>
                      <a:r>
                        <a:rPr lang="en-US" sz="1300" b="0" dirty="0">
                          <a:solidFill>
                            <a:srgbClr val="000000"/>
                          </a:solidFill>
                          <a:latin typeface="Cormorant Infant" pitchFamily="2" charset="0"/>
                          <a:ea typeface="Cormorant Infant" pitchFamily="2" charset="0"/>
                          <a:cs typeface="Cormorant Infant" pitchFamily="2" charset="0"/>
                        </a:rPr>
                        <a:t>Heirs After Income Taxes</a:t>
                      </a:r>
                    </a:p>
                  </a:txBody>
                  <a:tcPr marL="182880" marR="182880" marT="320040" marB="91440" anchor="b">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50977972"/>
                  </a:ext>
                </a:extLst>
              </a:tr>
              <a:tr h="914400">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&lt;</a:t>
                      </a:r>
                      <a:r>
                        <a:rPr lang="en-US" sz="1300" b="0" dirty="0" err="1">
                          <a:solidFill>
                            <a:srgbClr val="000000"/>
                          </a:solidFill>
                          <a:latin typeface="Cormorant Infant" pitchFamily="2" charset="0"/>
                          <a:ea typeface="Cormorant Infant" pitchFamily="2" charset="0"/>
                          <a:cs typeface="Cormorant Infant" pitchFamily="2" charset="0"/>
                        </a:rPr>
                        <a:t>ClientIRA</a:t>
                      </a:r>
                      <a:r>
                        <a:rPr lang="en-US" sz="1300" b="0" dirty="0">
                          <a:solidFill>
                            <a:srgbClr val="000000"/>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 &lt;</a:t>
                      </a:r>
                      <a:r>
                        <a:rPr lang="en-US" sz="1300" b="0" dirty="0" err="1">
                          <a:solidFill>
                            <a:srgbClr val="000000"/>
                          </a:solidFill>
                          <a:latin typeface="Cormorant Infant" pitchFamily="2" charset="0"/>
                          <a:ea typeface="Cormorant Infant" pitchFamily="2" charset="0"/>
                          <a:cs typeface="Cormorant Infant" pitchFamily="2" charset="0"/>
                        </a:rPr>
                        <a:t>ClientIRDTaxes</a:t>
                      </a:r>
                      <a:r>
                        <a:rPr lang="en-US" sz="1300" b="0" dirty="0">
                          <a:solidFill>
                            <a:srgbClr val="000000"/>
                          </a:solidFill>
                          <a:latin typeface="Cormorant Infant" pitchFamily="2" charset="0"/>
                          <a:ea typeface="Cormorant Infant" pitchFamily="2" charset="0"/>
                          <a:cs typeface="Cormorant Infant" pitchFamily="2" charset="0"/>
                        </a:rPr>
                        <a:t>&gt; </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dirty="0">
                          <a:solidFill>
                            <a:srgbClr val="000000"/>
                          </a:solidFill>
                          <a:latin typeface="Cormorant Infant" pitchFamily="2" charset="0"/>
                          <a:ea typeface="Cormorant Infant" pitchFamily="2" charset="0"/>
                          <a:cs typeface="Cormorant Infant" pitchFamily="2" charset="0"/>
                        </a:rPr>
                        <a:t>&lt;</a:t>
                      </a:r>
                      <a:r>
                        <a:rPr lang="en-US" sz="1300" b="0" dirty="0" err="1">
                          <a:solidFill>
                            <a:srgbClr val="000000"/>
                          </a:solidFill>
                          <a:latin typeface="Cormorant Infant" pitchFamily="2" charset="0"/>
                          <a:ea typeface="Cormorant Infant" pitchFamily="2" charset="0"/>
                          <a:cs typeface="Cormorant Infant" pitchFamily="2" charset="0"/>
                        </a:rPr>
                        <a:t>ClientNetIRA</a:t>
                      </a:r>
                      <a:r>
                        <a:rPr lang="en-US" sz="1300" b="0" dirty="0">
                          <a:solidFill>
                            <a:srgbClr val="000000"/>
                          </a:solidFill>
                          <a:latin typeface="Cormorant Infant" pitchFamily="2" charset="0"/>
                          <a:ea typeface="Cormorant Infant" pitchFamily="2" charset="0"/>
                          <a:cs typeface="Cormorant Infant" pitchFamily="2" charset="0"/>
                        </a:rPr>
                        <a:t>&gt;</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92543440"/>
                  </a:ext>
                </a:extLst>
              </a:tr>
              <a:tr h="914400">
                <a:tc>
                  <a:txBody>
                    <a:bodyPr/>
                    <a:lstStyle/>
                    <a:p>
                      <a:pPr algn="ctr"/>
                      <a:endParaRPr lang="en-US" sz="1300" b="0" dirty="0">
                        <a:solidFill>
                          <a:srgbClr val="000000"/>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no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lang="en-US" sz="1300" b="0" i="0" dirty="0">
                          <a:solidFill>
                            <a:srgbClr val="000000"/>
                          </a:solidFill>
                          <a:latin typeface="Cormorant Infant" pitchFamily="2" charset="0"/>
                          <a:ea typeface="Cormorant Infant" pitchFamily="2" charset="0"/>
                          <a:cs typeface="Cormorant Infant" pitchFamily="2" charset="0"/>
                        </a:rPr>
                        <a:t>Total Tax Erosion: </a:t>
                      </a:r>
                      <a:br>
                        <a:rPr lang="en-US" sz="1300" b="0" i="0" dirty="0">
                          <a:solidFill>
                            <a:srgbClr val="000000"/>
                          </a:solidFill>
                          <a:latin typeface="Cormorant Infant" pitchFamily="2" charset="0"/>
                          <a:ea typeface="Cormorant Infant" pitchFamily="2" charset="0"/>
                          <a:cs typeface="Cormorant Infant" pitchFamily="2" charset="0"/>
                        </a:rPr>
                      </a:br>
                      <a:r>
                        <a:rPr lang="en-US" sz="1300" b="0" i="0" dirty="0">
                          <a:solidFill>
                            <a:srgbClr val="000000"/>
                          </a:solidFill>
                          <a:latin typeface="Cormorant Infant" pitchFamily="2" charset="0"/>
                          <a:ea typeface="Cormorant Infant" pitchFamily="2" charset="0"/>
                          <a:cs typeface="Cormorant Infant" pitchFamily="2" charset="0"/>
                        </a:rPr>
                        <a:t>&lt;</a:t>
                      </a:r>
                      <a:r>
                        <a:rPr lang="en-US" sz="1300" b="0" i="0" dirty="0" err="1">
                          <a:solidFill>
                            <a:srgbClr val="000000"/>
                          </a:solidFill>
                          <a:latin typeface="Cormorant Infant" pitchFamily="2" charset="0"/>
                          <a:ea typeface="Cormorant Infant" pitchFamily="2" charset="0"/>
                          <a:cs typeface="Cormorant Infant" pitchFamily="2" charset="0"/>
                        </a:rPr>
                        <a:t>ErodeRate</a:t>
                      </a:r>
                      <a:r>
                        <a:rPr lang="en-US" sz="1300" b="0" i="0" dirty="0">
                          <a:solidFill>
                            <a:srgbClr val="000000"/>
                          </a:solidFill>
                          <a:latin typeface="Cormorant Infant" pitchFamily="2" charset="0"/>
                          <a:ea typeface="Cormorant Infant" pitchFamily="2" charset="0"/>
                          <a:cs typeface="Cormorant Infant" pitchFamily="2" charset="0"/>
                        </a:rPr>
                        <a:t>&gt;</a:t>
                      </a: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US" sz="1300" b="0" dirty="0">
                        <a:solidFill>
                          <a:srgbClr val="000000"/>
                        </a:solidFill>
                        <a:latin typeface="Cormorant Infant" pitchFamily="2" charset="0"/>
                        <a:ea typeface="Cormorant Infant" pitchFamily="2" charset="0"/>
                        <a:cs typeface="Cormorant Infant" pitchFamily="2" charset="0"/>
                      </a:endParaRPr>
                    </a:p>
                  </a:txBody>
                  <a:tcPr marL="54864" marR="54864"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6703475"/>
                  </a:ext>
                </a:extLst>
              </a:tr>
            </a:tbl>
          </a:graphicData>
        </a:graphic>
      </p:graphicFrame>
      <p:sp>
        <p:nvSpPr>
          <p:cNvPr id="3" name="TextBox 2">
            <a:extLst>
              <a:ext uri="{FF2B5EF4-FFF2-40B4-BE49-F238E27FC236}">
                <a16:creationId xmlns:a16="http://schemas.microsoft.com/office/drawing/2014/main" id="{E138B788-9DB2-06EC-F5C2-E508C17CB228}"/>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222ECA27-F31C-8A06-8C21-940CF9A45C8E}"/>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TextBox 5">
            <a:extLst>
              <a:ext uri="{FF2B5EF4-FFF2-40B4-BE49-F238E27FC236}">
                <a16:creationId xmlns:a16="http://schemas.microsoft.com/office/drawing/2014/main" id="{08F29015-D61E-ABF9-4EA7-9A6D7C654009}"/>
              </a:ext>
            </a:extLst>
          </p:cNvPr>
          <p:cNvSpPr txBox="1"/>
          <p:nvPr/>
        </p:nvSpPr>
        <p:spPr>
          <a:xfrm>
            <a:off x="1325023" y="1017101"/>
            <a:ext cx="6096000" cy="1032270"/>
          </a:xfrm>
          <a:prstGeom prst="rect">
            <a:avLst/>
          </a:prstGeom>
          <a:noFill/>
        </p:spPr>
        <p:txBody>
          <a:bodyPr wrap="square">
            <a:spAutoFit/>
          </a:bodyPr>
          <a:lstStyle/>
          <a:p>
            <a:pPr marL="457200" marR="0" lvl="1">
              <a:lnSpc>
                <a:spcPct val="115000"/>
              </a:lnSpc>
              <a:spcAft>
                <a:spcPts val="800"/>
              </a:spcAft>
              <a:tabLst>
                <a:tab pos="914400" algn="l"/>
              </a:tabLst>
            </a:pPr>
            <a:r>
              <a:rPr lang="en-US" sz="1800" kern="100" dirty="0">
                <a:solidFill>
                  <a:srgbClr val="FF3399"/>
                </a:solidFill>
                <a:effectLst/>
                <a:latin typeface="Aptos" panose="020B0004020202020204" pitchFamily="34" charset="0"/>
                <a:ea typeface="Aptos" panose="020B0004020202020204" pitchFamily="34" charset="0"/>
                <a:cs typeface="Times New Roman" panose="02020603050405020304" pitchFamily="18" charset="0"/>
              </a:rPr>
              <a:t>This will be a mirror of the What is the result of our current planning (page 6 or 7) with the LIRA values plus the % increase from current. </a:t>
            </a:r>
          </a:p>
        </p:txBody>
      </p:sp>
    </p:spTree>
    <p:extLst>
      <p:ext uri="{BB962C8B-B14F-4D97-AF65-F5344CB8AC3E}">
        <p14:creationId xmlns:p14="http://schemas.microsoft.com/office/powerpoint/2010/main" val="3839177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B7812C2-57A8-AB73-35CB-B4AAFAF387BE}"/>
              </a:ext>
            </a:extLst>
          </p:cNvPr>
          <p:cNvGraphicFramePr>
            <a:graphicFrameLocks noGrp="1"/>
          </p:cNvGraphicFramePr>
          <p:nvPr>
            <p:extLst>
              <p:ext uri="{D42A27DB-BD31-4B8C-83A1-F6EECF244321}">
                <p14:modId xmlns:p14="http://schemas.microsoft.com/office/powerpoint/2010/main" val="786966016"/>
              </p:ext>
            </p:extLst>
          </p:nvPr>
        </p:nvGraphicFramePr>
        <p:xfrm>
          <a:off x="1833961" y="2032457"/>
          <a:ext cx="8473439" cy="2194560"/>
        </p:xfrm>
        <a:graphic>
          <a:graphicData uri="http://schemas.openxmlformats.org/drawingml/2006/table">
            <a:tbl>
              <a:tblPr>
                <a:tableStyleId>{5C22544A-7EE6-4342-B048-85BDC9FD1C3A}</a:tableStyleId>
              </a:tblPr>
              <a:tblGrid>
                <a:gridCol w="6105526">
                  <a:extLst>
                    <a:ext uri="{9D8B030D-6E8A-4147-A177-3AD203B41FA5}">
                      <a16:colId xmlns:a16="http://schemas.microsoft.com/office/drawing/2014/main" val="1592670450"/>
                    </a:ext>
                  </a:extLst>
                </a:gridCol>
                <a:gridCol w="2367913">
                  <a:extLst>
                    <a:ext uri="{9D8B030D-6E8A-4147-A177-3AD203B41FA5}">
                      <a16:colId xmlns:a16="http://schemas.microsoft.com/office/drawing/2014/main" val="4007013876"/>
                    </a:ext>
                  </a:extLst>
                </a:gridCol>
              </a:tblGrid>
              <a:tr h="548640">
                <a:tc>
                  <a:txBody>
                    <a:bodyPr/>
                    <a:lstStyle/>
                    <a:p>
                      <a:pPr algn="r"/>
                      <a:r>
                        <a:rPr lang="en-US" sz="1200" b="1" kern="1200" dirty="0">
                          <a:solidFill>
                            <a:schemeClr val="tx1"/>
                          </a:solidFill>
                          <a:latin typeface="Cormorant Infant" pitchFamily="2" charset="0"/>
                          <a:ea typeface="Cormorant Infant" pitchFamily="2" charset="0"/>
                          <a:cs typeface="Cormorant Infant" pitchFamily="2" charset="0"/>
                        </a:rPr>
                        <a:t>Defer Required Minimum Distributions (RMD’s), Leave To Kids </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Cormorant Infant" pitchFamily="2" charset="0"/>
                          <a:ea typeface="Cormorant Infant" pitchFamily="2" charset="0"/>
                          <a:cs typeface="Cormorant Infant" pitchFamily="2" charset="0"/>
                        </a:rPr>
                        <a:t>&lt;</a:t>
                      </a:r>
                      <a:r>
                        <a:rPr lang="en-US" sz="1200" b="1" kern="1200" dirty="0" err="1">
                          <a:solidFill>
                            <a:schemeClr val="tx1"/>
                          </a:solidFill>
                          <a:latin typeface="Cormorant Infant" pitchFamily="2" charset="0"/>
                          <a:ea typeface="Cormorant Infant" pitchFamily="2" charset="0"/>
                          <a:cs typeface="Cormorant Infant" pitchFamily="2" charset="0"/>
                        </a:rPr>
                        <a:t>TaxDefinition</a:t>
                      </a:r>
                      <a:r>
                        <a:rPr lang="en-US" sz="1200" b="1" kern="1200" dirty="0">
                          <a:solidFill>
                            <a:schemeClr val="tx1"/>
                          </a:solidFill>
                          <a:latin typeface="Cormorant Infant" pitchFamily="2" charset="0"/>
                          <a:ea typeface="Cormorant Infant" pitchFamily="2" charset="0"/>
                          <a:cs typeface="Cormorant Infant" pitchFamily="2" charset="0"/>
                        </a:rPr>
                        <a:t>&gt;</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361384"/>
                  </a:ext>
                </a:extLst>
              </a:tr>
              <a:tr h="548640">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Cormorant Infant" pitchFamily="2" charset="0"/>
                          <a:ea typeface="Cormorant Infant" pitchFamily="2" charset="0"/>
                          <a:cs typeface="Cormorant Infant" pitchFamily="2" charset="0"/>
                        </a:rPr>
                        <a:t>Roth IRA Conversion</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Cormorant Infant" pitchFamily="2" charset="0"/>
                          <a:ea typeface="Cormorant Infant" pitchFamily="2" charset="0"/>
                          <a:cs typeface="Cormorant Infant" pitchFamily="2" charset="0"/>
                        </a:rPr>
                        <a:t>&lt;</a:t>
                      </a:r>
                      <a:r>
                        <a:rPr lang="en-US" sz="1200" b="1" kern="1200" dirty="0" err="1">
                          <a:solidFill>
                            <a:schemeClr val="tx1"/>
                          </a:solidFill>
                          <a:latin typeface="Cormorant Infant" pitchFamily="2" charset="0"/>
                          <a:ea typeface="Cormorant Infant" pitchFamily="2" charset="0"/>
                          <a:cs typeface="Cormorant Infant" pitchFamily="2" charset="0"/>
                        </a:rPr>
                        <a:t>TaxDefinition</a:t>
                      </a:r>
                      <a:r>
                        <a:rPr lang="en-US" sz="1200" b="1" kern="1200" dirty="0">
                          <a:solidFill>
                            <a:schemeClr val="tx1"/>
                          </a:solidFill>
                          <a:latin typeface="Cormorant Infant" pitchFamily="2" charset="0"/>
                          <a:ea typeface="Cormorant Infant" pitchFamily="2" charset="0"/>
                          <a:cs typeface="Cormorant Infant" pitchFamily="2" charset="0"/>
                        </a:rPr>
                        <a:t>&gt;</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9502956"/>
                  </a:ext>
                </a:extLst>
              </a:tr>
              <a:tr h="548640">
                <a:tc>
                  <a:txBody>
                    <a:bodyPr/>
                    <a:lstStyle/>
                    <a:p>
                      <a:pPr algn="r"/>
                      <a:r>
                        <a:rPr lang="en-US" sz="1200" b="1" kern="1200" dirty="0">
                          <a:solidFill>
                            <a:schemeClr val="tx1"/>
                          </a:solidFill>
                          <a:latin typeface="Cormorant Infant" pitchFamily="2" charset="0"/>
                          <a:ea typeface="Cormorant Infant" pitchFamily="2" charset="0"/>
                          <a:cs typeface="Cormorant Infant" pitchFamily="2" charset="0"/>
                        </a:rPr>
                        <a:t>RMD’s During Lifetime, Leave Balance to Charity </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r>
                        <a:rPr lang="en-US" sz="1200" b="1" i="0" kern="1200" dirty="0">
                          <a:solidFill>
                            <a:schemeClr val="tx1"/>
                          </a:solidFill>
                          <a:latin typeface="Cormorant Infant" pitchFamily="2" charset="0"/>
                          <a:ea typeface="Cormorant Infant" pitchFamily="2" charset="0"/>
                          <a:cs typeface="Cormorant Infant" pitchFamily="2" charset="0"/>
                        </a:rPr>
                        <a:t>Taxable</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81050668"/>
                  </a:ext>
                </a:extLst>
              </a:tr>
              <a:tr h="548640">
                <a:tc>
                  <a:txBody>
                    <a:bodyPr/>
                    <a:lstStyle/>
                    <a:p>
                      <a:pPr algn="r"/>
                      <a:r>
                        <a:rPr lang="en-US" sz="1200" b="1" kern="1200" dirty="0">
                          <a:solidFill>
                            <a:schemeClr val="tx1"/>
                          </a:solidFill>
                          <a:latin typeface="Cormorant Infant" pitchFamily="2" charset="0"/>
                          <a:ea typeface="Cormorant Infant" pitchFamily="2" charset="0"/>
                          <a:cs typeface="Cormorant Infant" pitchFamily="2" charset="0"/>
                        </a:rPr>
                        <a:t>Stretch IRA  Limited to 10 years </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Cormorant Infant" pitchFamily="2" charset="0"/>
                          <a:ea typeface="Cormorant Infant" pitchFamily="2" charset="0"/>
                          <a:cs typeface="Cormorant Infant" pitchFamily="2" charset="0"/>
                        </a:rPr>
                        <a:t>&lt;</a:t>
                      </a:r>
                      <a:r>
                        <a:rPr lang="en-US" sz="1200" b="1" kern="1200" dirty="0" err="1">
                          <a:solidFill>
                            <a:schemeClr val="tx1"/>
                          </a:solidFill>
                          <a:latin typeface="Cormorant Infant" pitchFamily="2" charset="0"/>
                          <a:ea typeface="Cormorant Infant" pitchFamily="2" charset="0"/>
                          <a:cs typeface="Cormorant Infant" pitchFamily="2" charset="0"/>
                        </a:rPr>
                        <a:t>TaxDefinition</a:t>
                      </a:r>
                      <a:r>
                        <a:rPr lang="en-US" sz="1200" b="1" kern="1200" dirty="0">
                          <a:solidFill>
                            <a:schemeClr val="tx1"/>
                          </a:solidFill>
                          <a:latin typeface="Cormorant Infant" pitchFamily="2" charset="0"/>
                          <a:ea typeface="Cormorant Infant" pitchFamily="2" charset="0"/>
                          <a:cs typeface="Cormorant Infant" pitchFamily="2" charset="0"/>
                        </a:rPr>
                        <a:t>&gt;</a:t>
                      </a:r>
                    </a:p>
                  </a:txBody>
                  <a:tcPr marL="182880" marR="182880" marT="54864" marB="54864"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cap="flat" cmpd="sng" algn="ctr">
                      <a:solidFill>
                        <a:schemeClr val="accent1">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9116174"/>
                  </a:ext>
                </a:extLst>
              </a:tr>
            </a:tbl>
          </a:graphicData>
        </a:graphic>
      </p:graphicFrame>
      <p:sp>
        <p:nvSpPr>
          <p:cNvPr id="7" name="object 4">
            <a:extLst>
              <a:ext uri="{FF2B5EF4-FFF2-40B4-BE49-F238E27FC236}">
                <a16:creationId xmlns:a16="http://schemas.microsoft.com/office/drawing/2014/main" id="{B888696B-4A65-D543-4209-916DC5982586}"/>
              </a:ext>
            </a:extLst>
          </p:cNvPr>
          <p:cNvSpPr txBox="1">
            <a:spLocks/>
          </p:cNvSpPr>
          <p:nvPr/>
        </p:nvSpPr>
        <p:spPr>
          <a:xfrm>
            <a:off x="1833961" y="1249655"/>
            <a:ext cx="1601400"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Tax Effects</a:t>
            </a:r>
          </a:p>
        </p:txBody>
      </p:sp>
      <p:sp>
        <p:nvSpPr>
          <p:cNvPr id="8" name="object 4">
            <a:extLst>
              <a:ext uri="{FF2B5EF4-FFF2-40B4-BE49-F238E27FC236}">
                <a16:creationId xmlns:a16="http://schemas.microsoft.com/office/drawing/2014/main" id="{7AB5A3AB-4B5A-302C-3851-BDE048B137CC}"/>
              </a:ext>
            </a:extLst>
          </p:cNvPr>
          <p:cNvSpPr txBox="1">
            <a:spLocks/>
          </p:cNvSpPr>
          <p:nvPr/>
        </p:nvSpPr>
        <p:spPr>
          <a:xfrm>
            <a:off x="1833961" y="1712040"/>
            <a:ext cx="3129062" cy="184666"/>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Conventional Planning for Retirement Plan Assets </a:t>
            </a:r>
          </a:p>
        </p:txBody>
      </p:sp>
      <p:pic>
        <p:nvPicPr>
          <p:cNvPr id="14" name="Graphic 13">
            <a:extLst>
              <a:ext uri="{FF2B5EF4-FFF2-40B4-BE49-F238E27FC236}">
                <a16:creationId xmlns:a16="http://schemas.microsoft.com/office/drawing/2014/main" id="{13E88915-46CA-A48B-3EAE-99F705E19C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33961" y="4373042"/>
            <a:ext cx="8476488" cy="1630947"/>
          </a:xfrm>
          <a:prstGeom prst="rect">
            <a:avLst/>
          </a:prstGeom>
        </p:spPr>
      </p:pic>
      <p:sp>
        <p:nvSpPr>
          <p:cNvPr id="2" name="TextBox 1">
            <a:extLst>
              <a:ext uri="{FF2B5EF4-FFF2-40B4-BE49-F238E27FC236}">
                <a16:creationId xmlns:a16="http://schemas.microsoft.com/office/drawing/2014/main" id="{21F56FAC-48A8-6C02-819D-CF68C64D647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854CA639-57DF-4E99-639A-5022FFF43D80}"/>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3716215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FF6FC-9D97-3311-07E4-A9B7A6C25D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CFA1FD-DB37-8E77-44F0-2F098CD20E83}"/>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&lt;</a:t>
            </a:r>
            <a:r>
              <a:rPr lang="en-US" sz="1000" kern="500" spc="600" baseline="0" dirty="0" err="1">
                <a:solidFill>
                  <a:schemeClr val="accent1"/>
                </a:solidFill>
                <a:latin typeface="Cormorant Infant Medium" pitchFamily="2" charset="0"/>
                <a:ea typeface="Cormorant Infant Medium" pitchFamily="2" charset="0"/>
                <a:cs typeface="Cormorant Infant Medium" pitchFamily="2" charset="0"/>
              </a:rPr>
              <a:t>SlideMth</a:t>
            </a: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&gt;</a:t>
            </a:r>
          </a:p>
        </p:txBody>
      </p:sp>
      <p:sp>
        <p:nvSpPr>
          <p:cNvPr id="10" name="TextBox 9">
            <a:extLst>
              <a:ext uri="{FF2B5EF4-FFF2-40B4-BE49-F238E27FC236}">
                <a16:creationId xmlns:a16="http://schemas.microsoft.com/office/drawing/2014/main" id="{64084B71-A438-F170-3B66-F0FFD4CEC260}"/>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4" name="TextBox 33">
            <a:extLst>
              <a:ext uri="{FF2B5EF4-FFF2-40B4-BE49-F238E27FC236}">
                <a16:creationId xmlns:a16="http://schemas.microsoft.com/office/drawing/2014/main" id="{00B80577-1B30-9922-97D6-91DE317E5C6A}"/>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sp>
        <p:nvSpPr>
          <p:cNvPr id="2" name="TextBox 1">
            <a:extLst>
              <a:ext uri="{FF2B5EF4-FFF2-40B4-BE49-F238E27FC236}">
                <a16:creationId xmlns:a16="http://schemas.microsoft.com/office/drawing/2014/main" id="{9FD9F21E-2622-F2F6-F821-DE668EB65287}"/>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DA964E54-3F16-A5E9-7678-A1C5513E6BF3}"/>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&lt;</a:t>
            </a:r>
            <a:r>
              <a:rPr lang="en-US" sz="1000" kern="500" spc="600" baseline="0" dirty="0" err="1">
                <a:solidFill>
                  <a:schemeClr val="accent1"/>
                </a:solidFill>
                <a:latin typeface="Cormorant Infant Medium" pitchFamily="2" charset="0"/>
                <a:ea typeface="Cormorant Infant Medium" pitchFamily="2" charset="0"/>
                <a:cs typeface="Cormorant Infant Medium" pitchFamily="2" charset="0"/>
              </a:rPr>
              <a:t>SlideMth</a:t>
            </a: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&gt;</a:t>
            </a:r>
          </a:p>
        </p:txBody>
      </p:sp>
      <p:sp>
        <p:nvSpPr>
          <p:cNvPr id="4" name="TextBox 3">
            <a:extLst>
              <a:ext uri="{FF2B5EF4-FFF2-40B4-BE49-F238E27FC236}">
                <a16:creationId xmlns:a16="http://schemas.microsoft.com/office/drawing/2014/main" id="{FD0A6584-E283-251D-4EE7-75D5A4FF8F5C}"/>
              </a:ext>
            </a:extLst>
          </p:cNvPr>
          <p:cNvSpPr txBox="1"/>
          <p:nvPr/>
        </p:nvSpPr>
        <p:spPr>
          <a:xfrm>
            <a:off x="1307922"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INSIDE OF THE ESTATE</a:t>
            </a:r>
          </a:p>
        </p:txBody>
      </p:sp>
      <p:sp>
        <p:nvSpPr>
          <p:cNvPr id="7" name="TextBox 6">
            <a:extLst>
              <a:ext uri="{FF2B5EF4-FFF2-40B4-BE49-F238E27FC236}">
                <a16:creationId xmlns:a16="http://schemas.microsoft.com/office/drawing/2014/main" id="{E0DEB125-F724-10EA-5D53-6571BF39976A}"/>
              </a:ext>
            </a:extLst>
          </p:cNvPr>
          <p:cNvSpPr txBox="1"/>
          <p:nvPr/>
        </p:nvSpPr>
        <p:spPr>
          <a:xfrm>
            <a:off x="6843616"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OUTSIDE OF THE ESTATE</a:t>
            </a:r>
          </a:p>
        </p:txBody>
      </p:sp>
      <p:sp>
        <p:nvSpPr>
          <p:cNvPr id="8" name="TextBox 7">
            <a:extLst>
              <a:ext uri="{FF2B5EF4-FFF2-40B4-BE49-F238E27FC236}">
                <a16:creationId xmlns:a16="http://schemas.microsoft.com/office/drawing/2014/main" id="{6F8B7704-B015-BFC1-66F4-13C5CE0C79CE}"/>
              </a:ext>
            </a:extLst>
          </p:cNvPr>
          <p:cNvSpPr txBox="1"/>
          <p:nvPr/>
        </p:nvSpPr>
        <p:spPr>
          <a:xfrm>
            <a:off x="6722497" y="6235859"/>
            <a:ext cx="5044253"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*Life insurance death benefit is exposed to income and estate taxes while policy is inside the plan.</a:t>
            </a:r>
          </a:p>
        </p:txBody>
      </p:sp>
      <p:pic>
        <p:nvPicPr>
          <p:cNvPr id="24" name="Graphic 23">
            <a:extLst>
              <a:ext uri="{FF2B5EF4-FFF2-40B4-BE49-F238E27FC236}">
                <a16:creationId xmlns:a16="http://schemas.microsoft.com/office/drawing/2014/main" id="{A1775574-050D-69EA-BD82-05516C680E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414" y="1329993"/>
            <a:ext cx="10701172" cy="4744722"/>
          </a:xfrm>
          <a:prstGeom prst="rect">
            <a:avLst/>
          </a:prstGeom>
        </p:spPr>
      </p:pic>
      <p:pic>
        <p:nvPicPr>
          <p:cNvPr id="26" name="Graphic 25">
            <a:extLst>
              <a:ext uri="{FF2B5EF4-FFF2-40B4-BE49-F238E27FC236}">
                <a16:creationId xmlns:a16="http://schemas.microsoft.com/office/drawing/2014/main" id="{B18692C0-82AF-A59B-8512-72B0100826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850" y="1844196"/>
            <a:ext cx="876300" cy="344710"/>
          </a:xfrm>
          <a:prstGeom prst="rect">
            <a:avLst/>
          </a:prstGeom>
        </p:spPr>
      </p:pic>
      <p:sp>
        <p:nvSpPr>
          <p:cNvPr id="27" name="TextBox 26">
            <a:extLst>
              <a:ext uri="{FF2B5EF4-FFF2-40B4-BE49-F238E27FC236}">
                <a16:creationId xmlns:a16="http://schemas.microsoft.com/office/drawing/2014/main" id="{AAE16887-8D44-B166-B621-71C9B2AED30A}"/>
              </a:ext>
            </a:extLst>
          </p:cNvPr>
          <p:cNvSpPr txBox="1"/>
          <p:nvPr/>
        </p:nvSpPr>
        <p:spPr>
          <a:xfrm>
            <a:off x="5698735" y="1939607"/>
            <a:ext cx="794530"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0</a:t>
            </a:r>
          </a:p>
        </p:txBody>
      </p:sp>
      <p:pic>
        <p:nvPicPr>
          <p:cNvPr id="72" name="Graphic 71">
            <a:extLst>
              <a:ext uri="{FF2B5EF4-FFF2-40B4-BE49-F238E27FC236}">
                <a16:creationId xmlns:a16="http://schemas.microsoft.com/office/drawing/2014/main" id="{62D380F7-3EA6-7C2B-2CC2-6150F7319DA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1033" y="3682295"/>
            <a:ext cx="4617720" cy="1259378"/>
          </a:xfrm>
          <a:prstGeom prst="rect">
            <a:avLst/>
          </a:prstGeom>
        </p:spPr>
      </p:pic>
      <p:pic>
        <p:nvPicPr>
          <p:cNvPr id="47" name="Graphic 46">
            <a:extLst>
              <a:ext uri="{FF2B5EF4-FFF2-40B4-BE49-F238E27FC236}">
                <a16:creationId xmlns:a16="http://schemas.microsoft.com/office/drawing/2014/main" id="{E0CCE45A-C99E-1507-C8B3-D7F46BB2A12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704513" y="4268731"/>
            <a:ext cx="3048924" cy="482228"/>
          </a:xfrm>
          <a:prstGeom prst="rect">
            <a:avLst/>
          </a:prstGeom>
        </p:spPr>
      </p:pic>
      <p:sp>
        <p:nvSpPr>
          <p:cNvPr id="48" name="TextBox 47">
            <a:extLst>
              <a:ext uri="{FF2B5EF4-FFF2-40B4-BE49-F238E27FC236}">
                <a16:creationId xmlns:a16="http://schemas.microsoft.com/office/drawing/2014/main" id="{AD046B4B-EDDD-BF6C-F646-7053CC35FBBD}"/>
              </a:ext>
            </a:extLst>
          </p:cNvPr>
          <p:cNvSpPr txBox="1"/>
          <p:nvPr/>
        </p:nvSpPr>
        <p:spPr>
          <a:xfrm>
            <a:off x="1353408" y="3891345"/>
            <a:ext cx="375113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The LIRA-Ready Plan purchases Life Insurance on &lt;</a:t>
            </a:r>
            <a:r>
              <a:rPr lang="en-US" sz="1000" dirty="0" err="1">
                <a:latin typeface="Cormorant Infant SemiBold" pitchFamily="2" charset="0"/>
                <a:ea typeface="Cormorant Infant SemiBold" pitchFamily="2" charset="0"/>
                <a:cs typeface="Cormorant Infant SemiBold" pitchFamily="2" charset="0"/>
              </a:rPr>
              <a:t>InsuredLife</a:t>
            </a:r>
            <a:r>
              <a:rPr lang="en-US" sz="1000" dirty="0">
                <a:latin typeface="Cormorant Infant SemiBold" pitchFamily="2" charset="0"/>
                <a:ea typeface="Cormorant Infant SemiBold" pitchFamily="2" charset="0"/>
                <a:cs typeface="Cormorant Infant SemiBold" pitchFamily="2" charset="0"/>
              </a:rPr>
              <a:t>&gt; and pays premiums of  &lt;Premium&gt; per year for &lt;</a:t>
            </a:r>
            <a:r>
              <a:rPr lang="en-US" sz="1000" dirty="0" err="1">
                <a:latin typeface="Cormorant Infant SemiBold" pitchFamily="2" charset="0"/>
                <a:ea typeface="Cormorant Infant SemiBold" pitchFamily="2" charset="0"/>
                <a:cs typeface="Cormorant Infant SemiBold" pitchFamily="2" charset="0"/>
              </a:rPr>
              <a:t>PremYrs</a:t>
            </a:r>
            <a:r>
              <a:rPr lang="en-US" sz="1000" dirty="0">
                <a:latin typeface="Cormorant Infant SemiBold" pitchFamily="2" charset="0"/>
                <a:ea typeface="Cormorant Infant SemiBold" pitchFamily="2" charset="0"/>
                <a:cs typeface="Cormorant Infant SemiBold" pitchFamily="2" charset="0"/>
              </a:rPr>
              <a:t>&gt; years. ​</a:t>
            </a:r>
          </a:p>
        </p:txBody>
      </p:sp>
      <p:sp>
        <p:nvSpPr>
          <p:cNvPr id="50" name="TextBox 49">
            <a:extLst>
              <a:ext uri="{FF2B5EF4-FFF2-40B4-BE49-F238E27FC236}">
                <a16:creationId xmlns:a16="http://schemas.microsoft.com/office/drawing/2014/main" id="{C2532B20-4B6B-7C51-68F0-B42AA9946590}"/>
              </a:ext>
            </a:extLst>
          </p:cNvPr>
          <p:cNvSpPr txBox="1"/>
          <p:nvPr/>
        </p:nvSpPr>
        <p:spPr>
          <a:xfrm>
            <a:off x="1713734" y="4442076"/>
            <a:ext cx="3030483" cy="159042"/>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Life Insurance Policy worth &lt;</a:t>
            </a:r>
            <a:r>
              <a:rPr lang="en-US" sz="1000" dirty="0" err="1">
                <a:latin typeface="Cormorant Infant SemiBold" pitchFamily="2" charset="0"/>
                <a:ea typeface="Cormorant Infant SemiBold" pitchFamily="2" charset="0"/>
                <a:cs typeface="Cormorant Infant SemiBold" pitchFamily="2" charset="0"/>
              </a:rPr>
              <a:t>DeathBenefit</a:t>
            </a:r>
            <a:r>
              <a:rPr lang="en-US" sz="1000" dirty="0">
                <a:latin typeface="Cormorant Infant SemiBold" pitchFamily="2" charset="0"/>
                <a:ea typeface="Cormorant Infant SemiBold" pitchFamily="2" charset="0"/>
                <a:cs typeface="Cormorant Infant SemiBold" pitchFamily="2" charset="0"/>
              </a:rPr>
              <a:t>&gt;*</a:t>
            </a:r>
          </a:p>
        </p:txBody>
      </p:sp>
      <p:pic>
        <p:nvPicPr>
          <p:cNvPr id="57" name="Graphic 56">
            <a:extLst>
              <a:ext uri="{FF2B5EF4-FFF2-40B4-BE49-F238E27FC236}">
                <a16:creationId xmlns:a16="http://schemas.microsoft.com/office/drawing/2014/main" id="{45419160-7C21-0F2E-83D7-F8DD648B757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1307" y="2638307"/>
            <a:ext cx="4620053" cy="1197792"/>
          </a:xfrm>
          <a:prstGeom prst="rect">
            <a:avLst/>
          </a:prstGeom>
        </p:spPr>
      </p:pic>
      <p:sp>
        <p:nvSpPr>
          <p:cNvPr id="58" name="TextBox 57">
            <a:extLst>
              <a:ext uri="{FF2B5EF4-FFF2-40B4-BE49-F238E27FC236}">
                <a16:creationId xmlns:a16="http://schemas.microsoft.com/office/drawing/2014/main" id="{E1E8F89A-69D9-63EE-5E85-8414D5E90EB0}"/>
              </a:ext>
            </a:extLst>
          </p:cNvPr>
          <p:cNvSpPr txBox="1"/>
          <p:nvPr/>
        </p:nvSpPr>
        <p:spPr>
          <a:xfrm>
            <a:off x="1449700" y="2868359"/>
            <a:ext cx="3558550" cy="461665"/>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As of &lt;</a:t>
            </a:r>
            <a:r>
              <a:rPr lang="en-US" sz="1000" dirty="0" err="1">
                <a:latin typeface="Cormorant Infant SemiBold" pitchFamily="2" charset="0"/>
                <a:ea typeface="Cormorant Infant SemiBold" pitchFamily="2" charset="0"/>
                <a:cs typeface="Cormorant Infant SemiBold" pitchFamily="2" charset="0"/>
              </a:rPr>
              <a:t>IntakeDate</a:t>
            </a:r>
            <a:r>
              <a:rPr lang="en-US" sz="1000" dirty="0">
                <a:latin typeface="Cormorant Infant SemiBold" pitchFamily="2" charset="0"/>
                <a:ea typeface="Cormorant Infant SemiBold" pitchFamily="2" charset="0"/>
                <a:cs typeface="Cormorant Infant SemiBold" pitchFamily="2" charset="0"/>
              </a:rPr>
              <a:t>&gt;, there is &lt;</a:t>
            </a:r>
            <a:r>
              <a:rPr lang="en-US" sz="1000" dirty="0" err="1">
                <a:latin typeface="Cormorant Infant SemiBold" pitchFamily="2" charset="0"/>
                <a:ea typeface="Cormorant Infant SemiBold" pitchFamily="2" charset="0"/>
                <a:cs typeface="Cormorant Infant SemiBold" pitchFamily="2" charset="0"/>
              </a:rPr>
              <a:t>TotalQPlan</a:t>
            </a:r>
            <a:r>
              <a:rPr lang="en-US" sz="1000" dirty="0">
                <a:latin typeface="Cormorant Infant SemiBold" pitchFamily="2" charset="0"/>
                <a:ea typeface="Cormorant Infant SemiBold" pitchFamily="2" charset="0"/>
                <a:cs typeface="Cormorant Infant SemiBold" pitchFamily="2" charset="0"/>
              </a:rPr>
              <a:t>&gt; in &lt;</a:t>
            </a:r>
            <a:r>
              <a:rPr lang="en-US" sz="1000" dirty="0" err="1">
                <a:latin typeface="Cormorant Infant SemiBold" pitchFamily="2" charset="0"/>
                <a:ea typeface="Cormorant Infant SemiBold" pitchFamily="2" charset="0"/>
                <a:cs typeface="Cormorant Infant SemiBold" pitchFamily="2" charset="0"/>
              </a:rPr>
              <a:t>ClientNm</a:t>
            </a:r>
            <a:r>
              <a:rPr lang="en-US" sz="1000" dirty="0">
                <a:latin typeface="Cormorant Infant SemiBold" pitchFamily="2" charset="0"/>
                <a:ea typeface="Cormorant Infant SemiBold" pitchFamily="2" charset="0"/>
                <a:cs typeface="Cormorant Infant SemiBold" pitchFamily="2" charset="0"/>
              </a:rPr>
              <a:t>&gt;’s IRA. &lt;</a:t>
            </a:r>
            <a:r>
              <a:rPr lang="en-US" sz="1000" dirty="0" err="1">
                <a:latin typeface="Cormorant Infant SemiBold" pitchFamily="2" charset="0"/>
                <a:ea typeface="Cormorant Infant SemiBold" pitchFamily="2" charset="0"/>
                <a:cs typeface="Cormorant Infant SemiBold" pitchFamily="2" charset="0"/>
              </a:rPr>
              <a:t>ClientIRA</a:t>
            </a:r>
            <a:r>
              <a:rPr lang="en-US" sz="1000" dirty="0">
                <a:latin typeface="Cormorant Infant SemiBold" pitchFamily="2" charset="0"/>
                <a:ea typeface="Cormorant Infant SemiBold" pitchFamily="2" charset="0"/>
                <a:cs typeface="Cormorant Infant SemiBold" pitchFamily="2" charset="0"/>
              </a:rPr>
              <a:t>&gt; of the pre-tax retirement funds not needed for lifestyle are allocated to the LIRA-ready structure. </a:t>
            </a:r>
          </a:p>
        </p:txBody>
      </p:sp>
      <p:pic>
        <p:nvPicPr>
          <p:cNvPr id="62" name="Graphic 61">
            <a:extLst>
              <a:ext uri="{FF2B5EF4-FFF2-40B4-BE49-F238E27FC236}">
                <a16:creationId xmlns:a16="http://schemas.microsoft.com/office/drawing/2014/main" id="{C406C546-47BD-3D08-95BD-D38C65C95E7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1307" y="1775874"/>
            <a:ext cx="4620053" cy="1026678"/>
          </a:xfrm>
          <a:prstGeom prst="rect">
            <a:avLst/>
          </a:prstGeom>
        </p:spPr>
      </p:pic>
      <p:sp>
        <p:nvSpPr>
          <p:cNvPr id="63" name="TextBox 62">
            <a:extLst>
              <a:ext uri="{FF2B5EF4-FFF2-40B4-BE49-F238E27FC236}">
                <a16:creationId xmlns:a16="http://schemas.microsoft.com/office/drawing/2014/main" id="{8ED6924E-F1DE-53E2-AAFC-D8D0DCAB8F52}"/>
              </a:ext>
            </a:extLst>
          </p:cNvPr>
          <p:cNvSpPr txBox="1"/>
          <p:nvPr/>
        </p:nvSpPr>
        <p:spPr>
          <a:xfrm>
            <a:off x="1325753" y="1972058"/>
            <a:ext cx="380644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We design and structure a LIRA-compliant plan; </a:t>
            </a:r>
          </a:p>
          <a:p>
            <a:pPr algn="ctr"/>
            <a:r>
              <a:rPr lang="en-US" sz="1000" dirty="0">
                <a:latin typeface="Cormorant Infant SemiBold" pitchFamily="2" charset="0"/>
                <a:ea typeface="Cormorant Infant SemiBold" pitchFamily="2" charset="0"/>
                <a:cs typeface="Cormorant Infant SemiBold" pitchFamily="2" charset="0"/>
              </a:rPr>
              <a:t>fully documented and ready to receive pre-tax retirement funds.</a:t>
            </a:r>
          </a:p>
        </p:txBody>
      </p:sp>
      <p:pic>
        <p:nvPicPr>
          <p:cNvPr id="32" name="Graphic 31">
            <a:extLst>
              <a:ext uri="{FF2B5EF4-FFF2-40B4-BE49-F238E27FC236}">
                <a16:creationId xmlns:a16="http://schemas.microsoft.com/office/drawing/2014/main" id="{C0825343-A15D-A8EE-2DC5-09CE2DFCBD9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722497" y="4519467"/>
            <a:ext cx="4480051" cy="1158902"/>
          </a:xfrm>
          <a:prstGeom prst="rect">
            <a:avLst/>
          </a:prstGeom>
        </p:spPr>
      </p:pic>
      <p:sp>
        <p:nvSpPr>
          <p:cNvPr id="33" name="TextBox 32">
            <a:extLst>
              <a:ext uri="{FF2B5EF4-FFF2-40B4-BE49-F238E27FC236}">
                <a16:creationId xmlns:a16="http://schemas.microsoft.com/office/drawing/2014/main" id="{A4FB274F-E7DC-CDA4-5B0E-3DE5D4FDB45B}"/>
              </a:ext>
            </a:extLst>
          </p:cNvPr>
          <p:cNvSpPr txBox="1"/>
          <p:nvPr/>
        </p:nvSpPr>
        <p:spPr>
          <a:xfrm>
            <a:off x="7068612" y="4679780"/>
            <a:ext cx="3787821"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Trust purchases life insurance policy from plan at IRS safe-harbor fair market value. Currently estimated at &lt;</a:t>
            </a:r>
            <a:r>
              <a:rPr lang="en-US" sz="1000" dirty="0" err="1">
                <a:latin typeface="Cormorant Infant SemiBold" pitchFamily="2" charset="0"/>
                <a:ea typeface="Cormorant Infant SemiBold" pitchFamily="2" charset="0"/>
                <a:cs typeface="Cormorant Infant SemiBold" pitchFamily="2" charset="0"/>
              </a:rPr>
              <a:t>SalePrice</a:t>
            </a:r>
            <a:r>
              <a:rPr lang="en-US" sz="1000" dirty="0">
                <a:latin typeface="Cormorant Infant SemiBold" pitchFamily="2" charset="0"/>
                <a:ea typeface="Cormorant Infant SemiBold" pitchFamily="2" charset="0"/>
                <a:cs typeface="Cormorant Infant SemiBold" pitchFamily="2" charset="0"/>
              </a:rPr>
              <a:t>&gt;, a &lt;Discount&gt; discount.​</a:t>
            </a:r>
          </a:p>
        </p:txBody>
      </p:sp>
      <p:pic>
        <p:nvPicPr>
          <p:cNvPr id="53" name="Graphic 52">
            <a:extLst>
              <a:ext uri="{FF2B5EF4-FFF2-40B4-BE49-F238E27FC236}">
                <a16:creationId xmlns:a16="http://schemas.microsoft.com/office/drawing/2014/main" id="{0360DBA2-CCE6-8EFE-ADEB-39CD25F77F1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82494" y="5090228"/>
            <a:ext cx="4475331" cy="455821"/>
          </a:xfrm>
          <a:prstGeom prst="rect">
            <a:avLst/>
          </a:prstGeom>
        </p:spPr>
      </p:pic>
      <p:sp>
        <p:nvSpPr>
          <p:cNvPr id="54" name="TextBox 53">
            <a:extLst>
              <a:ext uri="{FF2B5EF4-FFF2-40B4-BE49-F238E27FC236}">
                <a16:creationId xmlns:a16="http://schemas.microsoft.com/office/drawing/2014/main" id="{5E42AEC4-0415-80DA-4518-A35961FF73FF}"/>
              </a:ext>
            </a:extLst>
          </p:cNvPr>
          <p:cNvSpPr txBox="1"/>
          <p:nvPr/>
        </p:nvSpPr>
        <p:spPr>
          <a:xfrm>
            <a:off x="1273140" y="5241194"/>
            <a:ext cx="3911671" cy="153888"/>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The plan receives the proceeds from the sale of the policy. ​</a:t>
            </a:r>
          </a:p>
        </p:txBody>
      </p:sp>
      <p:pic>
        <p:nvPicPr>
          <p:cNvPr id="68" name="Graphic 67">
            <a:extLst>
              <a:ext uri="{FF2B5EF4-FFF2-40B4-BE49-F238E27FC236}">
                <a16:creationId xmlns:a16="http://schemas.microsoft.com/office/drawing/2014/main" id="{4C4E4349-75F8-BF39-126F-9D8299885A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636" y="5245209"/>
            <a:ext cx="876300" cy="344710"/>
          </a:xfrm>
          <a:prstGeom prst="rect">
            <a:avLst/>
          </a:prstGeom>
        </p:spPr>
      </p:pic>
      <p:sp>
        <p:nvSpPr>
          <p:cNvPr id="69" name="TextBox 68">
            <a:extLst>
              <a:ext uri="{FF2B5EF4-FFF2-40B4-BE49-F238E27FC236}">
                <a16:creationId xmlns:a16="http://schemas.microsoft.com/office/drawing/2014/main" id="{9CA5DF7F-E90D-1505-19DF-16F35BA9636B}"/>
              </a:ext>
            </a:extLst>
          </p:cNvPr>
          <p:cNvSpPr txBox="1"/>
          <p:nvPr/>
        </p:nvSpPr>
        <p:spPr>
          <a:xfrm>
            <a:off x="5530926" y="5340620"/>
            <a:ext cx="1129720"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RolloutYr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pic>
        <p:nvPicPr>
          <p:cNvPr id="70" name="Graphic 69">
            <a:extLst>
              <a:ext uri="{FF2B5EF4-FFF2-40B4-BE49-F238E27FC236}">
                <a16:creationId xmlns:a16="http://schemas.microsoft.com/office/drawing/2014/main" id="{784C71AF-6652-4097-4A16-99270F93D5A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341333" y="4964829"/>
            <a:ext cx="1508906" cy="350004"/>
          </a:xfrm>
          <a:prstGeom prst="rect">
            <a:avLst/>
          </a:prstGeom>
        </p:spPr>
      </p:pic>
      <p:pic>
        <p:nvPicPr>
          <p:cNvPr id="65" name="Graphic 64">
            <a:extLst>
              <a:ext uri="{FF2B5EF4-FFF2-40B4-BE49-F238E27FC236}">
                <a16:creationId xmlns:a16="http://schemas.microsoft.com/office/drawing/2014/main" id="{4EDBBDC0-6CFC-4BA0-271D-1B67CABE3E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636" y="5868844"/>
            <a:ext cx="876300" cy="344710"/>
          </a:xfrm>
          <a:prstGeom prst="rect">
            <a:avLst/>
          </a:prstGeom>
        </p:spPr>
      </p:pic>
      <p:sp>
        <p:nvSpPr>
          <p:cNvPr id="66" name="TextBox 65">
            <a:extLst>
              <a:ext uri="{FF2B5EF4-FFF2-40B4-BE49-F238E27FC236}">
                <a16:creationId xmlns:a16="http://schemas.microsoft.com/office/drawing/2014/main" id="{489F5DBB-86E8-77D4-002A-1E776EC560E2}"/>
              </a:ext>
            </a:extLst>
          </p:cNvPr>
          <p:cNvSpPr txBox="1"/>
          <p:nvPr/>
        </p:nvSpPr>
        <p:spPr>
          <a:xfrm>
            <a:off x="5587324" y="5964255"/>
            <a:ext cx="1016925"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PickYear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pic>
        <p:nvPicPr>
          <p:cNvPr id="36" name="Graphic 35">
            <a:extLst>
              <a:ext uri="{FF2B5EF4-FFF2-40B4-BE49-F238E27FC236}">
                <a16:creationId xmlns:a16="http://schemas.microsoft.com/office/drawing/2014/main" id="{BD0010BF-A5C5-B3DA-4C0B-312E4254262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068612" y="5049834"/>
            <a:ext cx="3787821" cy="482228"/>
          </a:xfrm>
          <a:prstGeom prst="rect">
            <a:avLst/>
          </a:prstGeom>
        </p:spPr>
      </p:pic>
      <p:sp>
        <p:nvSpPr>
          <p:cNvPr id="37" name="TextBox 36">
            <a:extLst>
              <a:ext uri="{FF2B5EF4-FFF2-40B4-BE49-F238E27FC236}">
                <a16:creationId xmlns:a16="http://schemas.microsoft.com/office/drawing/2014/main" id="{35F67A3F-C1E9-B099-17B7-0DA9B7E2CEBF}"/>
              </a:ext>
            </a:extLst>
          </p:cNvPr>
          <p:cNvSpPr txBox="1"/>
          <p:nvPr/>
        </p:nvSpPr>
        <p:spPr>
          <a:xfrm>
            <a:off x="7444262" y="5213353"/>
            <a:ext cx="3218980" cy="153888"/>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After death, trust receives &lt;</a:t>
            </a:r>
            <a:r>
              <a:rPr lang="en-US" sz="1000" dirty="0" err="1">
                <a:latin typeface="Cormorant Infant SemiBold" pitchFamily="2" charset="0"/>
                <a:ea typeface="Cormorant Infant SemiBold" pitchFamily="2" charset="0"/>
                <a:cs typeface="Cormorant Infant SemiBold" pitchFamily="2" charset="0"/>
              </a:rPr>
              <a:t>NetToHeirsPickYr</a:t>
            </a:r>
            <a:r>
              <a:rPr lang="en-US" sz="1000" dirty="0">
                <a:latin typeface="Cormorant Infant SemiBold" pitchFamily="2" charset="0"/>
                <a:ea typeface="Cormorant Infant SemiBold" pitchFamily="2" charset="0"/>
                <a:cs typeface="Cormorant Infant SemiBold" pitchFamily="2" charset="0"/>
              </a:rPr>
              <a:t>&gt; Tax-Free.</a:t>
            </a:r>
          </a:p>
        </p:txBody>
      </p:sp>
    </p:spTree>
    <p:extLst>
      <p:ext uri="{BB962C8B-B14F-4D97-AF65-F5344CB8AC3E}">
        <p14:creationId xmlns:p14="http://schemas.microsoft.com/office/powerpoint/2010/main" val="361332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up)">
                                      <p:cBhvr>
                                        <p:cTn id="7" dur="500"/>
                                        <p:tgtEl>
                                          <p:spTgt spid="6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wipe(up)">
                                      <p:cBhvr>
                                        <p:cTn id="10" dur="500"/>
                                        <p:tgtEl>
                                          <p:spTgt spid="6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up)">
                                      <p:cBhvr>
                                        <p:cTn id="15" dur="500"/>
                                        <p:tgtEl>
                                          <p:spTgt spid="57"/>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wipe(up)">
                                      <p:cBhvr>
                                        <p:cTn id="18" dur="500"/>
                                        <p:tgtEl>
                                          <p:spTgt spid="5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wipe(up)">
                                      <p:cBhvr>
                                        <p:cTn id="23" dur="500"/>
                                        <p:tgtEl>
                                          <p:spTgt spid="72"/>
                                        </p:tgtEl>
                                      </p:cBhvr>
                                    </p:animEffect>
                                  </p:childTnLst>
                                </p:cTn>
                              </p:par>
                              <p:par>
                                <p:cTn id="24" presetID="22" presetClass="entr" presetSubtype="1"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wipe(up)">
                                      <p:cBhvr>
                                        <p:cTn id="26" dur="500"/>
                                        <p:tgtEl>
                                          <p:spTgt spid="47"/>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wipe(up)">
                                      <p:cBhvr>
                                        <p:cTn id="29" dur="500"/>
                                        <p:tgtEl>
                                          <p:spTgt spid="48"/>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wipe(up)">
                                      <p:cBhvr>
                                        <p:cTn id="32" dur="500"/>
                                        <p:tgtEl>
                                          <p:spTgt spid="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wipe(left)">
                                      <p:cBhvr>
                                        <p:cTn id="37" dur="500"/>
                                        <p:tgtEl>
                                          <p:spTgt spid="54"/>
                                        </p:tgtEl>
                                      </p:cBhvr>
                                    </p:animEffect>
                                  </p:childTnLst>
                                </p:cTn>
                              </p:par>
                              <p:par>
                                <p:cTn id="38" presetID="22" presetClass="entr" presetSubtype="8" fill="hold"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left)">
                                      <p:cBhvr>
                                        <p:cTn id="40" dur="500"/>
                                        <p:tgtEl>
                                          <p:spTgt spid="53"/>
                                        </p:tgtEl>
                                      </p:cBhvr>
                                    </p:animEffect>
                                  </p:childTnLst>
                                </p:cTn>
                              </p:par>
                              <p:par>
                                <p:cTn id="41" presetID="22" presetClass="entr" presetSubtype="8" fill="hold" nodeType="with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wipe(left)">
                                      <p:cBhvr>
                                        <p:cTn id="43" dur="500"/>
                                        <p:tgtEl>
                                          <p:spTgt spid="7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wipe(left)">
                                      <p:cBhvr>
                                        <p:cTn id="46" dur="500"/>
                                        <p:tgtEl>
                                          <p:spTgt spid="69"/>
                                        </p:tgtEl>
                                      </p:cBhvr>
                                    </p:animEffect>
                                  </p:childTnLst>
                                </p:cTn>
                              </p:par>
                              <p:par>
                                <p:cTn id="47" presetID="22" presetClass="entr" presetSubtype="8" fill="hold" nodeType="with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500"/>
                                        <p:tgtEl>
                                          <p:spTgt spid="68"/>
                                        </p:tgtEl>
                                      </p:cBhvr>
                                    </p:animEffect>
                                  </p:childTnLst>
                                </p:cTn>
                              </p:par>
                              <p:par>
                                <p:cTn id="50" presetID="22" presetClass="entr" presetSubtype="8" fill="hold"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66"/>
                                        </p:tgtEl>
                                        <p:attrNameLst>
                                          <p:attrName>style.visibility</p:attrName>
                                        </p:attrNameLst>
                                      </p:cBhvr>
                                      <p:to>
                                        <p:strVal val="visible"/>
                                      </p:to>
                                    </p:set>
                                    <p:animEffect transition="in" filter="wipe(up)">
                                      <p:cBhvr>
                                        <p:cTn id="60" dur="500"/>
                                        <p:tgtEl>
                                          <p:spTgt spid="66"/>
                                        </p:tgtEl>
                                      </p:cBhvr>
                                    </p:animEffect>
                                  </p:childTnLst>
                                </p:cTn>
                              </p:par>
                              <p:par>
                                <p:cTn id="61" presetID="22" presetClass="entr" presetSubtype="1" fill="hold" nodeType="withEffect">
                                  <p:stCondLst>
                                    <p:cond delay="0"/>
                                  </p:stCondLst>
                                  <p:childTnLst>
                                    <p:set>
                                      <p:cBhvr>
                                        <p:cTn id="62" dur="1" fill="hold">
                                          <p:stCondLst>
                                            <p:cond delay="0"/>
                                          </p:stCondLst>
                                        </p:cTn>
                                        <p:tgtEl>
                                          <p:spTgt spid="65"/>
                                        </p:tgtEl>
                                        <p:attrNameLst>
                                          <p:attrName>style.visibility</p:attrName>
                                        </p:attrNameLst>
                                      </p:cBhvr>
                                      <p:to>
                                        <p:strVal val="visible"/>
                                      </p:to>
                                    </p:set>
                                    <p:animEffect transition="in" filter="wipe(up)">
                                      <p:cBhvr>
                                        <p:cTn id="63" dur="500"/>
                                        <p:tgtEl>
                                          <p:spTgt spid="65"/>
                                        </p:tgtEl>
                                      </p:cBhvr>
                                    </p:animEffect>
                                  </p:childTnLst>
                                </p:cTn>
                              </p:par>
                              <p:par>
                                <p:cTn id="64" presetID="22" presetClass="entr" presetSubtype="1" fill="hold"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wipe(up)">
                                      <p:cBhvr>
                                        <p:cTn id="66" dur="500"/>
                                        <p:tgtEl>
                                          <p:spTgt spid="36"/>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wipe(up)">
                                      <p:cBhvr>
                                        <p:cTn id="6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0" grpId="0"/>
      <p:bldP spid="58" grpId="0"/>
      <p:bldP spid="63" grpId="0"/>
      <p:bldP spid="33" grpId="0"/>
      <p:bldP spid="54" grpId="0"/>
      <p:bldP spid="69" grpId="0"/>
      <p:bldP spid="6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30792-8262-633B-16DB-B26EDF76D7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BECEED-A932-7EAA-4752-779ABEEEF6D3}"/>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936BE0E3-1AF6-4648-09B9-46A3702D2A31}"/>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pic>
        <p:nvPicPr>
          <p:cNvPr id="11" name="Graphic 10">
            <a:extLst>
              <a:ext uri="{FF2B5EF4-FFF2-40B4-BE49-F238E27FC236}">
                <a16:creationId xmlns:a16="http://schemas.microsoft.com/office/drawing/2014/main" id="{516886F6-2745-4AC2-3616-F0671ABC35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1561901"/>
            <a:ext cx="3782833" cy="650408"/>
          </a:xfrm>
          <a:prstGeom prst="rect">
            <a:avLst/>
          </a:prstGeom>
        </p:spPr>
      </p:pic>
      <p:sp>
        <p:nvSpPr>
          <p:cNvPr id="19" name="TextBox 18">
            <a:extLst>
              <a:ext uri="{FF2B5EF4-FFF2-40B4-BE49-F238E27FC236}">
                <a16:creationId xmlns:a16="http://schemas.microsoft.com/office/drawing/2014/main" id="{907D2E61-2C50-7FBB-868A-5EE7DD31EFFF}"/>
              </a:ext>
            </a:extLst>
          </p:cNvPr>
          <p:cNvSpPr txBox="1"/>
          <p:nvPr/>
        </p:nvSpPr>
        <p:spPr>
          <a:xfrm>
            <a:off x="1006066" y="1561900"/>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1: Plan Funding</a:t>
            </a:r>
          </a:p>
        </p:txBody>
      </p:sp>
      <p:pic>
        <p:nvPicPr>
          <p:cNvPr id="13" name="Graphic 12">
            <a:extLst>
              <a:ext uri="{FF2B5EF4-FFF2-40B4-BE49-F238E27FC236}">
                <a16:creationId xmlns:a16="http://schemas.microsoft.com/office/drawing/2014/main" id="{E2C031A3-6440-E3E7-C677-E617D5F4BA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2304323"/>
            <a:ext cx="3394083" cy="650408"/>
          </a:xfrm>
          <a:prstGeom prst="rect">
            <a:avLst/>
          </a:prstGeom>
        </p:spPr>
      </p:pic>
      <p:sp>
        <p:nvSpPr>
          <p:cNvPr id="24" name="TextBox 23">
            <a:extLst>
              <a:ext uri="{FF2B5EF4-FFF2-40B4-BE49-F238E27FC236}">
                <a16:creationId xmlns:a16="http://schemas.microsoft.com/office/drawing/2014/main" id="{F0B2534C-F915-490D-B2EB-95447B756E39}"/>
              </a:ext>
            </a:extLst>
          </p:cNvPr>
          <p:cNvSpPr txBox="1"/>
          <p:nvPr/>
        </p:nvSpPr>
        <p:spPr>
          <a:xfrm>
            <a:off x="1006066" y="2314598"/>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2: Funding &amp; Discovery</a:t>
            </a:r>
          </a:p>
        </p:txBody>
      </p:sp>
      <p:pic>
        <p:nvPicPr>
          <p:cNvPr id="14" name="Graphic 13">
            <a:extLst>
              <a:ext uri="{FF2B5EF4-FFF2-40B4-BE49-F238E27FC236}">
                <a16:creationId xmlns:a16="http://schemas.microsoft.com/office/drawing/2014/main" id="{183FD69C-FEC6-64AB-CE8C-FB199B4CCC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048130"/>
            <a:ext cx="3394083" cy="650408"/>
          </a:xfrm>
          <a:prstGeom prst="rect">
            <a:avLst/>
          </a:prstGeom>
        </p:spPr>
      </p:pic>
      <p:sp>
        <p:nvSpPr>
          <p:cNvPr id="25" name="TextBox 24">
            <a:extLst>
              <a:ext uri="{FF2B5EF4-FFF2-40B4-BE49-F238E27FC236}">
                <a16:creationId xmlns:a16="http://schemas.microsoft.com/office/drawing/2014/main" id="{32DF087E-962C-A508-8B6E-9474FD4FCB24}"/>
              </a:ext>
            </a:extLst>
          </p:cNvPr>
          <p:cNvSpPr txBox="1"/>
          <p:nvPr/>
        </p:nvSpPr>
        <p:spPr>
          <a:xfrm>
            <a:off x="1006066" y="3058405"/>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3: Policy Purchase</a:t>
            </a:r>
          </a:p>
        </p:txBody>
      </p:sp>
      <p:pic>
        <p:nvPicPr>
          <p:cNvPr id="15" name="Graphic 14">
            <a:extLst>
              <a:ext uri="{FF2B5EF4-FFF2-40B4-BE49-F238E27FC236}">
                <a16:creationId xmlns:a16="http://schemas.microsoft.com/office/drawing/2014/main" id="{4BBFD1CC-3125-C878-ED89-205B7EE3C0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799868"/>
            <a:ext cx="3394083" cy="650408"/>
          </a:xfrm>
          <a:prstGeom prst="rect">
            <a:avLst/>
          </a:prstGeom>
        </p:spPr>
      </p:pic>
      <p:sp>
        <p:nvSpPr>
          <p:cNvPr id="26" name="TextBox 25">
            <a:extLst>
              <a:ext uri="{FF2B5EF4-FFF2-40B4-BE49-F238E27FC236}">
                <a16:creationId xmlns:a16="http://schemas.microsoft.com/office/drawing/2014/main" id="{7494ED2B-316E-3259-1C60-337BBC8DCAD0}"/>
              </a:ext>
            </a:extLst>
          </p:cNvPr>
          <p:cNvSpPr txBox="1"/>
          <p:nvPr/>
        </p:nvSpPr>
        <p:spPr>
          <a:xfrm>
            <a:off x="1006066" y="381014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4: Policy Transfer</a:t>
            </a:r>
          </a:p>
        </p:txBody>
      </p:sp>
      <p:pic>
        <p:nvPicPr>
          <p:cNvPr id="16" name="Graphic 15">
            <a:extLst>
              <a:ext uri="{FF2B5EF4-FFF2-40B4-BE49-F238E27FC236}">
                <a16:creationId xmlns:a16="http://schemas.microsoft.com/office/drawing/2014/main" id="{5F183C16-F4CC-A7D0-2731-8F388BD506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8"/>
            <a:ext cx="3394083" cy="650408"/>
          </a:xfrm>
          <a:prstGeom prst="rect">
            <a:avLst/>
          </a:prstGeom>
        </p:spPr>
      </p:pic>
      <p:sp>
        <p:nvSpPr>
          <p:cNvPr id="27" name="TextBox 26">
            <a:extLst>
              <a:ext uri="{FF2B5EF4-FFF2-40B4-BE49-F238E27FC236}">
                <a16:creationId xmlns:a16="http://schemas.microsoft.com/office/drawing/2014/main" id="{C5FA7946-77CF-4E3C-EE6E-3B370DA38F6D}"/>
              </a:ext>
            </a:extLst>
          </p:cNvPr>
          <p:cNvSpPr txBox="1"/>
          <p:nvPr/>
        </p:nvSpPr>
        <p:spPr>
          <a:xfrm>
            <a:off x="1006066" y="455838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5: Tax Free Benefit to Heirs</a:t>
            </a:r>
          </a:p>
        </p:txBody>
      </p:sp>
      <p:sp>
        <p:nvSpPr>
          <p:cNvPr id="3" name="TextBox 2">
            <a:extLst>
              <a:ext uri="{FF2B5EF4-FFF2-40B4-BE49-F238E27FC236}">
                <a16:creationId xmlns:a16="http://schemas.microsoft.com/office/drawing/2014/main" id="{5B627154-DF74-9BE9-63E6-F74CBA72CF26}"/>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9" name="TextBox 8">
            <a:extLst>
              <a:ext uri="{FF2B5EF4-FFF2-40B4-BE49-F238E27FC236}">
                <a16:creationId xmlns:a16="http://schemas.microsoft.com/office/drawing/2014/main" id="{E036ACE8-DFF4-DDD0-1BE6-A9509B4423AF}"/>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sp>
        <p:nvSpPr>
          <p:cNvPr id="17" name="Rectangle 16">
            <a:hlinkClick r:id="rId7" action="ppaction://hlinksldjump"/>
            <a:extLst>
              <a:ext uri="{FF2B5EF4-FFF2-40B4-BE49-F238E27FC236}">
                <a16:creationId xmlns:a16="http://schemas.microsoft.com/office/drawing/2014/main" id="{B0C41CF8-1B57-726A-997F-354AEA07EDB3}"/>
              </a:ext>
            </a:extLst>
          </p:cNvPr>
          <p:cNvSpPr/>
          <p:nvPr/>
        </p:nvSpPr>
        <p:spPr>
          <a:xfrm>
            <a:off x="773931"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hlinkClick r:id="rId8" action="ppaction://hlinksldjump"/>
            <a:extLst>
              <a:ext uri="{FF2B5EF4-FFF2-40B4-BE49-F238E27FC236}">
                <a16:creationId xmlns:a16="http://schemas.microsoft.com/office/drawing/2014/main" id="{268F4102-4FA3-7673-6F8E-F33227BEF3B1}"/>
              </a:ext>
            </a:extLst>
          </p:cNvPr>
          <p:cNvSpPr/>
          <p:nvPr/>
        </p:nvSpPr>
        <p:spPr>
          <a:xfrm>
            <a:off x="773931"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9" action="ppaction://hlinksldjump"/>
            <a:extLst>
              <a:ext uri="{FF2B5EF4-FFF2-40B4-BE49-F238E27FC236}">
                <a16:creationId xmlns:a16="http://schemas.microsoft.com/office/drawing/2014/main" id="{2DCC7B33-63C9-CCE8-5FDB-5B2D33B776A8}"/>
              </a:ext>
            </a:extLst>
          </p:cNvPr>
          <p:cNvSpPr/>
          <p:nvPr/>
        </p:nvSpPr>
        <p:spPr>
          <a:xfrm>
            <a:off x="773931"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10" action="ppaction://hlinksldjump"/>
            <a:extLst>
              <a:ext uri="{FF2B5EF4-FFF2-40B4-BE49-F238E27FC236}">
                <a16:creationId xmlns:a16="http://schemas.microsoft.com/office/drawing/2014/main" id="{8285F897-57DC-29F9-2350-5926CCE5EA24}"/>
              </a:ext>
            </a:extLst>
          </p:cNvPr>
          <p:cNvSpPr/>
          <p:nvPr/>
        </p:nvSpPr>
        <p:spPr>
          <a:xfrm>
            <a:off x="773931"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11" action="ppaction://hlinksldjump"/>
            <a:extLst>
              <a:ext uri="{FF2B5EF4-FFF2-40B4-BE49-F238E27FC236}">
                <a16:creationId xmlns:a16="http://schemas.microsoft.com/office/drawing/2014/main" id="{1B4B63F4-DD85-8F0D-0140-489A1E68A71C}"/>
              </a:ext>
            </a:extLst>
          </p:cNvPr>
          <p:cNvSpPr/>
          <p:nvPr/>
        </p:nvSpPr>
        <p:spPr>
          <a:xfrm>
            <a:off x="773931"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B3FF6B69-0284-D628-E1C6-6D7D6CCBAFDF}"/>
              </a:ext>
            </a:extLst>
          </p:cNvPr>
          <p:cNvSpPr txBox="1">
            <a:spLocks/>
          </p:cNvSpPr>
          <p:nvPr/>
        </p:nvSpPr>
        <p:spPr>
          <a:xfrm>
            <a:off x="5661061" y="1512751"/>
            <a:ext cx="5198723"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A qualifying entity (‘Legacy LLC' or Company) sponsors a LIRA compliant retirement plan.</a:t>
            </a:r>
          </a:p>
        </p:txBody>
      </p:sp>
      <p:pic>
        <p:nvPicPr>
          <p:cNvPr id="12" name="Graphic 11">
            <a:extLst>
              <a:ext uri="{FF2B5EF4-FFF2-40B4-BE49-F238E27FC236}">
                <a16:creationId xmlns:a16="http://schemas.microsoft.com/office/drawing/2014/main" id="{FC19DE9C-6AD7-71A9-6AA5-460372F291E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401" y="2419000"/>
            <a:ext cx="6387782" cy="84050"/>
          </a:xfrm>
          <a:prstGeom prst="rect">
            <a:avLst/>
          </a:prstGeom>
        </p:spPr>
      </p:pic>
      <p:sp>
        <p:nvSpPr>
          <p:cNvPr id="23" name="TextBox 22">
            <a:extLst>
              <a:ext uri="{FF2B5EF4-FFF2-40B4-BE49-F238E27FC236}">
                <a16:creationId xmlns:a16="http://schemas.microsoft.com/office/drawing/2014/main" id="{0B8A7C51-2472-2C69-A4E2-3BF03C3E68CD}"/>
              </a:ext>
            </a:extLst>
          </p:cNvPr>
          <p:cNvSpPr txBox="1"/>
          <p:nvPr/>
        </p:nvSpPr>
        <p:spPr>
          <a:xfrm>
            <a:off x="4849401" y="2790559"/>
            <a:ext cx="6387783" cy="589649"/>
          </a:xfrm>
          <a:prstGeom prst="rect">
            <a:avLst/>
          </a:prstGeom>
          <a:noFill/>
        </p:spPr>
        <p:txBody>
          <a:bodyPr wrap="square" lIns="0" tIns="0" rIns="0" bIns="0">
            <a:spAutoFit/>
          </a:bodyPr>
          <a:lstStyle/>
          <a:p>
            <a:pPr algn="r">
              <a:lnSpc>
                <a:spcPts val="2400"/>
              </a:lnSpc>
            </a:pPr>
            <a:r>
              <a:rPr lang="en-US" sz="1400" i="0" u="none" strike="noStrike" baseline="0" dirty="0">
                <a:solidFill>
                  <a:schemeClr val="bg1"/>
                </a:solidFill>
                <a:latin typeface="Cormorant Infant" pitchFamily="2" charset="0"/>
              </a:rPr>
              <a:t>This entity must have earned income, may require entity planning.</a:t>
            </a:r>
          </a:p>
          <a:p>
            <a:pPr algn="r">
              <a:lnSpc>
                <a:spcPts val="2400"/>
              </a:lnSpc>
            </a:pPr>
            <a:r>
              <a:rPr lang="en-US" sz="1400" i="0" u="none" strike="noStrike" baseline="0" dirty="0">
                <a:solidFill>
                  <a:schemeClr val="bg1"/>
                </a:solidFill>
                <a:latin typeface="Cormorant Infant" pitchFamily="2" charset="0"/>
              </a:rPr>
              <a:t> We </a:t>
            </a:r>
            <a:r>
              <a:rPr lang="en-US" sz="1400" dirty="0">
                <a:solidFill>
                  <a:schemeClr val="bg1"/>
                </a:solidFill>
                <a:latin typeface="Cormorant Infant" pitchFamily="2" charset="0"/>
              </a:rPr>
              <a:t>e</a:t>
            </a:r>
            <a:r>
              <a:rPr lang="en-US" sz="1400" i="0" u="none" strike="noStrike" baseline="0" dirty="0">
                <a:solidFill>
                  <a:schemeClr val="bg1"/>
                </a:solidFill>
                <a:latin typeface="Cormorant Infant" pitchFamily="2" charset="0"/>
              </a:rPr>
              <a:t>nsure the new or amended plan allows for the purchase of life insurance. </a:t>
            </a:r>
          </a:p>
        </p:txBody>
      </p:sp>
      <p:grpSp>
        <p:nvGrpSpPr>
          <p:cNvPr id="28" name="Graphic 2">
            <a:extLst>
              <a:ext uri="{FF2B5EF4-FFF2-40B4-BE49-F238E27FC236}">
                <a16:creationId xmlns:a16="http://schemas.microsoft.com/office/drawing/2014/main" id="{A8932182-4426-A232-DA25-F342EACE8AD3}"/>
              </a:ext>
            </a:extLst>
          </p:cNvPr>
          <p:cNvGrpSpPr/>
          <p:nvPr/>
        </p:nvGrpSpPr>
        <p:grpSpPr>
          <a:xfrm>
            <a:off x="4839126" y="1560927"/>
            <a:ext cx="647282" cy="647282"/>
            <a:chOff x="4839126" y="1560927"/>
            <a:chExt cx="647282" cy="647282"/>
          </a:xfrm>
        </p:grpSpPr>
        <p:sp>
          <p:nvSpPr>
            <p:cNvPr id="29" name="Oval 28">
              <a:extLst>
                <a:ext uri="{FF2B5EF4-FFF2-40B4-BE49-F238E27FC236}">
                  <a16:creationId xmlns:a16="http://schemas.microsoft.com/office/drawing/2014/main" id="{A37CFF82-D809-9BB6-B952-B139DCCA31DB}"/>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30" name="Freeform: Shape 29">
              <a:extLst>
                <a:ext uri="{FF2B5EF4-FFF2-40B4-BE49-F238E27FC236}">
                  <a16:creationId xmlns:a16="http://schemas.microsoft.com/office/drawing/2014/main" id="{1CB6778C-9F5C-EED4-0805-FF9D3D6D4D9E}"/>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34" name="TextBox 33">
            <a:extLst>
              <a:ext uri="{FF2B5EF4-FFF2-40B4-BE49-F238E27FC236}">
                <a16:creationId xmlns:a16="http://schemas.microsoft.com/office/drawing/2014/main" id="{3E45AB75-4978-6168-4894-3328F7BAFEF7}"/>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1</a:t>
            </a:r>
            <a:endParaRPr lang="en-US" sz="2400" dirty="0"/>
          </a:p>
        </p:txBody>
      </p:sp>
    </p:spTree>
    <p:extLst>
      <p:ext uri="{BB962C8B-B14F-4D97-AF65-F5344CB8AC3E}">
        <p14:creationId xmlns:p14="http://schemas.microsoft.com/office/powerpoint/2010/main" val="106997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7300-0E35-5F97-049B-A9FB31E71B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780E5B-1185-5AF9-40CA-FA5ABDE4FA43}"/>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0410C59A-F799-00BD-3CC4-73577CFD464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pic>
        <p:nvPicPr>
          <p:cNvPr id="29" name="Graphic 28">
            <a:extLst>
              <a:ext uri="{FF2B5EF4-FFF2-40B4-BE49-F238E27FC236}">
                <a16:creationId xmlns:a16="http://schemas.microsoft.com/office/drawing/2014/main" id="{9EC76520-EA8F-9712-E8B7-C7D9270F21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2303363"/>
            <a:ext cx="3782833" cy="650408"/>
          </a:xfrm>
          <a:prstGeom prst="rect">
            <a:avLst/>
          </a:prstGeom>
        </p:spPr>
      </p:pic>
      <p:sp>
        <p:nvSpPr>
          <p:cNvPr id="24" name="TextBox 23">
            <a:extLst>
              <a:ext uri="{FF2B5EF4-FFF2-40B4-BE49-F238E27FC236}">
                <a16:creationId xmlns:a16="http://schemas.microsoft.com/office/drawing/2014/main" id="{45A10E39-F86D-9CA8-108B-A634E8B7A961}"/>
              </a:ext>
            </a:extLst>
          </p:cNvPr>
          <p:cNvSpPr txBox="1"/>
          <p:nvPr/>
        </p:nvSpPr>
        <p:spPr>
          <a:xfrm>
            <a:off x="1006066" y="2314598"/>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2: Funding &amp; Discovery</a:t>
            </a:r>
          </a:p>
        </p:txBody>
      </p:sp>
      <p:pic>
        <p:nvPicPr>
          <p:cNvPr id="14" name="Graphic 13">
            <a:extLst>
              <a:ext uri="{FF2B5EF4-FFF2-40B4-BE49-F238E27FC236}">
                <a16:creationId xmlns:a16="http://schemas.microsoft.com/office/drawing/2014/main" id="{997628A2-50F6-E2A2-897C-D9A61F8903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048130"/>
            <a:ext cx="3394083" cy="650408"/>
          </a:xfrm>
          <a:prstGeom prst="rect">
            <a:avLst/>
          </a:prstGeom>
        </p:spPr>
      </p:pic>
      <p:sp>
        <p:nvSpPr>
          <p:cNvPr id="25" name="TextBox 24">
            <a:extLst>
              <a:ext uri="{FF2B5EF4-FFF2-40B4-BE49-F238E27FC236}">
                <a16:creationId xmlns:a16="http://schemas.microsoft.com/office/drawing/2014/main" id="{18CE3708-0D38-C94E-B754-6B1AEF41F5CB}"/>
              </a:ext>
            </a:extLst>
          </p:cNvPr>
          <p:cNvSpPr txBox="1"/>
          <p:nvPr/>
        </p:nvSpPr>
        <p:spPr>
          <a:xfrm>
            <a:off x="1006066" y="3058405"/>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3: Policy Purchase</a:t>
            </a:r>
          </a:p>
        </p:txBody>
      </p:sp>
      <p:pic>
        <p:nvPicPr>
          <p:cNvPr id="15" name="Graphic 14">
            <a:extLst>
              <a:ext uri="{FF2B5EF4-FFF2-40B4-BE49-F238E27FC236}">
                <a16:creationId xmlns:a16="http://schemas.microsoft.com/office/drawing/2014/main" id="{605FB324-805E-7AEA-2AF3-F31E042FDD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799868"/>
            <a:ext cx="3394083" cy="650408"/>
          </a:xfrm>
          <a:prstGeom prst="rect">
            <a:avLst/>
          </a:prstGeom>
        </p:spPr>
      </p:pic>
      <p:sp>
        <p:nvSpPr>
          <p:cNvPr id="26" name="TextBox 25">
            <a:extLst>
              <a:ext uri="{FF2B5EF4-FFF2-40B4-BE49-F238E27FC236}">
                <a16:creationId xmlns:a16="http://schemas.microsoft.com/office/drawing/2014/main" id="{D41ED1CA-B63A-E996-1766-0653D691C85B}"/>
              </a:ext>
            </a:extLst>
          </p:cNvPr>
          <p:cNvSpPr txBox="1"/>
          <p:nvPr/>
        </p:nvSpPr>
        <p:spPr>
          <a:xfrm>
            <a:off x="1006066" y="381014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4: Policy Transfer</a:t>
            </a:r>
          </a:p>
        </p:txBody>
      </p:sp>
      <p:pic>
        <p:nvPicPr>
          <p:cNvPr id="16" name="Graphic 15">
            <a:extLst>
              <a:ext uri="{FF2B5EF4-FFF2-40B4-BE49-F238E27FC236}">
                <a16:creationId xmlns:a16="http://schemas.microsoft.com/office/drawing/2014/main" id="{6A559C49-9C42-34B3-DDD2-110364FFD7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8"/>
            <a:ext cx="3394083" cy="650408"/>
          </a:xfrm>
          <a:prstGeom prst="rect">
            <a:avLst/>
          </a:prstGeom>
        </p:spPr>
      </p:pic>
      <p:sp>
        <p:nvSpPr>
          <p:cNvPr id="27" name="TextBox 26">
            <a:extLst>
              <a:ext uri="{FF2B5EF4-FFF2-40B4-BE49-F238E27FC236}">
                <a16:creationId xmlns:a16="http://schemas.microsoft.com/office/drawing/2014/main" id="{560E0861-D50D-16F7-7C98-46FECD0D6ECA}"/>
              </a:ext>
            </a:extLst>
          </p:cNvPr>
          <p:cNvSpPr txBox="1"/>
          <p:nvPr/>
        </p:nvSpPr>
        <p:spPr>
          <a:xfrm>
            <a:off x="1006066" y="455838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5: Tax Free Benefit to Heirs</a:t>
            </a:r>
          </a:p>
        </p:txBody>
      </p:sp>
      <p:pic>
        <p:nvPicPr>
          <p:cNvPr id="9" name="Graphic 8">
            <a:extLst>
              <a:ext uri="{FF2B5EF4-FFF2-40B4-BE49-F238E27FC236}">
                <a16:creationId xmlns:a16="http://schemas.microsoft.com/office/drawing/2014/main" id="{3D2E5F50-1F81-E52F-4791-B3EB23EE29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0" y="1561901"/>
            <a:ext cx="3394083" cy="650408"/>
          </a:xfrm>
          <a:prstGeom prst="rect">
            <a:avLst/>
          </a:prstGeom>
        </p:spPr>
      </p:pic>
      <p:sp>
        <p:nvSpPr>
          <p:cNvPr id="10" name="TextBox 9">
            <a:extLst>
              <a:ext uri="{FF2B5EF4-FFF2-40B4-BE49-F238E27FC236}">
                <a16:creationId xmlns:a16="http://schemas.microsoft.com/office/drawing/2014/main" id="{D45E3297-218E-C685-52EC-C4416A86AB16}"/>
              </a:ext>
            </a:extLst>
          </p:cNvPr>
          <p:cNvSpPr txBox="1"/>
          <p:nvPr/>
        </p:nvSpPr>
        <p:spPr>
          <a:xfrm>
            <a:off x="1006066" y="1561900"/>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1: Plan Funding</a:t>
            </a:r>
          </a:p>
        </p:txBody>
      </p:sp>
      <p:sp>
        <p:nvSpPr>
          <p:cNvPr id="3" name="TextBox 2">
            <a:extLst>
              <a:ext uri="{FF2B5EF4-FFF2-40B4-BE49-F238E27FC236}">
                <a16:creationId xmlns:a16="http://schemas.microsoft.com/office/drawing/2014/main" id="{5462DFCC-1260-DF31-D4D4-22C96E9EF3D1}"/>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89AB0A88-5497-CC27-9ECB-6D100A09E551}"/>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sp>
        <p:nvSpPr>
          <p:cNvPr id="32" name="Title 1">
            <a:extLst>
              <a:ext uri="{FF2B5EF4-FFF2-40B4-BE49-F238E27FC236}">
                <a16:creationId xmlns:a16="http://schemas.microsoft.com/office/drawing/2014/main" id="{A81DC276-76BA-136F-794C-3D089900339F}"/>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Money from an existing retirement account is transferred to the LIRA Compliant plan</a:t>
            </a:r>
          </a:p>
        </p:txBody>
      </p:sp>
      <p:pic>
        <p:nvPicPr>
          <p:cNvPr id="33" name="Graphic 32">
            <a:extLst>
              <a:ext uri="{FF2B5EF4-FFF2-40B4-BE49-F238E27FC236}">
                <a16:creationId xmlns:a16="http://schemas.microsoft.com/office/drawing/2014/main" id="{B7293587-9B65-784F-7EF9-A28A20F97B5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34" name="Graphic 2">
            <a:extLst>
              <a:ext uri="{FF2B5EF4-FFF2-40B4-BE49-F238E27FC236}">
                <a16:creationId xmlns:a16="http://schemas.microsoft.com/office/drawing/2014/main" id="{750E5CBE-5F11-096D-18DF-3322E3BF1E0B}"/>
              </a:ext>
            </a:extLst>
          </p:cNvPr>
          <p:cNvGrpSpPr/>
          <p:nvPr/>
        </p:nvGrpSpPr>
        <p:grpSpPr>
          <a:xfrm>
            <a:off x="4839126" y="1560927"/>
            <a:ext cx="647282" cy="647282"/>
            <a:chOff x="4839126" y="1560927"/>
            <a:chExt cx="647282" cy="647282"/>
          </a:xfrm>
        </p:grpSpPr>
        <p:sp>
          <p:nvSpPr>
            <p:cNvPr id="35" name="Oval 34">
              <a:extLst>
                <a:ext uri="{FF2B5EF4-FFF2-40B4-BE49-F238E27FC236}">
                  <a16:creationId xmlns:a16="http://schemas.microsoft.com/office/drawing/2014/main" id="{7179680B-1446-AB93-0276-2DC660A4857D}"/>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b="1"/>
            </a:p>
          </p:txBody>
        </p:sp>
        <p:sp>
          <p:nvSpPr>
            <p:cNvPr id="36" name="Freeform: Shape 35">
              <a:extLst>
                <a:ext uri="{FF2B5EF4-FFF2-40B4-BE49-F238E27FC236}">
                  <a16:creationId xmlns:a16="http://schemas.microsoft.com/office/drawing/2014/main" id="{496D0910-E2AB-0D48-C94E-3EDD512AFFBB}"/>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b="1"/>
            </a:p>
          </p:txBody>
        </p:sp>
      </p:grpSp>
      <p:sp>
        <p:nvSpPr>
          <p:cNvPr id="37" name="TextBox 36">
            <a:extLst>
              <a:ext uri="{FF2B5EF4-FFF2-40B4-BE49-F238E27FC236}">
                <a16:creationId xmlns:a16="http://schemas.microsoft.com/office/drawing/2014/main" id="{ACC08DA4-E601-F418-BA50-4DD0011F52EC}"/>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2</a:t>
            </a:r>
            <a:endParaRPr lang="en-US" sz="2400" dirty="0"/>
          </a:p>
        </p:txBody>
      </p:sp>
      <p:graphicFrame>
        <p:nvGraphicFramePr>
          <p:cNvPr id="38" name="Table 37">
            <a:extLst>
              <a:ext uri="{FF2B5EF4-FFF2-40B4-BE49-F238E27FC236}">
                <a16:creationId xmlns:a16="http://schemas.microsoft.com/office/drawing/2014/main" id="{1517BE73-0323-332E-721B-DFAD6985DA69}"/>
              </a:ext>
            </a:extLst>
          </p:cNvPr>
          <p:cNvGraphicFramePr>
            <a:graphicFrameLocks noGrp="1"/>
          </p:cNvGraphicFramePr>
          <p:nvPr>
            <p:extLst>
              <p:ext uri="{D42A27DB-BD31-4B8C-83A1-F6EECF244321}">
                <p14:modId xmlns:p14="http://schemas.microsoft.com/office/powerpoint/2010/main" val="3840822172"/>
              </p:ext>
            </p:extLst>
          </p:nvPr>
        </p:nvGraphicFramePr>
        <p:xfrm>
          <a:off x="4834070" y="2692599"/>
          <a:ext cx="6403113" cy="884314"/>
        </p:xfrm>
        <a:graphic>
          <a:graphicData uri="http://schemas.openxmlformats.org/drawingml/2006/table">
            <a:tbl>
              <a:tblPr>
                <a:tableStyleId>{5C22544A-7EE6-4342-B048-85BDC9FD1C3A}</a:tableStyleId>
              </a:tblPr>
              <a:tblGrid>
                <a:gridCol w="4613755">
                  <a:extLst>
                    <a:ext uri="{9D8B030D-6E8A-4147-A177-3AD203B41FA5}">
                      <a16:colId xmlns:a16="http://schemas.microsoft.com/office/drawing/2014/main" val="1592670450"/>
                    </a:ext>
                  </a:extLst>
                </a:gridCol>
                <a:gridCol w="1789358">
                  <a:extLst>
                    <a:ext uri="{9D8B030D-6E8A-4147-A177-3AD203B41FA5}">
                      <a16:colId xmlns:a16="http://schemas.microsoft.com/office/drawing/2014/main" val="4007013876"/>
                    </a:ext>
                  </a:extLst>
                </a:gridCol>
              </a:tblGrid>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TotalQPlan</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Amount Contributed Towards LIRA Strategy:</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ClientIRA</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39" name="Rectangle 38">
            <a:hlinkClick r:id="rId9" action="ppaction://hlinksldjump"/>
            <a:extLst>
              <a:ext uri="{FF2B5EF4-FFF2-40B4-BE49-F238E27FC236}">
                <a16:creationId xmlns:a16="http://schemas.microsoft.com/office/drawing/2014/main" id="{0FD9B839-26D3-EB37-C70F-181754FD63D8}"/>
              </a:ext>
            </a:extLst>
          </p:cNvPr>
          <p:cNvSpPr/>
          <p:nvPr/>
        </p:nvSpPr>
        <p:spPr>
          <a:xfrm>
            <a:off x="773931"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hlinkClick r:id="rId10" action="ppaction://hlinksldjump"/>
            <a:extLst>
              <a:ext uri="{FF2B5EF4-FFF2-40B4-BE49-F238E27FC236}">
                <a16:creationId xmlns:a16="http://schemas.microsoft.com/office/drawing/2014/main" id="{F1C53A2B-2A01-3EC1-9BCD-CED1505E1CE9}"/>
              </a:ext>
            </a:extLst>
          </p:cNvPr>
          <p:cNvSpPr/>
          <p:nvPr/>
        </p:nvSpPr>
        <p:spPr>
          <a:xfrm>
            <a:off x="773931"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hlinkClick r:id="rId11" action="ppaction://hlinksldjump"/>
            <a:extLst>
              <a:ext uri="{FF2B5EF4-FFF2-40B4-BE49-F238E27FC236}">
                <a16:creationId xmlns:a16="http://schemas.microsoft.com/office/drawing/2014/main" id="{0087BB34-14DE-8B68-2E9D-B13590D1F8B8}"/>
              </a:ext>
            </a:extLst>
          </p:cNvPr>
          <p:cNvSpPr/>
          <p:nvPr/>
        </p:nvSpPr>
        <p:spPr>
          <a:xfrm>
            <a:off x="773931"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hlinkClick r:id="rId12" action="ppaction://hlinksldjump"/>
            <a:extLst>
              <a:ext uri="{FF2B5EF4-FFF2-40B4-BE49-F238E27FC236}">
                <a16:creationId xmlns:a16="http://schemas.microsoft.com/office/drawing/2014/main" id="{0E8FDADE-6BEE-7138-9930-FF1CCA6F70DE}"/>
              </a:ext>
            </a:extLst>
          </p:cNvPr>
          <p:cNvSpPr/>
          <p:nvPr/>
        </p:nvSpPr>
        <p:spPr>
          <a:xfrm>
            <a:off x="773931"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hlinkClick r:id="rId13" action="ppaction://hlinksldjump"/>
            <a:extLst>
              <a:ext uri="{FF2B5EF4-FFF2-40B4-BE49-F238E27FC236}">
                <a16:creationId xmlns:a16="http://schemas.microsoft.com/office/drawing/2014/main" id="{918352A6-9FCB-15C4-D7EB-20ED7630663D}"/>
              </a:ext>
            </a:extLst>
          </p:cNvPr>
          <p:cNvSpPr/>
          <p:nvPr/>
        </p:nvSpPr>
        <p:spPr>
          <a:xfrm>
            <a:off x="773931"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550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CEBBC-743F-8810-5D0E-E20D16FDCD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C92DAA-7052-31F5-5E4C-EBF55F469257}"/>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AB1F18CA-7E82-C8BA-9D28-276F6030B337}"/>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pic>
        <p:nvPicPr>
          <p:cNvPr id="13" name="Graphic 12">
            <a:extLst>
              <a:ext uri="{FF2B5EF4-FFF2-40B4-BE49-F238E27FC236}">
                <a16:creationId xmlns:a16="http://schemas.microsoft.com/office/drawing/2014/main" id="{DF0A796E-CD49-F821-9AAC-BA85BF532A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2304323"/>
            <a:ext cx="3394083" cy="650408"/>
          </a:xfrm>
          <a:prstGeom prst="rect">
            <a:avLst/>
          </a:prstGeom>
        </p:spPr>
      </p:pic>
      <p:sp>
        <p:nvSpPr>
          <p:cNvPr id="24" name="TextBox 23">
            <a:extLst>
              <a:ext uri="{FF2B5EF4-FFF2-40B4-BE49-F238E27FC236}">
                <a16:creationId xmlns:a16="http://schemas.microsoft.com/office/drawing/2014/main" id="{5E20444A-74DA-E39A-A165-B9CBA17F1EC6}"/>
              </a:ext>
            </a:extLst>
          </p:cNvPr>
          <p:cNvSpPr txBox="1"/>
          <p:nvPr/>
        </p:nvSpPr>
        <p:spPr>
          <a:xfrm>
            <a:off x="1006066" y="2314598"/>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2: Funding &amp; Discovery</a:t>
            </a:r>
          </a:p>
        </p:txBody>
      </p:sp>
      <p:pic>
        <p:nvPicPr>
          <p:cNvPr id="9" name="Graphic 8">
            <a:extLst>
              <a:ext uri="{FF2B5EF4-FFF2-40B4-BE49-F238E27FC236}">
                <a16:creationId xmlns:a16="http://schemas.microsoft.com/office/drawing/2014/main" id="{A5E4014F-ADEF-8B98-AB57-2F18B99ADD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045787"/>
            <a:ext cx="3782833" cy="650408"/>
          </a:xfrm>
          <a:prstGeom prst="rect">
            <a:avLst/>
          </a:prstGeom>
        </p:spPr>
      </p:pic>
      <p:sp>
        <p:nvSpPr>
          <p:cNvPr id="25" name="TextBox 24">
            <a:extLst>
              <a:ext uri="{FF2B5EF4-FFF2-40B4-BE49-F238E27FC236}">
                <a16:creationId xmlns:a16="http://schemas.microsoft.com/office/drawing/2014/main" id="{03AAE585-E799-C7A5-40AA-AA0CE3CD2071}"/>
              </a:ext>
            </a:extLst>
          </p:cNvPr>
          <p:cNvSpPr txBox="1"/>
          <p:nvPr/>
        </p:nvSpPr>
        <p:spPr>
          <a:xfrm>
            <a:off x="1006066" y="3058405"/>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3: Policy Purchase</a:t>
            </a:r>
          </a:p>
        </p:txBody>
      </p:sp>
      <p:pic>
        <p:nvPicPr>
          <p:cNvPr id="15" name="Graphic 14">
            <a:extLst>
              <a:ext uri="{FF2B5EF4-FFF2-40B4-BE49-F238E27FC236}">
                <a16:creationId xmlns:a16="http://schemas.microsoft.com/office/drawing/2014/main" id="{A387E5B8-9D6A-C2F7-1E4B-D8A5BB64D4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799868"/>
            <a:ext cx="3394083" cy="650408"/>
          </a:xfrm>
          <a:prstGeom prst="rect">
            <a:avLst/>
          </a:prstGeom>
        </p:spPr>
      </p:pic>
      <p:sp>
        <p:nvSpPr>
          <p:cNvPr id="26" name="TextBox 25">
            <a:extLst>
              <a:ext uri="{FF2B5EF4-FFF2-40B4-BE49-F238E27FC236}">
                <a16:creationId xmlns:a16="http://schemas.microsoft.com/office/drawing/2014/main" id="{E106907A-6421-5D8E-103F-CF1FD72ABA73}"/>
              </a:ext>
            </a:extLst>
          </p:cNvPr>
          <p:cNvSpPr txBox="1"/>
          <p:nvPr/>
        </p:nvSpPr>
        <p:spPr>
          <a:xfrm>
            <a:off x="1006066" y="381014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4: Policy Transfer</a:t>
            </a:r>
          </a:p>
        </p:txBody>
      </p:sp>
      <p:pic>
        <p:nvPicPr>
          <p:cNvPr id="16" name="Graphic 15">
            <a:extLst>
              <a:ext uri="{FF2B5EF4-FFF2-40B4-BE49-F238E27FC236}">
                <a16:creationId xmlns:a16="http://schemas.microsoft.com/office/drawing/2014/main" id="{09DF662E-6CDC-F621-05FA-58C3021BD6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4548108"/>
            <a:ext cx="3394083" cy="650408"/>
          </a:xfrm>
          <a:prstGeom prst="rect">
            <a:avLst/>
          </a:prstGeom>
        </p:spPr>
      </p:pic>
      <p:sp>
        <p:nvSpPr>
          <p:cNvPr id="27" name="TextBox 26">
            <a:extLst>
              <a:ext uri="{FF2B5EF4-FFF2-40B4-BE49-F238E27FC236}">
                <a16:creationId xmlns:a16="http://schemas.microsoft.com/office/drawing/2014/main" id="{363E2E40-6DBF-DD34-FADE-44ACFBED0A7B}"/>
              </a:ext>
            </a:extLst>
          </p:cNvPr>
          <p:cNvSpPr txBox="1"/>
          <p:nvPr/>
        </p:nvSpPr>
        <p:spPr>
          <a:xfrm>
            <a:off x="1006066" y="455838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5: Tax Free Benefit to Heirs</a:t>
            </a:r>
          </a:p>
        </p:txBody>
      </p:sp>
      <p:pic>
        <p:nvPicPr>
          <p:cNvPr id="10" name="Graphic 9">
            <a:extLst>
              <a:ext uri="{FF2B5EF4-FFF2-40B4-BE49-F238E27FC236}">
                <a16:creationId xmlns:a16="http://schemas.microsoft.com/office/drawing/2014/main" id="{7690C90B-F508-2BF2-B70C-159A03FFF3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0" y="1561901"/>
            <a:ext cx="3394083" cy="650408"/>
          </a:xfrm>
          <a:prstGeom prst="rect">
            <a:avLst/>
          </a:prstGeom>
        </p:spPr>
      </p:pic>
      <p:sp>
        <p:nvSpPr>
          <p:cNvPr id="12" name="TextBox 11">
            <a:extLst>
              <a:ext uri="{FF2B5EF4-FFF2-40B4-BE49-F238E27FC236}">
                <a16:creationId xmlns:a16="http://schemas.microsoft.com/office/drawing/2014/main" id="{8C9365C2-D8E7-C0A4-C50B-9294C441D345}"/>
              </a:ext>
            </a:extLst>
          </p:cNvPr>
          <p:cNvSpPr txBox="1"/>
          <p:nvPr/>
        </p:nvSpPr>
        <p:spPr>
          <a:xfrm>
            <a:off x="1006066" y="1561900"/>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1: Plan Funding</a:t>
            </a:r>
          </a:p>
        </p:txBody>
      </p:sp>
      <p:sp>
        <p:nvSpPr>
          <p:cNvPr id="3" name="TextBox 2">
            <a:extLst>
              <a:ext uri="{FF2B5EF4-FFF2-40B4-BE49-F238E27FC236}">
                <a16:creationId xmlns:a16="http://schemas.microsoft.com/office/drawing/2014/main" id="{85F352F5-CAE2-0BBE-631A-9E7B0C248FDD}"/>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D0183BC2-5E05-970E-D1B2-FEDC3E9A73E6}"/>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graphicFrame>
        <p:nvGraphicFramePr>
          <p:cNvPr id="8" name="Table 7">
            <a:extLst>
              <a:ext uri="{FF2B5EF4-FFF2-40B4-BE49-F238E27FC236}">
                <a16:creationId xmlns:a16="http://schemas.microsoft.com/office/drawing/2014/main" id="{E0953543-104A-AA2B-CE2F-EC6DD5823F7B}"/>
              </a:ext>
            </a:extLst>
          </p:cNvPr>
          <p:cNvGraphicFramePr>
            <a:graphicFrameLocks noGrp="1"/>
          </p:cNvGraphicFramePr>
          <p:nvPr>
            <p:extLst>
              <p:ext uri="{D42A27DB-BD31-4B8C-83A1-F6EECF244321}">
                <p14:modId xmlns:p14="http://schemas.microsoft.com/office/powerpoint/2010/main" val="3989283622"/>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Annual Funding into Life Insurance: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&lt;Premium&gt;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DeathBenefit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Policy Fully Funded After:</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PremYrs</a:t>
                      </a:r>
                      <a:r>
                        <a:rPr lang="en-US" sz="1400" b="0" kern="1200" dirty="0">
                          <a:solidFill>
                            <a:schemeClr val="bg1"/>
                          </a:solidFill>
                          <a:latin typeface="Cormorant Infant" pitchFamily="2" charset="0"/>
                          <a:ea typeface="Cormorant Infant" pitchFamily="2" charset="0"/>
                          <a:cs typeface="Cormorant Infant" pitchFamily="2" charset="0"/>
                        </a:rPr>
                        <a:t>&gt; Years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11" name="Title 1">
            <a:extLst>
              <a:ext uri="{FF2B5EF4-FFF2-40B4-BE49-F238E27FC236}">
                <a16:creationId xmlns:a16="http://schemas.microsoft.com/office/drawing/2014/main" id="{2A7962B7-514F-111D-8E6F-E1CC7A9D9A52}"/>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LIRA compliant plan applies for life insurance;</a:t>
            </a:r>
          </a:p>
          <a:p>
            <a:pPr>
              <a:lnSpc>
                <a:spcPts val="2800"/>
              </a:lnSpc>
            </a:pPr>
            <a:r>
              <a:rPr lang="en-US" sz="2000" dirty="0">
                <a:solidFill>
                  <a:schemeClr val="accent2"/>
                </a:solidFill>
                <a:latin typeface="Cormorant Infant" pitchFamily="2" charset="0"/>
              </a:rPr>
              <a:t>paid for with pre-tax dollars.</a:t>
            </a:r>
          </a:p>
        </p:txBody>
      </p:sp>
      <p:pic>
        <p:nvPicPr>
          <p:cNvPr id="14" name="Graphic 13">
            <a:extLst>
              <a:ext uri="{FF2B5EF4-FFF2-40B4-BE49-F238E27FC236}">
                <a16:creationId xmlns:a16="http://schemas.microsoft.com/office/drawing/2014/main" id="{C8A8E8FC-CA17-6B43-4E60-53AD77143E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19" name="Graphic 2">
            <a:extLst>
              <a:ext uri="{FF2B5EF4-FFF2-40B4-BE49-F238E27FC236}">
                <a16:creationId xmlns:a16="http://schemas.microsoft.com/office/drawing/2014/main" id="{29121EBA-1D45-3917-19B3-2C1AE0227CAD}"/>
              </a:ext>
            </a:extLst>
          </p:cNvPr>
          <p:cNvGrpSpPr/>
          <p:nvPr/>
        </p:nvGrpSpPr>
        <p:grpSpPr>
          <a:xfrm>
            <a:off x="4839126" y="1560927"/>
            <a:ext cx="647282" cy="647282"/>
            <a:chOff x="4839126" y="1560927"/>
            <a:chExt cx="647282" cy="647282"/>
          </a:xfrm>
        </p:grpSpPr>
        <p:sp>
          <p:nvSpPr>
            <p:cNvPr id="22" name="Oval 21">
              <a:extLst>
                <a:ext uri="{FF2B5EF4-FFF2-40B4-BE49-F238E27FC236}">
                  <a16:creationId xmlns:a16="http://schemas.microsoft.com/office/drawing/2014/main" id="{EC4BDF95-0DD3-7411-967F-2C8CB03BD103}"/>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3" name="Freeform: Shape 22">
              <a:extLst>
                <a:ext uri="{FF2B5EF4-FFF2-40B4-BE49-F238E27FC236}">
                  <a16:creationId xmlns:a16="http://schemas.microsoft.com/office/drawing/2014/main" id="{8ED74861-564F-0997-86ED-C8E5792C1983}"/>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32" name="TextBox 31">
            <a:extLst>
              <a:ext uri="{FF2B5EF4-FFF2-40B4-BE49-F238E27FC236}">
                <a16:creationId xmlns:a16="http://schemas.microsoft.com/office/drawing/2014/main" id="{63CBA036-434F-637C-E49A-8FC7F4CABE8B}"/>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3</a:t>
            </a:r>
            <a:endParaRPr lang="en-US" sz="2400" dirty="0"/>
          </a:p>
        </p:txBody>
      </p:sp>
      <p:sp>
        <p:nvSpPr>
          <p:cNvPr id="33" name="Rectangle 32">
            <a:hlinkClick r:id="rId9" action="ppaction://hlinksldjump"/>
            <a:extLst>
              <a:ext uri="{FF2B5EF4-FFF2-40B4-BE49-F238E27FC236}">
                <a16:creationId xmlns:a16="http://schemas.microsoft.com/office/drawing/2014/main" id="{653290C1-DB52-77D9-FB77-251AB3EA1D09}"/>
              </a:ext>
            </a:extLst>
          </p:cNvPr>
          <p:cNvSpPr/>
          <p:nvPr/>
        </p:nvSpPr>
        <p:spPr>
          <a:xfrm>
            <a:off x="773931"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hlinkClick r:id="rId10" action="ppaction://hlinksldjump"/>
            <a:extLst>
              <a:ext uri="{FF2B5EF4-FFF2-40B4-BE49-F238E27FC236}">
                <a16:creationId xmlns:a16="http://schemas.microsoft.com/office/drawing/2014/main" id="{FBA4C271-1F4A-29C1-F76F-B8AFE1A382CD}"/>
              </a:ext>
            </a:extLst>
          </p:cNvPr>
          <p:cNvSpPr/>
          <p:nvPr/>
        </p:nvSpPr>
        <p:spPr>
          <a:xfrm>
            <a:off x="773931"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hlinkClick r:id="rId11" action="ppaction://hlinksldjump"/>
            <a:extLst>
              <a:ext uri="{FF2B5EF4-FFF2-40B4-BE49-F238E27FC236}">
                <a16:creationId xmlns:a16="http://schemas.microsoft.com/office/drawing/2014/main" id="{182B3D6B-8679-EC89-EE2A-2423CF2C267E}"/>
              </a:ext>
            </a:extLst>
          </p:cNvPr>
          <p:cNvSpPr/>
          <p:nvPr/>
        </p:nvSpPr>
        <p:spPr>
          <a:xfrm>
            <a:off x="773931"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hlinkClick r:id="rId12" action="ppaction://hlinksldjump"/>
            <a:extLst>
              <a:ext uri="{FF2B5EF4-FFF2-40B4-BE49-F238E27FC236}">
                <a16:creationId xmlns:a16="http://schemas.microsoft.com/office/drawing/2014/main" id="{ACB6EE88-93C6-EC0B-0B8F-73A51E7D2BCA}"/>
              </a:ext>
            </a:extLst>
          </p:cNvPr>
          <p:cNvSpPr/>
          <p:nvPr/>
        </p:nvSpPr>
        <p:spPr>
          <a:xfrm>
            <a:off x="773931"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hlinkClick r:id="rId13" action="ppaction://hlinksldjump"/>
            <a:extLst>
              <a:ext uri="{FF2B5EF4-FFF2-40B4-BE49-F238E27FC236}">
                <a16:creationId xmlns:a16="http://schemas.microsoft.com/office/drawing/2014/main" id="{F8FABB5A-4626-2657-6604-40726C9495F7}"/>
              </a:ext>
            </a:extLst>
          </p:cNvPr>
          <p:cNvSpPr/>
          <p:nvPr/>
        </p:nvSpPr>
        <p:spPr>
          <a:xfrm>
            <a:off x="773931"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4085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17A1B-CA86-8425-61EA-83C526E74C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2DFD0C-FE00-3DCF-E518-3AE9B8D0D3F3}"/>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4C551AE4-B227-6C5D-8BC8-77A02A97909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pic>
        <p:nvPicPr>
          <p:cNvPr id="13" name="Graphic 12">
            <a:extLst>
              <a:ext uri="{FF2B5EF4-FFF2-40B4-BE49-F238E27FC236}">
                <a16:creationId xmlns:a16="http://schemas.microsoft.com/office/drawing/2014/main" id="{728C6CFE-95BF-5B1D-2513-54322A1E25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2304323"/>
            <a:ext cx="3394083" cy="650408"/>
          </a:xfrm>
          <a:prstGeom prst="rect">
            <a:avLst/>
          </a:prstGeom>
        </p:spPr>
      </p:pic>
      <p:sp>
        <p:nvSpPr>
          <p:cNvPr id="24" name="TextBox 23">
            <a:extLst>
              <a:ext uri="{FF2B5EF4-FFF2-40B4-BE49-F238E27FC236}">
                <a16:creationId xmlns:a16="http://schemas.microsoft.com/office/drawing/2014/main" id="{88593FD4-FB16-E1F7-5B6C-F27CC7A92940}"/>
              </a:ext>
            </a:extLst>
          </p:cNvPr>
          <p:cNvSpPr txBox="1"/>
          <p:nvPr/>
        </p:nvSpPr>
        <p:spPr>
          <a:xfrm>
            <a:off x="1006066" y="2314598"/>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2: Funding &amp; Discovery</a:t>
            </a:r>
          </a:p>
        </p:txBody>
      </p:sp>
      <p:pic>
        <p:nvPicPr>
          <p:cNvPr id="14" name="Graphic 13">
            <a:extLst>
              <a:ext uri="{FF2B5EF4-FFF2-40B4-BE49-F238E27FC236}">
                <a16:creationId xmlns:a16="http://schemas.microsoft.com/office/drawing/2014/main" id="{C90C2645-8391-267C-B887-9A1BC62298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048130"/>
            <a:ext cx="3394083" cy="650408"/>
          </a:xfrm>
          <a:prstGeom prst="rect">
            <a:avLst/>
          </a:prstGeom>
        </p:spPr>
      </p:pic>
      <p:sp>
        <p:nvSpPr>
          <p:cNvPr id="25" name="TextBox 24">
            <a:extLst>
              <a:ext uri="{FF2B5EF4-FFF2-40B4-BE49-F238E27FC236}">
                <a16:creationId xmlns:a16="http://schemas.microsoft.com/office/drawing/2014/main" id="{AB8AD044-F0BE-83A4-3A8E-83844A650F16}"/>
              </a:ext>
            </a:extLst>
          </p:cNvPr>
          <p:cNvSpPr txBox="1"/>
          <p:nvPr/>
        </p:nvSpPr>
        <p:spPr>
          <a:xfrm>
            <a:off x="1006066" y="3058405"/>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3: Policy Purchase</a:t>
            </a:r>
          </a:p>
        </p:txBody>
      </p:sp>
      <p:pic>
        <p:nvPicPr>
          <p:cNvPr id="9" name="Graphic 8">
            <a:extLst>
              <a:ext uri="{FF2B5EF4-FFF2-40B4-BE49-F238E27FC236}">
                <a16:creationId xmlns:a16="http://schemas.microsoft.com/office/drawing/2014/main" id="{95E1427E-27E6-D379-2431-A4CE5EF165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799868"/>
            <a:ext cx="3782833" cy="650408"/>
          </a:xfrm>
          <a:prstGeom prst="rect">
            <a:avLst/>
          </a:prstGeom>
        </p:spPr>
      </p:pic>
      <p:sp>
        <p:nvSpPr>
          <p:cNvPr id="26" name="TextBox 25">
            <a:extLst>
              <a:ext uri="{FF2B5EF4-FFF2-40B4-BE49-F238E27FC236}">
                <a16:creationId xmlns:a16="http://schemas.microsoft.com/office/drawing/2014/main" id="{502C0062-82C4-0223-64B0-B91EAA0E4C3F}"/>
              </a:ext>
            </a:extLst>
          </p:cNvPr>
          <p:cNvSpPr txBox="1"/>
          <p:nvPr/>
        </p:nvSpPr>
        <p:spPr>
          <a:xfrm>
            <a:off x="1006066" y="381014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4: Policy Transfer</a:t>
            </a:r>
          </a:p>
        </p:txBody>
      </p:sp>
      <p:pic>
        <p:nvPicPr>
          <p:cNvPr id="16" name="Graphic 15">
            <a:extLst>
              <a:ext uri="{FF2B5EF4-FFF2-40B4-BE49-F238E27FC236}">
                <a16:creationId xmlns:a16="http://schemas.microsoft.com/office/drawing/2014/main" id="{6E60DD3C-454D-9566-1212-32BBE39B20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4548108"/>
            <a:ext cx="3394083" cy="650408"/>
          </a:xfrm>
          <a:prstGeom prst="rect">
            <a:avLst/>
          </a:prstGeom>
        </p:spPr>
      </p:pic>
      <p:sp>
        <p:nvSpPr>
          <p:cNvPr id="27" name="TextBox 26">
            <a:extLst>
              <a:ext uri="{FF2B5EF4-FFF2-40B4-BE49-F238E27FC236}">
                <a16:creationId xmlns:a16="http://schemas.microsoft.com/office/drawing/2014/main" id="{CFD6B5A8-0BA9-FD5B-EB7D-1C2045C57F48}"/>
              </a:ext>
            </a:extLst>
          </p:cNvPr>
          <p:cNvSpPr txBox="1"/>
          <p:nvPr/>
        </p:nvSpPr>
        <p:spPr>
          <a:xfrm>
            <a:off x="1006066" y="455838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5: Tax Free Benefit to Heirs</a:t>
            </a:r>
          </a:p>
        </p:txBody>
      </p:sp>
      <p:pic>
        <p:nvPicPr>
          <p:cNvPr id="10" name="Graphic 9">
            <a:extLst>
              <a:ext uri="{FF2B5EF4-FFF2-40B4-BE49-F238E27FC236}">
                <a16:creationId xmlns:a16="http://schemas.microsoft.com/office/drawing/2014/main" id="{E7884C3B-185B-270B-9645-903F42CCB9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0" y="1561901"/>
            <a:ext cx="3394083" cy="650408"/>
          </a:xfrm>
          <a:prstGeom prst="rect">
            <a:avLst/>
          </a:prstGeom>
        </p:spPr>
      </p:pic>
      <p:sp>
        <p:nvSpPr>
          <p:cNvPr id="12" name="TextBox 11">
            <a:extLst>
              <a:ext uri="{FF2B5EF4-FFF2-40B4-BE49-F238E27FC236}">
                <a16:creationId xmlns:a16="http://schemas.microsoft.com/office/drawing/2014/main" id="{82FA7DBC-E097-3504-7BAB-0D999F5674B8}"/>
              </a:ext>
            </a:extLst>
          </p:cNvPr>
          <p:cNvSpPr txBox="1"/>
          <p:nvPr/>
        </p:nvSpPr>
        <p:spPr>
          <a:xfrm>
            <a:off x="1006066" y="1561900"/>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1: Plan Funding</a:t>
            </a:r>
          </a:p>
        </p:txBody>
      </p:sp>
      <p:sp>
        <p:nvSpPr>
          <p:cNvPr id="3" name="TextBox 2">
            <a:extLst>
              <a:ext uri="{FF2B5EF4-FFF2-40B4-BE49-F238E27FC236}">
                <a16:creationId xmlns:a16="http://schemas.microsoft.com/office/drawing/2014/main" id="{05F3D193-6CDB-3060-4002-16F6F3987DED}"/>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4964BAD0-3FD6-9B52-5189-11612DEC9A06}"/>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grpSp>
        <p:nvGrpSpPr>
          <p:cNvPr id="31" name="Group 30">
            <a:extLst>
              <a:ext uri="{FF2B5EF4-FFF2-40B4-BE49-F238E27FC236}">
                <a16:creationId xmlns:a16="http://schemas.microsoft.com/office/drawing/2014/main" id="{6741F381-AC5D-1DC9-E302-F09A0A4AC65E}"/>
              </a:ext>
            </a:extLst>
          </p:cNvPr>
          <p:cNvGrpSpPr/>
          <p:nvPr/>
        </p:nvGrpSpPr>
        <p:grpSpPr>
          <a:xfrm>
            <a:off x="773930" y="1560927"/>
            <a:ext cx="3394083" cy="3642520"/>
            <a:chOff x="773930" y="1560927"/>
            <a:chExt cx="3394083" cy="3642520"/>
          </a:xfrm>
          <a:noFill/>
        </p:grpSpPr>
        <p:sp>
          <p:nvSpPr>
            <p:cNvPr id="32" name="Rectangle 31">
              <a:hlinkClick r:id="rId7" action="ppaction://hlinksldjump"/>
              <a:extLst>
                <a:ext uri="{FF2B5EF4-FFF2-40B4-BE49-F238E27FC236}">
                  <a16:creationId xmlns:a16="http://schemas.microsoft.com/office/drawing/2014/main" id="{A6641196-55FD-602B-E179-5AAE4F168420}"/>
                </a:ext>
              </a:extLst>
            </p:cNvPr>
            <p:cNvSpPr/>
            <p:nvPr/>
          </p:nvSpPr>
          <p:spPr>
            <a:xfrm>
              <a:off x="773930" y="1560927"/>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hlinkClick r:id="rId8" action="ppaction://hlinksldjump"/>
              <a:extLst>
                <a:ext uri="{FF2B5EF4-FFF2-40B4-BE49-F238E27FC236}">
                  <a16:creationId xmlns:a16="http://schemas.microsoft.com/office/drawing/2014/main" id="{74F96BD6-F6A0-CDD4-CC46-0DCF13191545}"/>
                </a:ext>
              </a:extLst>
            </p:cNvPr>
            <p:cNvSpPr/>
            <p:nvPr/>
          </p:nvSpPr>
          <p:spPr>
            <a:xfrm>
              <a:off x="773930" y="2310139"/>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hlinkClick r:id="rId9" action="ppaction://hlinksldjump"/>
              <a:extLst>
                <a:ext uri="{FF2B5EF4-FFF2-40B4-BE49-F238E27FC236}">
                  <a16:creationId xmlns:a16="http://schemas.microsoft.com/office/drawing/2014/main" id="{05A66869-7C40-30CC-9147-846429751ADC}"/>
                </a:ext>
              </a:extLst>
            </p:cNvPr>
            <p:cNvSpPr/>
            <p:nvPr/>
          </p:nvSpPr>
          <p:spPr>
            <a:xfrm>
              <a:off x="773930" y="3048541"/>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hlinkClick r:id="rId10" action="ppaction://hlinksldjump"/>
              <a:extLst>
                <a:ext uri="{FF2B5EF4-FFF2-40B4-BE49-F238E27FC236}">
                  <a16:creationId xmlns:a16="http://schemas.microsoft.com/office/drawing/2014/main" id="{4F547780-8665-7E6E-F0B6-4A2708994754}"/>
                </a:ext>
              </a:extLst>
            </p:cNvPr>
            <p:cNvSpPr/>
            <p:nvPr/>
          </p:nvSpPr>
          <p:spPr>
            <a:xfrm>
              <a:off x="773930" y="3801029"/>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hlinkClick r:id="rId11" action="ppaction://hlinksldjump"/>
              <a:extLst>
                <a:ext uri="{FF2B5EF4-FFF2-40B4-BE49-F238E27FC236}">
                  <a16:creationId xmlns:a16="http://schemas.microsoft.com/office/drawing/2014/main" id="{8789BA40-1AD7-B911-3B4A-4F3D0FC7764A}"/>
                </a:ext>
              </a:extLst>
            </p:cNvPr>
            <p:cNvSpPr/>
            <p:nvPr/>
          </p:nvSpPr>
          <p:spPr>
            <a:xfrm>
              <a:off x="773930" y="4543176"/>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itle 1">
            <a:extLst>
              <a:ext uri="{FF2B5EF4-FFF2-40B4-BE49-F238E27FC236}">
                <a16:creationId xmlns:a16="http://schemas.microsoft.com/office/drawing/2014/main" id="{0ACD976A-ED07-C93E-4262-4CAB483265DD}"/>
              </a:ext>
            </a:extLst>
          </p:cNvPr>
          <p:cNvSpPr txBox="1">
            <a:spLocks/>
          </p:cNvSpPr>
          <p:nvPr/>
        </p:nvSpPr>
        <p:spPr>
          <a:xfrm>
            <a:off x="5661061" y="1512751"/>
            <a:ext cx="5524873"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Plan sells life insurance policy at a discount to Irrevocable Trust (entity outside of estate).</a:t>
            </a:r>
          </a:p>
        </p:txBody>
      </p:sp>
      <p:pic>
        <p:nvPicPr>
          <p:cNvPr id="11" name="Graphic 10">
            <a:extLst>
              <a:ext uri="{FF2B5EF4-FFF2-40B4-BE49-F238E27FC236}">
                <a16:creationId xmlns:a16="http://schemas.microsoft.com/office/drawing/2014/main" id="{B6D58867-FD70-80B1-0D6A-CEAEFB4DD97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401" y="2419000"/>
            <a:ext cx="6387782" cy="84050"/>
          </a:xfrm>
          <a:prstGeom prst="rect">
            <a:avLst/>
          </a:prstGeom>
        </p:spPr>
      </p:pic>
      <p:grpSp>
        <p:nvGrpSpPr>
          <p:cNvPr id="15" name="Graphic 2">
            <a:extLst>
              <a:ext uri="{FF2B5EF4-FFF2-40B4-BE49-F238E27FC236}">
                <a16:creationId xmlns:a16="http://schemas.microsoft.com/office/drawing/2014/main" id="{99EAFC93-3296-DD60-5CEB-363D702376A0}"/>
              </a:ext>
            </a:extLst>
          </p:cNvPr>
          <p:cNvGrpSpPr/>
          <p:nvPr/>
        </p:nvGrpSpPr>
        <p:grpSpPr>
          <a:xfrm>
            <a:off x="4839126" y="1560927"/>
            <a:ext cx="647282" cy="647282"/>
            <a:chOff x="4839126" y="1560927"/>
            <a:chExt cx="647282" cy="647282"/>
          </a:xfrm>
        </p:grpSpPr>
        <p:sp>
          <p:nvSpPr>
            <p:cNvPr id="19" name="Oval 18">
              <a:extLst>
                <a:ext uri="{FF2B5EF4-FFF2-40B4-BE49-F238E27FC236}">
                  <a16:creationId xmlns:a16="http://schemas.microsoft.com/office/drawing/2014/main" id="{02C15A8D-9F5E-D582-A2FC-5BA7F89165E5}"/>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B6DB7AB0-D83E-BAE5-AEA9-FC948D2C617C}"/>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30" name="TextBox 29">
            <a:extLst>
              <a:ext uri="{FF2B5EF4-FFF2-40B4-BE49-F238E27FC236}">
                <a16:creationId xmlns:a16="http://schemas.microsoft.com/office/drawing/2014/main" id="{4A15152B-4FA5-ECBD-35C2-24BFDAE675E9}"/>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4</a:t>
            </a:r>
            <a:endParaRPr lang="en-US" sz="2400" dirty="0"/>
          </a:p>
        </p:txBody>
      </p:sp>
      <p:graphicFrame>
        <p:nvGraphicFramePr>
          <p:cNvPr id="35" name="Table 34">
            <a:extLst>
              <a:ext uri="{FF2B5EF4-FFF2-40B4-BE49-F238E27FC236}">
                <a16:creationId xmlns:a16="http://schemas.microsoft.com/office/drawing/2014/main" id="{0F806EF1-B699-E2EA-434A-7AB787379D88}"/>
              </a:ext>
            </a:extLst>
          </p:cNvPr>
          <p:cNvGraphicFramePr>
            <a:graphicFrameLocks noGrp="1"/>
          </p:cNvGraphicFramePr>
          <p:nvPr>
            <p:extLst>
              <p:ext uri="{D42A27DB-BD31-4B8C-83A1-F6EECF244321}">
                <p14:modId xmlns:p14="http://schemas.microsoft.com/office/powerpoint/2010/main" val="3558834707"/>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Contributions: </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LIRACost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Estimated Sale Price: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SalePrice</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Percentage Discount: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&lt;Discount&gt;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36" name="TextBox 35">
            <a:extLst>
              <a:ext uri="{FF2B5EF4-FFF2-40B4-BE49-F238E27FC236}">
                <a16:creationId xmlns:a16="http://schemas.microsoft.com/office/drawing/2014/main" id="{559E3DC5-C78E-DC74-AE6C-56098E5309EF}"/>
              </a:ext>
            </a:extLst>
          </p:cNvPr>
          <p:cNvSpPr txBox="1"/>
          <p:nvPr/>
        </p:nvSpPr>
        <p:spPr>
          <a:xfrm>
            <a:off x="5023041" y="4009334"/>
            <a:ext cx="6162893" cy="270972"/>
          </a:xfrm>
          <a:prstGeom prst="rect">
            <a:avLst/>
          </a:prstGeom>
          <a:noFill/>
        </p:spPr>
        <p:txBody>
          <a:bodyPr wrap="square" lIns="0" tIns="0" rIns="0" bIns="0">
            <a:spAutoFit/>
          </a:bodyPr>
          <a:lstStyle/>
          <a:p>
            <a:pPr algn="r">
              <a:lnSpc>
                <a:spcPts val="2400"/>
              </a:lnSpc>
            </a:pPr>
            <a:r>
              <a:rPr lang="en-US" sz="1000" i="0" u="none" strike="noStrike" baseline="0" dirty="0">
                <a:solidFill>
                  <a:schemeClr val="bg1"/>
                </a:solidFill>
                <a:latin typeface="Cormorant Infant" pitchFamily="2" charset="0"/>
              </a:rPr>
              <a:t>Plan values Policy using IRS Safe-Harbor Rev. Proc 2005-25 </a:t>
            </a:r>
          </a:p>
        </p:txBody>
      </p:sp>
      <p:sp>
        <p:nvSpPr>
          <p:cNvPr id="37" name="Rectangle 36">
            <a:hlinkClick r:id="rId7" action="ppaction://hlinksldjump"/>
            <a:extLst>
              <a:ext uri="{FF2B5EF4-FFF2-40B4-BE49-F238E27FC236}">
                <a16:creationId xmlns:a16="http://schemas.microsoft.com/office/drawing/2014/main" id="{3C1FE1D9-0816-44A9-7AB7-8274E9BC3C1D}"/>
              </a:ext>
            </a:extLst>
          </p:cNvPr>
          <p:cNvSpPr/>
          <p:nvPr/>
        </p:nvSpPr>
        <p:spPr>
          <a:xfrm>
            <a:off x="773931"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hlinkClick r:id="rId8" action="ppaction://hlinksldjump"/>
            <a:extLst>
              <a:ext uri="{FF2B5EF4-FFF2-40B4-BE49-F238E27FC236}">
                <a16:creationId xmlns:a16="http://schemas.microsoft.com/office/drawing/2014/main" id="{11C7231C-4976-1B4C-CED3-585FAFB89C10}"/>
              </a:ext>
            </a:extLst>
          </p:cNvPr>
          <p:cNvSpPr/>
          <p:nvPr/>
        </p:nvSpPr>
        <p:spPr>
          <a:xfrm>
            <a:off x="773931"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hlinkClick r:id="rId9" action="ppaction://hlinksldjump"/>
            <a:extLst>
              <a:ext uri="{FF2B5EF4-FFF2-40B4-BE49-F238E27FC236}">
                <a16:creationId xmlns:a16="http://schemas.microsoft.com/office/drawing/2014/main" id="{B32B98F2-0250-CC2C-EC85-A47B67CD8568}"/>
              </a:ext>
            </a:extLst>
          </p:cNvPr>
          <p:cNvSpPr/>
          <p:nvPr/>
        </p:nvSpPr>
        <p:spPr>
          <a:xfrm>
            <a:off x="773931"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hlinkClick r:id="rId10" action="ppaction://hlinksldjump"/>
            <a:extLst>
              <a:ext uri="{FF2B5EF4-FFF2-40B4-BE49-F238E27FC236}">
                <a16:creationId xmlns:a16="http://schemas.microsoft.com/office/drawing/2014/main" id="{DCB7BBD6-2952-265A-988B-46E3129F7901}"/>
              </a:ext>
            </a:extLst>
          </p:cNvPr>
          <p:cNvSpPr/>
          <p:nvPr/>
        </p:nvSpPr>
        <p:spPr>
          <a:xfrm>
            <a:off x="773931"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hlinkClick r:id="rId11" action="ppaction://hlinksldjump"/>
            <a:extLst>
              <a:ext uri="{FF2B5EF4-FFF2-40B4-BE49-F238E27FC236}">
                <a16:creationId xmlns:a16="http://schemas.microsoft.com/office/drawing/2014/main" id="{26681FAD-C010-233B-B947-F73A2366441C}"/>
              </a:ext>
            </a:extLst>
          </p:cNvPr>
          <p:cNvSpPr/>
          <p:nvPr/>
        </p:nvSpPr>
        <p:spPr>
          <a:xfrm>
            <a:off x="773931"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8727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B24F5-FCF4-B88B-36D9-3FFE714D212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082585-C99E-577F-AF06-263EBB215125}"/>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32DB84C8-CAF1-F751-DDA1-D02CBBC4DAC2}"/>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pic>
        <p:nvPicPr>
          <p:cNvPr id="10" name="Graphic 9">
            <a:extLst>
              <a:ext uri="{FF2B5EF4-FFF2-40B4-BE49-F238E27FC236}">
                <a16:creationId xmlns:a16="http://schemas.microsoft.com/office/drawing/2014/main" id="{B2C72F53-15AE-8976-A22A-1FA756FB48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0" y="1561901"/>
            <a:ext cx="3394083" cy="650408"/>
          </a:xfrm>
          <a:prstGeom prst="rect">
            <a:avLst/>
          </a:prstGeom>
        </p:spPr>
      </p:pic>
      <p:sp>
        <p:nvSpPr>
          <p:cNvPr id="19" name="TextBox 18">
            <a:extLst>
              <a:ext uri="{FF2B5EF4-FFF2-40B4-BE49-F238E27FC236}">
                <a16:creationId xmlns:a16="http://schemas.microsoft.com/office/drawing/2014/main" id="{A42DF370-ACE1-72EA-AE2D-DD5E2F4A0269}"/>
              </a:ext>
            </a:extLst>
          </p:cNvPr>
          <p:cNvSpPr txBox="1"/>
          <p:nvPr/>
        </p:nvSpPr>
        <p:spPr>
          <a:xfrm>
            <a:off x="1006066" y="1561900"/>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1: Plan Funding</a:t>
            </a:r>
          </a:p>
        </p:txBody>
      </p:sp>
      <p:pic>
        <p:nvPicPr>
          <p:cNvPr id="13" name="Graphic 12">
            <a:extLst>
              <a:ext uri="{FF2B5EF4-FFF2-40B4-BE49-F238E27FC236}">
                <a16:creationId xmlns:a16="http://schemas.microsoft.com/office/drawing/2014/main" id="{86429E0A-2674-EEC4-22D5-6A4C8B7BDF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2304323"/>
            <a:ext cx="3394083" cy="650408"/>
          </a:xfrm>
          <a:prstGeom prst="rect">
            <a:avLst/>
          </a:prstGeom>
        </p:spPr>
      </p:pic>
      <p:sp>
        <p:nvSpPr>
          <p:cNvPr id="24" name="TextBox 23">
            <a:extLst>
              <a:ext uri="{FF2B5EF4-FFF2-40B4-BE49-F238E27FC236}">
                <a16:creationId xmlns:a16="http://schemas.microsoft.com/office/drawing/2014/main" id="{B44D59D7-0A14-370A-2F66-0FE73AB6B80E}"/>
              </a:ext>
            </a:extLst>
          </p:cNvPr>
          <p:cNvSpPr txBox="1"/>
          <p:nvPr/>
        </p:nvSpPr>
        <p:spPr>
          <a:xfrm>
            <a:off x="1006066" y="2314598"/>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2: Funding &amp; Discovery</a:t>
            </a:r>
          </a:p>
        </p:txBody>
      </p:sp>
      <p:pic>
        <p:nvPicPr>
          <p:cNvPr id="14" name="Graphic 13">
            <a:extLst>
              <a:ext uri="{FF2B5EF4-FFF2-40B4-BE49-F238E27FC236}">
                <a16:creationId xmlns:a16="http://schemas.microsoft.com/office/drawing/2014/main" id="{E27B1BAB-0FE7-2553-C4B0-657B7179FC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048130"/>
            <a:ext cx="3394083" cy="650408"/>
          </a:xfrm>
          <a:prstGeom prst="rect">
            <a:avLst/>
          </a:prstGeom>
        </p:spPr>
      </p:pic>
      <p:sp>
        <p:nvSpPr>
          <p:cNvPr id="25" name="TextBox 24">
            <a:extLst>
              <a:ext uri="{FF2B5EF4-FFF2-40B4-BE49-F238E27FC236}">
                <a16:creationId xmlns:a16="http://schemas.microsoft.com/office/drawing/2014/main" id="{C6D3228E-1428-94FC-DBDE-D257E43FA98F}"/>
              </a:ext>
            </a:extLst>
          </p:cNvPr>
          <p:cNvSpPr txBox="1"/>
          <p:nvPr/>
        </p:nvSpPr>
        <p:spPr>
          <a:xfrm>
            <a:off x="1006066" y="3058405"/>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3: Policy Purchase</a:t>
            </a:r>
          </a:p>
        </p:txBody>
      </p:sp>
      <p:pic>
        <p:nvPicPr>
          <p:cNvPr id="15" name="Graphic 14">
            <a:extLst>
              <a:ext uri="{FF2B5EF4-FFF2-40B4-BE49-F238E27FC236}">
                <a16:creationId xmlns:a16="http://schemas.microsoft.com/office/drawing/2014/main" id="{D365FE69-4137-0CAB-1416-E8820C959F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799868"/>
            <a:ext cx="3394083" cy="650408"/>
          </a:xfrm>
          <a:prstGeom prst="rect">
            <a:avLst/>
          </a:prstGeom>
        </p:spPr>
      </p:pic>
      <p:sp>
        <p:nvSpPr>
          <p:cNvPr id="26" name="TextBox 25">
            <a:extLst>
              <a:ext uri="{FF2B5EF4-FFF2-40B4-BE49-F238E27FC236}">
                <a16:creationId xmlns:a16="http://schemas.microsoft.com/office/drawing/2014/main" id="{5AED885C-CEF5-1D9D-6125-52DA0A058EFD}"/>
              </a:ext>
            </a:extLst>
          </p:cNvPr>
          <p:cNvSpPr txBox="1"/>
          <p:nvPr/>
        </p:nvSpPr>
        <p:spPr>
          <a:xfrm>
            <a:off x="1006066" y="381014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4: Policy Transfer</a:t>
            </a:r>
          </a:p>
        </p:txBody>
      </p:sp>
      <p:pic>
        <p:nvPicPr>
          <p:cNvPr id="9" name="Graphic 8">
            <a:extLst>
              <a:ext uri="{FF2B5EF4-FFF2-40B4-BE49-F238E27FC236}">
                <a16:creationId xmlns:a16="http://schemas.microsoft.com/office/drawing/2014/main" id="{80D86F3F-9E84-0F48-F38C-EBE7FF40BF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9"/>
            <a:ext cx="3782833" cy="650408"/>
          </a:xfrm>
          <a:prstGeom prst="rect">
            <a:avLst/>
          </a:prstGeom>
        </p:spPr>
      </p:pic>
      <p:sp>
        <p:nvSpPr>
          <p:cNvPr id="27" name="TextBox 26">
            <a:extLst>
              <a:ext uri="{FF2B5EF4-FFF2-40B4-BE49-F238E27FC236}">
                <a16:creationId xmlns:a16="http://schemas.microsoft.com/office/drawing/2014/main" id="{AF9A9DCF-FCF2-8EA3-16D8-817F6CDE2C64}"/>
              </a:ext>
            </a:extLst>
          </p:cNvPr>
          <p:cNvSpPr txBox="1"/>
          <p:nvPr/>
        </p:nvSpPr>
        <p:spPr>
          <a:xfrm>
            <a:off x="1006066" y="4558383"/>
            <a:ext cx="3083048" cy="650407"/>
          </a:xfrm>
          <a:prstGeom prst="rect">
            <a:avLst/>
          </a:prstGeom>
          <a:noFill/>
        </p:spPr>
        <p:txBody>
          <a:bodyPr wrap="square" lIns="0" tIns="0" rIns="0" bIns="0" anchor="ctr">
            <a:noAutofit/>
          </a:bodyPr>
          <a:lstStyle/>
          <a:p>
            <a:r>
              <a:rPr lang="en-US" sz="1600" dirty="0">
                <a:solidFill>
                  <a:schemeClr val="accent5">
                    <a:lumMod val="50000"/>
                  </a:schemeClr>
                </a:solidFill>
                <a:latin typeface="Cormorant Infant" pitchFamily="2" charset="0"/>
              </a:rPr>
              <a:t>Step 5: Tax Free Benefit to Heirs</a:t>
            </a:r>
          </a:p>
        </p:txBody>
      </p:sp>
      <p:sp>
        <p:nvSpPr>
          <p:cNvPr id="3" name="TextBox 2">
            <a:extLst>
              <a:ext uri="{FF2B5EF4-FFF2-40B4-BE49-F238E27FC236}">
                <a16:creationId xmlns:a16="http://schemas.microsoft.com/office/drawing/2014/main" id="{FC449E64-7633-34F4-3219-4D5DAF580C15}"/>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FUNDED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07993FBF-C709-BB04-7766-A937F38CD24D}"/>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Already funded trust buys life insurance from plan.</a:t>
            </a:r>
            <a:endParaRPr lang="en-US" sz="1100" dirty="0"/>
          </a:p>
        </p:txBody>
      </p:sp>
      <p:grpSp>
        <p:nvGrpSpPr>
          <p:cNvPr id="42" name="Group 41">
            <a:extLst>
              <a:ext uri="{FF2B5EF4-FFF2-40B4-BE49-F238E27FC236}">
                <a16:creationId xmlns:a16="http://schemas.microsoft.com/office/drawing/2014/main" id="{CEAD478E-8116-FF51-CAEA-A0DB88FF93ED}"/>
              </a:ext>
            </a:extLst>
          </p:cNvPr>
          <p:cNvGrpSpPr/>
          <p:nvPr/>
        </p:nvGrpSpPr>
        <p:grpSpPr>
          <a:xfrm>
            <a:off x="773930" y="1560927"/>
            <a:ext cx="3394083" cy="3642520"/>
            <a:chOff x="773930" y="1560927"/>
            <a:chExt cx="3394083" cy="3642520"/>
          </a:xfrm>
          <a:noFill/>
        </p:grpSpPr>
        <p:sp>
          <p:nvSpPr>
            <p:cNvPr id="43" name="Rectangle 42">
              <a:hlinkClick r:id="rId7" action="ppaction://hlinksldjump"/>
              <a:extLst>
                <a:ext uri="{FF2B5EF4-FFF2-40B4-BE49-F238E27FC236}">
                  <a16:creationId xmlns:a16="http://schemas.microsoft.com/office/drawing/2014/main" id="{E3CC7B0F-7A4B-788E-0ABE-42F5D7020062}"/>
                </a:ext>
              </a:extLst>
            </p:cNvPr>
            <p:cNvSpPr/>
            <p:nvPr/>
          </p:nvSpPr>
          <p:spPr>
            <a:xfrm>
              <a:off x="773930" y="1560927"/>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hlinkClick r:id="rId8" action="ppaction://hlinksldjump"/>
              <a:extLst>
                <a:ext uri="{FF2B5EF4-FFF2-40B4-BE49-F238E27FC236}">
                  <a16:creationId xmlns:a16="http://schemas.microsoft.com/office/drawing/2014/main" id="{5E23A6C3-3165-4BBC-4D27-058BF18B40A9}"/>
                </a:ext>
              </a:extLst>
            </p:cNvPr>
            <p:cNvSpPr/>
            <p:nvPr/>
          </p:nvSpPr>
          <p:spPr>
            <a:xfrm>
              <a:off x="773930" y="2310139"/>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hlinkClick r:id="rId9" action="ppaction://hlinksldjump"/>
              <a:extLst>
                <a:ext uri="{FF2B5EF4-FFF2-40B4-BE49-F238E27FC236}">
                  <a16:creationId xmlns:a16="http://schemas.microsoft.com/office/drawing/2014/main" id="{740B2EA8-C4BF-AA27-7DCF-4DB03A3B2F2D}"/>
                </a:ext>
              </a:extLst>
            </p:cNvPr>
            <p:cNvSpPr/>
            <p:nvPr/>
          </p:nvSpPr>
          <p:spPr>
            <a:xfrm>
              <a:off x="773930" y="3048541"/>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hlinkClick r:id="rId10" action="ppaction://hlinksldjump"/>
              <a:extLst>
                <a:ext uri="{FF2B5EF4-FFF2-40B4-BE49-F238E27FC236}">
                  <a16:creationId xmlns:a16="http://schemas.microsoft.com/office/drawing/2014/main" id="{2BED9F0A-C962-D458-F56A-D61FE9DD867A}"/>
                </a:ext>
              </a:extLst>
            </p:cNvPr>
            <p:cNvSpPr/>
            <p:nvPr/>
          </p:nvSpPr>
          <p:spPr>
            <a:xfrm>
              <a:off x="773930" y="3801029"/>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hlinkClick r:id="rId11" action="ppaction://hlinksldjump"/>
              <a:extLst>
                <a:ext uri="{FF2B5EF4-FFF2-40B4-BE49-F238E27FC236}">
                  <a16:creationId xmlns:a16="http://schemas.microsoft.com/office/drawing/2014/main" id="{86631DC4-326A-0123-2414-743F77F0BCB5}"/>
                </a:ext>
              </a:extLst>
            </p:cNvPr>
            <p:cNvSpPr/>
            <p:nvPr/>
          </p:nvSpPr>
          <p:spPr>
            <a:xfrm>
              <a:off x="773930" y="4543176"/>
              <a:ext cx="3394083" cy="66027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itle 1">
            <a:extLst>
              <a:ext uri="{FF2B5EF4-FFF2-40B4-BE49-F238E27FC236}">
                <a16:creationId xmlns:a16="http://schemas.microsoft.com/office/drawing/2014/main" id="{0B4B22C0-9CE4-6DCC-9869-ABE5886E0C5D}"/>
              </a:ext>
            </a:extLst>
          </p:cNvPr>
          <p:cNvSpPr txBox="1">
            <a:spLocks/>
          </p:cNvSpPr>
          <p:nvPr/>
        </p:nvSpPr>
        <p:spPr>
          <a:xfrm>
            <a:off x="5661061" y="1512751"/>
            <a:ext cx="4029039"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Life insurance/death benefit in is estate &amp; income tax-free to heirs. </a:t>
            </a:r>
          </a:p>
        </p:txBody>
      </p:sp>
      <p:grpSp>
        <p:nvGrpSpPr>
          <p:cNvPr id="16" name="Graphic 2">
            <a:extLst>
              <a:ext uri="{FF2B5EF4-FFF2-40B4-BE49-F238E27FC236}">
                <a16:creationId xmlns:a16="http://schemas.microsoft.com/office/drawing/2014/main" id="{CC0121D8-8FF0-D193-74B4-F213134ABC81}"/>
              </a:ext>
            </a:extLst>
          </p:cNvPr>
          <p:cNvGrpSpPr/>
          <p:nvPr/>
        </p:nvGrpSpPr>
        <p:grpSpPr>
          <a:xfrm>
            <a:off x="4839126" y="1560927"/>
            <a:ext cx="647282" cy="647282"/>
            <a:chOff x="4839126" y="1560927"/>
            <a:chExt cx="647282" cy="647282"/>
          </a:xfrm>
        </p:grpSpPr>
        <p:sp>
          <p:nvSpPr>
            <p:cNvPr id="23" name="Oval 22">
              <a:extLst>
                <a:ext uri="{FF2B5EF4-FFF2-40B4-BE49-F238E27FC236}">
                  <a16:creationId xmlns:a16="http://schemas.microsoft.com/office/drawing/2014/main" id="{4DD1AFE4-AAAD-3C52-76C0-7DD090101917}"/>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8" name="Freeform: Shape 27">
              <a:extLst>
                <a:ext uri="{FF2B5EF4-FFF2-40B4-BE49-F238E27FC236}">
                  <a16:creationId xmlns:a16="http://schemas.microsoft.com/office/drawing/2014/main" id="{965222BD-1CA1-405E-F92C-9809858FE77C}"/>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29" name="TextBox 28">
            <a:extLst>
              <a:ext uri="{FF2B5EF4-FFF2-40B4-BE49-F238E27FC236}">
                <a16:creationId xmlns:a16="http://schemas.microsoft.com/office/drawing/2014/main" id="{18FF0E57-453D-FFAC-6F04-C7C7E862738B}"/>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5</a:t>
            </a:r>
            <a:endParaRPr lang="en-US" sz="2400" dirty="0"/>
          </a:p>
        </p:txBody>
      </p:sp>
      <p:sp>
        <p:nvSpPr>
          <p:cNvPr id="39" name="Rectangle 38">
            <a:hlinkClick r:id="rId7" action="ppaction://hlinksldjump"/>
            <a:extLst>
              <a:ext uri="{FF2B5EF4-FFF2-40B4-BE49-F238E27FC236}">
                <a16:creationId xmlns:a16="http://schemas.microsoft.com/office/drawing/2014/main" id="{0C0292A3-C0B8-E3CC-7BD6-7D8AD7948C03}"/>
              </a:ext>
            </a:extLst>
          </p:cNvPr>
          <p:cNvSpPr/>
          <p:nvPr/>
        </p:nvSpPr>
        <p:spPr>
          <a:xfrm>
            <a:off x="773931"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hlinkClick r:id="rId8" action="ppaction://hlinksldjump"/>
            <a:extLst>
              <a:ext uri="{FF2B5EF4-FFF2-40B4-BE49-F238E27FC236}">
                <a16:creationId xmlns:a16="http://schemas.microsoft.com/office/drawing/2014/main" id="{4A0B1ED8-C808-9F7B-C661-EC7B9C265C1F}"/>
              </a:ext>
            </a:extLst>
          </p:cNvPr>
          <p:cNvSpPr/>
          <p:nvPr/>
        </p:nvSpPr>
        <p:spPr>
          <a:xfrm>
            <a:off x="773931"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hlinkClick r:id="rId9" action="ppaction://hlinksldjump"/>
            <a:extLst>
              <a:ext uri="{FF2B5EF4-FFF2-40B4-BE49-F238E27FC236}">
                <a16:creationId xmlns:a16="http://schemas.microsoft.com/office/drawing/2014/main" id="{D275F959-F2C0-1CB1-0F9D-0E7E9218CF7C}"/>
              </a:ext>
            </a:extLst>
          </p:cNvPr>
          <p:cNvSpPr/>
          <p:nvPr/>
        </p:nvSpPr>
        <p:spPr>
          <a:xfrm>
            <a:off x="773931"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hlinkClick r:id="rId10" action="ppaction://hlinksldjump"/>
            <a:extLst>
              <a:ext uri="{FF2B5EF4-FFF2-40B4-BE49-F238E27FC236}">
                <a16:creationId xmlns:a16="http://schemas.microsoft.com/office/drawing/2014/main" id="{53A0BE91-F549-A956-187F-2B32F3ADDAC8}"/>
              </a:ext>
            </a:extLst>
          </p:cNvPr>
          <p:cNvSpPr/>
          <p:nvPr/>
        </p:nvSpPr>
        <p:spPr>
          <a:xfrm>
            <a:off x="773931"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hlinkClick r:id="rId11" action="ppaction://hlinksldjump"/>
            <a:extLst>
              <a:ext uri="{FF2B5EF4-FFF2-40B4-BE49-F238E27FC236}">
                <a16:creationId xmlns:a16="http://schemas.microsoft.com/office/drawing/2014/main" id="{2E281FAD-6556-D580-85A0-541753785F5C}"/>
              </a:ext>
            </a:extLst>
          </p:cNvPr>
          <p:cNvSpPr/>
          <p:nvPr/>
        </p:nvSpPr>
        <p:spPr>
          <a:xfrm>
            <a:off x="773931"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Table 29">
            <a:extLst>
              <a:ext uri="{FF2B5EF4-FFF2-40B4-BE49-F238E27FC236}">
                <a16:creationId xmlns:a16="http://schemas.microsoft.com/office/drawing/2014/main" id="{79A81EA9-4C86-B51B-6789-EF9C83B0E17D}"/>
              </a:ext>
            </a:extLst>
          </p:cNvPr>
          <p:cNvGraphicFramePr>
            <a:graphicFrameLocks noGrp="1"/>
          </p:cNvGraphicFramePr>
          <p:nvPr>
            <p:extLst>
              <p:ext uri="{D42A27DB-BD31-4B8C-83A1-F6EECF244321}">
                <p14:modId xmlns:p14="http://schemas.microsoft.com/office/powerpoint/2010/main" val="2174240599"/>
              </p:ext>
            </p:extLst>
          </p:nvPr>
        </p:nvGraphicFramePr>
        <p:xfrm>
          <a:off x="4844263" y="2812568"/>
          <a:ext cx="6355080"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65960">
                  <a:extLst>
                    <a:ext uri="{9D8B030D-6E8A-4147-A177-3AD203B41FA5}">
                      <a16:colId xmlns:a16="http://schemas.microsoft.com/office/drawing/2014/main" val="4007013876"/>
                    </a:ext>
                  </a:extLst>
                </a:gridCol>
                <a:gridCol w="1965960">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graphicFrame>
        <p:nvGraphicFramePr>
          <p:cNvPr id="31" name="Table 30">
            <a:extLst>
              <a:ext uri="{FF2B5EF4-FFF2-40B4-BE49-F238E27FC236}">
                <a16:creationId xmlns:a16="http://schemas.microsoft.com/office/drawing/2014/main" id="{FC31D449-71F9-E0C6-9FC0-DE12C4B123C6}"/>
              </a:ext>
            </a:extLst>
          </p:cNvPr>
          <p:cNvGraphicFramePr>
            <a:graphicFrameLocks noGrp="1"/>
          </p:cNvGraphicFramePr>
          <p:nvPr>
            <p:extLst>
              <p:ext uri="{D42A27DB-BD31-4B8C-83A1-F6EECF244321}">
                <p14:modId xmlns:p14="http://schemas.microsoft.com/office/powerpoint/2010/main" val="3361478573"/>
              </p:ext>
            </p:extLst>
          </p:nvPr>
        </p:nvGraphicFramePr>
        <p:xfrm>
          <a:off x="4844263" y="2812568"/>
          <a:ext cx="6355080"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65960">
                  <a:extLst>
                    <a:ext uri="{9D8B030D-6E8A-4147-A177-3AD203B41FA5}">
                      <a16:colId xmlns:a16="http://schemas.microsoft.com/office/drawing/2014/main" val="4007013876"/>
                    </a:ext>
                  </a:extLst>
                </a:gridCol>
                <a:gridCol w="1965960">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&lt;CPlanEstateTaxLE&gt;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pic>
        <p:nvPicPr>
          <p:cNvPr id="32" name="Graphic 31">
            <a:extLst>
              <a:ext uri="{FF2B5EF4-FFF2-40B4-BE49-F238E27FC236}">
                <a16:creationId xmlns:a16="http://schemas.microsoft.com/office/drawing/2014/main" id="{3E75C87D-7F13-41B4-7999-3B209D09F3A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401" y="2419000"/>
            <a:ext cx="6387782" cy="84050"/>
          </a:xfrm>
          <a:prstGeom prst="rect">
            <a:avLst/>
          </a:prstGeom>
        </p:spPr>
      </p:pic>
      <p:graphicFrame>
        <p:nvGraphicFramePr>
          <p:cNvPr id="36" name="Table 35">
            <a:extLst>
              <a:ext uri="{FF2B5EF4-FFF2-40B4-BE49-F238E27FC236}">
                <a16:creationId xmlns:a16="http://schemas.microsoft.com/office/drawing/2014/main" id="{2B45160F-FE5A-6048-B7BE-1CE86F0129ED}"/>
              </a:ext>
            </a:extLst>
          </p:cNvPr>
          <p:cNvGraphicFramePr>
            <a:graphicFrameLocks noGrp="1"/>
          </p:cNvGraphicFramePr>
          <p:nvPr>
            <p:extLst>
              <p:ext uri="{D42A27DB-BD31-4B8C-83A1-F6EECF244321}">
                <p14:modId xmlns:p14="http://schemas.microsoft.com/office/powerpoint/2010/main" val="3924580276"/>
              </p:ext>
            </p:extLst>
          </p:nvPr>
        </p:nvGraphicFramePr>
        <p:xfrm>
          <a:off x="4849401" y="5811839"/>
          <a:ext cx="6363301" cy="442157"/>
        </p:xfrm>
        <a:graphic>
          <a:graphicData uri="http://schemas.openxmlformats.org/drawingml/2006/table">
            <a:tbl>
              <a:tblPr>
                <a:tableStyleId>{5C22544A-7EE6-4342-B048-85BDC9FD1C3A}</a:tableStyleId>
              </a:tblPr>
              <a:tblGrid>
                <a:gridCol w="4397341">
                  <a:extLst>
                    <a:ext uri="{9D8B030D-6E8A-4147-A177-3AD203B41FA5}">
                      <a16:colId xmlns:a16="http://schemas.microsoft.com/office/drawing/2014/main" val="1592670450"/>
                    </a:ext>
                  </a:extLst>
                </a:gridCol>
                <a:gridCol w="1965960">
                  <a:extLst>
                    <a:ext uri="{9D8B030D-6E8A-4147-A177-3AD203B41FA5}">
                      <a16:colId xmlns:a16="http://schemas.microsoft.com/office/drawing/2014/main" val="4007013876"/>
                    </a:ext>
                  </a:extLst>
                </a:gridCol>
              </a:tblGrid>
              <a:tr h="442157">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600" b="0" kern="1200" dirty="0">
                          <a:solidFill>
                            <a:schemeClr val="accent2"/>
                          </a:solidFill>
                          <a:latin typeface="Cormorant Infant" pitchFamily="2" charset="0"/>
                          <a:ea typeface="Cormorant Infant" pitchFamily="2" charset="0"/>
                          <a:cs typeface="Cormorant Infant" pitchFamily="2" charset="0"/>
                        </a:rPr>
                        <a:t>Tax Free Advantage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600" b="0" kern="1200" dirty="0">
                          <a:solidFill>
                            <a:schemeClr val="accent2"/>
                          </a:solidFill>
                          <a:latin typeface="Cormorant Infant" pitchFamily="2" charset="0"/>
                          <a:ea typeface="Cormorant Infant" pitchFamily="2" charset="0"/>
                          <a:cs typeface="Cormorant Infant" pitchFamily="2" charset="0"/>
                        </a:rPr>
                        <a:t>&lt;Advantage&gt;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bl>
          </a:graphicData>
        </a:graphic>
      </p:graphicFrame>
      <p:sp>
        <p:nvSpPr>
          <p:cNvPr id="2" name="TextBox 1">
            <a:extLst>
              <a:ext uri="{FF2B5EF4-FFF2-40B4-BE49-F238E27FC236}">
                <a16:creationId xmlns:a16="http://schemas.microsoft.com/office/drawing/2014/main" id="{174D4B7B-D3A7-6E07-7D15-E89032F23F0C}"/>
              </a:ext>
            </a:extLst>
          </p:cNvPr>
          <p:cNvSpPr txBox="1"/>
          <p:nvPr/>
        </p:nvSpPr>
        <p:spPr>
          <a:xfrm>
            <a:off x="7261500" y="2475126"/>
            <a:ext cx="1950008"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 CURRENT PLANNING</a:t>
            </a:r>
          </a:p>
        </p:txBody>
      </p:sp>
      <p:sp>
        <p:nvSpPr>
          <p:cNvPr id="6" name="TextBox 5">
            <a:extLst>
              <a:ext uri="{FF2B5EF4-FFF2-40B4-BE49-F238E27FC236}">
                <a16:creationId xmlns:a16="http://schemas.microsoft.com/office/drawing/2014/main" id="{E2E6320C-3D09-5FA5-B269-E6A1ECD43DA2}"/>
              </a:ext>
            </a:extLst>
          </p:cNvPr>
          <p:cNvSpPr txBox="1"/>
          <p:nvPr/>
        </p:nvSpPr>
        <p:spPr>
          <a:xfrm>
            <a:off x="9285912" y="2475126"/>
            <a:ext cx="1950007"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LIRA STRATEGY</a:t>
            </a:r>
          </a:p>
        </p:txBody>
      </p:sp>
      <p:sp>
        <p:nvSpPr>
          <p:cNvPr id="11" name="TextBox 10">
            <a:extLst>
              <a:ext uri="{FF2B5EF4-FFF2-40B4-BE49-F238E27FC236}">
                <a16:creationId xmlns:a16="http://schemas.microsoft.com/office/drawing/2014/main" id="{E7C62392-22ED-7C15-23A2-2971A0A07CF7}"/>
              </a:ext>
            </a:extLst>
          </p:cNvPr>
          <p:cNvSpPr txBox="1"/>
          <p:nvPr/>
        </p:nvSpPr>
        <p:spPr>
          <a:xfrm>
            <a:off x="4829010" y="5579065"/>
            <a:ext cx="6356924" cy="153888"/>
          </a:xfrm>
          <a:prstGeom prst="rect">
            <a:avLst/>
          </a:prstGeom>
          <a:noFill/>
        </p:spPr>
        <p:txBody>
          <a:bodyPr wrap="square" lIns="0" tIns="0" rIns="0" bIns="0">
            <a:spAutoFit/>
          </a:bodyPr>
          <a:lstStyle/>
          <a:p>
            <a:pPr algn="r">
              <a:lnSpc>
                <a:spcPts val="1200"/>
              </a:lnSpc>
            </a:pPr>
            <a:r>
              <a:rPr lang="en-US" sz="900" i="0" u="none" strike="noStrike" baseline="0" dirty="0">
                <a:solidFill>
                  <a:schemeClr val="bg1"/>
                </a:solidFill>
                <a:latin typeface="Cormorant Infant" pitchFamily="2" charset="0"/>
              </a:rPr>
              <a:t>(All at Life Expectancy and IRA Growth Rate of &lt;</a:t>
            </a:r>
            <a:r>
              <a:rPr lang="en-US" sz="900" i="0" u="none" strike="noStrike" baseline="0" dirty="0" err="1">
                <a:solidFill>
                  <a:schemeClr val="bg1"/>
                </a:solidFill>
                <a:latin typeface="Cormorant Infant" pitchFamily="2" charset="0"/>
              </a:rPr>
              <a:t>IRARate</a:t>
            </a:r>
            <a:r>
              <a:rPr lang="en-US" sz="900" i="0" u="none" strike="noStrike" baseline="0" dirty="0">
                <a:solidFill>
                  <a:schemeClr val="bg1"/>
                </a:solidFill>
                <a:latin typeface="Cormorant Infant" pitchFamily="2" charset="0"/>
              </a:rPr>
              <a:t>&gt;)</a:t>
            </a:r>
            <a:endParaRPr lang="en-US" sz="900" dirty="0">
              <a:solidFill>
                <a:schemeClr val="bg1"/>
              </a:solidFill>
              <a:latin typeface="Cormorant Infant" pitchFamily="2" charset="0"/>
            </a:endParaRPr>
          </a:p>
        </p:txBody>
      </p:sp>
    </p:spTree>
    <p:extLst>
      <p:ext uri="{BB962C8B-B14F-4D97-AF65-F5344CB8AC3E}">
        <p14:creationId xmlns:p14="http://schemas.microsoft.com/office/powerpoint/2010/main" val="2158597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3351-3956-FF84-0970-91F3DED595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574813-AE6F-EA25-56AB-3C066788711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&lt;</a:t>
            </a:r>
            <a:r>
              <a:rPr lang="en-US" sz="1000" kern="500" spc="600" baseline="0" dirty="0" err="1">
                <a:solidFill>
                  <a:schemeClr val="accent1"/>
                </a:solidFill>
                <a:latin typeface="Cormorant Infant Medium" pitchFamily="2" charset="0"/>
                <a:ea typeface="Cormorant Infant Medium" pitchFamily="2" charset="0"/>
                <a:cs typeface="Cormorant Infant Medium" pitchFamily="2" charset="0"/>
              </a:rPr>
              <a:t>SlideMth</a:t>
            </a: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&gt;</a:t>
            </a:r>
          </a:p>
        </p:txBody>
      </p:sp>
      <p:sp>
        <p:nvSpPr>
          <p:cNvPr id="10" name="TextBox 9">
            <a:extLst>
              <a:ext uri="{FF2B5EF4-FFF2-40B4-BE49-F238E27FC236}">
                <a16:creationId xmlns:a16="http://schemas.microsoft.com/office/drawing/2014/main" id="{33C3F7E3-A44A-EB10-18B3-47A61DA845F3}"/>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14" name="TextBox 13">
            <a:extLst>
              <a:ext uri="{FF2B5EF4-FFF2-40B4-BE49-F238E27FC236}">
                <a16:creationId xmlns:a16="http://schemas.microsoft.com/office/drawing/2014/main" id="{031297D7-95AF-7B29-2939-496F8E8678A8}"/>
              </a:ext>
            </a:extLst>
          </p:cNvPr>
          <p:cNvSpPr txBox="1"/>
          <p:nvPr/>
        </p:nvSpPr>
        <p:spPr>
          <a:xfrm>
            <a:off x="1307922"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INSIDE OF THE ESTATE</a:t>
            </a:r>
          </a:p>
        </p:txBody>
      </p:sp>
      <p:sp>
        <p:nvSpPr>
          <p:cNvPr id="16" name="TextBox 15">
            <a:extLst>
              <a:ext uri="{FF2B5EF4-FFF2-40B4-BE49-F238E27FC236}">
                <a16:creationId xmlns:a16="http://schemas.microsoft.com/office/drawing/2014/main" id="{9F3DD752-668F-4EAA-C331-8EA7A2C71703}"/>
              </a:ext>
            </a:extLst>
          </p:cNvPr>
          <p:cNvSpPr txBox="1"/>
          <p:nvPr/>
        </p:nvSpPr>
        <p:spPr>
          <a:xfrm>
            <a:off x="6843616"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OUTSIDE OF THE ESTATE</a:t>
            </a:r>
          </a:p>
        </p:txBody>
      </p:sp>
      <p:sp>
        <p:nvSpPr>
          <p:cNvPr id="31" name="TextBox 30">
            <a:extLst>
              <a:ext uri="{FF2B5EF4-FFF2-40B4-BE49-F238E27FC236}">
                <a16:creationId xmlns:a16="http://schemas.microsoft.com/office/drawing/2014/main" id="{59C82A00-C65E-07C1-B8C9-C878EACBD2E1}"/>
              </a:ext>
            </a:extLst>
          </p:cNvPr>
          <p:cNvSpPr txBox="1"/>
          <p:nvPr/>
        </p:nvSpPr>
        <p:spPr>
          <a:xfrm>
            <a:off x="6722497" y="6235859"/>
            <a:ext cx="5044253"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*Life insurance death benefit is exposed to income and estate taxes while policy is inside the plan.</a:t>
            </a:r>
          </a:p>
        </p:txBody>
      </p:sp>
      <p:sp>
        <p:nvSpPr>
          <p:cNvPr id="34" name="TextBox 33">
            <a:extLst>
              <a:ext uri="{FF2B5EF4-FFF2-40B4-BE49-F238E27FC236}">
                <a16:creationId xmlns:a16="http://schemas.microsoft.com/office/drawing/2014/main" id="{07FD6304-9384-7F3C-537A-1769868BD503}"/>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pic>
        <p:nvPicPr>
          <p:cNvPr id="39" name="Graphic 38">
            <a:extLst>
              <a:ext uri="{FF2B5EF4-FFF2-40B4-BE49-F238E27FC236}">
                <a16:creationId xmlns:a16="http://schemas.microsoft.com/office/drawing/2014/main" id="{E7FA66C2-2F7D-57C5-FDDB-39D28F2022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414" y="1329993"/>
            <a:ext cx="10701172" cy="4744722"/>
          </a:xfrm>
          <a:prstGeom prst="rect">
            <a:avLst/>
          </a:prstGeom>
        </p:spPr>
      </p:pic>
      <p:pic>
        <p:nvPicPr>
          <p:cNvPr id="41" name="Graphic 40">
            <a:extLst>
              <a:ext uri="{FF2B5EF4-FFF2-40B4-BE49-F238E27FC236}">
                <a16:creationId xmlns:a16="http://schemas.microsoft.com/office/drawing/2014/main" id="{E770B38D-2D90-E684-87C7-204B256AF4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850" y="1844196"/>
            <a:ext cx="876300" cy="344710"/>
          </a:xfrm>
          <a:prstGeom prst="rect">
            <a:avLst/>
          </a:prstGeom>
        </p:spPr>
      </p:pic>
      <p:sp>
        <p:nvSpPr>
          <p:cNvPr id="43" name="TextBox 42">
            <a:extLst>
              <a:ext uri="{FF2B5EF4-FFF2-40B4-BE49-F238E27FC236}">
                <a16:creationId xmlns:a16="http://schemas.microsoft.com/office/drawing/2014/main" id="{56F46FC9-636B-7640-4B36-E929BCDFB6D6}"/>
              </a:ext>
            </a:extLst>
          </p:cNvPr>
          <p:cNvSpPr txBox="1"/>
          <p:nvPr/>
        </p:nvSpPr>
        <p:spPr>
          <a:xfrm>
            <a:off x="5698735" y="1939607"/>
            <a:ext cx="794530"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0</a:t>
            </a:r>
          </a:p>
        </p:txBody>
      </p:sp>
      <p:pic>
        <p:nvPicPr>
          <p:cNvPr id="59" name="Graphic 58">
            <a:extLst>
              <a:ext uri="{FF2B5EF4-FFF2-40B4-BE49-F238E27FC236}">
                <a16:creationId xmlns:a16="http://schemas.microsoft.com/office/drawing/2014/main" id="{30EDD680-E656-096B-3934-CEAB4853AD8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22497" y="4519467"/>
            <a:ext cx="4480051" cy="1158902"/>
          </a:xfrm>
          <a:prstGeom prst="rect">
            <a:avLst/>
          </a:prstGeom>
        </p:spPr>
      </p:pic>
      <p:sp>
        <p:nvSpPr>
          <p:cNvPr id="29" name="TextBox 28">
            <a:extLst>
              <a:ext uri="{FF2B5EF4-FFF2-40B4-BE49-F238E27FC236}">
                <a16:creationId xmlns:a16="http://schemas.microsoft.com/office/drawing/2014/main" id="{E6F1C9AE-926B-9C86-2AB8-E836EAC023FA}"/>
              </a:ext>
            </a:extLst>
          </p:cNvPr>
          <p:cNvSpPr txBox="1"/>
          <p:nvPr/>
        </p:nvSpPr>
        <p:spPr>
          <a:xfrm>
            <a:off x="7079684" y="4659232"/>
            <a:ext cx="3776749"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Trust purchases life insurance policy from plan at IRS safe-harbor fair market value. Currently estimated at &lt;</a:t>
            </a:r>
            <a:r>
              <a:rPr lang="en-US" sz="1000" dirty="0" err="1">
                <a:latin typeface="Cormorant Infant SemiBold" pitchFamily="2" charset="0"/>
                <a:ea typeface="Cormorant Infant SemiBold" pitchFamily="2" charset="0"/>
                <a:cs typeface="Cormorant Infant SemiBold" pitchFamily="2" charset="0"/>
              </a:rPr>
              <a:t>SalePrice</a:t>
            </a:r>
            <a:r>
              <a:rPr lang="en-US" sz="1000" dirty="0">
                <a:latin typeface="Cormorant Infant SemiBold" pitchFamily="2" charset="0"/>
                <a:ea typeface="Cormorant Infant SemiBold" pitchFamily="2" charset="0"/>
                <a:cs typeface="Cormorant Infant SemiBold" pitchFamily="2" charset="0"/>
              </a:rPr>
              <a:t>&gt;, a &lt;Discount&gt; discount.​</a:t>
            </a:r>
          </a:p>
        </p:txBody>
      </p:sp>
      <p:pic>
        <p:nvPicPr>
          <p:cNvPr id="61" name="Graphic 60">
            <a:extLst>
              <a:ext uri="{FF2B5EF4-FFF2-40B4-BE49-F238E27FC236}">
                <a16:creationId xmlns:a16="http://schemas.microsoft.com/office/drawing/2014/main" id="{2E8FFF55-7A62-17DB-45D3-F646A8C9E39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068612" y="5049834"/>
            <a:ext cx="3787821" cy="482228"/>
          </a:xfrm>
          <a:prstGeom prst="rect">
            <a:avLst/>
          </a:prstGeom>
        </p:spPr>
      </p:pic>
      <p:sp>
        <p:nvSpPr>
          <p:cNvPr id="30" name="TextBox 29">
            <a:extLst>
              <a:ext uri="{FF2B5EF4-FFF2-40B4-BE49-F238E27FC236}">
                <a16:creationId xmlns:a16="http://schemas.microsoft.com/office/drawing/2014/main" id="{9AACCE7D-61DB-6461-7AB4-1EDCE9C1025F}"/>
              </a:ext>
            </a:extLst>
          </p:cNvPr>
          <p:cNvSpPr txBox="1"/>
          <p:nvPr/>
        </p:nvSpPr>
        <p:spPr>
          <a:xfrm>
            <a:off x="7417942" y="5213352"/>
            <a:ext cx="3328827" cy="153888"/>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After death, trust receives &lt;</a:t>
            </a:r>
            <a:r>
              <a:rPr lang="en-US" sz="1000" dirty="0" err="1">
                <a:latin typeface="Cormorant Infant SemiBold" pitchFamily="2" charset="0"/>
                <a:ea typeface="Cormorant Infant SemiBold" pitchFamily="2" charset="0"/>
                <a:cs typeface="Cormorant Infant SemiBold" pitchFamily="2" charset="0"/>
              </a:rPr>
              <a:t>NetToHeirsPickYr</a:t>
            </a:r>
            <a:r>
              <a:rPr lang="en-US" sz="1000" dirty="0">
                <a:latin typeface="Cormorant Infant SemiBold" pitchFamily="2" charset="0"/>
                <a:ea typeface="Cormorant Infant SemiBold" pitchFamily="2" charset="0"/>
                <a:cs typeface="Cormorant Infant SemiBold" pitchFamily="2" charset="0"/>
              </a:rPr>
              <a:t>&gt; Tax-Free.</a:t>
            </a:r>
          </a:p>
        </p:txBody>
      </p:sp>
      <p:pic>
        <p:nvPicPr>
          <p:cNvPr id="42" name="Graphic 41">
            <a:extLst>
              <a:ext uri="{FF2B5EF4-FFF2-40B4-BE49-F238E27FC236}">
                <a16:creationId xmlns:a16="http://schemas.microsoft.com/office/drawing/2014/main" id="{52ED2FD6-0485-3569-6507-84DDF46F90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84828" y="3675922"/>
            <a:ext cx="4617720" cy="952534"/>
          </a:xfrm>
          <a:prstGeom prst="rect">
            <a:avLst/>
          </a:prstGeom>
        </p:spPr>
      </p:pic>
      <p:sp>
        <p:nvSpPr>
          <p:cNvPr id="8" name="TextBox 7">
            <a:extLst>
              <a:ext uri="{FF2B5EF4-FFF2-40B4-BE49-F238E27FC236}">
                <a16:creationId xmlns:a16="http://schemas.microsoft.com/office/drawing/2014/main" id="{5C4A77BC-0081-C96A-0807-9E590D95F5A3}"/>
              </a:ext>
            </a:extLst>
          </p:cNvPr>
          <p:cNvSpPr txBox="1"/>
          <p:nvPr/>
        </p:nvSpPr>
        <p:spPr>
          <a:xfrm>
            <a:off x="7653980" y="3876761"/>
            <a:ext cx="2617085" cy="153888"/>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Trust is funded with after-tax dollars from estate</a:t>
            </a:r>
          </a:p>
        </p:txBody>
      </p:sp>
      <p:pic>
        <p:nvPicPr>
          <p:cNvPr id="9" name="Graphic 8">
            <a:extLst>
              <a:ext uri="{FF2B5EF4-FFF2-40B4-BE49-F238E27FC236}">
                <a16:creationId xmlns:a16="http://schemas.microsoft.com/office/drawing/2014/main" id="{EF40E07B-ECEF-7B0C-5D6B-519DB50CE6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1307" y="3675922"/>
            <a:ext cx="4617720" cy="1263143"/>
          </a:xfrm>
          <a:prstGeom prst="rect">
            <a:avLst/>
          </a:prstGeom>
        </p:spPr>
      </p:pic>
      <p:pic>
        <p:nvPicPr>
          <p:cNvPr id="11" name="Graphic 10">
            <a:extLst>
              <a:ext uri="{FF2B5EF4-FFF2-40B4-BE49-F238E27FC236}">
                <a16:creationId xmlns:a16="http://schemas.microsoft.com/office/drawing/2014/main" id="{04118555-9F3A-902E-454F-9A2F7602B7E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04513" y="4268731"/>
            <a:ext cx="3048924" cy="482228"/>
          </a:xfrm>
          <a:prstGeom prst="rect">
            <a:avLst/>
          </a:prstGeom>
        </p:spPr>
      </p:pic>
      <p:sp>
        <p:nvSpPr>
          <p:cNvPr id="12" name="TextBox 11">
            <a:extLst>
              <a:ext uri="{FF2B5EF4-FFF2-40B4-BE49-F238E27FC236}">
                <a16:creationId xmlns:a16="http://schemas.microsoft.com/office/drawing/2014/main" id="{3280A861-68AD-69CD-8EA6-30CF13DBBAF3}"/>
              </a:ext>
            </a:extLst>
          </p:cNvPr>
          <p:cNvSpPr txBox="1"/>
          <p:nvPr/>
        </p:nvSpPr>
        <p:spPr>
          <a:xfrm>
            <a:off x="1353408" y="3891345"/>
            <a:ext cx="375113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The LIRA-Ready Plan purchases Life Insurance on &lt;</a:t>
            </a:r>
            <a:r>
              <a:rPr lang="en-US" sz="1000" dirty="0" err="1">
                <a:latin typeface="Cormorant Infant SemiBold" pitchFamily="2" charset="0"/>
                <a:ea typeface="Cormorant Infant SemiBold" pitchFamily="2" charset="0"/>
                <a:cs typeface="Cormorant Infant SemiBold" pitchFamily="2" charset="0"/>
              </a:rPr>
              <a:t>InsuredLife</a:t>
            </a:r>
            <a:r>
              <a:rPr lang="en-US" sz="1000" dirty="0">
                <a:latin typeface="Cormorant Infant SemiBold" pitchFamily="2" charset="0"/>
                <a:ea typeface="Cormorant Infant SemiBold" pitchFamily="2" charset="0"/>
                <a:cs typeface="Cormorant Infant SemiBold" pitchFamily="2" charset="0"/>
              </a:rPr>
              <a:t>&gt; pays premiums of  &lt;Premium&gt; per year for &lt;</a:t>
            </a:r>
            <a:r>
              <a:rPr lang="en-US" sz="1000" dirty="0" err="1">
                <a:latin typeface="Cormorant Infant SemiBold" pitchFamily="2" charset="0"/>
                <a:ea typeface="Cormorant Infant SemiBold" pitchFamily="2" charset="0"/>
                <a:cs typeface="Cormorant Infant SemiBold" pitchFamily="2" charset="0"/>
              </a:rPr>
              <a:t>PremYrs</a:t>
            </a:r>
            <a:r>
              <a:rPr lang="en-US" sz="1000" dirty="0">
                <a:latin typeface="Cormorant Infant SemiBold" pitchFamily="2" charset="0"/>
                <a:ea typeface="Cormorant Infant SemiBold" pitchFamily="2" charset="0"/>
                <a:cs typeface="Cormorant Infant SemiBold" pitchFamily="2" charset="0"/>
              </a:rPr>
              <a:t>&gt; years</a:t>
            </a:r>
          </a:p>
        </p:txBody>
      </p:sp>
      <p:sp>
        <p:nvSpPr>
          <p:cNvPr id="13" name="TextBox 12">
            <a:extLst>
              <a:ext uri="{FF2B5EF4-FFF2-40B4-BE49-F238E27FC236}">
                <a16:creationId xmlns:a16="http://schemas.microsoft.com/office/drawing/2014/main" id="{68B41D7F-F2A2-02DE-DD79-CDE48EC6A162}"/>
              </a:ext>
            </a:extLst>
          </p:cNvPr>
          <p:cNvSpPr txBox="1"/>
          <p:nvPr/>
        </p:nvSpPr>
        <p:spPr>
          <a:xfrm>
            <a:off x="1713734" y="4442076"/>
            <a:ext cx="3030483" cy="159042"/>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Life Insurance Policy worth &lt;</a:t>
            </a:r>
            <a:r>
              <a:rPr lang="en-US" sz="1000" dirty="0" err="1">
                <a:latin typeface="Cormorant Infant SemiBold" pitchFamily="2" charset="0"/>
                <a:ea typeface="Cormorant Infant SemiBold" pitchFamily="2" charset="0"/>
                <a:cs typeface="Cormorant Infant SemiBold" pitchFamily="2" charset="0"/>
              </a:rPr>
              <a:t>DeathBenefit</a:t>
            </a:r>
            <a:r>
              <a:rPr lang="en-US" sz="1000" dirty="0">
                <a:latin typeface="Cormorant Infant SemiBold" pitchFamily="2" charset="0"/>
                <a:ea typeface="Cormorant Infant SemiBold" pitchFamily="2" charset="0"/>
                <a:cs typeface="Cormorant Infant SemiBold" pitchFamily="2" charset="0"/>
              </a:rPr>
              <a:t>&gt;*</a:t>
            </a:r>
          </a:p>
        </p:txBody>
      </p:sp>
      <p:pic>
        <p:nvPicPr>
          <p:cNvPr id="48" name="Graphic 47">
            <a:extLst>
              <a:ext uri="{FF2B5EF4-FFF2-40B4-BE49-F238E27FC236}">
                <a16:creationId xmlns:a16="http://schemas.microsoft.com/office/drawing/2014/main" id="{089D650C-25D0-55AF-6564-0BD6DBC67B6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82494" y="5090228"/>
            <a:ext cx="4475331" cy="455821"/>
          </a:xfrm>
          <a:prstGeom prst="rect">
            <a:avLst/>
          </a:prstGeom>
        </p:spPr>
      </p:pic>
      <p:sp>
        <p:nvSpPr>
          <p:cNvPr id="15" name="TextBox 14">
            <a:extLst>
              <a:ext uri="{FF2B5EF4-FFF2-40B4-BE49-F238E27FC236}">
                <a16:creationId xmlns:a16="http://schemas.microsoft.com/office/drawing/2014/main" id="{14FCE740-D79D-61CD-D98A-AAFCAE33BEAA}"/>
              </a:ext>
            </a:extLst>
          </p:cNvPr>
          <p:cNvSpPr txBox="1"/>
          <p:nvPr/>
        </p:nvSpPr>
        <p:spPr>
          <a:xfrm>
            <a:off x="1273140" y="5241194"/>
            <a:ext cx="3911671" cy="153888"/>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The plan receives the proceeds from the sale of the policy. ​</a:t>
            </a:r>
          </a:p>
        </p:txBody>
      </p:sp>
      <p:pic>
        <p:nvPicPr>
          <p:cNvPr id="51" name="Graphic 50">
            <a:extLst>
              <a:ext uri="{FF2B5EF4-FFF2-40B4-BE49-F238E27FC236}">
                <a16:creationId xmlns:a16="http://schemas.microsoft.com/office/drawing/2014/main" id="{CB968808-3EAF-1044-5D47-49F33BF5355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1307" y="2638307"/>
            <a:ext cx="4620053" cy="1197792"/>
          </a:xfrm>
          <a:prstGeom prst="rect">
            <a:avLst/>
          </a:prstGeom>
        </p:spPr>
      </p:pic>
      <p:sp>
        <p:nvSpPr>
          <p:cNvPr id="18" name="TextBox 17">
            <a:extLst>
              <a:ext uri="{FF2B5EF4-FFF2-40B4-BE49-F238E27FC236}">
                <a16:creationId xmlns:a16="http://schemas.microsoft.com/office/drawing/2014/main" id="{96A92FF9-7A22-8159-300D-08B0C4EBC780}"/>
              </a:ext>
            </a:extLst>
          </p:cNvPr>
          <p:cNvSpPr txBox="1"/>
          <p:nvPr/>
        </p:nvSpPr>
        <p:spPr>
          <a:xfrm>
            <a:off x="1449700" y="2868359"/>
            <a:ext cx="3558550" cy="461665"/>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As of &lt;</a:t>
            </a:r>
            <a:r>
              <a:rPr lang="en-US" sz="1000" dirty="0" err="1">
                <a:latin typeface="Cormorant Infant SemiBold" pitchFamily="2" charset="0"/>
                <a:ea typeface="Cormorant Infant SemiBold" pitchFamily="2" charset="0"/>
                <a:cs typeface="Cormorant Infant SemiBold" pitchFamily="2" charset="0"/>
              </a:rPr>
              <a:t>IntakeDate</a:t>
            </a:r>
            <a:r>
              <a:rPr lang="en-US" sz="1000" dirty="0">
                <a:latin typeface="Cormorant Infant SemiBold" pitchFamily="2" charset="0"/>
                <a:ea typeface="Cormorant Infant SemiBold" pitchFamily="2" charset="0"/>
                <a:cs typeface="Cormorant Infant SemiBold" pitchFamily="2" charset="0"/>
              </a:rPr>
              <a:t>&gt;, there is &lt;</a:t>
            </a:r>
            <a:r>
              <a:rPr lang="en-US" sz="1000" dirty="0" err="1">
                <a:latin typeface="Cormorant Infant SemiBold" pitchFamily="2" charset="0"/>
                <a:ea typeface="Cormorant Infant SemiBold" pitchFamily="2" charset="0"/>
                <a:cs typeface="Cormorant Infant SemiBold" pitchFamily="2" charset="0"/>
              </a:rPr>
              <a:t>TotalQPlan</a:t>
            </a:r>
            <a:r>
              <a:rPr lang="en-US" sz="1000" dirty="0">
                <a:latin typeface="Cormorant Infant SemiBold" pitchFamily="2" charset="0"/>
                <a:ea typeface="Cormorant Infant SemiBold" pitchFamily="2" charset="0"/>
                <a:cs typeface="Cormorant Infant SemiBold" pitchFamily="2" charset="0"/>
              </a:rPr>
              <a:t>&gt; in &lt;</a:t>
            </a:r>
            <a:r>
              <a:rPr lang="en-US" sz="1000" dirty="0" err="1">
                <a:latin typeface="Cormorant Infant SemiBold" pitchFamily="2" charset="0"/>
                <a:ea typeface="Cormorant Infant SemiBold" pitchFamily="2" charset="0"/>
                <a:cs typeface="Cormorant Infant SemiBold" pitchFamily="2" charset="0"/>
              </a:rPr>
              <a:t>ClientNm</a:t>
            </a:r>
            <a:r>
              <a:rPr lang="en-US" sz="1000" dirty="0">
                <a:latin typeface="Cormorant Infant SemiBold" pitchFamily="2" charset="0"/>
                <a:ea typeface="Cormorant Infant SemiBold" pitchFamily="2" charset="0"/>
                <a:cs typeface="Cormorant Infant SemiBold" pitchFamily="2" charset="0"/>
              </a:rPr>
              <a:t>&gt;’s IRA. &lt;</a:t>
            </a:r>
            <a:r>
              <a:rPr lang="en-US" sz="1000" dirty="0" err="1">
                <a:latin typeface="Cormorant Infant SemiBold" pitchFamily="2" charset="0"/>
                <a:ea typeface="Cormorant Infant SemiBold" pitchFamily="2" charset="0"/>
                <a:cs typeface="Cormorant Infant SemiBold" pitchFamily="2" charset="0"/>
              </a:rPr>
              <a:t>ClientIRA</a:t>
            </a:r>
            <a:r>
              <a:rPr lang="en-US" sz="1000" dirty="0">
                <a:latin typeface="Cormorant Infant SemiBold" pitchFamily="2" charset="0"/>
                <a:ea typeface="Cormorant Infant SemiBold" pitchFamily="2" charset="0"/>
                <a:cs typeface="Cormorant Infant SemiBold" pitchFamily="2" charset="0"/>
              </a:rPr>
              <a:t>&gt; of the pre-tax retirement funds not needed for lifestyle are allocated to the LIRA-ready structure. </a:t>
            </a:r>
          </a:p>
        </p:txBody>
      </p:sp>
      <p:sp>
        <p:nvSpPr>
          <p:cNvPr id="4" name="Freeform: Shape 3">
            <a:extLst>
              <a:ext uri="{FF2B5EF4-FFF2-40B4-BE49-F238E27FC236}">
                <a16:creationId xmlns:a16="http://schemas.microsoft.com/office/drawing/2014/main" id="{2E6B8129-35AB-1C06-C6E0-2C41F44796F6}"/>
              </a:ext>
            </a:extLst>
          </p:cNvPr>
          <p:cNvSpPr/>
          <p:nvPr/>
        </p:nvSpPr>
        <p:spPr>
          <a:xfrm>
            <a:off x="995295" y="1837868"/>
            <a:ext cx="4466928" cy="947758"/>
          </a:xfrm>
          <a:custGeom>
            <a:avLst/>
            <a:gdLst>
              <a:gd name="connsiteX0" fmla="*/ 4466918 w 4466928"/>
              <a:gd name="connsiteY0" fmla="*/ 594384 h 947758"/>
              <a:gd name="connsiteX1" fmla="*/ 4466918 w 4466928"/>
              <a:gd name="connsiteY1" fmla="*/ 0 h 947758"/>
              <a:gd name="connsiteX2" fmla="*/ 0 w 4466928"/>
              <a:gd name="connsiteY2" fmla="*/ 0 h 947758"/>
              <a:gd name="connsiteX3" fmla="*/ 0 w 4466928"/>
              <a:gd name="connsiteY3" fmla="*/ 594374 h 947758"/>
              <a:gd name="connsiteX4" fmla="*/ 2180727 w 4466928"/>
              <a:gd name="connsiteY4" fmla="*/ 594374 h 947758"/>
              <a:gd name="connsiteX5" fmla="*/ 2180727 w 4466928"/>
              <a:gd name="connsiteY5" fmla="*/ 733297 h 947758"/>
              <a:gd name="connsiteX6" fmla="*/ 2108039 w 4466928"/>
              <a:gd name="connsiteY6" fmla="*/ 706977 h 947758"/>
              <a:gd name="connsiteX7" fmla="*/ 2233475 w 4466928"/>
              <a:gd name="connsiteY7" fmla="*/ 947759 h 947758"/>
              <a:gd name="connsiteX8" fmla="*/ 2358889 w 4466928"/>
              <a:gd name="connsiteY8" fmla="*/ 706977 h 947758"/>
              <a:gd name="connsiteX9" fmla="*/ 2286232 w 4466928"/>
              <a:gd name="connsiteY9" fmla="*/ 733297 h 947758"/>
              <a:gd name="connsiteX10" fmla="*/ 2286232 w 4466928"/>
              <a:gd name="connsiteY10" fmla="*/ 594374 h 947758"/>
              <a:gd name="connsiteX11" fmla="*/ 4466929 w 4466928"/>
              <a:gd name="connsiteY11" fmla="*/ 594374 h 94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6928" h="947758">
                <a:moveTo>
                  <a:pt x="4466918" y="594384"/>
                </a:moveTo>
                <a:lnTo>
                  <a:pt x="4466918" y="0"/>
                </a:lnTo>
                <a:lnTo>
                  <a:pt x="0" y="0"/>
                </a:lnTo>
                <a:lnTo>
                  <a:pt x="0" y="594374"/>
                </a:lnTo>
                <a:lnTo>
                  <a:pt x="2180727" y="594374"/>
                </a:lnTo>
                <a:lnTo>
                  <a:pt x="2180727" y="733297"/>
                </a:lnTo>
                <a:lnTo>
                  <a:pt x="2108039" y="706977"/>
                </a:lnTo>
                <a:cubicBezTo>
                  <a:pt x="2158269" y="764647"/>
                  <a:pt x="2205692" y="872770"/>
                  <a:pt x="2233475" y="947759"/>
                </a:cubicBezTo>
                <a:cubicBezTo>
                  <a:pt x="2261236" y="872770"/>
                  <a:pt x="2308659" y="764647"/>
                  <a:pt x="2358889" y="706977"/>
                </a:cubicBezTo>
                <a:lnTo>
                  <a:pt x="2286232" y="733297"/>
                </a:lnTo>
                <a:lnTo>
                  <a:pt x="2286232" y="594374"/>
                </a:lnTo>
                <a:lnTo>
                  <a:pt x="4466929" y="594374"/>
                </a:lnTo>
                <a:close/>
              </a:path>
            </a:pathLst>
          </a:custGeom>
          <a:solidFill>
            <a:srgbClr val="EAF2DA"/>
          </a:solidFill>
          <a:ln w="10358" cap="flat">
            <a:solidFill>
              <a:srgbClr val="9DB18B"/>
            </a:solidFill>
            <a:prstDash val="solid"/>
            <a:miter/>
          </a:ln>
        </p:spPr>
        <p:txBody>
          <a:bodyPr rtlCol="0" anchor="ctr"/>
          <a:lstStyle/>
          <a:p>
            <a:endParaRPr lang="en-US"/>
          </a:p>
        </p:txBody>
      </p:sp>
      <p:grpSp>
        <p:nvGrpSpPr>
          <p:cNvPr id="7" name="Graphic 48">
            <a:extLst>
              <a:ext uri="{FF2B5EF4-FFF2-40B4-BE49-F238E27FC236}">
                <a16:creationId xmlns:a16="http://schemas.microsoft.com/office/drawing/2014/main" id="{F7D51C22-43E0-0CF8-3359-BDA04A3C0FA5}"/>
              </a:ext>
            </a:extLst>
          </p:cNvPr>
          <p:cNvGrpSpPr/>
          <p:nvPr/>
        </p:nvGrpSpPr>
        <p:grpSpPr>
          <a:xfrm>
            <a:off x="1039879" y="1890623"/>
            <a:ext cx="4377738" cy="488875"/>
            <a:chOff x="1039879" y="1890623"/>
            <a:chExt cx="4377738" cy="488875"/>
          </a:xfrm>
        </p:grpSpPr>
        <p:sp>
          <p:nvSpPr>
            <p:cNvPr id="17" name="Freeform: Shape 16">
              <a:extLst>
                <a:ext uri="{FF2B5EF4-FFF2-40B4-BE49-F238E27FC236}">
                  <a16:creationId xmlns:a16="http://schemas.microsoft.com/office/drawing/2014/main" id="{5261D78B-C8EC-D28A-E32D-3A48AE95E015}"/>
                </a:ext>
              </a:extLst>
            </p:cNvPr>
            <p:cNvSpPr/>
            <p:nvPr/>
          </p:nvSpPr>
          <p:spPr>
            <a:xfrm>
              <a:off x="1060524" y="2379498"/>
              <a:ext cx="4315802" cy="10370"/>
            </a:xfrm>
            <a:custGeom>
              <a:avLst/>
              <a:gdLst>
                <a:gd name="connsiteX0" fmla="*/ 4315803 w 4315802"/>
                <a:gd name="connsiteY0" fmla="*/ 0 h 10370"/>
                <a:gd name="connsiteX1" fmla="*/ 0 w 4315802"/>
                <a:gd name="connsiteY1" fmla="*/ 0 h 10370"/>
              </a:gdLst>
              <a:ahLst/>
              <a:cxnLst>
                <a:cxn ang="0">
                  <a:pos x="connsiteX0" y="connsiteY0"/>
                </a:cxn>
                <a:cxn ang="0">
                  <a:pos x="connsiteX1" y="connsiteY1"/>
                </a:cxn>
              </a:cxnLst>
              <a:rect l="l" t="t" r="r" b="b"/>
              <a:pathLst>
                <a:path w="4315802" h="10370">
                  <a:moveTo>
                    <a:pt x="4315803" y="0"/>
                  </a:moveTo>
                  <a:lnTo>
                    <a:pt x="0" y="0"/>
                  </a:lnTo>
                </a:path>
              </a:pathLst>
            </a:custGeom>
            <a:ln w="10358" cap="rnd">
              <a:solidFill>
                <a:srgbClr val="9DB18B"/>
              </a:solidFill>
              <a:custDash>
                <a:ds d="0" sp="299025"/>
              </a:custDash>
              <a:round/>
            </a:ln>
          </p:spPr>
          <p:txBody>
            <a:bodyPr rtlCol="0" anchor="ctr"/>
            <a:lstStyle/>
            <a:p>
              <a:endParaRPr lang="en-US"/>
            </a:p>
          </p:txBody>
        </p:sp>
        <p:sp>
          <p:nvSpPr>
            <p:cNvPr id="19" name="Freeform: Shape 18">
              <a:extLst>
                <a:ext uri="{FF2B5EF4-FFF2-40B4-BE49-F238E27FC236}">
                  <a16:creationId xmlns:a16="http://schemas.microsoft.com/office/drawing/2014/main" id="{86A493CA-28C2-1F5F-0406-0A8B3B3E4D95}"/>
                </a:ext>
              </a:extLst>
            </p:cNvPr>
            <p:cNvSpPr/>
            <p:nvPr/>
          </p:nvSpPr>
          <p:spPr>
            <a:xfrm>
              <a:off x="1039879" y="1910991"/>
              <a:ext cx="10358" cy="427761"/>
            </a:xfrm>
            <a:custGeom>
              <a:avLst/>
              <a:gdLst>
                <a:gd name="connsiteX0" fmla="*/ 0 w 10358"/>
                <a:gd name="connsiteY0" fmla="*/ 427762 h 427761"/>
                <a:gd name="connsiteX1" fmla="*/ 0 w 10358"/>
                <a:gd name="connsiteY1" fmla="*/ 0 h 427761"/>
              </a:gdLst>
              <a:ahLst/>
              <a:cxnLst>
                <a:cxn ang="0">
                  <a:pos x="connsiteX0" y="connsiteY0"/>
                </a:cxn>
                <a:cxn ang="0">
                  <a:pos x="connsiteX1" y="connsiteY1"/>
                </a:cxn>
              </a:cxnLst>
              <a:rect l="l" t="t" r="r" b="b"/>
              <a:pathLst>
                <a:path w="10358" h="427761">
                  <a:moveTo>
                    <a:pt x="0" y="427762"/>
                  </a:moveTo>
                  <a:lnTo>
                    <a:pt x="0" y="0"/>
                  </a:lnTo>
                </a:path>
              </a:pathLst>
            </a:custGeom>
            <a:ln w="10358" cap="rnd">
              <a:solidFill>
                <a:srgbClr val="9DB18B"/>
              </a:solidFill>
              <a:custDash>
                <a:ds d="0" sp="294600"/>
              </a:custDash>
              <a:round/>
            </a:ln>
          </p:spPr>
          <p:txBody>
            <a:bodyPr rtlCol="0" anchor="ctr"/>
            <a:lstStyle/>
            <a:p>
              <a:endParaRPr lang="en-US"/>
            </a:p>
          </p:txBody>
        </p:sp>
        <p:sp>
          <p:nvSpPr>
            <p:cNvPr id="24" name="Freeform: Shape 23">
              <a:extLst>
                <a:ext uri="{FF2B5EF4-FFF2-40B4-BE49-F238E27FC236}">
                  <a16:creationId xmlns:a16="http://schemas.microsoft.com/office/drawing/2014/main" id="{465E66FF-4931-6D24-539A-F1A6687E0E0F}"/>
                </a:ext>
              </a:extLst>
            </p:cNvPr>
            <p:cNvSpPr/>
            <p:nvPr/>
          </p:nvSpPr>
          <p:spPr>
            <a:xfrm>
              <a:off x="1081180" y="1890623"/>
              <a:ext cx="4315792" cy="10370"/>
            </a:xfrm>
            <a:custGeom>
              <a:avLst/>
              <a:gdLst>
                <a:gd name="connsiteX0" fmla="*/ 0 w 4315792"/>
                <a:gd name="connsiteY0" fmla="*/ 0 h 10370"/>
                <a:gd name="connsiteX1" fmla="*/ 4315793 w 4315792"/>
                <a:gd name="connsiteY1" fmla="*/ 0 h 10370"/>
              </a:gdLst>
              <a:ahLst/>
              <a:cxnLst>
                <a:cxn ang="0">
                  <a:pos x="connsiteX0" y="connsiteY0"/>
                </a:cxn>
                <a:cxn ang="0">
                  <a:pos x="connsiteX1" y="connsiteY1"/>
                </a:cxn>
              </a:cxnLst>
              <a:rect l="l" t="t" r="r" b="b"/>
              <a:pathLst>
                <a:path w="4315792" h="10370">
                  <a:moveTo>
                    <a:pt x="0" y="0"/>
                  </a:moveTo>
                  <a:lnTo>
                    <a:pt x="4315793" y="0"/>
                  </a:lnTo>
                </a:path>
              </a:pathLst>
            </a:custGeom>
            <a:ln w="10358" cap="rnd">
              <a:solidFill>
                <a:srgbClr val="9DB18B"/>
              </a:solidFill>
              <a:custDash>
                <a:ds d="0" sp="299025"/>
              </a:custDash>
              <a:round/>
            </a:ln>
          </p:spPr>
          <p:txBody>
            <a:bodyPr rtlCol="0" anchor="ctr"/>
            <a:lstStyle/>
            <a:p>
              <a:endParaRPr lang="en-US"/>
            </a:p>
          </p:txBody>
        </p:sp>
        <p:sp>
          <p:nvSpPr>
            <p:cNvPr id="25" name="Freeform: Shape 24">
              <a:extLst>
                <a:ext uri="{FF2B5EF4-FFF2-40B4-BE49-F238E27FC236}">
                  <a16:creationId xmlns:a16="http://schemas.microsoft.com/office/drawing/2014/main" id="{C432F61F-23E8-4A04-14BF-03442D01465F}"/>
                </a:ext>
              </a:extLst>
            </p:cNvPr>
            <p:cNvSpPr/>
            <p:nvPr/>
          </p:nvSpPr>
          <p:spPr>
            <a:xfrm>
              <a:off x="5417618" y="1931369"/>
              <a:ext cx="10358" cy="427751"/>
            </a:xfrm>
            <a:custGeom>
              <a:avLst/>
              <a:gdLst>
                <a:gd name="connsiteX0" fmla="*/ 0 w 10358"/>
                <a:gd name="connsiteY0" fmla="*/ 0 h 427751"/>
                <a:gd name="connsiteX1" fmla="*/ 0 w 10358"/>
                <a:gd name="connsiteY1" fmla="*/ 427751 h 427751"/>
              </a:gdLst>
              <a:ahLst/>
              <a:cxnLst>
                <a:cxn ang="0">
                  <a:pos x="connsiteX0" y="connsiteY0"/>
                </a:cxn>
                <a:cxn ang="0">
                  <a:pos x="connsiteX1" y="connsiteY1"/>
                </a:cxn>
              </a:cxnLst>
              <a:rect l="l" t="t" r="r" b="b"/>
              <a:pathLst>
                <a:path w="10358" h="427751">
                  <a:moveTo>
                    <a:pt x="0" y="0"/>
                  </a:moveTo>
                  <a:lnTo>
                    <a:pt x="0" y="427751"/>
                  </a:lnTo>
                </a:path>
              </a:pathLst>
            </a:custGeom>
            <a:ln w="10358" cap="rnd">
              <a:solidFill>
                <a:srgbClr val="9DB18B"/>
              </a:solidFill>
              <a:custDash>
                <a:ds d="0" sp="294600"/>
              </a:custDash>
              <a:round/>
            </a:ln>
          </p:spPr>
          <p:txBody>
            <a:bodyPr rtlCol="0" anchor="ctr"/>
            <a:lstStyle/>
            <a:p>
              <a:endParaRPr lang="en-US"/>
            </a:p>
          </p:txBody>
        </p:sp>
      </p:grpSp>
      <p:grpSp>
        <p:nvGrpSpPr>
          <p:cNvPr id="26" name="Graphic 48">
            <a:extLst>
              <a:ext uri="{FF2B5EF4-FFF2-40B4-BE49-F238E27FC236}">
                <a16:creationId xmlns:a16="http://schemas.microsoft.com/office/drawing/2014/main" id="{196F1AA7-BB1A-78EE-7F47-AC96FFA16C7B}"/>
              </a:ext>
            </a:extLst>
          </p:cNvPr>
          <p:cNvGrpSpPr/>
          <p:nvPr/>
        </p:nvGrpSpPr>
        <p:grpSpPr>
          <a:xfrm>
            <a:off x="856486" y="1781059"/>
            <a:ext cx="335544" cy="335920"/>
            <a:chOff x="856486" y="1781059"/>
            <a:chExt cx="335544" cy="335920"/>
          </a:xfrm>
        </p:grpSpPr>
        <p:sp>
          <p:nvSpPr>
            <p:cNvPr id="35" name="Freeform: Shape 34">
              <a:extLst>
                <a:ext uri="{FF2B5EF4-FFF2-40B4-BE49-F238E27FC236}">
                  <a16:creationId xmlns:a16="http://schemas.microsoft.com/office/drawing/2014/main" id="{E15C7271-2E58-B593-E29D-9832136832F0}"/>
                </a:ext>
              </a:extLst>
            </p:cNvPr>
            <p:cNvSpPr/>
            <p:nvPr/>
          </p:nvSpPr>
          <p:spPr>
            <a:xfrm>
              <a:off x="856486" y="1781059"/>
              <a:ext cx="335544" cy="335920"/>
            </a:xfrm>
            <a:custGeom>
              <a:avLst/>
              <a:gdLst>
                <a:gd name="connsiteX0" fmla="*/ 335544 w 335544"/>
                <a:gd name="connsiteY0" fmla="*/ 167960 h 335920"/>
                <a:gd name="connsiteX1" fmla="*/ 167772 w 335544"/>
                <a:gd name="connsiteY1" fmla="*/ 335921 h 335920"/>
                <a:gd name="connsiteX2" fmla="*/ 0 w 335544"/>
                <a:gd name="connsiteY2" fmla="*/ 167960 h 335920"/>
                <a:gd name="connsiteX3" fmla="*/ 167772 w 335544"/>
                <a:gd name="connsiteY3" fmla="*/ 0 h 335920"/>
                <a:gd name="connsiteX4" fmla="*/ 335544 w 335544"/>
                <a:gd name="connsiteY4" fmla="*/ 167960 h 335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544" h="335920">
                  <a:moveTo>
                    <a:pt x="335544" y="167960"/>
                  </a:moveTo>
                  <a:cubicBezTo>
                    <a:pt x="335544" y="260722"/>
                    <a:pt x="260430" y="335921"/>
                    <a:pt x="167772" y="335921"/>
                  </a:cubicBezTo>
                  <a:cubicBezTo>
                    <a:pt x="75114" y="335921"/>
                    <a:pt x="0" y="260722"/>
                    <a:pt x="0" y="167960"/>
                  </a:cubicBezTo>
                  <a:cubicBezTo>
                    <a:pt x="0" y="75198"/>
                    <a:pt x="75114" y="0"/>
                    <a:pt x="167772" y="0"/>
                  </a:cubicBezTo>
                  <a:cubicBezTo>
                    <a:pt x="260430" y="0"/>
                    <a:pt x="335544" y="75198"/>
                    <a:pt x="335544" y="167960"/>
                  </a:cubicBezTo>
                  <a:close/>
                </a:path>
              </a:pathLst>
            </a:custGeom>
            <a:solidFill>
              <a:srgbClr val="EAF2DA"/>
            </a:solidFill>
            <a:ln w="10358" cap="flat">
              <a:solidFill>
                <a:srgbClr val="9DB18B"/>
              </a:solid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06CA606-6524-1A22-CAA0-1FD077410B26}"/>
                </a:ext>
              </a:extLst>
            </p:cNvPr>
            <p:cNvSpPr/>
            <p:nvPr/>
          </p:nvSpPr>
          <p:spPr>
            <a:xfrm>
              <a:off x="895674" y="1820290"/>
              <a:ext cx="257169" cy="257457"/>
            </a:xfrm>
            <a:custGeom>
              <a:avLst/>
              <a:gdLst>
                <a:gd name="connsiteX0" fmla="*/ 257169 w 257169"/>
                <a:gd name="connsiteY0" fmla="*/ 128729 h 257457"/>
                <a:gd name="connsiteX1" fmla="*/ 128585 w 257169"/>
                <a:gd name="connsiteY1" fmla="*/ 257458 h 257457"/>
                <a:gd name="connsiteX2" fmla="*/ 0 w 257169"/>
                <a:gd name="connsiteY2" fmla="*/ 128729 h 257457"/>
                <a:gd name="connsiteX3" fmla="*/ 128585 w 257169"/>
                <a:gd name="connsiteY3" fmla="*/ 0 h 257457"/>
                <a:gd name="connsiteX4" fmla="*/ 257169 w 257169"/>
                <a:gd name="connsiteY4" fmla="*/ 128729 h 257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169" h="257457">
                  <a:moveTo>
                    <a:pt x="257169" y="128729"/>
                  </a:moveTo>
                  <a:cubicBezTo>
                    <a:pt x="257169" y="199824"/>
                    <a:pt x="199600" y="257458"/>
                    <a:pt x="128585" y="257458"/>
                  </a:cubicBezTo>
                  <a:cubicBezTo>
                    <a:pt x="57569" y="257458"/>
                    <a:pt x="0" y="199824"/>
                    <a:pt x="0" y="128729"/>
                  </a:cubicBezTo>
                  <a:cubicBezTo>
                    <a:pt x="0" y="57634"/>
                    <a:pt x="57569" y="0"/>
                    <a:pt x="128585" y="0"/>
                  </a:cubicBezTo>
                  <a:cubicBezTo>
                    <a:pt x="199600" y="0"/>
                    <a:pt x="257169" y="57634"/>
                    <a:pt x="257169" y="128729"/>
                  </a:cubicBezTo>
                  <a:close/>
                </a:path>
              </a:pathLst>
            </a:custGeom>
            <a:solidFill>
              <a:srgbClr val="576347"/>
            </a:solidFill>
            <a:ln w="5179" cap="flat">
              <a:solidFill>
                <a:srgbClr val="9DB18B"/>
              </a:solid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16DB0F9-39A7-47EA-17F2-E791C8B4C2EA}"/>
                </a:ext>
              </a:extLst>
            </p:cNvPr>
            <p:cNvSpPr/>
            <p:nvPr/>
          </p:nvSpPr>
          <p:spPr>
            <a:xfrm>
              <a:off x="992827" y="1882772"/>
              <a:ext cx="64506" cy="124518"/>
            </a:xfrm>
            <a:custGeom>
              <a:avLst/>
              <a:gdLst>
                <a:gd name="connsiteX0" fmla="*/ 1525 w 64506"/>
                <a:gd name="connsiteY0" fmla="*/ 124518 h 124518"/>
                <a:gd name="connsiteX1" fmla="*/ 1131 w 64506"/>
                <a:gd name="connsiteY1" fmla="*/ 123347 h 124518"/>
                <a:gd name="connsiteX2" fmla="*/ 1525 w 64506"/>
                <a:gd name="connsiteY2" fmla="*/ 122164 h 124518"/>
                <a:gd name="connsiteX3" fmla="*/ 13883 w 64506"/>
                <a:gd name="connsiteY3" fmla="*/ 121179 h 124518"/>
                <a:gd name="connsiteX4" fmla="*/ 20450 w 64506"/>
                <a:gd name="connsiteY4" fmla="*/ 117249 h 124518"/>
                <a:gd name="connsiteX5" fmla="*/ 22512 w 64506"/>
                <a:gd name="connsiteY5" fmla="*/ 108610 h 124518"/>
                <a:gd name="connsiteX6" fmla="*/ 22512 w 64506"/>
                <a:gd name="connsiteY6" fmla="*/ 39480 h 124518"/>
                <a:gd name="connsiteX7" fmla="*/ 15644 w 64506"/>
                <a:gd name="connsiteY7" fmla="*/ 24744 h 124518"/>
                <a:gd name="connsiteX8" fmla="*/ 9667 w 64506"/>
                <a:gd name="connsiteY8" fmla="*/ 26320 h 124518"/>
                <a:gd name="connsiteX9" fmla="*/ 1711 w 64506"/>
                <a:gd name="connsiteY9" fmla="*/ 31028 h 124518"/>
                <a:gd name="connsiteX10" fmla="*/ 437 w 64506"/>
                <a:gd name="connsiteY10" fmla="*/ 30437 h 124518"/>
                <a:gd name="connsiteX11" fmla="*/ 147 w 64506"/>
                <a:gd name="connsiteY11" fmla="*/ 29255 h 124518"/>
                <a:gd name="connsiteX12" fmla="*/ 40370 w 64506"/>
                <a:gd name="connsiteY12" fmla="*/ 394 h 124518"/>
                <a:gd name="connsiteX13" fmla="*/ 41738 w 64506"/>
                <a:gd name="connsiteY13" fmla="*/ 0 h 124518"/>
                <a:gd name="connsiteX14" fmla="*/ 43115 w 64506"/>
                <a:gd name="connsiteY14" fmla="*/ 1379 h 124518"/>
                <a:gd name="connsiteX15" fmla="*/ 43115 w 64506"/>
                <a:gd name="connsiteY15" fmla="*/ 108610 h 124518"/>
                <a:gd name="connsiteX16" fmla="*/ 44887 w 64506"/>
                <a:gd name="connsiteY16" fmla="*/ 117249 h 124518"/>
                <a:gd name="connsiteX17" fmla="*/ 51258 w 64506"/>
                <a:gd name="connsiteY17" fmla="*/ 121179 h 124518"/>
                <a:gd name="connsiteX18" fmla="*/ 63916 w 64506"/>
                <a:gd name="connsiteY18" fmla="*/ 122164 h 124518"/>
                <a:gd name="connsiteX19" fmla="*/ 64506 w 64506"/>
                <a:gd name="connsiteY19" fmla="*/ 123347 h 124518"/>
                <a:gd name="connsiteX20" fmla="*/ 63916 w 64506"/>
                <a:gd name="connsiteY20" fmla="*/ 124518 h 124518"/>
                <a:gd name="connsiteX21" fmla="*/ 49590 w 64506"/>
                <a:gd name="connsiteY21" fmla="*/ 124321 h 124518"/>
                <a:gd name="connsiteX22" fmla="*/ 32715 w 64506"/>
                <a:gd name="connsiteY22" fmla="*/ 124114 h 124518"/>
                <a:gd name="connsiteX23" fmla="*/ 16048 w 64506"/>
                <a:gd name="connsiteY23" fmla="*/ 124321 h 124518"/>
                <a:gd name="connsiteX24" fmla="*/ 1535 w 64506"/>
                <a:gd name="connsiteY24" fmla="*/ 124518 h 12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506" h="124518">
                  <a:moveTo>
                    <a:pt x="1525" y="124518"/>
                  </a:moveTo>
                  <a:cubicBezTo>
                    <a:pt x="1266" y="124518"/>
                    <a:pt x="1131" y="124124"/>
                    <a:pt x="1131" y="123347"/>
                  </a:cubicBezTo>
                  <a:cubicBezTo>
                    <a:pt x="1131" y="122558"/>
                    <a:pt x="1266" y="122164"/>
                    <a:pt x="1525" y="122164"/>
                  </a:cubicBezTo>
                  <a:cubicBezTo>
                    <a:pt x="6756" y="122164"/>
                    <a:pt x="10868" y="121843"/>
                    <a:pt x="13883" y="121179"/>
                  </a:cubicBezTo>
                  <a:cubicBezTo>
                    <a:pt x="16887" y="120536"/>
                    <a:pt x="19083" y="119219"/>
                    <a:pt x="20450" y="117249"/>
                  </a:cubicBezTo>
                  <a:cubicBezTo>
                    <a:pt x="21828" y="115299"/>
                    <a:pt x="22512" y="112406"/>
                    <a:pt x="22512" y="108610"/>
                  </a:cubicBezTo>
                  <a:lnTo>
                    <a:pt x="22512" y="39480"/>
                  </a:lnTo>
                  <a:cubicBezTo>
                    <a:pt x="22512" y="29660"/>
                    <a:pt x="20222" y="24744"/>
                    <a:pt x="15644" y="24744"/>
                  </a:cubicBezTo>
                  <a:cubicBezTo>
                    <a:pt x="13945" y="24744"/>
                    <a:pt x="11956" y="25273"/>
                    <a:pt x="9667" y="26320"/>
                  </a:cubicBezTo>
                  <a:cubicBezTo>
                    <a:pt x="7367" y="27368"/>
                    <a:pt x="4725" y="28934"/>
                    <a:pt x="1711" y="31028"/>
                  </a:cubicBezTo>
                  <a:cubicBezTo>
                    <a:pt x="1317" y="31288"/>
                    <a:pt x="893" y="31101"/>
                    <a:pt x="437" y="30437"/>
                  </a:cubicBezTo>
                  <a:cubicBezTo>
                    <a:pt x="-19" y="29774"/>
                    <a:pt x="-122" y="29390"/>
                    <a:pt x="147" y="29255"/>
                  </a:cubicBezTo>
                  <a:lnTo>
                    <a:pt x="40370" y="394"/>
                  </a:lnTo>
                  <a:cubicBezTo>
                    <a:pt x="40888" y="135"/>
                    <a:pt x="41354" y="0"/>
                    <a:pt x="41738" y="0"/>
                  </a:cubicBezTo>
                  <a:cubicBezTo>
                    <a:pt x="42660" y="0"/>
                    <a:pt x="43115" y="456"/>
                    <a:pt x="43115" y="1379"/>
                  </a:cubicBezTo>
                  <a:lnTo>
                    <a:pt x="43115" y="108610"/>
                  </a:lnTo>
                  <a:cubicBezTo>
                    <a:pt x="43115" y="112406"/>
                    <a:pt x="43706" y="115299"/>
                    <a:pt x="44887" y="117249"/>
                  </a:cubicBezTo>
                  <a:cubicBezTo>
                    <a:pt x="46057" y="119209"/>
                    <a:pt x="48181" y="120526"/>
                    <a:pt x="51258" y="121179"/>
                  </a:cubicBezTo>
                  <a:cubicBezTo>
                    <a:pt x="54334" y="121832"/>
                    <a:pt x="58550" y="122164"/>
                    <a:pt x="63916" y="122164"/>
                  </a:cubicBezTo>
                  <a:cubicBezTo>
                    <a:pt x="64310" y="122164"/>
                    <a:pt x="64506" y="122558"/>
                    <a:pt x="64506" y="123347"/>
                  </a:cubicBezTo>
                  <a:cubicBezTo>
                    <a:pt x="64506" y="124124"/>
                    <a:pt x="64310" y="124518"/>
                    <a:pt x="63916" y="124518"/>
                  </a:cubicBezTo>
                  <a:cubicBezTo>
                    <a:pt x="59855" y="124518"/>
                    <a:pt x="55080" y="124456"/>
                    <a:pt x="49590" y="124321"/>
                  </a:cubicBezTo>
                  <a:cubicBezTo>
                    <a:pt x="44100" y="124187"/>
                    <a:pt x="38475" y="124114"/>
                    <a:pt x="32715" y="124114"/>
                  </a:cubicBezTo>
                  <a:cubicBezTo>
                    <a:pt x="27225" y="124114"/>
                    <a:pt x="21673" y="124187"/>
                    <a:pt x="16048" y="124321"/>
                  </a:cubicBezTo>
                  <a:cubicBezTo>
                    <a:pt x="10423" y="124456"/>
                    <a:pt x="5575" y="124518"/>
                    <a:pt x="1535" y="124518"/>
                  </a:cubicBezTo>
                  <a:close/>
                </a:path>
              </a:pathLst>
            </a:custGeom>
            <a:solidFill>
              <a:srgbClr val="EAF2DA"/>
            </a:solidFill>
            <a:ln w="10358" cap="flat">
              <a:noFill/>
              <a:prstDash val="solid"/>
              <a:miter/>
            </a:ln>
          </p:spPr>
          <p:txBody>
            <a:bodyPr rtlCol="0" anchor="ctr"/>
            <a:lstStyle/>
            <a:p>
              <a:endParaRPr lang="en-US"/>
            </a:p>
          </p:txBody>
        </p:sp>
      </p:grpSp>
      <p:sp>
        <p:nvSpPr>
          <p:cNvPr id="22" name="TextBox 21">
            <a:extLst>
              <a:ext uri="{FF2B5EF4-FFF2-40B4-BE49-F238E27FC236}">
                <a16:creationId xmlns:a16="http://schemas.microsoft.com/office/drawing/2014/main" id="{B0061A1F-BA78-3D43-FA7A-B1C2D245397D}"/>
              </a:ext>
            </a:extLst>
          </p:cNvPr>
          <p:cNvSpPr txBox="1"/>
          <p:nvPr/>
        </p:nvSpPr>
        <p:spPr>
          <a:xfrm>
            <a:off x="1325753" y="1972058"/>
            <a:ext cx="380644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We design and structure a LIRA-compliant plan; </a:t>
            </a:r>
          </a:p>
          <a:p>
            <a:pPr algn="ctr"/>
            <a:r>
              <a:rPr lang="en-US" sz="1000" dirty="0">
                <a:latin typeface="Cormorant Infant SemiBold" pitchFamily="2" charset="0"/>
                <a:ea typeface="Cormorant Infant SemiBold" pitchFamily="2" charset="0"/>
                <a:cs typeface="Cormorant Infant SemiBold" pitchFamily="2" charset="0"/>
              </a:rPr>
              <a:t>fully documented and ready to receive pre-tax retirement funds.</a:t>
            </a:r>
          </a:p>
        </p:txBody>
      </p:sp>
      <p:sp>
        <p:nvSpPr>
          <p:cNvPr id="2" name="TextBox 1">
            <a:extLst>
              <a:ext uri="{FF2B5EF4-FFF2-40B4-BE49-F238E27FC236}">
                <a16:creationId xmlns:a16="http://schemas.microsoft.com/office/drawing/2014/main" id="{1AEB2179-49B4-D560-730F-604DD0B376A3}"/>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pic>
        <p:nvPicPr>
          <p:cNvPr id="44" name="Graphic 43">
            <a:extLst>
              <a:ext uri="{FF2B5EF4-FFF2-40B4-BE49-F238E27FC236}">
                <a16:creationId xmlns:a16="http://schemas.microsoft.com/office/drawing/2014/main" id="{71226B94-3D0D-FCAD-2E0E-74B5EC23A83D}"/>
              </a:ext>
            </a:extLst>
          </p:cNvPr>
          <p:cNvPicPr>
            <a:picLocks noChangeAspect="1"/>
          </p:cNvPicPr>
          <p:nvPr/>
        </p:nvPicPr>
        <p:blipFill>
          <a:blip r:embed="rId5">
            <a:extLst>
              <a:ext uri="{96DAC541-7B7A-43D3-8B79-37D633B846F1}">
                <asvg:svgBlip xmlns:asvg="http://schemas.microsoft.com/office/drawing/2016/SVG/main" r:embed="rId21"/>
              </a:ext>
            </a:extLst>
          </a:blip>
          <a:stretch>
            <a:fillRect/>
          </a:stretch>
        </p:blipFill>
        <p:spPr>
          <a:xfrm>
            <a:off x="5657636" y="5868844"/>
            <a:ext cx="876300" cy="344710"/>
          </a:xfrm>
          <a:prstGeom prst="rect">
            <a:avLst/>
          </a:prstGeom>
        </p:spPr>
      </p:pic>
      <p:sp>
        <p:nvSpPr>
          <p:cNvPr id="6" name="TextBox 5">
            <a:extLst>
              <a:ext uri="{FF2B5EF4-FFF2-40B4-BE49-F238E27FC236}">
                <a16:creationId xmlns:a16="http://schemas.microsoft.com/office/drawing/2014/main" id="{9BEB08E3-2B70-FE74-7A1C-2033119BB523}"/>
              </a:ext>
            </a:extLst>
          </p:cNvPr>
          <p:cNvSpPr txBox="1"/>
          <p:nvPr/>
        </p:nvSpPr>
        <p:spPr>
          <a:xfrm>
            <a:off x="5616328" y="5964255"/>
            <a:ext cx="938585"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PickYear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pic>
        <p:nvPicPr>
          <p:cNvPr id="20" name="Graphic 19">
            <a:extLst>
              <a:ext uri="{FF2B5EF4-FFF2-40B4-BE49-F238E27FC236}">
                <a16:creationId xmlns:a16="http://schemas.microsoft.com/office/drawing/2014/main" id="{A68BB6CB-B2DF-5E74-6139-F9FC3582A23C}"/>
              </a:ext>
            </a:extLst>
          </p:cNvPr>
          <p:cNvPicPr>
            <a:picLocks noChangeAspect="1"/>
          </p:cNvPicPr>
          <p:nvPr/>
        </p:nvPicPr>
        <p:blipFill>
          <a:blip r:embed="rId5">
            <a:extLst>
              <a:ext uri="{96DAC541-7B7A-43D3-8B79-37D633B846F1}">
                <asvg:svgBlip xmlns:asvg="http://schemas.microsoft.com/office/drawing/2016/SVG/main" r:embed="rId21"/>
              </a:ext>
            </a:extLst>
          </a:blip>
          <a:stretch>
            <a:fillRect/>
          </a:stretch>
        </p:blipFill>
        <p:spPr>
          <a:xfrm>
            <a:off x="5657636" y="5245209"/>
            <a:ext cx="876300" cy="344710"/>
          </a:xfrm>
          <a:prstGeom prst="rect">
            <a:avLst/>
          </a:prstGeom>
        </p:spPr>
      </p:pic>
      <p:sp>
        <p:nvSpPr>
          <p:cNvPr id="21" name="TextBox 20">
            <a:extLst>
              <a:ext uri="{FF2B5EF4-FFF2-40B4-BE49-F238E27FC236}">
                <a16:creationId xmlns:a16="http://schemas.microsoft.com/office/drawing/2014/main" id="{5965FB93-A4AF-CEDE-D512-4737DFECD8BE}"/>
              </a:ext>
            </a:extLst>
          </p:cNvPr>
          <p:cNvSpPr txBox="1"/>
          <p:nvPr/>
        </p:nvSpPr>
        <p:spPr>
          <a:xfrm>
            <a:off x="5616328" y="5340620"/>
            <a:ext cx="938585"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RolloutYr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pic>
        <p:nvPicPr>
          <p:cNvPr id="56" name="Graphic 55">
            <a:extLst>
              <a:ext uri="{FF2B5EF4-FFF2-40B4-BE49-F238E27FC236}">
                <a16:creationId xmlns:a16="http://schemas.microsoft.com/office/drawing/2014/main" id="{CB94AAAF-3EFB-0E8D-A25A-844C3B1EF82D}"/>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341333" y="4964829"/>
            <a:ext cx="1508906" cy="350004"/>
          </a:xfrm>
          <a:prstGeom prst="rect">
            <a:avLst/>
          </a:prstGeom>
        </p:spPr>
      </p:pic>
    </p:spTree>
    <p:extLst>
      <p:ext uri="{BB962C8B-B14F-4D97-AF65-F5344CB8AC3E}">
        <p14:creationId xmlns:p14="http://schemas.microsoft.com/office/powerpoint/2010/main" val="397774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500"/>
                                        <p:tgtEl>
                                          <p:spTgt spid="2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500"/>
                                        <p:tgtEl>
                                          <p:spTgt spid="2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par>
                                <p:cTn id="14" presetID="22" presetClass="entr" presetSubtype="1"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up)">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up)">
                                      <p:cBhvr>
                                        <p:cTn id="21" dur="500"/>
                                        <p:tgtEl>
                                          <p:spTgt spid="51"/>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500"/>
                                        <p:tgtEl>
                                          <p:spTgt spid="9"/>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par>
                                <p:cTn id="33" presetID="22" presetClass="entr" presetSubtype="1"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up)">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wipe(up)">
                                      <p:cBhvr>
                                        <p:cTn id="43" dur="500"/>
                                        <p:tgtEl>
                                          <p:spTgt spid="42"/>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up)">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par>
                                <p:cTn id="52" presetID="22" presetClass="entr" presetSubtype="1" fill="hold" nodeType="with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wipe(up)">
                                      <p:cBhvr>
                                        <p:cTn id="54" dur="500"/>
                                        <p:tgtEl>
                                          <p:spTgt spid="48"/>
                                        </p:tgtEl>
                                      </p:cBhvr>
                                    </p:animEffect>
                                  </p:childTnLst>
                                </p:cTn>
                              </p:par>
                              <p:par>
                                <p:cTn id="55" presetID="22" presetClass="entr" presetSubtype="1" fill="hold" nodeType="withEffect">
                                  <p:stCondLst>
                                    <p:cond delay="0"/>
                                  </p:stCondLst>
                                  <p:childTnLst>
                                    <p:set>
                                      <p:cBhvr>
                                        <p:cTn id="56" dur="1" fill="hold">
                                          <p:stCondLst>
                                            <p:cond delay="0"/>
                                          </p:stCondLst>
                                        </p:cTn>
                                        <p:tgtEl>
                                          <p:spTgt spid="56"/>
                                        </p:tgtEl>
                                        <p:attrNameLst>
                                          <p:attrName>style.visibility</p:attrName>
                                        </p:attrNameLst>
                                      </p:cBhvr>
                                      <p:to>
                                        <p:strVal val="visible"/>
                                      </p:to>
                                    </p:set>
                                    <p:animEffect transition="in" filter="wipe(up)">
                                      <p:cBhvr>
                                        <p:cTn id="57" dur="500"/>
                                        <p:tgtEl>
                                          <p:spTgt spid="5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up)">
                                      <p:cBhvr>
                                        <p:cTn id="60" dur="500"/>
                                        <p:tgtEl>
                                          <p:spTgt spid="21"/>
                                        </p:tgtEl>
                                      </p:cBhvr>
                                    </p:animEffect>
                                  </p:childTnLst>
                                </p:cTn>
                              </p:par>
                              <p:par>
                                <p:cTn id="61" presetID="22" presetClass="entr" presetSubtype="1" fill="hold"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wipe(up)">
                                      <p:cBhvr>
                                        <p:cTn id="63" dur="500"/>
                                        <p:tgtEl>
                                          <p:spTgt spid="59"/>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up)">
                                      <p:cBhvr>
                                        <p:cTn id="66" dur="500"/>
                                        <p:tgtEl>
                                          <p:spTgt spid="29"/>
                                        </p:tgtEl>
                                      </p:cBhvr>
                                    </p:animEffect>
                                  </p:childTnLst>
                                </p:cTn>
                              </p:par>
                              <p:par>
                                <p:cTn id="67" presetID="22" presetClass="entr" presetSubtype="1"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up)">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wipe(up)">
                                      <p:cBhvr>
                                        <p:cTn id="74" dur="500"/>
                                        <p:tgtEl>
                                          <p:spTgt spid="61"/>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wipe(up)">
                                      <p:cBhvr>
                                        <p:cTn id="77" dur="500"/>
                                        <p:tgtEl>
                                          <p:spTgt spid="30"/>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wipe(up)">
                                      <p:cBhvr>
                                        <p:cTn id="80" dur="500"/>
                                        <p:tgtEl>
                                          <p:spTgt spid="6"/>
                                        </p:tgtEl>
                                      </p:cBhvr>
                                    </p:animEffect>
                                  </p:childTnLst>
                                </p:cTn>
                              </p:par>
                              <p:par>
                                <p:cTn id="81" presetID="22" presetClass="entr" presetSubtype="1"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up)">
                                      <p:cBhvr>
                                        <p:cTn id="8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8" grpId="0"/>
      <p:bldP spid="12" grpId="0"/>
      <p:bldP spid="13" grpId="0"/>
      <p:bldP spid="15" grpId="0"/>
      <p:bldP spid="18" grpId="0"/>
      <p:bldP spid="4" grpId="0" animBg="1"/>
      <p:bldP spid="22" grpId="0"/>
      <p:bldP spid="6" grpId="0"/>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5C7A0-5F7F-1296-CF3E-4107F65690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0474F7-DF4A-1A97-A19B-6FA8BA2B4DF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318FFA8F-E519-4C23-D44D-905C70C391ED}"/>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 name="Title 1">
            <a:extLst>
              <a:ext uri="{FF2B5EF4-FFF2-40B4-BE49-F238E27FC236}">
                <a16:creationId xmlns:a16="http://schemas.microsoft.com/office/drawing/2014/main" id="{6CCFDDF8-B7EB-8F02-3DF1-B1F6E87270EC}"/>
              </a:ext>
            </a:extLst>
          </p:cNvPr>
          <p:cNvSpPr txBox="1">
            <a:spLocks/>
          </p:cNvSpPr>
          <p:nvPr/>
        </p:nvSpPr>
        <p:spPr>
          <a:xfrm>
            <a:off x="5661061" y="1512751"/>
            <a:ext cx="5198723"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A qualifying entity (‘Legacy LLC' or Company) sponsors a LIRA compliant retirement plan.</a:t>
            </a:r>
          </a:p>
        </p:txBody>
      </p:sp>
      <p:grpSp>
        <p:nvGrpSpPr>
          <p:cNvPr id="31" name="Graphic 2">
            <a:extLst>
              <a:ext uri="{FF2B5EF4-FFF2-40B4-BE49-F238E27FC236}">
                <a16:creationId xmlns:a16="http://schemas.microsoft.com/office/drawing/2014/main" id="{656528E0-7CFC-F094-BDF8-CBD671BAA2B7}"/>
              </a:ext>
            </a:extLst>
          </p:cNvPr>
          <p:cNvGrpSpPr/>
          <p:nvPr/>
        </p:nvGrpSpPr>
        <p:grpSpPr>
          <a:xfrm>
            <a:off x="4839126" y="1560927"/>
            <a:ext cx="647282" cy="647282"/>
            <a:chOff x="4839126" y="1560927"/>
            <a:chExt cx="647282" cy="647282"/>
          </a:xfrm>
        </p:grpSpPr>
        <p:sp>
          <p:nvSpPr>
            <p:cNvPr id="32" name="Oval 31">
              <a:extLst>
                <a:ext uri="{FF2B5EF4-FFF2-40B4-BE49-F238E27FC236}">
                  <a16:creationId xmlns:a16="http://schemas.microsoft.com/office/drawing/2014/main" id="{352EA9E7-2694-FF27-CA1E-36DE467C07BF}"/>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33" name="Freeform: Shape 32">
              <a:extLst>
                <a:ext uri="{FF2B5EF4-FFF2-40B4-BE49-F238E27FC236}">
                  <a16:creationId xmlns:a16="http://schemas.microsoft.com/office/drawing/2014/main" id="{C001790E-7BBB-57DD-6482-B54D1ED5DAC8}"/>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pic>
        <p:nvPicPr>
          <p:cNvPr id="6" name="Graphic 5">
            <a:extLst>
              <a:ext uri="{FF2B5EF4-FFF2-40B4-BE49-F238E27FC236}">
                <a16:creationId xmlns:a16="http://schemas.microsoft.com/office/drawing/2014/main" id="{B90E25B1-687B-6CDE-E0C8-575F41D188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9401" y="2419000"/>
            <a:ext cx="6387782" cy="84050"/>
          </a:xfrm>
          <a:prstGeom prst="rect">
            <a:avLst/>
          </a:prstGeom>
        </p:spPr>
      </p:pic>
      <p:sp>
        <p:nvSpPr>
          <p:cNvPr id="7" name="TextBox 6">
            <a:extLst>
              <a:ext uri="{FF2B5EF4-FFF2-40B4-BE49-F238E27FC236}">
                <a16:creationId xmlns:a16="http://schemas.microsoft.com/office/drawing/2014/main" id="{18CA5725-FEE9-A62B-76F4-27C623EFECF0}"/>
              </a:ext>
            </a:extLst>
          </p:cNvPr>
          <p:cNvSpPr txBox="1"/>
          <p:nvPr/>
        </p:nvSpPr>
        <p:spPr>
          <a:xfrm>
            <a:off x="4849401" y="2790559"/>
            <a:ext cx="6387783" cy="589649"/>
          </a:xfrm>
          <a:prstGeom prst="rect">
            <a:avLst/>
          </a:prstGeom>
          <a:noFill/>
        </p:spPr>
        <p:txBody>
          <a:bodyPr wrap="square" lIns="0" tIns="0" rIns="0" bIns="0">
            <a:spAutoFit/>
          </a:bodyPr>
          <a:lstStyle/>
          <a:p>
            <a:pPr algn="r">
              <a:lnSpc>
                <a:spcPts val="2400"/>
              </a:lnSpc>
            </a:pPr>
            <a:r>
              <a:rPr lang="en-US" sz="1400" i="0" u="none" strike="noStrike" baseline="0" dirty="0">
                <a:solidFill>
                  <a:schemeClr val="bg1"/>
                </a:solidFill>
                <a:latin typeface="Cormorant Infant" pitchFamily="2" charset="0"/>
              </a:rPr>
              <a:t>This entity must have earned income, may require entity planning.</a:t>
            </a:r>
          </a:p>
          <a:p>
            <a:pPr algn="r">
              <a:lnSpc>
                <a:spcPts val="2400"/>
              </a:lnSpc>
            </a:pPr>
            <a:r>
              <a:rPr lang="en-US" sz="1400" i="0" u="none" strike="noStrike" baseline="0" dirty="0">
                <a:solidFill>
                  <a:schemeClr val="bg1"/>
                </a:solidFill>
                <a:latin typeface="Cormorant Infant" pitchFamily="2" charset="0"/>
              </a:rPr>
              <a:t> Ensure the new or amended plan allows for the purchase of life insurance. </a:t>
            </a:r>
          </a:p>
        </p:txBody>
      </p:sp>
      <p:pic>
        <p:nvPicPr>
          <p:cNvPr id="11" name="Graphic 10">
            <a:extLst>
              <a:ext uri="{FF2B5EF4-FFF2-40B4-BE49-F238E27FC236}">
                <a16:creationId xmlns:a16="http://schemas.microsoft.com/office/drawing/2014/main" id="{0DA9ED11-017F-A0EF-D969-FC592F4A0E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1561901"/>
            <a:ext cx="3782833" cy="650408"/>
          </a:xfrm>
          <a:prstGeom prst="rect">
            <a:avLst/>
          </a:prstGeom>
        </p:spPr>
      </p:pic>
      <p:sp>
        <p:nvSpPr>
          <p:cNvPr id="19" name="TextBox 18">
            <a:extLst>
              <a:ext uri="{FF2B5EF4-FFF2-40B4-BE49-F238E27FC236}">
                <a16:creationId xmlns:a16="http://schemas.microsoft.com/office/drawing/2014/main" id="{56955A72-A9EE-3109-8CF0-9F0120DFAD3A}"/>
              </a:ext>
            </a:extLst>
          </p:cNvPr>
          <p:cNvSpPr txBox="1"/>
          <p:nvPr/>
        </p:nvSpPr>
        <p:spPr>
          <a:xfrm>
            <a:off x="1006066" y="1561900"/>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1: Plan Funding</a:t>
            </a:r>
          </a:p>
        </p:txBody>
      </p:sp>
      <p:pic>
        <p:nvPicPr>
          <p:cNvPr id="13" name="Graphic 12">
            <a:extLst>
              <a:ext uri="{FF2B5EF4-FFF2-40B4-BE49-F238E27FC236}">
                <a16:creationId xmlns:a16="http://schemas.microsoft.com/office/drawing/2014/main" id="{30673595-14EA-9C70-3566-E11A4C10ADA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2304323"/>
            <a:ext cx="3394083" cy="650408"/>
          </a:xfrm>
          <a:prstGeom prst="rect">
            <a:avLst/>
          </a:prstGeom>
        </p:spPr>
      </p:pic>
      <p:sp>
        <p:nvSpPr>
          <p:cNvPr id="24" name="TextBox 23">
            <a:extLst>
              <a:ext uri="{FF2B5EF4-FFF2-40B4-BE49-F238E27FC236}">
                <a16:creationId xmlns:a16="http://schemas.microsoft.com/office/drawing/2014/main" id="{5B126A7D-97BE-1751-F990-13900383233B}"/>
              </a:ext>
            </a:extLst>
          </p:cNvPr>
          <p:cNvSpPr txBox="1"/>
          <p:nvPr/>
        </p:nvSpPr>
        <p:spPr>
          <a:xfrm>
            <a:off x="1006066" y="2314598"/>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2: Funding &amp; Discovery</a:t>
            </a:r>
          </a:p>
        </p:txBody>
      </p:sp>
      <p:pic>
        <p:nvPicPr>
          <p:cNvPr id="14" name="Graphic 13">
            <a:extLst>
              <a:ext uri="{FF2B5EF4-FFF2-40B4-BE49-F238E27FC236}">
                <a16:creationId xmlns:a16="http://schemas.microsoft.com/office/drawing/2014/main" id="{6FDA56A9-87A8-A0C7-6262-070DF2036B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048130"/>
            <a:ext cx="3394083" cy="650408"/>
          </a:xfrm>
          <a:prstGeom prst="rect">
            <a:avLst/>
          </a:prstGeom>
        </p:spPr>
      </p:pic>
      <p:sp>
        <p:nvSpPr>
          <p:cNvPr id="25" name="TextBox 24">
            <a:extLst>
              <a:ext uri="{FF2B5EF4-FFF2-40B4-BE49-F238E27FC236}">
                <a16:creationId xmlns:a16="http://schemas.microsoft.com/office/drawing/2014/main" id="{B1826023-3C70-9475-CFE2-DE75E1193A29}"/>
              </a:ext>
            </a:extLst>
          </p:cNvPr>
          <p:cNvSpPr txBox="1"/>
          <p:nvPr/>
        </p:nvSpPr>
        <p:spPr>
          <a:xfrm>
            <a:off x="1006066" y="3058405"/>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3a-b: Policy Purchase &amp; Funding</a:t>
            </a:r>
          </a:p>
        </p:txBody>
      </p:sp>
      <p:pic>
        <p:nvPicPr>
          <p:cNvPr id="15" name="Graphic 14">
            <a:extLst>
              <a:ext uri="{FF2B5EF4-FFF2-40B4-BE49-F238E27FC236}">
                <a16:creationId xmlns:a16="http://schemas.microsoft.com/office/drawing/2014/main" id="{9B0591E8-9377-8A18-3E4D-6FA1D554F8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799868"/>
            <a:ext cx="3394083" cy="650408"/>
          </a:xfrm>
          <a:prstGeom prst="rect">
            <a:avLst/>
          </a:prstGeom>
        </p:spPr>
      </p:pic>
      <p:sp>
        <p:nvSpPr>
          <p:cNvPr id="26" name="TextBox 25">
            <a:extLst>
              <a:ext uri="{FF2B5EF4-FFF2-40B4-BE49-F238E27FC236}">
                <a16:creationId xmlns:a16="http://schemas.microsoft.com/office/drawing/2014/main" id="{61D8B3A9-A207-D13D-F52A-D25E8963CBB8}"/>
              </a:ext>
            </a:extLst>
          </p:cNvPr>
          <p:cNvSpPr txBox="1"/>
          <p:nvPr/>
        </p:nvSpPr>
        <p:spPr>
          <a:xfrm>
            <a:off x="1006066" y="381014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4: Policy Transfer</a:t>
            </a:r>
          </a:p>
        </p:txBody>
      </p:sp>
      <p:pic>
        <p:nvPicPr>
          <p:cNvPr id="16" name="Graphic 15">
            <a:extLst>
              <a:ext uri="{FF2B5EF4-FFF2-40B4-BE49-F238E27FC236}">
                <a16:creationId xmlns:a16="http://schemas.microsoft.com/office/drawing/2014/main" id="{AB40E8E5-3C4D-4087-FF26-030BFB4D71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4548108"/>
            <a:ext cx="3394083" cy="650408"/>
          </a:xfrm>
          <a:prstGeom prst="rect">
            <a:avLst/>
          </a:prstGeom>
        </p:spPr>
      </p:pic>
      <p:sp>
        <p:nvSpPr>
          <p:cNvPr id="27" name="TextBox 26">
            <a:extLst>
              <a:ext uri="{FF2B5EF4-FFF2-40B4-BE49-F238E27FC236}">
                <a16:creationId xmlns:a16="http://schemas.microsoft.com/office/drawing/2014/main" id="{E39D8CAB-8DE2-0472-A0E5-14D5D371002B}"/>
              </a:ext>
            </a:extLst>
          </p:cNvPr>
          <p:cNvSpPr txBox="1"/>
          <p:nvPr/>
        </p:nvSpPr>
        <p:spPr>
          <a:xfrm>
            <a:off x="1006066" y="455838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5: Tax Free Benefit to Heirs</a:t>
            </a:r>
          </a:p>
        </p:txBody>
      </p:sp>
      <p:sp>
        <p:nvSpPr>
          <p:cNvPr id="36" name="TextBox 35">
            <a:extLst>
              <a:ext uri="{FF2B5EF4-FFF2-40B4-BE49-F238E27FC236}">
                <a16:creationId xmlns:a16="http://schemas.microsoft.com/office/drawing/2014/main" id="{4E4042F0-C2A0-AAA0-A5CA-6510E338C0DD}"/>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1</a:t>
            </a:r>
            <a:endParaRPr lang="en-US" sz="2400" dirty="0"/>
          </a:p>
        </p:txBody>
      </p:sp>
      <p:sp>
        <p:nvSpPr>
          <p:cNvPr id="42" name="Rectangle 41">
            <a:hlinkClick r:id="rId9" action="ppaction://hlinksldjump"/>
            <a:extLst>
              <a:ext uri="{FF2B5EF4-FFF2-40B4-BE49-F238E27FC236}">
                <a16:creationId xmlns:a16="http://schemas.microsoft.com/office/drawing/2014/main" id="{7717676E-EA34-225D-56D4-B14C5CB2810B}"/>
              </a:ext>
            </a:extLst>
          </p:cNvPr>
          <p:cNvSpPr/>
          <p:nvPr/>
        </p:nvSpPr>
        <p:spPr>
          <a:xfrm>
            <a:off x="776479"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hlinkClick r:id="rId10" action="ppaction://hlinksldjump"/>
            <a:extLst>
              <a:ext uri="{FF2B5EF4-FFF2-40B4-BE49-F238E27FC236}">
                <a16:creationId xmlns:a16="http://schemas.microsoft.com/office/drawing/2014/main" id="{5CB65686-4CE2-402D-D5BD-1ADC2BACEEC9}"/>
              </a:ext>
            </a:extLst>
          </p:cNvPr>
          <p:cNvSpPr/>
          <p:nvPr/>
        </p:nvSpPr>
        <p:spPr>
          <a:xfrm>
            <a:off x="776479"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hlinkClick r:id="rId11" action="ppaction://hlinksldjump"/>
            <a:extLst>
              <a:ext uri="{FF2B5EF4-FFF2-40B4-BE49-F238E27FC236}">
                <a16:creationId xmlns:a16="http://schemas.microsoft.com/office/drawing/2014/main" id="{22C4E5DA-48B7-4571-A896-DA6F47AEC78F}"/>
              </a:ext>
            </a:extLst>
          </p:cNvPr>
          <p:cNvSpPr/>
          <p:nvPr/>
        </p:nvSpPr>
        <p:spPr>
          <a:xfrm>
            <a:off x="776479"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hlinkClick r:id="rId12" action="ppaction://hlinksldjump"/>
            <a:extLst>
              <a:ext uri="{FF2B5EF4-FFF2-40B4-BE49-F238E27FC236}">
                <a16:creationId xmlns:a16="http://schemas.microsoft.com/office/drawing/2014/main" id="{381EAC19-BFEF-7AAD-0A35-BB9607D8F0EF}"/>
              </a:ext>
            </a:extLst>
          </p:cNvPr>
          <p:cNvSpPr/>
          <p:nvPr/>
        </p:nvSpPr>
        <p:spPr>
          <a:xfrm>
            <a:off x="776479"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hlinkClick r:id="rId13" action="ppaction://hlinksldjump"/>
            <a:extLst>
              <a:ext uri="{FF2B5EF4-FFF2-40B4-BE49-F238E27FC236}">
                <a16:creationId xmlns:a16="http://schemas.microsoft.com/office/drawing/2014/main" id="{26F7018D-F281-F58C-847D-6CD6B96DE707}"/>
              </a:ext>
            </a:extLst>
          </p:cNvPr>
          <p:cNvSpPr/>
          <p:nvPr/>
        </p:nvSpPr>
        <p:spPr>
          <a:xfrm>
            <a:off x="776479"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2BC91CD-385A-49E0-0724-A4E39488B4C8}"/>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9" name="TextBox 8">
            <a:extLst>
              <a:ext uri="{FF2B5EF4-FFF2-40B4-BE49-F238E27FC236}">
                <a16:creationId xmlns:a16="http://schemas.microsoft.com/office/drawing/2014/main" id="{F750F468-2C2D-FF35-AAB3-896A1783202F}"/>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spTree>
    <p:extLst>
      <p:ext uri="{BB962C8B-B14F-4D97-AF65-F5344CB8AC3E}">
        <p14:creationId xmlns:p14="http://schemas.microsoft.com/office/powerpoint/2010/main" val="2368850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E2448-05EE-F838-DBC5-C2EB39A2F8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B2DAAB-5316-5D54-18BF-3AB68E42F01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5249DAF7-C1E1-1537-0214-D0408174FC08}"/>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 name="Title 1">
            <a:extLst>
              <a:ext uri="{FF2B5EF4-FFF2-40B4-BE49-F238E27FC236}">
                <a16:creationId xmlns:a16="http://schemas.microsoft.com/office/drawing/2014/main" id="{11394643-4147-B10B-CF86-355B831458A4}"/>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Money from an existing retirement account is transferred to the LIRA Compliant plan</a:t>
            </a:r>
          </a:p>
        </p:txBody>
      </p:sp>
      <p:pic>
        <p:nvPicPr>
          <p:cNvPr id="6" name="Graphic 5">
            <a:extLst>
              <a:ext uri="{FF2B5EF4-FFF2-40B4-BE49-F238E27FC236}">
                <a16:creationId xmlns:a16="http://schemas.microsoft.com/office/drawing/2014/main" id="{6759E3C7-5BCF-951A-A8A7-038305617F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9401" y="2419000"/>
            <a:ext cx="6387782" cy="84050"/>
          </a:xfrm>
          <a:prstGeom prst="rect">
            <a:avLst/>
          </a:prstGeom>
        </p:spPr>
      </p:pic>
      <p:pic>
        <p:nvPicPr>
          <p:cNvPr id="29" name="Graphic 28">
            <a:extLst>
              <a:ext uri="{FF2B5EF4-FFF2-40B4-BE49-F238E27FC236}">
                <a16:creationId xmlns:a16="http://schemas.microsoft.com/office/drawing/2014/main" id="{62A38812-7116-9F79-5A93-162A6CD032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2303363"/>
            <a:ext cx="3782833" cy="650408"/>
          </a:xfrm>
          <a:prstGeom prst="rect">
            <a:avLst/>
          </a:prstGeom>
        </p:spPr>
      </p:pic>
      <p:pic>
        <p:nvPicPr>
          <p:cNvPr id="14" name="Graphic 13">
            <a:extLst>
              <a:ext uri="{FF2B5EF4-FFF2-40B4-BE49-F238E27FC236}">
                <a16:creationId xmlns:a16="http://schemas.microsoft.com/office/drawing/2014/main" id="{3FF5FBCF-BA13-0033-D515-8D4A5EE923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048130"/>
            <a:ext cx="3394083" cy="650408"/>
          </a:xfrm>
          <a:prstGeom prst="rect">
            <a:avLst/>
          </a:prstGeom>
        </p:spPr>
      </p:pic>
      <p:pic>
        <p:nvPicPr>
          <p:cNvPr id="15" name="Graphic 14">
            <a:extLst>
              <a:ext uri="{FF2B5EF4-FFF2-40B4-BE49-F238E27FC236}">
                <a16:creationId xmlns:a16="http://schemas.microsoft.com/office/drawing/2014/main" id="{D961182C-4015-01C0-26C4-6982B4FC64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799868"/>
            <a:ext cx="3394083" cy="650408"/>
          </a:xfrm>
          <a:prstGeom prst="rect">
            <a:avLst/>
          </a:prstGeom>
        </p:spPr>
      </p:pic>
      <p:pic>
        <p:nvPicPr>
          <p:cNvPr id="16" name="Graphic 15">
            <a:extLst>
              <a:ext uri="{FF2B5EF4-FFF2-40B4-BE49-F238E27FC236}">
                <a16:creationId xmlns:a16="http://schemas.microsoft.com/office/drawing/2014/main" id="{73E497A0-5C43-1858-3032-9F4D2269FE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4548108"/>
            <a:ext cx="3394083" cy="650408"/>
          </a:xfrm>
          <a:prstGeom prst="rect">
            <a:avLst/>
          </a:prstGeom>
        </p:spPr>
      </p:pic>
      <p:pic>
        <p:nvPicPr>
          <p:cNvPr id="9" name="Graphic 8">
            <a:extLst>
              <a:ext uri="{FF2B5EF4-FFF2-40B4-BE49-F238E27FC236}">
                <a16:creationId xmlns:a16="http://schemas.microsoft.com/office/drawing/2014/main" id="{923D6949-B07D-F9F1-8B55-FACC5046AB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0" y="1561901"/>
            <a:ext cx="3394083" cy="650408"/>
          </a:xfrm>
          <a:prstGeom prst="rect">
            <a:avLst/>
          </a:prstGeom>
        </p:spPr>
      </p:pic>
      <p:grpSp>
        <p:nvGrpSpPr>
          <p:cNvPr id="12" name="Graphic 2">
            <a:extLst>
              <a:ext uri="{FF2B5EF4-FFF2-40B4-BE49-F238E27FC236}">
                <a16:creationId xmlns:a16="http://schemas.microsoft.com/office/drawing/2014/main" id="{1B55D492-9FDD-8607-6E28-82491BD3192B}"/>
              </a:ext>
            </a:extLst>
          </p:cNvPr>
          <p:cNvGrpSpPr/>
          <p:nvPr/>
        </p:nvGrpSpPr>
        <p:grpSpPr>
          <a:xfrm>
            <a:off x="4839126" y="1560927"/>
            <a:ext cx="647282" cy="647282"/>
            <a:chOff x="4839126" y="1560927"/>
            <a:chExt cx="647282" cy="647282"/>
          </a:xfrm>
        </p:grpSpPr>
        <p:sp>
          <p:nvSpPr>
            <p:cNvPr id="17" name="Oval 16">
              <a:extLst>
                <a:ext uri="{FF2B5EF4-FFF2-40B4-BE49-F238E27FC236}">
                  <a16:creationId xmlns:a16="http://schemas.microsoft.com/office/drawing/2014/main" id="{0ECECAE5-2186-53B1-730C-E565EC376263}"/>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b="1"/>
            </a:p>
          </p:txBody>
        </p:sp>
        <p:sp>
          <p:nvSpPr>
            <p:cNvPr id="18" name="Freeform: Shape 17">
              <a:extLst>
                <a:ext uri="{FF2B5EF4-FFF2-40B4-BE49-F238E27FC236}">
                  <a16:creationId xmlns:a16="http://schemas.microsoft.com/office/drawing/2014/main" id="{6710B26A-96CA-B0E3-E316-C87AFA209FF6}"/>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b="1"/>
            </a:p>
          </p:txBody>
        </p:sp>
      </p:grpSp>
      <p:sp>
        <p:nvSpPr>
          <p:cNvPr id="20" name="TextBox 19">
            <a:extLst>
              <a:ext uri="{FF2B5EF4-FFF2-40B4-BE49-F238E27FC236}">
                <a16:creationId xmlns:a16="http://schemas.microsoft.com/office/drawing/2014/main" id="{94B6A097-DCBE-21FB-9BAD-DA07CF182AE8}"/>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2</a:t>
            </a:r>
            <a:endParaRPr lang="en-US" sz="2400" dirty="0"/>
          </a:p>
        </p:txBody>
      </p:sp>
      <p:graphicFrame>
        <p:nvGraphicFramePr>
          <p:cNvPr id="22" name="Table 21">
            <a:extLst>
              <a:ext uri="{FF2B5EF4-FFF2-40B4-BE49-F238E27FC236}">
                <a16:creationId xmlns:a16="http://schemas.microsoft.com/office/drawing/2014/main" id="{B987C73D-1A8B-7439-F1B7-B3175B6A55C1}"/>
              </a:ext>
            </a:extLst>
          </p:cNvPr>
          <p:cNvGraphicFramePr>
            <a:graphicFrameLocks noGrp="1"/>
          </p:cNvGraphicFramePr>
          <p:nvPr/>
        </p:nvGraphicFramePr>
        <p:xfrm>
          <a:off x="4834070" y="2692599"/>
          <a:ext cx="6403113" cy="884314"/>
        </p:xfrm>
        <a:graphic>
          <a:graphicData uri="http://schemas.openxmlformats.org/drawingml/2006/table">
            <a:tbl>
              <a:tblPr>
                <a:tableStyleId>{5C22544A-7EE6-4342-B048-85BDC9FD1C3A}</a:tableStyleId>
              </a:tblPr>
              <a:tblGrid>
                <a:gridCol w="4613755">
                  <a:extLst>
                    <a:ext uri="{9D8B030D-6E8A-4147-A177-3AD203B41FA5}">
                      <a16:colId xmlns:a16="http://schemas.microsoft.com/office/drawing/2014/main" val="1592670450"/>
                    </a:ext>
                  </a:extLst>
                </a:gridCol>
                <a:gridCol w="1789358">
                  <a:extLst>
                    <a:ext uri="{9D8B030D-6E8A-4147-A177-3AD203B41FA5}">
                      <a16:colId xmlns:a16="http://schemas.microsoft.com/office/drawing/2014/main" val="4007013876"/>
                    </a:ext>
                  </a:extLst>
                </a:gridCol>
              </a:tblGrid>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TotalQPlan</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Amount Contributed Towards LIRA Strategy:</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ClientIRA</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3" name="TextBox 2">
            <a:extLst>
              <a:ext uri="{FF2B5EF4-FFF2-40B4-BE49-F238E27FC236}">
                <a16:creationId xmlns:a16="http://schemas.microsoft.com/office/drawing/2014/main" id="{1C9D2C07-E44C-0714-7B42-D6BA8099E8B9}"/>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FD72C984-E32E-D2FA-7794-85031CAB33F6}"/>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sp>
        <p:nvSpPr>
          <p:cNvPr id="13" name="TextBox 12">
            <a:extLst>
              <a:ext uri="{FF2B5EF4-FFF2-40B4-BE49-F238E27FC236}">
                <a16:creationId xmlns:a16="http://schemas.microsoft.com/office/drawing/2014/main" id="{A56FB0D2-D35F-AC9E-E3E4-081D00B64842}"/>
              </a:ext>
            </a:extLst>
          </p:cNvPr>
          <p:cNvSpPr txBox="1"/>
          <p:nvPr/>
        </p:nvSpPr>
        <p:spPr>
          <a:xfrm>
            <a:off x="1006066" y="1561900"/>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1: Plan Funding</a:t>
            </a:r>
          </a:p>
        </p:txBody>
      </p:sp>
      <p:sp>
        <p:nvSpPr>
          <p:cNvPr id="19" name="TextBox 18">
            <a:extLst>
              <a:ext uri="{FF2B5EF4-FFF2-40B4-BE49-F238E27FC236}">
                <a16:creationId xmlns:a16="http://schemas.microsoft.com/office/drawing/2014/main" id="{4FD420C6-94AC-40BB-5311-918179EB2361}"/>
              </a:ext>
            </a:extLst>
          </p:cNvPr>
          <p:cNvSpPr txBox="1"/>
          <p:nvPr/>
        </p:nvSpPr>
        <p:spPr>
          <a:xfrm>
            <a:off x="1006066" y="2314598"/>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2: Funding &amp; Discovery</a:t>
            </a:r>
          </a:p>
        </p:txBody>
      </p:sp>
      <p:sp>
        <p:nvSpPr>
          <p:cNvPr id="28" name="TextBox 27">
            <a:extLst>
              <a:ext uri="{FF2B5EF4-FFF2-40B4-BE49-F238E27FC236}">
                <a16:creationId xmlns:a16="http://schemas.microsoft.com/office/drawing/2014/main" id="{98E30F26-AF20-D1C5-EA67-4855CA544455}"/>
              </a:ext>
            </a:extLst>
          </p:cNvPr>
          <p:cNvSpPr txBox="1"/>
          <p:nvPr/>
        </p:nvSpPr>
        <p:spPr>
          <a:xfrm>
            <a:off x="1006066" y="3058405"/>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3a-b: Policy Purchase &amp; Funding</a:t>
            </a:r>
          </a:p>
        </p:txBody>
      </p:sp>
      <p:sp>
        <p:nvSpPr>
          <p:cNvPr id="30" name="TextBox 29">
            <a:extLst>
              <a:ext uri="{FF2B5EF4-FFF2-40B4-BE49-F238E27FC236}">
                <a16:creationId xmlns:a16="http://schemas.microsoft.com/office/drawing/2014/main" id="{F7C923BC-F5D2-3115-7EF2-0628349F0E66}"/>
              </a:ext>
            </a:extLst>
          </p:cNvPr>
          <p:cNvSpPr txBox="1"/>
          <p:nvPr/>
        </p:nvSpPr>
        <p:spPr>
          <a:xfrm>
            <a:off x="1006066" y="381014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4: Policy Transfer</a:t>
            </a:r>
          </a:p>
        </p:txBody>
      </p:sp>
      <p:sp>
        <p:nvSpPr>
          <p:cNvPr id="31" name="TextBox 30">
            <a:extLst>
              <a:ext uri="{FF2B5EF4-FFF2-40B4-BE49-F238E27FC236}">
                <a16:creationId xmlns:a16="http://schemas.microsoft.com/office/drawing/2014/main" id="{6AC6924B-158D-F84D-B7C7-4F02A4BE2E41}"/>
              </a:ext>
            </a:extLst>
          </p:cNvPr>
          <p:cNvSpPr txBox="1"/>
          <p:nvPr/>
        </p:nvSpPr>
        <p:spPr>
          <a:xfrm>
            <a:off x="1006066" y="455838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5: Tax Free Benefit to Heirs</a:t>
            </a:r>
          </a:p>
        </p:txBody>
      </p:sp>
      <p:sp>
        <p:nvSpPr>
          <p:cNvPr id="8" name="Rectangle 7">
            <a:hlinkClick r:id="rId9" action="ppaction://hlinksldjump"/>
            <a:extLst>
              <a:ext uri="{FF2B5EF4-FFF2-40B4-BE49-F238E27FC236}">
                <a16:creationId xmlns:a16="http://schemas.microsoft.com/office/drawing/2014/main" id="{30663B9A-5C50-7CAF-3980-D9CB2814E29F}"/>
              </a:ext>
            </a:extLst>
          </p:cNvPr>
          <p:cNvSpPr/>
          <p:nvPr/>
        </p:nvSpPr>
        <p:spPr>
          <a:xfrm>
            <a:off x="776479"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10" action="ppaction://hlinksldjump"/>
            <a:extLst>
              <a:ext uri="{FF2B5EF4-FFF2-40B4-BE49-F238E27FC236}">
                <a16:creationId xmlns:a16="http://schemas.microsoft.com/office/drawing/2014/main" id="{78871256-8B67-ACC3-8523-FB9754C789A5}"/>
              </a:ext>
            </a:extLst>
          </p:cNvPr>
          <p:cNvSpPr/>
          <p:nvPr/>
        </p:nvSpPr>
        <p:spPr>
          <a:xfrm>
            <a:off x="776479"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11" action="ppaction://hlinksldjump"/>
            <a:extLst>
              <a:ext uri="{FF2B5EF4-FFF2-40B4-BE49-F238E27FC236}">
                <a16:creationId xmlns:a16="http://schemas.microsoft.com/office/drawing/2014/main" id="{406BF5FA-E8FD-3CC9-EDD2-7C8483D50D37}"/>
              </a:ext>
            </a:extLst>
          </p:cNvPr>
          <p:cNvSpPr/>
          <p:nvPr/>
        </p:nvSpPr>
        <p:spPr>
          <a:xfrm>
            <a:off x="776479"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12" action="ppaction://hlinksldjump"/>
            <a:extLst>
              <a:ext uri="{FF2B5EF4-FFF2-40B4-BE49-F238E27FC236}">
                <a16:creationId xmlns:a16="http://schemas.microsoft.com/office/drawing/2014/main" id="{8387E151-2656-9C6A-BB64-7795169D4879}"/>
              </a:ext>
            </a:extLst>
          </p:cNvPr>
          <p:cNvSpPr/>
          <p:nvPr/>
        </p:nvSpPr>
        <p:spPr>
          <a:xfrm>
            <a:off x="776479"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hlinkClick r:id="rId13" action="ppaction://hlinksldjump"/>
            <a:extLst>
              <a:ext uri="{FF2B5EF4-FFF2-40B4-BE49-F238E27FC236}">
                <a16:creationId xmlns:a16="http://schemas.microsoft.com/office/drawing/2014/main" id="{9B950958-1A58-F41C-3648-25EA9E283F53}"/>
              </a:ext>
            </a:extLst>
          </p:cNvPr>
          <p:cNvSpPr/>
          <p:nvPr/>
        </p:nvSpPr>
        <p:spPr>
          <a:xfrm>
            <a:off x="776479"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4574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01978-E0F0-88B0-8203-28D3789C07A6}"/>
            </a:ext>
          </a:extLst>
        </p:cNvPr>
        <p:cNvGrpSpPr/>
        <p:nvPr/>
      </p:nvGrpSpPr>
      <p:grpSpPr>
        <a:xfrm>
          <a:off x="0" y="0"/>
          <a:ext cx="0" cy="0"/>
          <a:chOff x="0" y="0"/>
          <a:chExt cx="0" cy="0"/>
        </a:xfrm>
      </p:grpSpPr>
      <p:graphicFrame>
        <p:nvGraphicFramePr>
          <p:cNvPr id="31" name="Table 30">
            <a:extLst>
              <a:ext uri="{FF2B5EF4-FFF2-40B4-BE49-F238E27FC236}">
                <a16:creationId xmlns:a16="http://schemas.microsoft.com/office/drawing/2014/main" id="{B33F1702-C2D1-E667-C0D9-9F5322676C63}"/>
              </a:ext>
            </a:extLst>
          </p:cNvPr>
          <p:cNvGraphicFramePr>
            <a:graphicFrameLocks noGrp="1"/>
          </p:cNvGraphicFramePr>
          <p:nvPr>
            <p:extLst>
              <p:ext uri="{D42A27DB-BD31-4B8C-83A1-F6EECF244321}">
                <p14:modId xmlns:p14="http://schemas.microsoft.com/office/powerpoint/2010/main" val="1257611277"/>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Annual Funding into Life Insurance: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&lt;Premium&gt;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DeathBenefit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Policy Fully Funded After:</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PremYrs</a:t>
                      </a:r>
                      <a:r>
                        <a:rPr lang="en-US" sz="1400" b="0" kern="1200" dirty="0">
                          <a:solidFill>
                            <a:schemeClr val="bg1"/>
                          </a:solidFill>
                          <a:latin typeface="Cormorant Infant" pitchFamily="2" charset="0"/>
                          <a:ea typeface="Cormorant Infant" pitchFamily="2" charset="0"/>
                          <a:cs typeface="Cormorant Infant" pitchFamily="2" charset="0"/>
                        </a:rPr>
                        <a:t>&gt; Years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4" name="TextBox 3">
            <a:extLst>
              <a:ext uri="{FF2B5EF4-FFF2-40B4-BE49-F238E27FC236}">
                <a16:creationId xmlns:a16="http://schemas.microsoft.com/office/drawing/2014/main" id="{0EFE9319-A2EA-D187-FC9D-CAF055D25C11}"/>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35E7715A-1DD3-5FE8-6179-3C98BEF0513F}"/>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 name="Title 1">
            <a:extLst>
              <a:ext uri="{FF2B5EF4-FFF2-40B4-BE49-F238E27FC236}">
                <a16:creationId xmlns:a16="http://schemas.microsoft.com/office/drawing/2014/main" id="{5E1CECC2-A7E3-698F-9264-3AD5EDC83E76}"/>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LIRA compliant plan applies for life insurance;</a:t>
            </a:r>
          </a:p>
          <a:p>
            <a:pPr>
              <a:lnSpc>
                <a:spcPts val="2800"/>
              </a:lnSpc>
            </a:pPr>
            <a:r>
              <a:rPr lang="en-US" sz="2000" dirty="0">
                <a:solidFill>
                  <a:schemeClr val="accent2"/>
                </a:solidFill>
                <a:latin typeface="Cormorant Infant" pitchFamily="2" charset="0"/>
              </a:rPr>
              <a:t>paid for with pre-tax dollars.</a:t>
            </a:r>
          </a:p>
        </p:txBody>
      </p:sp>
      <p:pic>
        <p:nvPicPr>
          <p:cNvPr id="6" name="Graphic 5">
            <a:extLst>
              <a:ext uri="{FF2B5EF4-FFF2-40B4-BE49-F238E27FC236}">
                <a16:creationId xmlns:a16="http://schemas.microsoft.com/office/drawing/2014/main" id="{1B335AEE-408A-7B0B-8DCA-314BBF6063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9401" y="2419000"/>
            <a:ext cx="6387782" cy="84050"/>
          </a:xfrm>
          <a:prstGeom prst="rect">
            <a:avLst/>
          </a:prstGeom>
        </p:spPr>
      </p:pic>
      <p:pic>
        <p:nvPicPr>
          <p:cNvPr id="13" name="Graphic 12">
            <a:extLst>
              <a:ext uri="{FF2B5EF4-FFF2-40B4-BE49-F238E27FC236}">
                <a16:creationId xmlns:a16="http://schemas.microsoft.com/office/drawing/2014/main" id="{05CF93C8-2472-EDD7-7DB7-B5B84351591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2304323"/>
            <a:ext cx="3394083" cy="650408"/>
          </a:xfrm>
          <a:prstGeom prst="rect">
            <a:avLst/>
          </a:prstGeom>
        </p:spPr>
      </p:pic>
      <p:pic>
        <p:nvPicPr>
          <p:cNvPr id="9" name="Graphic 8">
            <a:extLst>
              <a:ext uri="{FF2B5EF4-FFF2-40B4-BE49-F238E27FC236}">
                <a16:creationId xmlns:a16="http://schemas.microsoft.com/office/drawing/2014/main" id="{35B82AFA-0308-F603-890F-C86E67DE33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045787"/>
            <a:ext cx="3782833" cy="650408"/>
          </a:xfrm>
          <a:prstGeom prst="rect">
            <a:avLst/>
          </a:prstGeom>
        </p:spPr>
      </p:pic>
      <p:pic>
        <p:nvPicPr>
          <p:cNvPr id="15" name="Graphic 14">
            <a:extLst>
              <a:ext uri="{FF2B5EF4-FFF2-40B4-BE49-F238E27FC236}">
                <a16:creationId xmlns:a16="http://schemas.microsoft.com/office/drawing/2014/main" id="{D58DC354-B25D-E841-0A38-DBE77DF55CD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799868"/>
            <a:ext cx="3394083" cy="650408"/>
          </a:xfrm>
          <a:prstGeom prst="rect">
            <a:avLst/>
          </a:prstGeom>
        </p:spPr>
      </p:pic>
      <p:pic>
        <p:nvPicPr>
          <p:cNvPr id="16" name="Graphic 15">
            <a:extLst>
              <a:ext uri="{FF2B5EF4-FFF2-40B4-BE49-F238E27FC236}">
                <a16:creationId xmlns:a16="http://schemas.microsoft.com/office/drawing/2014/main" id="{09367E98-FB3E-C1D2-9A9E-E6500BAD42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8"/>
            <a:ext cx="3394083" cy="650408"/>
          </a:xfrm>
          <a:prstGeom prst="rect">
            <a:avLst/>
          </a:prstGeom>
        </p:spPr>
      </p:pic>
      <p:pic>
        <p:nvPicPr>
          <p:cNvPr id="10" name="Graphic 9">
            <a:extLst>
              <a:ext uri="{FF2B5EF4-FFF2-40B4-BE49-F238E27FC236}">
                <a16:creationId xmlns:a16="http://schemas.microsoft.com/office/drawing/2014/main" id="{6EFE49D6-07D0-DEEF-3D48-878348183C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0" y="1561901"/>
            <a:ext cx="3394083" cy="650408"/>
          </a:xfrm>
          <a:prstGeom prst="rect">
            <a:avLst/>
          </a:prstGeom>
        </p:spPr>
      </p:pic>
      <p:grpSp>
        <p:nvGrpSpPr>
          <p:cNvPr id="17" name="Graphic 2">
            <a:extLst>
              <a:ext uri="{FF2B5EF4-FFF2-40B4-BE49-F238E27FC236}">
                <a16:creationId xmlns:a16="http://schemas.microsoft.com/office/drawing/2014/main" id="{A3AADE20-A090-7089-070A-0238D1ABE9A9}"/>
              </a:ext>
            </a:extLst>
          </p:cNvPr>
          <p:cNvGrpSpPr/>
          <p:nvPr/>
        </p:nvGrpSpPr>
        <p:grpSpPr>
          <a:xfrm>
            <a:off x="4839126" y="1560927"/>
            <a:ext cx="647282" cy="647282"/>
            <a:chOff x="4839126" y="1560927"/>
            <a:chExt cx="647282" cy="647282"/>
          </a:xfrm>
        </p:grpSpPr>
        <p:sp>
          <p:nvSpPr>
            <p:cNvPr id="18" name="Oval 17">
              <a:extLst>
                <a:ext uri="{FF2B5EF4-FFF2-40B4-BE49-F238E27FC236}">
                  <a16:creationId xmlns:a16="http://schemas.microsoft.com/office/drawing/2014/main" id="{0EBB6266-97E2-3FCC-7C30-06BBD3D9EB6B}"/>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DE97DBBD-16E4-3DB6-95FA-4F221B7F5485}"/>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21" name="TextBox 20">
            <a:extLst>
              <a:ext uri="{FF2B5EF4-FFF2-40B4-BE49-F238E27FC236}">
                <a16:creationId xmlns:a16="http://schemas.microsoft.com/office/drawing/2014/main" id="{0C6707F9-9EBF-DEC1-6348-FA3D33B6C770}"/>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1400" dirty="0">
                <a:solidFill>
                  <a:schemeClr val="accent2"/>
                </a:solidFill>
                <a:latin typeface="Cormorant Infant" pitchFamily="2" charset="0"/>
              </a:rPr>
              <a:t>3a-b</a:t>
            </a:r>
            <a:endParaRPr lang="en-US" sz="1400" dirty="0"/>
          </a:p>
        </p:txBody>
      </p:sp>
      <p:sp>
        <p:nvSpPr>
          <p:cNvPr id="30" name="TextBox 29">
            <a:extLst>
              <a:ext uri="{FF2B5EF4-FFF2-40B4-BE49-F238E27FC236}">
                <a16:creationId xmlns:a16="http://schemas.microsoft.com/office/drawing/2014/main" id="{7428311E-28AB-0AD7-2AC7-B85DAE0F621C}"/>
              </a:ext>
            </a:extLst>
          </p:cNvPr>
          <p:cNvSpPr txBox="1"/>
          <p:nvPr/>
        </p:nvSpPr>
        <p:spPr>
          <a:xfrm>
            <a:off x="5023041" y="6086411"/>
            <a:ext cx="6162893" cy="270972"/>
          </a:xfrm>
          <a:prstGeom prst="rect">
            <a:avLst/>
          </a:prstGeom>
          <a:noFill/>
        </p:spPr>
        <p:txBody>
          <a:bodyPr wrap="square" lIns="0" tIns="0" rIns="0" bIns="0">
            <a:spAutoFit/>
          </a:bodyPr>
          <a:lstStyle/>
          <a:p>
            <a:pPr algn="r">
              <a:lnSpc>
                <a:spcPts val="2400"/>
              </a:lnSpc>
            </a:pPr>
            <a:r>
              <a:rPr lang="en-US" sz="1000" i="0" u="none" strike="noStrike" baseline="0" dirty="0">
                <a:solidFill>
                  <a:schemeClr val="bg1"/>
                </a:solidFill>
                <a:latin typeface="Cormorant Infant" pitchFamily="2" charset="0"/>
              </a:rPr>
              <a:t>*Policy utilizes Estate Preservation Rider design in early years due to Estate Tax Exposure</a:t>
            </a:r>
          </a:p>
        </p:txBody>
      </p:sp>
      <p:sp>
        <p:nvSpPr>
          <p:cNvPr id="3" name="TextBox 2">
            <a:extLst>
              <a:ext uri="{FF2B5EF4-FFF2-40B4-BE49-F238E27FC236}">
                <a16:creationId xmlns:a16="http://schemas.microsoft.com/office/drawing/2014/main" id="{088D1991-DC82-84E0-0340-E0BD5FB6C5BE}"/>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2B621C41-1B54-DDB6-315B-ECC65A16D3A4}"/>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sp>
        <p:nvSpPr>
          <p:cNvPr id="8" name="TextBox 7">
            <a:extLst>
              <a:ext uri="{FF2B5EF4-FFF2-40B4-BE49-F238E27FC236}">
                <a16:creationId xmlns:a16="http://schemas.microsoft.com/office/drawing/2014/main" id="{36C8CEDF-017E-CC68-D9E7-8B23D3E5BAC9}"/>
              </a:ext>
            </a:extLst>
          </p:cNvPr>
          <p:cNvSpPr txBox="1"/>
          <p:nvPr/>
        </p:nvSpPr>
        <p:spPr>
          <a:xfrm>
            <a:off x="1006066" y="1561900"/>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1: Plan Funding</a:t>
            </a:r>
          </a:p>
        </p:txBody>
      </p:sp>
      <p:sp>
        <p:nvSpPr>
          <p:cNvPr id="11" name="TextBox 10">
            <a:extLst>
              <a:ext uri="{FF2B5EF4-FFF2-40B4-BE49-F238E27FC236}">
                <a16:creationId xmlns:a16="http://schemas.microsoft.com/office/drawing/2014/main" id="{8AF26C7A-1493-4B05-75D8-F6A686A2CC51}"/>
              </a:ext>
            </a:extLst>
          </p:cNvPr>
          <p:cNvSpPr txBox="1"/>
          <p:nvPr/>
        </p:nvSpPr>
        <p:spPr>
          <a:xfrm>
            <a:off x="1006066" y="2314598"/>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2: Funding &amp; Discovery</a:t>
            </a:r>
          </a:p>
        </p:txBody>
      </p:sp>
      <p:sp>
        <p:nvSpPr>
          <p:cNvPr id="14" name="TextBox 13">
            <a:extLst>
              <a:ext uri="{FF2B5EF4-FFF2-40B4-BE49-F238E27FC236}">
                <a16:creationId xmlns:a16="http://schemas.microsoft.com/office/drawing/2014/main" id="{EDE58984-ECD3-CE7C-F6EE-7F5B9E9CC5D0}"/>
              </a:ext>
            </a:extLst>
          </p:cNvPr>
          <p:cNvSpPr txBox="1"/>
          <p:nvPr/>
        </p:nvSpPr>
        <p:spPr>
          <a:xfrm>
            <a:off x="1006066" y="3058405"/>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3a-b: Policy Purchase &amp; Funding</a:t>
            </a:r>
          </a:p>
        </p:txBody>
      </p:sp>
      <p:sp>
        <p:nvSpPr>
          <p:cNvPr id="19" name="TextBox 18">
            <a:extLst>
              <a:ext uri="{FF2B5EF4-FFF2-40B4-BE49-F238E27FC236}">
                <a16:creationId xmlns:a16="http://schemas.microsoft.com/office/drawing/2014/main" id="{0F5703CC-F62E-91E2-E5EC-6EAB1A460FDF}"/>
              </a:ext>
            </a:extLst>
          </p:cNvPr>
          <p:cNvSpPr txBox="1"/>
          <p:nvPr/>
        </p:nvSpPr>
        <p:spPr>
          <a:xfrm>
            <a:off x="1006066" y="381014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4: Policy Transfer</a:t>
            </a:r>
          </a:p>
        </p:txBody>
      </p:sp>
      <p:sp>
        <p:nvSpPr>
          <p:cNvPr id="22" name="TextBox 21">
            <a:extLst>
              <a:ext uri="{FF2B5EF4-FFF2-40B4-BE49-F238E27FC236}">
                <a16:creationId xmlns:a16="http://schemas.microsoft.com/office/drawing/2014/main" id="{980EEAEC-C3D8-4E5A-6815-870F0B856E0F}"/>
              </a:ext>
            </a:extLst>
          </p:cNvPr>
          <p:cNvSpPr txBox="1"/>
          <p:nvPr/>
        </p:nvSpPr>
        <p:spPr>
          <a:xfrm>
            <a:off x="1006066" y="455838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5: Tax Free Benefit to Heirs</a:t>
            </a:r>
          </a:p>
        </p:txBody>
      </p:sp>
      <p:sp>
        <p:nvSpPr>
          <p:cNvPr id="12" name="Rectangle 11">
            <a:hlinkClick r:id="rId9" action="ppaction://hlinksldjump"/>
            <a:extLst>
              <a:ext uri="{FF2B5EF4-FFF2-40B4-BE49-F238E27FC236}">
                <a16:creationId xmlns:a16="http://schemas.microsoft.com/office/drawing/2014/main" id="{7E8336E4-94B6-8353-8E95-154010C8B9DD}"/>
              </a:ext>
            </a:extLst>
          </p:cNvPr>
          <p:cNvSpPr/>
          <p:nvPr/>
        </p:nvSpPr>
        <p:spPr>
          <a:xfrm>
            <a:off x="776479"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10" action="ppaction://hlinksldjump"/>
            <a:extLst>
              <a:ext uri="{FF2B5EF4-FFF2-40B4-BE49-F238E27FC236}">
                <a16:creationId xmlns:a16="http://schemas.microsoft.com/office/drawing/2014/main" id="{DF232182-2DC3-E134-518C-7FB87E41ED08}"/>
              </a:ext>
            </a:extLst>
          </p:cNvPr>
          <p:cNvSpPr/>
          <p:nvPr/>
        </p:nvSpPr>
        <p:spPr>
          <a:xfrm>
            <a:off x="776479"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11" action="ppaction://hlinksldjump"/>
            <a:extLst>
              <a:ext uri="{FF2B5EF4-FFF2-40B4-BE49-F238E27FC236}">
                <a16:creationId xmlns:a16="http://schemas.microsoft.com/office/drawing/2014/main" id="{9B8C6995-9E92-C610-A172-1C7538F30FEE}"/>
              </a:ext>
            </a:extLst>
          </p:cNvPr>
          <p:cNvSpPr/>
          <p:nvPr/>
        </p:nvSpPr>
        <p:spPr>
          <a:xfrm>
            <a:off x="776479"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hlinkClick r:id="rId12" action="ppaction://hlinksldjump"/>
            <a:extLst>
              <a:ext uri="{FF2B5EF4-FFF2-40B4-BE49-F238E27FC236}">
                <a16:creationId xmlns:a16="http://schemas.microsoft.com/office/drawing/2014/main" id="{7D4E788B-C45C-D985-FC73-C66E42C9B67D}"/>
              </a:ext>
            </a:extLst>
          </p:cNvPr>
          <p:cNvSpPr/>
          <p:nvPr/>
        </p:nvSpPr>
        <p:spPr>
          <a:xfrm>
            <a:off x="776479"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hlinkClick r:id="rId13" action="ppaction://hlinksldjump"/>
            <a:extLst>
              <a:ext uri="{FF2B5EF4-FFF2-40B4-BE49-F238E27FC236}">
                <a16:creationId xmlns:a16="http://schemas.microsoft.com/office/drawing/2014/main" id="{06721F2C-84CF-9980-CECA-D5151D845EA4}"/>
              </a:ext>
            </a:extLst>
          </p:cNvPr>
          <p:cNvSpPr/>
          <p:nvPr/>
        </p:nvSpPr>
        <p:spPr>
          <a:xfrm>
            <a:off x="776479"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4991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8ADF-F226-001A-B8DA-CD099B2930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38FE9D0-D561-8C1A-D2B7-8E1FD7569ECA}"/>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F04DEC38-CBC1-CB2B-C97B-1C7B3CB78A4E}"/>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 name="Title 1">
            <a:extLst>
              <a:ext uri="{FF2B5EF4-FFF2-40B4-BE49-F238E27FC236}">
                <a16:creationId xmlns:a16="http://schemas.microsoft.com/office/drawing/2014/main" id="{DF8CBB6F-E660-591C-5407-4FC9DD059F56}"/>
              </a:ext>
            </a:extLst>
          </p:cNvPr>
          <p:cNvSpPr txBox="1">
            <a:spLocks/>
          </p:cNvSpPr>
          <p:nvPr/>
        </p:nvSpPr>
        <p:spPr>
          <a:xfrm>
            <a:off x="5661061" y="1512751"/>
            <a:ext cx="5524873"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Plan sells life insurance policy at a discount to Irrevocable Trust (entity outside of estate).</a:t>
            </a:r>
          </a:p>
        </p:txBody>
      </p:sp>
      <p:pic>
        <p:nvPicPr>
          <p:cNvPr id="6" name="Graphic 5">
            <a:extLst>
              <a:ext uri="{FF2B5EF4-FFF2-40B4-BE49-F238E27FC236}">
                <a16:creationId xmlns:a16="http://schemas.microsoft.com/office/drawing/2014/main" id="{600F30E0-6911-E53A-A405-F9C61EFDDD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9401" y="2419000"/>
            <a:ext cx="6387782" cy="84050"/>
          </a:xfrm>
          <a:prstGeom prst="rect">
            <a:avLst/>
          </a:prstGeom>
        </p:spPr>
      </p:pic>
      <p:pic>
        <p:nvPicPr>
          <p:cNvPr id="13" name="Graphic 12">
            <a:extLst>
              <a:ext uri="{FF2B5EF4-FFF2-40B4-BE49-F238E27FC236}">
                <a16:creationId xmlns:a16="http://schemas.microsoft.com/office/drawing/2014/main" id="{F08245A0-C791-92D6-9488-F14C44AB9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2304323"/>
            <a:ext cx="3394083" cy="650408"/>
          </a:xfrm>
          <a:prstGeom prst="rect">
            <a:avLst/>
          </a:prstGeom>
        </p:spPr>
      </p:pic>
      <p:pic>
        <p:nvPicPr>
          <p:cNvPr id="14" name="Graphic 13">
            <a:extLst>
              <a:ext uri="{FF2B5EF4-FFF2-40B4-BE49-F238E27FC236}">
                <a16:creationId xmlns:a16="http://schemas.microsoft.com/office/drawing/2014/main" id="{59B80D2C-2D92-E059-573E-B37DD62768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3048130"/>
            <a:ext cx="3394083" cy="650408"/>
          </a:xfrm>
          <a:prstGeom prst="rect">
            <a:avLst/>
          </a:prstGeom>
        </p:spPr>
      </p:pic>
      <p:pic>
        <p:nvPicPr>
          <p:cNvPr id="9" name="Graphic 8">
            <a:extLst>
              <a:ext uri="{FF2B5EF4-FFF2-40B4-BE49-F238E27FC236}">
                <a16:creationId xmlns:a16="http://schemas.microsoft.com/office/drawing/2014/main" id="{7F502F49-3945-DB17-6C78-BF6AEB353A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931" y="3799868"/>
            <a:ext cx="3782833" cy="650408"/>
          </a:xfrm>
          <a:prstGeom prst="rect">
            <a:avLst/>
          </a:prstGeom>
        </p:spPr>
      </p:pic>
      <p:pic>
        <p:nvPicPr>
          <p:cNvPr id="16" name="Graphic 15">
            <a:extLst>
              <a:ext uri="{FF2B5EF4-FFF2-40B4-BE49-F238E27FC236}">
                <a16:creationId xmlns:a16="http://schemas.microsoft.com/office/drawing/2014/main" id="{855BAAB1-5722-C81E-D3F4-AA15EE13114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8"/>
            <a:ext cx="3394083" cy="650408"/>
          </a:xfrm>
          <a:prstGeom prst="rect">
            <a:avLst/>
          </a:prstGeom>
        </p:spPr>
      </p:pic>
      <p:pic>
        <p:nvPicPr>
          <p:cNvPr id="10" name="Graphic 9">
            <a:extLst>
              <a:ext uri="{FF2B5EF4-FFF2-40B4-BE49-F238E27FC236}">
                <a16:creationId xmlns:a16="http://schemas.microsoft.com/office/drawing/2014/main" id="{D54FC462-5384-5EED-84D2-9557235438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0" y="1561901"/>
            <a:ext cx="3394083" cy="650408"/>
          </a:xfrm>
          <a:prstGeom prst="rect">
            <a:avLst/>
          </a:prstGeom>
        </p:spPr>
      </p:pic>
      <p:grpSp>
        <p:nvGrpSpPr>
          <p:cNvPr id="17" name="Graphic 2">
            <a:extLst>
              <a:ext uri="{FF2B5EF4-FFF2-40B4-BE49-F238E27FC236}">
                <a16:creationId xmlns:a16="http://schemas.microsoft.com/office/drawing/2014/main" id="{CACC7C0D-4AE2-EE72-7771-E299BC881DAE}"/>
              </a:ext>
            </a:extLst>
          </p:cNvPr>
          <p:cNvGrpSpPr/>
          <p:nvPr/>
        </p:nvGrpSpPr>
        <p:grpSpPr>
          <a:xfrm>
            <a:off x="4839126" y="1560927"/>
            <a:ext cx="647282" cy="647282"/>
            <a:chOff x="4839126" y="1560927"/>
            <a:chExt cx="647282" cy="647282"/>
          </a:xfrm>
        </p:grpSpPr>
        <p:sp>
          <p:nvSpPr>
            <p:cNvPr id="18" name="Oval 17">
              <a:extLst>
                <a:ext uri="{FF2B5EF4-FFF2-40B4-BE49-F238E27FC236}">
                  <a16:creationId xmlns:a16="http://schemas.microsoft.com/office/drawing/2014/main" id="{5016938E-4F18-F7CA-0E6F-89723CC26B37}"/>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0" name="Freeform: Shape 19">
              <a:extLst>
                <a:ext uri="{FF2B5EF4-FFF2-40B4-BE49-F238E27FC236}">
                  <a16:creationId xmlns:a16="http://schemas.microsoft.com/office/drawing/2014/main" id="{E836C866-E14F-E105-142E-DC34AA477D81}"/>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21" name="TextBox 20">
            <a:extLst>
              <a:ext uri="{FF2B5EF4-FFF2-40B4-BE49-F238E27FC236}">
                <a16:creationId xmlns:a16="http://schemas.microsoft.com/office/drawing/2014/main" id="{370DB985-9D3F-406C-05F9-55527790D318}"/>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4</a:t>
            </a:r>
            <a:endParaRPr lang="en-US" sz="2400" dirty="0"/>
          </a:p>
        </p:txBody>
      </p:sp>
      <p:graphicFrame>
        <p:nvGraphicFramePr>
          <p:cNvPr id="22" name="Table 21">
            <a:extLst>
              <a:ext uri="{FF2B5EF4-FFF2-40B4-BE49-F238E27FC236}">
                <a16:creationId xmlns:a16="http://schemas.microsoft.com/office/drawing/2014/main" id="{033A7836-7208-334B-52C5-27875E9B9E55}"/>
              </a:ext>
            </a:extLst>
          </p:cNvPr>
          <p:cNvGraphicFramePr>
            <a:graphicFrameLocks noGrp="1"/>
          </p:cNvGraphicFramePr>
          <p:nvPr>
            <p:extLst>
              <p:ext uri="{D42A27DB-BD31-4B8C-83A1-F6EECF244321}">
                <p14:modId xmlns:p14="http://schemas.microsoft.com/office/powerpoint/2010/main" val="3715734805"/>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Contributions: </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LIRACost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Estimated Sale Price: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SalePrice</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Percentage Discount: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&lt;Discount&gt;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28" name="TextBox 27">
            <a:extLst>
              <a:ext uri="{FF2B5EF4-FFF2-40B4-BE49-F238E27FC236}">
                <a16:creationId xmlns:a16="http://schemas.microsoft.com/office/drawing/2014/main" id="{AF8F28D0-753B-3FAE-ACBA-0608566D3E93}"/>
              </a:ext>
            </a:extLst>
          </p:cNvPr>
          <p:cNvSpPr txBox="1"/>
          <p:nvPr/>
        </p:nvSpPr>
        <p:spPr>
          <a:xfrm>
            <a:off x="5023041" y="4009334"/>
            <a:ext cx="6162893" cy="270972"/>
          </a:xfrm>
          <a:prstGeom prst="rect">
            <a:avLst/>
          </a:prstGeom>
          <a:noFill/>
        </p:spPr>
        <p:txBody>
          <a:bodyPr wrap="square" lIns="0" tIns="0" rIns="0" bIns="0">
            <a:spAutoFit/>
          </a:bodyPr>
          <a:lstStyle/>
          <a:p>
            <a:pPr algn="r">
              <a:lnSpc>
                <a:spcPts val="2400"/>
              </a:lnSpc>
            </a:pPr>
            <a:r>
              <a:rPr lang="en-US" sz="1000" i="0" u="none" strike="noStrike" baseline="0" dirty="0">
                <a:solidFill>
                  <a:schemeClr val="bg1"/>
                </a:solidFill>
                <a:latin typeface="Cormorant Infant" pitchFamily="2" charset="0"/>
              </a:rPr>
              <a:t>Plan values Policy using IRS Safe-Harbor Rev. Proc 2005-25 </a:t>
            </a:r>
          </a:p>
        </p:txBody>
      </p:sp>
      <p:sp>
        <p:nvSpPr>
          <p:cNvPr id="3" name="TextBox 2">
            <a:extLst>
              <a:ext uri="{FF2B5EF4-FFF2-40B4-BE49-F238E27FC236}">
                <a16:creationId xmlns:a16="http://schemas.microsoft.com/office/drawing/2014/main" id="{37E632C2-F6A2-9796-75AB-E478BD8C4A30}"/>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71F438C0-4D45-2534-59B5-139B9E88E95E}"/>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sp>
        <p:nvSpPr>
          <p:cNvPr id="8" name="TextBox 7">
            <a:extLst>
              <a:ext uri="{FF2B5EF4-FFF2-40B4-BE49-F238E27FC236}">
                <a16:creationId xmlns:a16="http://schemas.microsoft.com/office/drawing/2014/main" id="{21FE22F3-FF84-A5FA-5D28-4CB9534C6E31}"/>
              </a:ext>
            </a:extLst>
          </p:cNvPr>
          <p:cNvSpPr txBox="1"/>
          <p:nvPr/>
        </p:nvSpPr>
        <p:spPr>
          <a:xfrm>
            <a:off x="1006066" y="1561900"/>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1: Plan Funding</a:t>
            </a:r>
          </a:p>
        </p:txBody>
      </p:sp>
      <p:sp>
        <p:nvSpPr>
          <p:cNvPr id="11" name="TextBox 10">
            <a:extLst>
              <a:ext uri="{FF2B5EF4-FFF2-40B4-BE49-F238E27FC236}">
                <a16:creationId xmlns:a16="http://schemas.microsoft.com/office/drawing/2014/main" id="{65F928EA-F29B-A7DB-6ECC-AD879C1D0766}"/>
              </a:ext>
            </a:extLst>
          </p:cNvPr>
          <p:cNvSpPr txBox="1"/>
          <p:nvPr/>
        </p:nvSpPr>
        <p:spPr>
          <a:xfrm>
            <a:off x="1006066" y="2314598"/>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2: Funding &amp; Discovery</a:t>
            </a:r>
          </a:p>
        </p:txBody>
      </p:sp>
      <p:sp>
        <p:nvSpPr>
          <p:cNvPr id="15" name="TextBox 14">
            <a:extLst>
              <a:ext uri="{FF2B5EF4-FFF2-40B4-BE49-F238E27FC236}">
                <a16:creationId xmlns:a16="http://schemas.microsoft.com/office/drawing/2014/main" id="{923C406E-812D-27D5-F8F0-F917E3D2041C}"/>
              </a:ext>
            </a:extLst>
          </p:cNvPr>
          <p:cNvSpPr txBox="1"/>
          <p:nvPr/>
        </p:nvSpPr>
        <p:spPr>
          <a:xfrm>
            <a:off x="1006066" y="3058405"/>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3a-b: Policy Purchase &amp; Funding</a:t>
            </a:r>
          </a:p>
        </p:txBody>
      </p:sp>
      <p:sp>
        <p:nvSpPr>
          <p:cNvPr id="19" name="TextBox 18">
            <a:extLst>
              <a:ext uri="{FF2B5EF4-FFF2-40B4-BE49-F238E27FC236}">
                <a16:creationId xmlns:a16="http://schemas.microsoft.com/office/drawing/2014/main" id="{31C3D386-A287-231E-1E43-D49282A95F0D}"/>
              </a:ext>
            </a:extLst>
          </p:cNvPr>
          <p:cNvSpPr txBox="1"/>
          <p:nvPr/>
        </p:nvSpPr>
        <p:spPr>
          <a:xfrm>
            <a:off x="1006066" y="381014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4: Policy Transfer</a:t>
            </a:r>
          </a:p>
        </p:txBody>
      </p:sp>
      <p:sp>
        <p:nvSpPr>
          <p:cNvPr id="29" name="TextBox 28">
            <a:extLst>
              <a:ext uri="{FF2B5EF4-FFF2-40B4-BE49-F238E27FC236}">
                <a16:creationId xmlns:a16="http://schemas.microsoft.com/office/drawing/2014/main" id="{C462BAB5-664B-4ABE-AE61-9950B168ED50}"/>
              </a:ext>
            </a:extLst>
          </p:cNvPr>
          <p:cNvSpPr txBox="1"/>
          <p:nvPr/>
        </p:nvSpPr>
        <p:spPr>
          <a:xfrm>
            <a:off x="1006066" y="455838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5: Tax Free Benefit to Heirs</a:t>
            </a:r>
          </a:p>
        </p:txBody>
      </p:sp>
      <p:sp>
        <p:nvSpPr>
          <p:cNvPr id="12" name="Rectangle 11">
            <a:hlinkClick r:id="rId9" action="ppaction://hlinksldjump"/>
            <a:extLst>
              <a:ext uri="{FF2B5EF4-FFF2-40B4-BE49-F238E27FC236}">
                <a16:creationId xmlns:a16="http://schemas.microsoft.com/office/drawing/2014/main" id="{E71C5DA0-F8CB-A0C4-8D18-F79388C50270}"/>
              </a:ext>
            </a:extLst>
          </p:cNvPr>
          <p:cNvSpPr/>
          <p:nvPr/>
        </p:nvSpPr>
        <p:spPr>
          <a:xfrm>
            <a:off x="776479"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10" action="ppaction://hlinksldjump"/>
            <a:extLst>
              <a:ext uri="{FF2B5EF4-FFF2-40B4-BE49-F238E27FC236}">
                <a16:creationId xmlns:a16="http://schemas.microsoft.com/office/drawing/2014/main" id="{CEEF5A06-2E26-13C0-7DA2-12E6907646D4}"/>
              </a:ext>
            </a:extLst>
          </p:cNvPr>
          <p:cNvSpPr/>
          <p:nvPr/>
        </p:nvSpPr>
        <p:spPr>
          <a:xfrm>
            <a:off x="776479"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hlinkClick r:id="rId11" action="ppaction://hlinksldjump"/>
            <a:extLst>
              <a:ext uri="{FF2B5EF4-FFF2-40B4-BE49-F238E27FC236}">
                <a16:creationId xmlns:a16="http://schemas.microsoft.com/office/drawing/2014/main" id="{F7BD92A7-E83A-7F32-1034-821EBD32195F}"/>
              </a:ext>
            </a:extLst>
          </p:cNvPr>
          <p:cNvSpPr/>
          <p:nvPr/>
        </p:nvSpPr>
        <p:spPr>
          <a:xfrm>
            <a:off x="776479"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hlinkClick r:id="rId12" action="ppaction://hlinksldjump"/>
            <a:extLst>
              <a:ext uri="{FF2B5EF4-FFF2-40B4-BE49-F238E27FC236}">
                <a16:creationId xmlns:a16="http://schemas.microsoft.com/office/drawing/2014/main" id="{7D26A2F0-3CC3-6F6E-24B4-3C381536C2A6}"/>
              </a:ext>
            </a:extLst>
          </p:cNvPr>
          <p:cNvSpPr/>
          <p:nvPr/>
        </p:nvSpPr>
        <p:spPr>
          <a:xfrm>
            <a:off x="776479"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hlinkClick r:id="rId13" action="ppaction://hlinksldjump"/>
            <a:extLst>
              <a:ext uri="{FF2B5EF4-FFF2-40B4-BE49-F238E27FC236}">
                <a16:creationId xmlns:a16="http://schemas.microsoft.com/office/drawing/2014/main" id="{5CEE6D02-7E22-38E0-8047-960977E70665}"/>
              </a:ext>
            </a:extLst>
          </p:cNvPr>
          <p:cNvSpPr/>
          <p:nvPr/>
        </p:nvSpPr>
        <p:spPr>
          <a:xfrm>
            <a:off x="776479"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663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02CD5-4A9A-9AD6-4192-FAC5E9C1499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C3A2B6F-D7B9-2F76-CA91-6E060684E4A0}"/>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B35A7BA3-F3F4-DD60-04E4-641DDD6D0ADB}"/>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 name="Title 1">
            <a:extLst>
              <a:ext uri="{FF2B5EF4-FFF2-40B4-BE49-F238E27FC236}">
                <a16:creationId xmlns:a16="http://schemas.microsoft.com/office/drawing/2014/main" id="{8EBFFECC-2F3E-D86A-0DAC-DBCE768DCA8F}"/>
              </a:ext>
            </a:extLst>
          </p:cNvPr>
          <p:cNvSpPr txBox="1">
            <a:spLocks/>
          </p:cNvSpPr>
          <p:nvPr/>
        </p:nvSpPr>
        <p:spPr>
          <a:xfrm>
            <a:off x="5661061" y="1512751"/>
            <a:ext cx="4029039"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Life insurance/death benefit in is estate &amp; income tax-free to heirs. </a:t>
            </a:r>
          </a:p>
        </p:txBody>
      </p:sp>
      <p:pic>
        <p:nvPicPr>
          <p:cNvPr id="10" name="Graphic 9">
            <a:extLst>
              <a:ext uri="{FF2B5EF4-FFF2-40B4-BE49-F238E27FC236}">
                <a16:creationId xmlns:a16="http://schemas.microsoft.com/office/drawing/2014/main" id="{E6137C48-F4E3-0D0B-CF50-87A515BE7C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0" y="1561901"/>
            <a:ext cx="3394083" cy="650408"/>
          </a:xfrm>
          <a:prstGeom prst="rect">
            <a:avLst/>
          </a:prstGeom>
        </p:spPr>
      </p:pic>
      <p:pic>
        <p:nvPicPr>
          <p:cNvPr id="13" name="Graphic 12">
            <a:extLst>
              <a:ext uri="{FF2B5EF4-FFF2-40B4-BE49-F238E27FC236}">
                <a16:creationId xmlns:a16="http://schemas.microsoft.com/office/drawing/2014/main" id="{64C9CF27-3EF5-6972-58B2-69EBA36068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2304323"/>
            <a:ext cx="3394083" cy="650408"/>
          </a:xfrm>
          <a:prstGeom prst="rect">
            <a:avLst/>
          </a:prstGeom>
        </p:spPr>
      </p:pic>
      <p:pic>
        <p:nvPicPr>
          <p:cNvPr id="14" name="Graphic 13">
            <a:extLst>
              <a:ext uri="{FF2B5EF4-FFF2-40B4-BE49-F238E27FC236}">
                <a16:creationId xmlns:a16="http://schemas.microsoft.com/office/drawing/2014/main" id="{FD038BB0-806D-5FE1-8CA8-E88E43AD13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048130"/>
            <a:ext cx="3394083" cy="650408"/>
          </a:xfrm>
          <a:prstGeom prst="rect">
            <a:avLst/>
          </a:prstGeom>
        </p:spPr>
      </p:pic>
      <p:pic>
        <p:nvPicPr>
          <p:cNvPr id="15" name="Graphic 14">
            <a:extLst>
              <a:ext uri="{FF2B5EF4-FFF2-40B4-BE49-F238E27FC236}">
                <a16:creationId xmlns:a16="http://schemas.microsoft.com/office/drawing/2014/main" id="{16283738-DE10-309E-B736-D7319AC1DF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31" y="3799868"/>
            <a:ext cx="3394083" cy="650408"/>
          </a:xfrm>
          <a:prstGeom prst="rect">
            <a:avLst/>
          </a:prstGeom>
        </p:spPr>
      </p:pic>
      <p:pic>
        <p:nvPicPr>
          <p:cNvPr id="9" name="Graphic 8">
            <a:extLst>
              <a:ext uri="{FF2B5EF4-FFF2-40B4-BE49-F238E27FC236}">
                <a16:creationId xmlns:a16="http://schemas.microsoft.com/office/drawing/2014/main" id="{3819EE89-9EF7-1111-444B-51DD799A40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931" y="4548109"/>
            <a:ext cx="3782833" cy="650408"/>
          </a:xfrm>
          <a:prstGeom prst="rect">
            <a:avLst/>
          </a:prstGeom>
        </p:spPr>
      </p:pic>
      <p:grpSp>
        <p:nvGrpSpPr>
          <p:cNvPr id="12" name="Graphic 2">
            <a:extLst>
              <a:ext uri="{FF2B5EF4-FFF2-40B4-BE49-F238E27FC236}">
                <a16:creationId xmlns:a16="http://schemas.microsoft.com/office/drawing/2014/main" id="{3CAAE103-2D12-C8C2-166F-88B149F79A47}"/>
              </a:ext>
            </a:extLst>
          </p:cNvPr>
          <p:cNvGrpSpPr/>
          <p:nvPr/>
        </p:nvGrpSpPr>
        <p:grpSpPr>
          <a:xfrm>
            <a:off x="4839126" y="1560927"/>
            <a:ext cx="647282" cy="647282"/>
            <a:chOff x="4839126" y="1560927"/>
            <a:chExt cx="647282" cy="647282"/>
          </a:xfrm>
        </p:grpSpPr>
        <p:sp>
          <p:nvSpPr>
            <p:cNvPr id="17" name="Oval 16">
              <a:extLst>
                <a:ext uri="{FF2B5EF4-FFF2-40B4-BE49-F238E27FC236}">
                  <a16:creationId xmlns:a16="http://schemas.microsoft.com/office/drawing/2014/main" id="{C1F4C9A4-63D7-E9F9-EC92-D04575D5516E}"/>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18" name="Freeform: Shape 17">
              <a:extLst>
                <a:ext uri="{FF2B5EF4-FFF2-40B4-BE49-F238E27FC236}">
                  <a16:creationId xmlns:a16="http://schemas.microsoft.com/office/drawing/2014/main" id="{C0EF7A48-693A-FF4F-1880-258ECE671115}"/>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20" name="TextBox 19">
            <a:extLst>
              <a:ext uri="{FF2B5EF4-FFF2-40B4-BE49-F238E27FC236}">
                <a16:creationId xmlns:a16="http://schemas.microsoft.com/office/drawing/2014/main" id="{825A7E2B-35F5-00F5-FBFF-7A18E9F5F983}"/>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5</a:t>
            </a:r>
            <a:endParaRPr lang="en-US" sz="2400" dirty="0"/>
          </a:p>
        </p:txBody>
      </p:sp>
      <p:sp>
        <p:nvSpPr>
          <p:cNvPr id="3" name="TextBox 2">
            <a:extLst>
              <a:ext uri="{FF2B5EF4-FFF2-40B4-BE49-F238E27FC236}">
                <a16:creationId xmlns:a16="http://schemas.microsoft.com/office/drawing/2014/main" id="{0EE36F66-E098-37B3-C2D9-D85B710F35C1}"/>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ORIGIN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7" name="TextBox 6">
            <a:extLst>
              <a:ext uri="{FF2B5EF4-FFF2-40B4-BE49-F238E27FC236}">
                <a16:creationId xmlns:a16="http://schemas.microsoft.com/office/drawing/2014/main" id="{AED92BF7-85C9-2ED8-4093-4C0223942C30}"/>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Not yet funded trust buys life insurance from plan.</a:t>
            </a:r>
            <a:endParaRPr lang="en-US" sz="1100" dirty="0"/>
          </a:p>
        </p:txBody>
      </p:sp>
      <p:sp>
        <p:nvSpPr>
          <p:cNvPr id="8" name="TextBox 7">
            <a:extLst>
              <a:ext uri="{FF2B5EF4-FFF2-40B4-BE49-F238E27FC236}">
                <a16:creationId xmlns:a16="http://schemas.microsoft.com/office/drawing/2014/main" id="{DB6DDC82-F0AA-712B-094C-0F20FC88FD95}"/>
              </a:ext>
            </a:extLst>
          </p:cNvPr>
          <p:cNvSpPr txBox="1"/>
          <p:nvPr/>
        </p:nvSpPr>
        <p:spPr>
          <a:xfrm>
            <a:off x="1006066" y="1561900"/>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1: Plan Funding</a:t>
            </a:r>
          </a:p>
        </p:txBody>
      </p:sp>
      <p:sp>
        <p:nvSpPr>
          <p:cNvPr id="11" name="TextBox 10">
            <a:extLst>
              <a:ext uri="{FF2B5EF4-FFF2-40B4-BE49-F238E27FC236}">
                <a16:creationId xmlns:a16="http://schemas.microsoft.com/office/drawing/2014/main" id="{1B13EEEB-1DEF-4E81-ADEC-1A13C85B120A}"/>
              </a:ext>
            </a:extLst>
          </p:cNvPr>
          <p:cNvSpPr txBox="1"/>
          <p:nvPr/>
        </p:nvSpPr>
        <p:spPr>
          <a:xfrm>
            <a:off x="1006066" y="2314598"/>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2: Funding &amp; Discovery</a:t>
            </a:r>
          </a:p>
        </p:txBody>
      </p:sp>
      <p:sp>
        <p:nvSpPr>
          <p:cNvPr id="16" name="TextBox 15">
            <a:extLst>
              <a:ext uri="{FF2B5EF4-FFF2-40B4-BE49-F238E27FC236}">
                <a16:creationId xmlns:a16="http://schemas.microsoft.com/office/drawing/2014/main" id="{63DB6E9A-35A8-9D6E-3A30-AF10E69739C7}"/>
              </a:ext>
            </a:extLst>
          </p:cNvPr>
          <p:cNvSpPr txBox="1"/>
          <p:nvPr/>
        </p:nvSpPr>
        <p:spPr>
          <a:xfrm>
            <a:off x="1006066" y="3058405"/>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3a-b: Policy Purchase &amp; Funding</a:t>
            </a:r>
          </a:p>
        </p:txBody>
      </p:sp>
      <p:sp>
        <p:nvSpPr>
          <p:cNvPr id="23" name="TextBox 22">
            <a:extLst>
              <a:ext uri="{FF2B5EF4-FFF2-40B4-BE49-F238E27FC236}">
                <a16:creationId xmlns:a16="http://schemas.microsoft.com/office/drawing/2014/main" id="{405998E7-C11E-470E-308F-3C0DDF306637}"/>
              </a:ext>
            </a:extLst>
          </p:cNvPr>
          <p:cNvSpPr txBox="1"/>
          <p:nvPr/>
        </p:nvSpPr>
        <p:spPr>
          <a:xfrm>
            <a:off x="1006066" y="381014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4: Policy Transfer</a:t>
            </a:r>
          </a:p>
        </p:txBody>
      </p:sp>
      <p:sp>
        <p:nvSpPr>
          <p:cNvPr id="28" name="TextBox 27">
            <a:extLst>
              <a:ext uri="{FF2B5EF4-FFF2-40B4-BE49-F238E27FC236}">
                <a16:creationId xmlns:a16="http://schemas.microsoft.com/office/drawing/2014/main" id="{455FD5F3-6280-F44E-82F6-993EE87C9C5E}"/>
              </a:ext>
            </a:extLst>
          </p:cNvPr>
          <p:cNvSpPr txBox="1"/>
          <p:nvPr/>
        </p:nvSpPr>
        <p:spPr>
          <a:xfrm>
            <a:off x="1006066" y="4558383"/>
            <a:ext cx="3083048" cy="650407"/>
          </a:xfrm>
          <a:prstGeom prst="rect">
            <a:avLst/>
          </a:prstGeom>
          <a:noFill/>
        </p:spPr>
        <p:txBody>
          <a:bodyPr wrap="square" lIns="0" tIns="0" rIns="0" bIns="0" anchor="ctr">
            <a:noAutofit/>
          </a:bodyPr>
          <a:lstStyle/>
          <a:p>
            <a:r>
              <a:rPr lang="en-US" sz="1400" dirty="0">
                <a:solidFill>
                  <a:schemeClr val="accent5">
                    <a:lumMod val="50000"/>
                  </a:schemeClr>
                </a:solidFill>
                <a:latin typeface="Cormorant Infant" pitchFamily="2" charset="0"/>
              </a:rPr>
              <a:t>Step 5: Tax Free Benefit to Heirs</a:t>
            </a:r>
          </a:p>
        </p:txBody>
      </p:sp>
      <p:sp>
        <p:nvSpPr>
          <p:cNvPr id="35" name="Rectangle 34">
            <a:hlinkClick r:id="rId7" action="ppaction://hlinksldjump"/>
            <a:extLst>
              <a:ext uri="{FF2B5EF4-FFF2-40B4-BE49-F238E27FC236}">
                <a16:creationId xmlns:a16="http://schemas.microsoft.com/office/drawing/2014/main" id="{6441DE65-032E-1493-F8B6-388079524EE4}"/>
              </a:ext>
            </a:extLst>
          </p:cNvPr>
          <p:cNvSpPr/>
          <p:nvPr/>
        </p:nvSpPr>
        <p:spPr>
          <a:xfrm>
            <a:off x="776479" y="1560927"/>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hlinkClick r:id="rId8" action="ppaction://hlinksldjump"/>
            <a:extLst>
              <a:ext uri="{FF2B5EF4-FFF2-40B4-BE49-F238E27FC236}">
                <a16:creationId xmlns:a16="http://schemas.microsoft.com/office/drawing/2014/main" id="{BA583CBC-793C-EEE8-BAD0-4F517BB406E4}"/>
              </a:ext>
            </a:extLst>
          </p:cNvPr>
          <p:cNvSpPr/>
          <p:nvPr/>
        </p:nvSpPr>
        <p:spPr>
          <a:xfrm>
            <a:off x="776479" y="231013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hlinkClick r:id="rId9" action="ppaction://hlinksldjump"/>
            <a:extLst>
              <a:ext uri="{FF2B5EF4-FFF2-40B4-BE49-F238E27FC236}">
                <a16:creationId xmlns:a16="http://schemas.microsoft.com/office/drawing/2014/main" id="{3B419047-8186-F8A2-3061-EDE2B0A4BFB4}"/>
              </a:ext>
            </a:extLst>
          </p:cNvPr>
          <p:cNvSpPr/>
          <p:nvPr/>
        </p:nvSpPr>
        <p:spPr>
          <a:xfrm>
            <a:off x="776479" y="3048541"/>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hlinkClick r:id="rId10" action="ppaction://hlinksldjump"/>
            <a:extLst>
              <a:ext uri="{FF2B5EF4-FFF2-40B4-BE49-F238E27FC236}">
                <a16:creationId xmlns:a16="http://schemas.microsoft.com/office/drawing/2014/main" id="{E2134291-C194-53ED-0E22-B99E1DA68906}"/>
              </a:ext>
            </a:extLst>
          </p:cNvPr>
          <p:cNvSpPr/>
          <p:nvPr/>
        </p:nvSpPr>
        <p:spPr>
          <a:xfrm>
            <a:off x="776479" y="3801029"/>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hlinkClick r:id="rId11" action="ppaction://hlinksldjump"/>
            <a:extLst>
              <a:ext uri="{FF2B5EF4-FFF2-40B4-BE49-F238E27FC236}">
                <a16:creationId xmlns:a16="http://schemas.microsoft.com/office/drawing/2014/main" id="{BD33BDA6-58CD-D14E-F910-EBA6B079F98C}"/>
              </a:ext>
            </a:extLst>
          </p:cNvPr>
          <p:cNvSpPr/>
          <p:nvPr/>
        </p:nvSpPr>
        <p:spPr>
          <a:xfrm>
            <a:off x="776479" y="4543176"/>
            <a:ext cx="3394083" cy="6602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A6332019-0B20-CB29-7C82-F238C1F37931}"/>
              </a:ext>
            </a:extLst>
          </p:cNvPr>
          <p:cNvGraphicFramePr>
            <a:graphicFrameLocks noGrp="1"/>
          </p:cNvGraphicFramePr>
          <p:nvPr>
            <p:extLst>
              <p:ext uri="{D42A27DB-BD31-4B8C-83A1-F6EECF244321}">
                <p14:modId xmlns:p14="http://schemas.microsoft.com/office/powerpoint/2010/main" val="1375534129"/>
              </p:ext>
            </p:extLst>
          </p:nvPr>
        </p:nvGraphicFramePr>
        <p:xfrm>
          <a:off x="4844263" y="2812568"/>
          <a:ext cx="6355080"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65960">
                  <a:extLst>
                    <a:ext uri="{9D8B030D-6E8A-4147-A177-3AD203B41FA5}">
                      <a16:colId xmlns:a16="http://schemas.microsoft.com/office/drawing/2014/main" val="4007013876"/>
                    </a:ext>
                  </a:extLst>
                </a:gridCol>
                <a:gridCol w="1965960">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graphicFrame>
        <p:nvGraphicFramePr>
          <p:cNvPr id="19" name="Table 18">
            <a:extLst>
              <a:ext uri="{FF2B5EF4-FFF2-40B4-BE49-F238E27FC236}">
                <a16:creationId xmlns:a16="http://schemas.microsoft.com/office/drawing/2014/main" id="{E1B4595E-9C27-B78C-1D1F-6D28E614281F}"/>
              </a:ext>
            </a:extLst>
          </p:cNvPr>
          <p:cNvGraphicFramePr>
            <a:graphicFrameLocks noGrp="1"/>
          </p:cNvGraphicFramePr>
          <p:nvPr>
            <p:extLst>
              <p:ext uri="{D42A27DB-BD31-4B8C-83A1-F6EECF244321}">
                <p14:modId xmlns:p14="http://schemas.microsoft.com/office/powerpoint/2010/main" val="886808833"/>
              </p:ext>
            </p:extLst>
          </p:nvPr>
        </p:nvGraphicFramePr>
        <p:xfrm>
          <a:off x="4844263" y="2812568"/>
          <a:ext cx="6355080"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65960">
                  <a:extLst>
                    <a:ext uri="{9D8B030D-6E8A-4147-A177-3AD203B41FA5}">
                      <a16:colId xmlns:a16="http://schemas.microsoft.com/office/drawing/2014/main" val="4007013876"/>
                    </a:ext>
                  </a:extLst>
                </a:gridCol>
                <a:gridCol w="1965960">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&lt;CPlanEstateTaxLE&gt;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pic>
        <p:nvPicPr>
          <p:cNvPr id="21" name="Graphic 20">
            <a:extLst>
              <a:ext uri="{FF2B5EF4-FFF2-40B4-BE49-F238E27FC236}">
                <a16:creationId xmlns:a16="http://schemas.microsoft.com/office/drawing/2014/main" id="{6BFB22E1-E621-636A-B98D-E77828991EB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849401" y="2419000"/>
            <a:ext cx="6387782" cy="84050"/>
          </a:xfrm>
          <a:prstGeom prst="rect">
            <a:avLst/>
          </a:prstGeom>
        </p:spPr>
      </p:pic>
      <p:sp>
        <p:nvSpPr>
          <p:cNvPr id="24" name="TextBox 23">
            <a:extLst>
              <a:ext uri="{FF2B5EF4-FFF2-40B4-BE49-F238E27FC236}">
                <a16:creationId xmlns:a16="http://schemas.microsoft.com/office/drawing/2014/main" id="{ACD0214B-535A-F7BD-F4F0-3D93ED786601}"/>
              </a:ext>
            </a:extLst>
          </p:cNvPr>
          <p:cNvSpPr txBox="1"/>
          <p:nvPr/>
        </p:nvSpPr>
        <p:spPr>
          <a:xfrm>
            <a:off x="4829010" y="5579065"/>
            <a:ext cx="6356924" cy="153888"/>
          </a:xfrm>
          <a:prstGeom prst="rect">
            <a:avLst/>
          </a:prstGeom>
          <a:noFill/>
        </p:spPr>
        <p:txBody>
          <a:bodyPr wrap="square" lIns="0" tIns="0" rIns="0" bIns="0">
            <a:spAutoFit/>
          </a:bodyPr>
          <a:lstStyle/>
          <a:p>
            <a:pPr algn="r">
              <a:lnSpc>
                <a:spcPts val="1200"/>
              </a:lnSpc>
            </a:pPr>
            <a:r>
              <a:rPr lang="en-US" sz="900" i="0" u="none" strike="noStrike" baseline="0" dirty="0">
                <a:solidFill>
                  <a:schemeClr val="bg1"/>
                </a:solidFill>
                <a:latin typeface="Cormorant Infant" pitchFamily="2" charset="0"/>
              </a:rPr>
              <a:t>(All at Life Expectancy and IRA Growth Rate of &lt;</a:t>
            </a:r>
            <a:r>
              <a:rPr lang="en-US" sz="900" i="0" u="none" strike="noStrike" baseline="0" dirty="0" err="1">
                <a:solidFill>
                  <a:schemeClr val="bg1"/>
                </a:solidFill>
                <a:latin typeface="Cormorant Infant" pitchFamily="2" charset="0"/>
              </a:rPr>
              <a:t>IRARate</a:t>
            </a:r>
            <a:r>
              <a:rPr lang="en-US" sz="900" i="0" u="none" strike="noStrike" baseline="0" dirty="0">
                <a:solidFill>
                  <a:schemeClr val="bg1"/>
                </a:solidFill>
                <a:latin typeface="Cormorant Infant" pitchFamily="2" charset="0"/>
              </a:rPr>
              <a:t>&gt;)</a:t>
            </a:r>
            <a:endParaRPr lang="en-US" sz="900" dirty="0">
              <a:solidFill>
                <a:schemeClr val="bg1"/>
              </a:solidFill>
              <a:latin typeface="Cormorant Infant" pitchFamily="2" charset="0"/>
            </a:endParaRPr>
          </a:p>
        </p:txBody>
      </p:sp>
      <p:graphicFrame>
        <p:nvGraphicFramePr>
          <p:cNvPr id="25" name="Table 24">
            <a:extLst>
              <a:ext uri="{FF2B5EF4-FFF2-40B4-BE49-F238E27FC236}">
                <a16:creationId xmlns:a16="http://schemas.microsoft.com/office/drawing/2014/main" id="{48FDC412-818E-45A4-60A5-198E16A03A28}"/>
              </a:ext>
            </a:extLst>
          </p:cNvPr>
          <p:cNvGraphicFramePr>
            <a:graphicFrameLocks noGrp="1"/>
          </p:cNvGraphicFramePr>
          <p:nvPr>
            <p:extLst>
              <p:ext uri="{D42A27DB-BD31-4B8C-83A1-F6EECF244321}">
                <p14:modId xmlns:p14="http://schemas.microsoft.com/office/powerpoint/2010/main" val="781345071"/>
              </p:ext>
            </p:extLst>
          </p:nvPr>
        </p:nvGraphicFramePr>
        <p:xfrm>
          <a:off x="4834068" y="5811839"/>
          <a:ext cx="6398052" cy="442157"/>
        </p:xfrm>
        <a:graphic>
          <a:graphicData uri="http://schemas.openxmlformats.org/drawingml/2006/table">
            <a:tbl>
              <a:tblPr>
                <a:tableStyleId>{5C22544A-7EE6-4342-B048-85BDC9FD1C3A}</a:tableStyleId>
              </a:tblPr>
              <a:tblGrid>
                <a:gridCol w="4422948">
                  <a:extLst>
                    <a:ext uri="{9D8B030D-6E8A-4147-A177-3AD203B41FA5}">
                      <a16:colId xmlns:a16="http://schemas.microsoft.com/office/drawing/2014/main" val="1592670450"/>
                    </a:ext>
                  </a:extLst>
                </a:gridCol>
                <a:gridCol w="1975104">
                  <a:extLst>
                    <a:ext uri="{9D8B030D-6E8A-4147-A177-3AD203B41FA5}">
                      <a16:colId xmlns:a16="http://schemas.microsoft.com/office/drawing/2014/main" val="4007013876"/>
                    </a:ext>
                  </a:extLst>
                </a:gridCol>
              </a:tblGrid>
              <a:tr h="442157">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600" b="0" kern="1200" dirty="0">
                          <a:solidFill>
                            <a:schemeClr val="accent2"/>
                          </a:solidFill>
                          <a:latin typeface="Cormorant Infant" pitchFamily="2" charset="0"/>
                          <a:ea typeface="Cormorant Infant" pitchFamily="2" charset="0"/>
                          <a:cs typeface="Cormorant Infant" pitchFamily="2" charset="0"/>
                        </a:rPr>
                        <a:t>Tax Free Advantage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600" b="0" kern="1200" dirty="0">
                          <a:solidFill>
                            <a:schemeClr val="accent2"/>
                          </a:solidFill>
                          <a:latin typeface="Cormorant Infant" pitchFamily="2" charset="0"/>
                          <a:ea typeface="Cormorant Infant" pitchFamily="2" charset="0"/>
                          <a:cs typeface="Cormorant Infant" pitchFamily="2" charset="0"/>
                        </a:rPr>
                        <a:t>&lt;Advantage&gt;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bl>
          </a:graphicData>
        </a:graphic>
      </p:graphicFrame>
      <p:sp>
        <p:nvSpPr>
          <p:cNvPr id="27" name="TextBox 26">
            <a:extLst>
              <a:ext uri="{FF2B5EF4-FFF2-40B4-BE49-F238E27FC236}">
                <a16:creationId xmlns:a16="http://schemas.microsoft.com/office/drawing/2014/main" id="{D814BC64-B5AB-2C6B-6048-6AF23DAF4A52}"/>
              </a:ext>
            </a:extLst>
          </p:cNvPr>
          <p:cNvSpPr txBox="1"/>
          <p:nvPr/>
        </p:nvSpPr>
        <p:spPr>
          <a:xfrm>
            <a:off x="7261500" y="2475126"/>
            <a:ext cx="1950008"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 CURRENT PLANNING</a:t>
            </a:r>
          </a:p>
        </p:txBody>
      </p:sp>
      <p:sp>
        <p:nvSpPr>
          <p:cNvPr id="29" name="TextBox 28">
            <a:extLst>
              <a:ext uri="{FF2B5EF4-FFF2-40B4-BE49-F238E27FC236}">
                <a16:creationId xmlns:a16="http://schemas.microsoft.com/office/drawing/2014/main" id="{A7E75EE6-215B-167B-A053-4E6A87AA5052}"/>
              </a:ext>
            </a:extLst>
          </p:cNvPr>
          <p:cNvSpPr txBox="1"/>
          <p:nvPr/>
        </p:nvSpPr>
        <p:spPr>
          <a:xfrm>
            <a:off x="9285912" y="2475126"/>
            <a:ext cx="1950007"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LIRA STRATEGY</a:t>
            </a:r>
          </a:p>
        </p:txBody>
      </p:sp>
    </p:spTree>
    <p:extLst>
      <p:ext uri="{BB962C8B-B14F-4D97-AF65-F5344CB8AC3E}">
        <p14:creationId xmlns:p14="http://schemas.microsoft.com/office/powerpoint/2010/main" val="146944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D71C4-D71C-E688-8774-2943B1CE56EF}"/>
            </a:ext>
          </a:extLst>
        </p:cNvPr>
        <p:cNvGrpSpPr/>
        <p:nvPr/>
      </p:nvGrpSpPr>
      <p:grpSpPr>
        <a:xfrm>
          <a:off x="0" y="0"/>
          <a:ext cx="0" cy="0"/>
          <a:chOff x="0" y="0"/>
          <a:chExt cx="0" cy="0"/>
        </a:xfrm>
      </p:grpSpPr>
      <p:pic>
        <p:nvPicPr>
          <p:cNvPr id="8" name="Graphic 7">
            <a:extLst>
              <a:ext uri="{FF2B5EF4-FFF2-40B4-BE49-F238E27FC236}">
                <a16:creationId xmlns:a16="http://schemas.microsoft.com/office/drawing/2014/main" id="{FE26EFB4-079A-D2C8-F6AF-3B7D7BEFFE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414" y="1329993"/>
            <a:ext cx="10701172" cy="4744722"/>
          </a:xfrm>
          <a:prstGeom prst="rect">
            <a:avLst/>
          </a:prstGeom>
        </p:spPr>
      </p:pic>
      <p:pic>
        <p:nvPicPr>
          <p:cNvPr id="68" name="Graphic 67">
            <a:extLst>
              <a:ext uri="{FF2B5EF4-FFF2-40B4-BE49-F238E27FC236}">
                <a16:creationId xmlns:a16="http://schemas.microsoft.com/office/drawing/2014/main" id="{05269470-C4CE-4FB6-AF20-22BA0D9B5C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636" y="5414993"/>
            <a:ext cx="876300" cy="344710"/>
          </a:xfrm>
          <a:prstGeom prst="rect">
            <a:avLst/>
          </a:prstGeom>
        </p:spPr>
      </p:pic>
      <p:sp>
        <p:nvSpPr>
          <p:cNvPr id="69" name="TextBox 68">
            <a:extLst>
              <a:ext uri="{FF2B5EF4-FFF2-40B4-BE49-F238E27FC236}">
                <a16:creationId xmlns:a16="http://schemas.microsoft.com/office/drawing/2014/main" id="{11A0464A-8F29-46D2-25D1-667448399651}"/>
              </a:ext>
            </a:extLst>
          </p:cNvPr>
          <p:cNvSpPr txBox="1"/>
          <p:nvPr/>
        </p:nvSpPr>
        <p:spPr>
          <a:xfrm>
            <a:off x="5698521" y="5510404"/>
            <a:ext cx="794530" cy="307777"/>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RolloutYr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pic>
        <p:nvPicPr>
          <p:cNvPr id="59" name="Graphic 58">
            <a:extLst>
              <a:ext uri="{FF2B5EF4-FFF2-40B4-BE49-F238E27FC236}">
                <a16:creationId xmlns:a16="http://schemas.microsoft.com/office/drawing/2014/main" id="{63EADA59-07BB-5697-58A0-E2907CA3B4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4643" y="4698532"/>
            <a:ext cx="4480051" cy="1158902"/>
          </a:xfrm>
          <a:prstGeom prst="rect">
            <a:avLst/>
          </a:prstGeom>
        </p:spPr>
      </p:pic>
      <p:pic>
        <p:nvPicPr>
          <p:cNvPr id="20" name="Graphic 19">
            <a:extLst>
              <a:ext uri="{FF2B5EF4-FFF2-40B4-BE49-F238E27FC236}">
                <a16:creationId xmlns:a16="http://schemas.microsoft.com/office/drawing/2014/main" id="{7C49F9BE-0F7E-47D1-8CF0-7B5624BEE6C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9063" y="5103846"/>
            <a:ext cx="1493875" cy="342346"/>
          </a:xfrm>
          <a:prstGeom prst="rect">
            <a:avLst/>
          </a:prstGeom>
        </p:spPr>
      </p:pic>
      <p:sp>
        <p:nvSpPr>
          <p:cNvPr id="32" name="TextBox 31">
            <a:extLst>
              <a:ext uri="{FF2B5EF4-FFF2-40B4-BE49-F238E27FC236}">
                <a16:creationId xmlns:a16="http://schemas.microsoft.com/office/drawing/2014/main" id="{61C4673C-68B4-40E7-F8B6-12D5D8EC2F74}"/>
              </a:ext>
            </a:extLst>
          </p:cNvPr>
          <p:cNvSpPr txBox="1"/>
          <p:nvPr/>
        </p:nvSpPr>
        <p:spPr>
          <a:xfrm>
            <a:off x="7088534" y="4759717"/>
            <a:ext cx="3572269" cy="415348"/>
          </a:xfrm>
          <a:prstGeom prst="rect">
            <a:avLst/>
          </a:prstGeom>
          <a:noFill/>
        </p:spPr>
        <p:txBody>
          <a:bodyPr wrap="square" lIns="0" tIns="0" rIns="0" bIns="0" rtlCol="0" anchor="ctr">
            <a:noAutofit/>
          </a:bodyPr>
          <a:lstStyle/>
          <a:p>
            <a:pPr algn="ctr"/>
            <a:r>
              <a:rPr lang="en-US" sz="1000" dirty="0">
                <a:latin typeface="Cormorant Infant SemiBold" pitchFamily="2" charset="0"/>
                <a:ea typeface="Cormorant Infant SemiBold" pitchFamily="2" charset="0"/>
                <a:cs typeface="Cormorant Infant SemiBold" pitchFamily="2" charset="0"/>
              </a:rPr>
              <a:t>The estate gifts the life insurance policy to trust.</a:t>
            </a:r>
          </a:p>
        </p:txBody>
      </p:sp>
      <p:pic>
        <p:nvPicPr>
          <p:cNvPr id="17" name="Graphic 16">
            <a:extLst>
              <a:ext uri="{FF2B5EF4-FFF2-40B4-BE49-F238E27FC236}">
                <a16:creationId xmlns:a16="http://schemas.microsoft.com/office/drawing/2014/main" id="{8D8AB64A-2710-72CA-5F74-2533C7F846B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1307" y="5005370"/>
            <a:ext cx="4626864" cy="715815"/>
          </a:xfrm>
          <a:prstGeom prst="rect">
            <a:avLst/>
          </a:prstGeom>
        </p:spPr>
      </p:pic>
      <p:sp>
        <p:nvSpPr>
          <p:cNvPr id="26" name="TextBox 25">
            <a:extLst>
              <a:ext uri="{FF2B5EF4-FFF2-40B4-BE49-F238E27FC236}">
                <a16:creationId xmlns:a16="http://schemas.microsoft.com/office/drawing/2014/main" id="{E953888E-286F-02E0-BB22-5B26BEE0F7AE}"/>
              </a:ext>
            </a:extLst>
          </p:cNvPr>
          <p:cNvSpPr txBox="1"/>
          <p:nvPr/>
        </p:nvSpPr>
        <p:spPr>
          <a:xfrm>
            <a:off x="978072" y="5082375"/>
            <a:ext cx="2301646" cy="638810"/>
          </a:xfrm>
          <a:prstGeom prst="rect">
            <a:avLst/>
          </a:prstGeom>
          <a:noFill/>
        </p:spPr>
        <p:txBody>
          <a:bodyPr wrap="square" lIns="0" tIns="0" rIns="0" bIns="0" rtlCol="0" anchor="ctr">
            <a:noAutofit/>
          </a:bodyPr>
          <a:lstStyle/>
          <a:p>
            <a:pPr algn="ctr"/>
            <a:r>
              <a:rPr lang="en-US" sz="1000" dirty="0">
                <a:latin typeface="Cormorant Infant SemiBold" pitchFamily="2" charset="0"/>
                <a:ea typeface="Cormorant Infant SemiBold" pitchFamily="2" charset="0"/>
                <a:cs typeface="Cormorant Infant SemiBold" pitchFamily="2" charset="0"/>
              </a:rPr>
              <a:t>Plan distributes Policy to the owner</a:t>
            </a:r>
          </a:p>
          <a:p>
            <a:pPr algn="ctr"/>
            <a:r>
              <a:rPr lang="en-US" sz="1000" dirty="0">
                <a:latin typeface="Cormorant Infant SemiBold" pitchFamily="2" charset="0"/>
                <a:ea typeface="Cormorant Infant SemiBold" pitchFamily="2" charset="0"/>
                <a:cs typeface="Cormorant Infant SemiBold" pitchFamily="2" charset="0"/>
              </a:rPr>
              <a:t>at IRS safe-harbor fair market value.</a:t>
            </a:r>
          </a:p>
        </p:txBody>
      </p:sp>
      <p:sp>
        <p:nvSpPr>
          <p:cNvPr id="27" name="TextBox 26">
            <a:extLst>
              <a:ext uri="{FF2B5EF4-FFF2-40B4-BE49-F238E27FC236}">
                <a16:creationId xmlns:a16="http://schemas.microsoft.com/office/drawing/2014/main" id="{E738EF5E-DBA3-2683-F3FE-1466F59FE49F}"/>
              </a:ext>
            </a:extLst>
          </p:cNvPr>
          <p:cNvSpPr txBox="1"/>
          <p:nvPr/>
        </p:nvSpPr>
        <p:spPr>
          <a:xfrm>
            <a:off x="3514725" y="5082376"/>
            <a:ext cx="1901825" cy="638810"/>
          </a:xfrm>
          <a:prstGeom prst="rect">
            <a:avLst/>
          </a:prstGeom>
          <a:noFill/>
        </p:spPr>
        <p:txBody>
          <a:bodyPr wrap="square" lIns="0" tIns="0" rIns="0" bIns="0" rtlCol="0" anchor="ctr">
            <a:noAutofit/>
          </a:bodyPr>
          <a:lstStyle/>
          <a:p>
            <a:pPr algn="ctr"/>
            <a:r>
              <a:rPr lang="en-US" sz="1000" dirty="0">
                <a:latin typeface="Cormorant Infant SemiBold" pitchFamily="2" charset="0"/>
                <a:ea typeface="Cormorant Infant SemiBold" pitchFamily="2" charset="0"/>
                <a:cs typeface="Cormorant Infant SemiBold" pitchFamily="2" charset="0"/>
              </a:rPr>
              <a:t>Life Insurance Policy worth &lt;</a:t>
            </a:r>
            <a:r>
              <a:rPr lang="en-US" sz="1000" dirty="0" err="1">
                <a:latin typeface="Cormorant Infant SemiBold" pitchFamily="2" charset="0"/>
                <a:ea typeface="Cormorant Infant SemiBold" pitchFamily="2" charset="0"/>
                <a:cs typeface="Cormorant Infant SemiBold" pitchFamily="2" charset="0"/>
              </a:rPr>
              <a:t>DeathBenefit</a:t>
            </a:r>
            <a:r>
              <a:rPr lang="en-US" sz="1000" dirty="0">
                <a:latin typeface="Cormorant Infant SemiBold" pitchFamily="2" charset="0"/>
                <a:ea typeface="Cormorant Infant SemiBold" pitchFamily="2" charset="0"/>
                <a:cs typeface="Cormorant Infant SemiBold" pitchFamily="2" charset="0"/>
              </a:rPr>
              <a:t>&gt;*</a:t>
            </a:r>
          </a:p>
        </p:txBody>
      </p:sp>
      <p:sp>
        <p:nvSpPr>
          <p:cNvPr id="5" name="TextBox 4">
            <a:extLst>
              <a:ext uri="{FF2B5EF4-FFF2-40B4-BE49-F238E27FC236}">
                <a16:creationId xmlns:a16="http://schemas.microsoft.com/office/drawing/2014/main" id="{1595EA30-ABA3-3D4C-9BBF-C38ACDA5DD07}"/>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&lt;</a:t>
            </a:r>
            <a:r>
              <a:rPr lang="en-US" sz="1000" kern="500" spc="600" baseline="0" dirty="0" err="1">
                <a:solidFill>
                  <a:schemeClr val="accent1"/>
                </a:solidFill>
                <a:latin typeface="Cormorant Infant Medium" pitchFamily="2" charset="0"/>
                <a:ea typeface="Cormorant Infant Medium" pitchFamily="2" charset="0"/>
                <a:cs typeface="Cormorant Infant Medium" pitchFamily="2" charset="0"/>
              </a:rPr>
              <a:t>SlideMth</a:t>
            </a:r>
            <a:r>
              <a:rPr lang="en-US" sz="1000" kern="500" spc="600" baseline="0" dirty="0">
                <a:solidFill>
                  <a:schemeClr val="accent1"/>
                </a:solidFill>
                <a:latin typeface="Cormorant Infant Medium" pitchFamily="2" charset="0"/>
                <a:ea typeface="Cormorant Infant Medium" pitchFamily="2" charset="0"/>
                <a:cs typeface="Cormorant Infant Medium" pitchFamily="2" charset="0"/>
              </a:rPr>
              <a:t>&gt;</a:t>
            </a:r>
          </a:p>
        </p:txBody>
      </p:sp>
      <p:sp>
        <p:nvSpPr>
          <p:cNvPr id="10" name="TextBox 9">
            <a:extLst>
              <a:ext uri="{FF2B5EF4-FFF2-40B4-BE49-F238E27FC236}">
                <a16:creationId xmlns:a16="http://schemas.microsoft.com/office/drawing/2014/main" id="{23948B5A-7DFC-6655-7CC0-6DFF4F2805B8}"/>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4" name="TextBox 33">
            <a:extLst>
              <a:ext uri="{FF2B5EF4-FFF2-40B4-BE49-F238E27FC236}">
                <a16:creationId xmlns:a16="http://schemas.microsoft.com/office/drawing/2014/main" id="{391182AA-E3AA-F7B6-4FF7-07D53A00B6BE}"/>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sp>
        <p:nvSpPr>
          <p:cNvPr id="2" name="TextBox 1">
            <a:extLst>
              <a:ext uri="{FF2B5EF4-FFF2-40B4-BE49-F238E27FC236}">
                <a16:creationId xmlns:a16="http://schemas.microsoft.com/office/drawing/2014/main" id="{01A87C5C-E78E-257C-6F5A-1E11172AFFFA}"/>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45C143DC-0033-1B3A-909B-3505D9849107}"/>
              </a:ext>
            </a:extLst>
          </p:cNvPr>
          <p:cNvSpPr txBox="1"/>
          <p:nvPr/>
        </p:nvSpPr>
        <p:spPr>
          <a:xfrm>
            <a:off x="1307922"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INSIDE OF THE ESTATE</a:t>
            </a:r>
          </a:p>
        </p:txBody>
      </p:sp>
      <p:sp>
        <p:nvSpPr>
          <p:cNvPr id="4" name="TextBox 3">
            <a:extLst>
              <a:ext uri="{FF2B5EF4-FFF2-40B4-BE49-F238E27FC236}">
                <a16:creationId xmlns:a16="http://schemas.microsoft.com/office/drawing/2014/main" id="{E692EAF6-4240-D3EE-C314-CA62872AF9F2}"/>
              </a:ext>
            </a:extLst>
          </p:cNvPr>
          <p:cNvSpPr txBox="1"/>
          <p:nvPr/>
        </p:nvSpPr>
        <p:spPr>
          <a:xfrm>
            <a:off x="6843616" y="1459734"/>
            <a:ext cx="4025222" cy="138499"/>
          </a:xfrm>
          <a:prstGeom prst="rect">
            <a:avLst/>
          </a:prstGeom>
          <a:noFill/>
        </p:spPr>
        <p:txBody>
          <a:bodyPr wrap="square" lIns="0" tIns="0" rIns="0" bIns="0" rtlCol="0">
            <a:spAutoFit/>
          </a:bodyPr>
          <a:lstStyle/>
          <a:p>
            <a:pPr algn="ctr"/>
            <a:r>
              <a:rPr lang="en-US" sz="900" spc="2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OUTSIDE OF THE ESTATE</a:t>
            </a:r>
          </a:p>
        </p:txBody>
      </p:sp>
      <p:pic>
        <p:nvPicPr>
          <p:cNvPr id="9" name="Graphic 8">
            <a:extLst>
              <a:ext uri="{FF2B5EF4-FFF2-40B4-BE49-F238E27FC236}">
                <a16:creationId xmlns:a16="http://schemas.microsoft.com/office/drawing/2014/main" id="{6E75E46C-3490-748A-48BC-B83FB73FF4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850" y="1844196"/>
            <a:ext cx="876300" cy="344710"/>
          </a:xfrm>
          <a:prstGeom prst="rect">
            <a:avLst/>
          </a:prstGeom>
        </p:spPr>
      </p:pic>
      <p:sp>
        <p:nvSpPr>
          <p:cNvPr id="11" name="TextBox 10">
            <a:extLst>
              <a:ext uri="{FF2B5EF4-FFF2-40B4-BE49-F238E27FC236}">
                <a16:creationId xmlns:a16="http://schemas.microsoft.com/office/drawing/2014/main" id="{621EC550-2A56-4DDE-30EE-B489E4E27F03}"/>
              </a:ext>
            </a:extLst>
          </p:cNvPr>
          <p:cNvSpPr txBox="1"/>
          <p:nvPr/>
        </p:nvSpPr>
        <p:spPr>
          <a:xfrm>
            <a:off x="5698735" y="1939607"/>
            <a:ext cx="794530" cy="153888"/>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0</a:t>
            </a:r>
          </a:p>
        </p:txBody>
      </p:sp>
      <p:pic>
        <p:nvPicPr>
          <p:cNvPr id="65" name="Graphic 64">
            <a:extLst>
              <a:ext uri="{FF2B5EF4-FFF2-40B4-BE49-F238E27FC236}">
                <a16:creationId xmlns:a16="http://schemas.microsoft.com/office/drawing/2014/main" id="{EC0D22BC-31D1-659C-E402-C82974C4D3D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3640" y="3556976"/>
            <a:ext cx="4617720" cy="1648075"/>
          </a:xfrm>
          <a:prstGeom prst="rect">
            <a:avLst/>
          </a:prstGeom>
        </p:spPr>
      </p:pic>
      <p:pic>
        <p:nvPicPr>
          <p:cNvPr id="15" name="Graphic 14">
            <a:extLst>
              <a:ext uri="{FF2B5EF4-FFF2-40B4-BE49-F238E27FC236}">
                <a16:creationId xmlns:a16="http://schemas.microsoft.com/office/drawing/2014/main" id="{1A64F03A-5D80-ADF3-F1D1-F2CD3D83790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04513" y="4155717"/>
            <a:ext cx="3048924" cy="482228"/>
          </a:xfrm>
          <a:prstGeom prst="rect">
            <a:avLst/>
          </a:prstGeom>
        </p:spPr>
      </p:pic>
      <p:sp>
        <p:nvSpPr>
          <p:cNvPr id="19" name="TextBox 18">
            <a:extLst>
              <a:ext uri="{FF2B5EF4-FFF2-40B4-BE49-F238E27FC236}">
                <a16:creationId xmlns:a16="http://schemas.microsoft.com/office/drawing/2014/main" id="{7C01D7FB-808A-856F-4FD0-4A2D7FB8812A}"/>
              </a:ext>
            </a:extLst>
          </p:cNvPr>
          <p:cNvSpPr txBox="1"/>
          <p:nvPr/>
        </p:nvSpPr>
        <p:spPr>
          <a:xfrm>
            <a:off x="1353408" y="3778331"/>
            <a:ext cx="375113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The LIRA-Ready Plan purchases Life Insurance on &lt;</a:t>
            </a:r>
            <a:r>
              <a:rPr lang="en-US" sz="1000" dirty="0" err="1">
                <a:latin typeface="Cormorant Infant SemiBold" pitchFamily="2" charset="0"/>
                <a:ea typeface="Cormorant Infant SemiBold" pitchFamily="2" charset="0"/>
                <a:cs typeface="Cormorant Infant SemiBold" pitchFamily="2" charset="0"/>
              </a:rPr>
              <a:t>InsuredLife</a:t>
            </a:r>
            <a:r>
              <a:rPr lang="en-US" sz="1000" dirty="0">
                <a:latin typeface="Cormorant Infant SemiBold" pitchFamily="2" charset="0"/>
                <a:ea typeface="Cormorant Infant SemiBold" pitchFamily="2" charset="0"/>
                <a:cs typeface="Cormorant Infant SemiBold" pitchFamily="2" charset="0"/>
              </a:rPr>
              <a:t>&gt; and pays premiums of  &lt;Premium&gt; per year for &lt;</a:t>
            </a:r>
            <a:r>
              <a:rPr lang="en-US" sz="1000" dirty="0" err="1">
                <a:latin typeface="Cormorant Infant SemiBold" pitchFamily="2" charset="0"/>
                <a:ea typeface="Cormorant Infant SemiBold" pitchFamily="2" charset="0"/>
                <a:cs typeface="Cormorant Infant SemiBold" pitchFamily="2" charset="0"/>
              </a:rPr>
              <a:t>PremYrs</a:t>
            </a:r>
            <a:r>
              <a:rPr lang="en-US" sz="1000" dirty="0">
                <a:latin typeface="Cormorant Infant SemiBold" pitchFamily="2" charset="0"/>
                <a:ea typeface="Cormorant Infant SemiBold" pitchFamily="2" charset="0"/>
                <a:cs typeface="Cormorant Infant SemiBold" pitchFamily="2" charset="0"/>
              </a:rPr>
              <a:t>&gt; years. ​</a:t>
            </a:r>
          </a:p>
        </p:txBody>
      </p:sp>
      <p:sp>
        <p:nvSpPr>
          <p:cNvPr id="21" name="TextBox 20">
            <a:extLst>
              <a:ext uri="{FF2B5EF4-FFF2-40B4-BE49-F238E27FC236}">
                <a16:creationId xmlns:a16="http://schemas.microsoft.com/office/drawing/2014/main" id="{CFCC772F-8669-74EB-4C67-9738F8137420}"/>
              </a:ext>
            </a:extLst>
          </p:cNvPr>
          <p:cNvSpPr txBox="1"/>
          <p:nvPr/>
        </p:nvSpPr>
        <p:spPr>
          <a:xfrm>
            <a:off x="1785939" y="4329062"/>
            <a:ext cx="2900362" cy="159042"/>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Life Insurance Policy worth &lt;</a:t>
            </a:r>
            <a:r>
              <a:rPr lang="en-US" sz="1000" dirty="0" err="1">
                <a:latin typeface="Cormorant Infant SemiBold" pitchFamily="2" charset="0"/>
                <a:ea typeface="Cormorant Infant SemiBold" pitchFamily="2" charset="0"/>
                <a:cs typeface="Cormorant Infant SemiBold" pitchFamily="2" charset="0"/>
              </a:rPr>
              <a:t>DeathBenefit</a:t>
            </a:r>
            <a:r>
              <a:rPr lang="en-US" sz="1000" dirty="0">
                <a:latin typeface="Cormorant Infant SemiBold" pitchFamily="2" charset="0"/>
                <a:ea typeface="Cormorant Infant SemiBold" pitchFamily="2" charset="0"/>
                <a:cs typeface="Cormorant Infant SemiBold" pitchFamily="2" charset="0"/>
              </a:rPr>
              <a:t>&gt;*</a:t>
            </a:r>
          </a:p>
        </p:txBody>
      </p:sp>
      <p:pic>
        <p:nvPicPr>
          <p:cNvPr id="29" name="Graphic 28">
            <a:extLst>
              <a:ext uri="{FF2B5EF4-FFF2-40B4-BE49-F238E27FC236}">
                <a16:creationId xmlns:a16="http://schemas.microsoft.com/office/drawing/2014/main" id="{0EF5788B-28A6-CF9D-E608-E6E5D12DBE7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51307" y="2566389"/>
            <a:ext cx="4620053" cy="1197792"/>
          </a:xfrm>
          <a:prstGeom prst="rect">
            <a:avLst/>
          </a:prstGeom>
        </p:spPr>
      </p:pic>
      <p:sp>
        <p:nvSpPr>
          <p:cNvPr id="30" name="TextBox 29">
            <a:extLst>
              <a:ext uri="{FF2B5EF4-FFF2-40B4-BE49-F238E27FC236}">
                <a16:creationId xmlns:a16="http://schemas.microsoft.com/office/drawing/2014/main" id="{F331F6B5-1955-32F6-10F4-69D998087591}"/>
              </a:ext>
            </a:extLst>
          </p:cNvPr>
          <p:cNvSpPr txBox="1"/>
          <p:nvPr/>
        </p:nvSpPr>
        <p:spPr>
          <a:xfrm>
            <a:off x="1449700" y="2796441"/>
            <a:ext cx="3558550" cy="461665"/>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As of &lt;</a:t>
            </a:r>
            <a:r>
              <a:rPr lang="en-US" sz="1000" dirty="0" err="1">
                <a:latin typeface="Cormorant Infant SemiBold" pitchFamily="2" charset="0"/>
                <a:ea typeface="Cormorant Infant SemiBold" pitchFamily="2" charset="0"/>
                <a:cs typeface="Cormorant Infant SemiBold" pitchFamily="2" charset="0"/>
              </a:rPr>
              <a:t>IntakeDate</a:t>
            </a:r>
            <a:r>
              <a:rPr lang="en-US" sz="1000" dirty="0">
                <a:latin typeface="Cormorant Infant SemiBold" pitchFamily="2" charset="0"/>
                <a:ea typeface="Cormorant Infant SemiBold" pitchFamily="2" charset="0"/>
                <a:cs typeface="Cormorant Infant SemiBold" pitchFamily="2" charset="0"/>
              </a:rPr>
              <a:t>&gt;, there is &lt;</a:t>
            </a:r>
            <a:r>
              <a:rPr lang="en-US" sz="1000" dirty="0" err="1">
                <a:latin typeface="Cormorant Infant SemiBold" pitchFamily="2" charset="0"/>
                <a:ea typeface="Cormorant Infant SemiBold" pitchFamily="2" charset="0"/>
                <a:cs typeface="Cormorant Infant SemiBold" pitchFamily="2" charset="0"/>
              </a:rPr>
              <a:t>TotalQPlan</a:t>
            </a:r>
            <a:r>
              <a:rPr lang="en-US" sz="1000" dirty="0">
                <a:latin typeface="Cormorant Infant SemiBold" pitchFamily="2" charset="0"/>
                <a:ea typeface="Cormorant Infant SemiBold" pitchFamily="2" charset="0"/>
                <a:cs typeface="Cormorant Infant SemiBold" pitchFamily="2" charset="0"/>
              </a:rPr>
              <a:t>&gt; in &lt;</a:t>
            </a:r>
            <a:r>
              <a:rPr lang="en-US" sz="1000" dirty="0" err="1">
                <a:latin typeface="Cormorant Infant SemiBold" pitchFamily="2" charset="0"/>
                <a:ea typeface="Cormorant Infant SemiBold" pitchFamily="2" charset="0"/>
                <a:cs typeface="Cormorant Infant SemiBold" pitchFamily="2" charset="0"/>
              </a:rPr>
              <a:t>ClientNm</a:t>
            </a:r>
            <a:r>
              <a:rPr lang="en-US" sz="1000" dirty="0">
                <a:latin typeface="Cormorant Infant SemiBold" pitchFamily="2" charset="0"/>
                <a:ea typeface="Cormorant Infant SemiBold" pitchFamily="2" charset="0"/>
                <a:cs typeface="Cormorant Infant SemiBold" pitchFamily="2" charset="0"/>
              </a:rPr>
              <a:t>&gt;’s IRA.  &lt;</a:t>
            </a:r>
            <a:r>
              <a:rPr lang="en-US" sz="1000" dirty="0" err="1">
                <a:latin typeface="Cormorant Infant SemiBold" pitchFamily="2" charset="0"/>
                <a:ea typeface="Cormorant Infant SemiBold" pitchFamily="2" charset="0"/>
                <a:cs typeface="Cormorant Infant SemiBold" pitchFamily="2" charset="0"/>
              </a:rPr>
              <a:t>ClientIRA</a:t>
            </a:r>
            <a:r>
              <a:rPr lang="en-US" sz="1000" dirty="0">
                <a:latin typeface="Cormorant Infant SemiBold" pitchFamily="2" charset="0"/>
                <a:ea typeface="Cormorant Infant SemiBold" pitchFamily="2" charset="0"/>
                <a:cs typeface="Cormorant Infant SemiBold" pitchFamily="2" charset="0"/>
              </a:rPr>
              <a:t>&gt; of the pre-tax retirement funds not needed for lifestyle are allocated to the LIRA-ready structure. </a:t>
            </a:r>
          </a:p>
        </p:txBody>
      </p:sp>
      <p:pic>
        <p:nvPicPr>
          <p:cNvPr id="42" name="Graphic 41">
            <a:extLst>
              <a:ext uri="{FF2B5EF4-FFF2-40B4-BE49-F238E27FC236}">
                <a16:creationId xmlns:a16="http://schemas.microsoft.com/office/drawing/2014/main" id="{45C45AF1-49AC-710C-A065-57CFC3AF74D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1307" y="1775874"/>
            <a:ext cx="4620053" cy="1026678"/>
          </a:xfrm>
          <a:prstGeom prst="rect">
            <a:avLst/>
          </a:prstGeom>
        </p:spPr>
      </p:pic>
      <p:sp>
        <p:nvSpPr>
          <p:cNvPr id="46" name="TextBox 45">
            <a:extLst>
              <a:ext uri="{FF2B5EF4-FFF2-40B4-BE49-F238E27FC236}">
                <a16:creationId xmlns:a16="http://schemas.microsoft.com/office/drawing/2014/main" id="{F712412D-3A54-BD55-E6E3-909518384C33}"/>
              </a:ext>
            </a:extLst>
          </p:cNvPr>
          <p:cNvSpPr txBox="1"/>
          <p:nvPr/>
        </p:nvSpPr>
        <p:spPr>
          <a:xfrm>
            <a:off x="1325753" y="1972058"/>
            <a:ext cx="3806444" cy="307777"/>
          </a:xfrm>
          <a:prstGeom prst="rect">
            <a:avLst/>
          </a:prstGeom>
          <a:noFill/>
        </p:spPr>
        <p:txBody>
          <a:bodyPr wrap="square" lIns="0" tIns="0" rIns="0" bIns="0" rtlCol="0">
            <a:spAutoFit/>
          </a:bodyPr>
          <a:lstStyle/>
          <a:p>
            <a:pPr algn="ctr"/>
            <a:r>
              <a:rPr lang="en-US" sz="1000" dirty="0">
                <a:latin typeface="Cormorant Infant SemiBold" pitchFamily="2" charset="0"/>
                <a:ea typeface="Cormorant Infant SemiBold" pitchFamily="2" charset="0"/>
                <a:cs typeface="Cormorant Infant SemiBold" pitchFamily="2" charset="0"/>
              </a:rPr>
              <a:t>We design and structure a LIRA-compliant plan; </a:t>
            </a:r>
          </a:p>
          <a:p>
            <a:pPr algn="ctr"/>
            <a:r>
              <a:rPr lang="en-US" sz="1000" dirty="0">
                <a:latin typeface="Cormorant Infant SemiBold" pitchFamily="2" charset="0"/>
                <a:ea typeface="Cormorant Infant SemiBold" pitchFamily="2" charset="0"/>
                <a:cs typeface="Cormorant Infant SemiBold" pitchFamily="2" charset="0"/>
              </a:rPr>
              <a:t>fully documented and ready to receive pre-tax retirement funds.</a:t>
            </a:r>
          </a:p>
        </p:txBody>
      </p:sp>
      <p:pic>
        <p:nvPicPr>
          <p:cNvPr id="23" name="Graphic 22">
            <a:extLst>
              <a:ext uri="{FF2B5EF4-FFF2-40B4-BE49-F238E27FC236}">
                <a16:creationId xmlns:a16="http://schemas.microsoft.com/office/drawing/2014/main" id="{91423FFE-7583-C659-D6CE-31B1C63D7205}"/>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981389" y="5175065"/>
            <a:ext cx="3786559" cy="487584"/>
          </a:xfrm>
          <a:prstGeom prst="rect">
            <a:avLst/>
          </a:prstGeom>
        </p:spPr>
      </p:pic>
      <p:sp>
        <p:nvSpPr>
          <p:cNvPr id="28" name="TextBox 27">
            <a:extLst>
              <a:ext uri="{FF2B5EF4-FFF2-40B4-BE49-F238E27FC236}">
                <a16:creationId xmlns:a16="http://schemas.microsoft.com/office/drawing/2014/main" id="{00A8CF27-9F7A-C60F-1178-88E600B7F58E}"/>
              </a:ext>
            </a:extLst>
          </p:cNvPr>
          <p:cNvSpPr txBox="1"/>
          <p:nvPr/>
        </p:nvSpPr>
        <p:spPr>
          <a:xfrm>
            <a:off x="7088534" y="5245355"/>
            <a:ext cx="3572269" cy="344675"/>
          </a:xfrm>
          <a:prstGeom prst="rect">
            <a:avLst/>
          </a:prstGeom>
          <a:noFill/>
        </p:spPr>
        <p:txBody>
          <a:bodyPr wrap="square" lIns="0" tIns="0" rIns="0" bIns="0" rtlCol="0" anchor="ctr">
            <a:noAutofit/>
          </a:bodyPr>
          <a:lstStyle/>
          <a:p>
            <a:pPr algn="ctr"/>
            <a:r>
              <a:rPr lang="en-US" sz="1000" dirty="0">
                <a:latin typeface="Cormorant Infant SemiBold" pitchFamily="2" charset="0"/>
                <a:ea typeface="Cormorant Infant SemiBold" pitchFamily="2" charset="0"/>
                <a:cs typeface="Cormorant Infant SemiBold" pitchFamily="2" charset="0"/>
              </a:rPr>
              <a:t>After death, trust receives &lt;</a:t>
            </a:r>
            <a:r>
              <a:rPr lang="en-US" sz="1000" dirty="0" err="1">
                <a:latin typeface="Cormorant Infant SemiBold" pitchFamily="2" charset="0"/>
                <a:ea typeface="Cormorant Infant SemiBold" pitchFamily="2" charset="0"/>
                <a:cs typeface="Cormorant Infant SemiBold" pitchFamily="2" charset="0"/>
              </a:rPr>
              <a:t>NetToHeirsPickYr</a:t>
            </a:r>
            <a:r>
              <a:rPr lang="en-US" sz="1000" dirty="0">
                <a:latin typeface="Cormorant Infant SemiBold" pitchFamily="2" charset="0"/>
                <a:ea typeface="Cormorant Infant SemiBold" pitchFamily="2" charset="0"/>
                <a:cs typeface="Cormorant Infant SemiBold" pitchFamily="2" charset="0"/>
              </a:rPr>
              <a:t>&gt; Tax-Free.</a:t>
            </a:r>
          </a:p>
        </p:txBody>
      </p:sp>
      <p:pic>
        <p:nvPicPr>
          <p:cNvPr id="71" name="Graphic 70">
            <a:extLst>
              <a:ext uri="{FF2B5EF4-FFF2-40B4-BE49-F238E27FC236}">
                <a16:creationId xmlns:a16="http://schemas.microsoft.com/office/drawing/2014/main" id="{575C7465-07EF-7A21-5410-64692641D0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57636" y="5935626"/>
            <a:ext cx="876300" cy="344710"/>
          </a:xfrm>
          <a:prstGeom prst="rect">
            <a:avLst/>
          </a:prstGeom>
        </p:spPr>
      </p:pic>
      <p:sp>
        <p:nvSpPr>
          <p:cNvPr id="72" name="TextBox 71">
            <a:extLst>
              <a:ext uri="{FF2B5EF4-FFF2-40B4-BE49-F238E27FC236}">
                <a16:creationId xmlns:a16="http://schemas.microsoft.com/office/drawing/2014/main" id="{D792D195-734D-9069-3DD5-B44FABD71660}"/>
              </a:ext>
            </a:extLst>
          </p:cNvPr>
          <p:cNvSpPr txBox="1"/>
          <p:nvPr/>
        </p:nvSpPr>
        <p:spPr>
          <a:xfrm>
            <a:off x="5698521" y="6031037"/>
            <a:ext cx="794530" cy="307777"/>
          </a:xfrm>
          <a:prstGeom prst="rect">
            <a:avLst/>
          </a:prstGeom>
          <a:noFill/>
        </p:spPr>
        <p:txBody>
          <a:bodyPr wrap="square" lIns="0" tIns="0" rIns="0" bIns="0" rtlCol="0">
            <a:spAutoFit/>
          </a:bodyPr>
          <a:lstStyle/>
          <a:p>
            <a:pPr algn="ct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Year  &lt;</a:t>
            </a:r>
            <a:r>
              <a:rPr lang="en-US" sz="1000" dirty="0" err="1">
                <a:solidFill>
                  <a:schemeClr val="accent1">
                    <a:lumMod val="60000"/>
                    <a:lumOff val="40000"/>
                  </a:schemeClr>
                </a:solidFill>
                <a:latin typeface="Cormorant Infant Medium" pitchFamily="2" charset="0"/>
                <a:ea typeface="Cormorant Infant Medium" pitchFamily="2" charset="0"/>
                <a:cs typeface="Cormorant Infant Medium" pitchFamily="2" charset="0"/>
              </a:rPr>
              <a:t>PickYear</a:t>
            </a:r>
            <a:r>
              <a:rPr lang="en-US" sz="1000" dirty="0">
                <a:solidFill>
                  <a:schemeClr val="accent1">
                    <a:lumMod val="60000"/>
                    <a:lumOff val="40000"/>
                  </a:schemeClr>
                </a:solidFill>
                <a:latin typeface="Cormorant Infant Medium" pitchFamily="2" charset="0"/>
                <a:ea typeface="Cormorant Infant Medium" pitchFamily="2" charset="0"/>
                <a:cs typeface="Cormorant Infant Medium" pitchFamily="2" charset="0"/>
              </a:rPr>
              <a:t>&gt;</a:t>
            </a:r>
          </a:p>
        </p:txBody>
      </p:sp>
    </p:spTree>
    <p:extLst>
      <p:ext uri="{BB962C8B-B14F-4D97-AF65-F5344CB8AC3E}">
        <p14:creationId xmlns:p14="http://schemas.microsoft.com/office/powerpoint/2010/main" val="91847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up)">
                                      <p:cBhvr>
                                        <p:cTn id="7" dur="500"/>
                                        <p:tgtEl>
                                          <p:spTgt spid="4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up)">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up)">
                                      <p:cBhvr>
                                        <p:cTn id="15" dur="500"/>
                                        <p:tgtEl>
                                          <p:spTgt spid="29"/>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wipe(up)">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up)">
                                      <p:cBhvr>
                                        <p:cTn id="23" dur="500"/>
                                        <p:tgtEl>
                                          <p:spTgt spid="21"/>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500"/>
                                        <p:tgtEl>
                                          <p:spTgt spid="19"/>
                                        </p:tgtEl>
                                      </p:cBhvr>
                                    </p:animEffect>
                                  </p:childTnLst>
                                </p:cTn>
                              </p:par>
                              <p:par>
                                <p:cTn id="27" presetID="22" presetClass="entr" presetSubtype="1" fill="hold" nodeType="withEffect">
                                  <p:stCondLst>
                                    <p:cond delay="0"/>
                                  </p:stCondLst>
                                  <p:childTnLst>
                                    <p:set>
                                      <p:cBhvr>
                                        <p:cTn id="28" dur="1" fill="hold">
                                          <p:stCondLst>
                                            <p:cond delay="0"/>
                                          </p:stCondLst>
                                        </p:cTn>
                                        <p:tgtEl>
                                          <p:spTgt spid="65"/>
                                        </p:tgtEl>
                                        <p:attrNameLst>
                                          <p:attrName>style.visibility</p:attrName>
                                        </p:attrNameLst>
                                      </p:cBhvr>
                                      <p:to>
                                        <p:strVal val="visible"/>
                                      </p:to>
                                    </p:set>
                                    <p:animEffect transition="in" filter="wipe(up)">
                                      <p:cBhvr>
                                        <p:cTn id="29" dur="500"/>
                                        <p:tgtEl>
                                          <p:spTgt spid="65"/>
                                        </p:tgtEl>
                                      </p:cBhvr>
                                    </p:animEffect>
                                  </p:childTnLst>
                                </p:cTn>
                              </p:par>
                              <p:par>
                                <p:cTn id="30" presetID="22" presetClass="entr" presetSubtype="1"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left)">
                                      <p:cBhvr>
                                        <p:cTn id="40" dur="500"/>
                                        <p:tgtEl>
                                          <p:spTgt spid="2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wipe(left)">
                                      <p:cBhvr>
                                        <p:cTn id="48" dur="500"/>
                                        <p:tgtEl>
                                          <p:spTgt spid="6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animEffect transition="in" filter="wipe(left)">
                                      <p:cBhvr>
                                        <p:cTn id="51" dur="500"/>
                                        <p:tgtEl>
                                          <p:spTgt spid="69"/>
                                        </p:tgtEl>
                                      </p:cBhvr>
                                    </p:animEffect>
                                  </p:childTnLst>
                                </p:cTn>
                              </p:par>
                              <p:par>
                                <p:cTn id="52" presetID="22" presetClass="entr" presetSubtype="8"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left)">
                                      <p:cBhvr>
                                        <p:cTn id="57" dur="500"/>
                                        <p:tgtEl>
                                          <p:spTgt spid="32"/>
                                        </p:tgtEl>
                                      </p:cBhvr>
                                    </p:animEffect>
                                  </p:childTnLst>
                                </p:cTn>
                              </p:par>
                              <p:par>
                                <p:cTn id="58" presetID="22" presetClass="entr" presetSubtype="8" fill="hold" nodeType="withEffect">
                                  <p:stCondLst>
                                    <p:cond delay="0"/>
                                  </p:stCondLst>
                                  <p:childTnLst>
                                    <p:set>
                                      <p:cBhvr>
                                        <p:cTn id="59" dur="1" fill="hold">
                                          <p:stCondLst>
                                            <p:cond delay="0"/>
                                          </p:stCondLst>
                                        </p:cTn>
                                        <p:tgtEl>
                                          <p:spTgt spid="59"/>
                                        </p:tgtEl>
                                        <p:attrNameLst>
                                          <p:attrName>style.visibility</p:attrName>
                                        </p:attrNameLst>
                                      </p:cBhvr>
                                      <p:to>
                                        <p:strVal val="visible"/>
                                      </p:to>
                                    </p:set>
                                    <p:animEffect transition="in" filter="wipe(left)">
                                      <p:cBhvr>
                                        <p:cTn id="60" dur="500"/>
                                        <p:tgtEl>
                                          <p:spTgt spid="5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up)">
                                      <p:cBhvr>
                                        <p:cTn id="65" dur="500"/>
                                        <p:tgtEl>
                                          <p:spTgt spid="28"/>
                                        </p:tgtEl>
                                      </p:cBhvr>
                                    </p:animEffect>
                                  </p:childTnLst>
                                </p:cTn>
                              </p:par>
                              <p:par>
                                <p:cTn id="66" presetID="22" presetClass="entr" presetSubtype="1" fill="hold"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up)">
                                      <p:cBhvr>
                                        <p:cTn id="68" dur="500"/>
                                        <p:tgtEl>
                                          <p:spTgt spid="23"/>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72"/>
                                        </p:tgtEl>
                                        <p:attrNameLst>
                                          <p:attrName>style.visibility</p:attrName>
                                        </p:attrNameLst>
                                      </p:cBhvr>
                                      <p:to>
                                        <p:strVal val="visible"/>
                                      </p:to>
                                    </p:set>
                                    <p:animEffect transition="in" filter="wipe(up)">
                                      <p:cBhvr>
                                        <p:cTn id="71" dur="500"/>
                                        <p:tgtEl>
                                          <p:spTgt spid="72"/>
                                        </p:tgtEl>
                                      </p:cBhvr>
                                    </p:animEffect>
                                  </p:childTnLst>
                                </p:cTn>
                              </p:par>
                              <p:par>
                                <p:cTn id="72" presetID="22" presetClass="entr" presetSubtype="1" fill="hold" nodeType="with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wipe(up)">
                                      <p:cBhvr>
                                        <p:cTn id="74"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32" grpId="0"/>
      <p:bldP spid="26" grpId="0"/>
      <p:bldP spid="27" grpId="0"/>
      <p:bldP spid="19" grpId="0"/>
      <p:bldP spid="21" grpId="0"/>
      <p:bldP spid="30" grpId="0"/>
      <p:bldP spid="46" grpId="0"/>
      <p:bldP spid="28" grpId="0"/>
      <p:bldP spid="7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51752-30EA-AEBB-71F5-207EB4261F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34F935-B787-B5A9-5C66-BAB6EEE64F8F}"/>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AAF67340-3F90-D140-FE1E-C8F64C5FA40E}"/>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18" name="TextBox 17">
            <a:extLst>
              <a:ext uri="{FF2B5EF4-FFF2-40B4-BE49-F238E27FC236}">
                <a16:creationId xmlns:a16="http://schemas.microsoft.com/office/drawing/2014/main" id="{F33194BD-8807-FB3E-D6B9-CDC739F82A74}"/>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20" name="TextBox 19">
            <a:extLst>
              <a:ext uri="{FF2B5EF4-FFF2-40B4-BE49-F238E27FC236}">
                <a16:creationId xmlns:a16="http://schemas.microsoft.com/office/drawing/2014/main" id="{BA05F339-CDFD-DED3-1E31-086BDED7D38D}"/>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37" name="Graphic 36">
            <a:extLst>
              <a:ext uri="{FF2B5EF4-FFF2-40B4-BE49-F238E27FC236}">
                <a16:creationId xmlns:a16="http://schemas.microsoft.com/office/drawing/2014/main" id="{31662C0A-F1E0-4389-7812-023F044E0F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1560927"/>
            <a:ext cx="3785616" cy="539375"/>
          </a:xfrm>
          <a:prstGeom prst="rect">
            <a:avLst/>
          </a:prstGeom>
        </p:spPr>
      </p:pic>
      <p:pic>
        <p:nvPicPr>
          <p:cNvPr id="39" name="Graphic 38">
            <a:extLst>
              <a:ext uri="{FF2B5EF4-FFF2-40B4-BE49-F238E27FC236}">
                <a16:creationId xmlns:a16="http://schemas.microsoft.com/office/drawing/2014/main" id="{75C3A454-0227-91F0-EB13-FA7C333BC4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396067" cy="529387"/>
          </a:xfrm>
          <a:prstGeom prst="rect">
            <a:avLst/>
          </a:prstGeom>
        </p:spPr>
      </p:pic>
      <p:pic>
        <p:nvPicPr>
          <p:cNvPr id="41" name="Graphic 40">
            <a:extLst>
              <a:ext uri="{FF2B5EF4-FFF2-40B4-BE49-F238E27FC236}">
                <a16:creationId xmlns:a16="http://schemas.microsoft.com/office/drawing/2014/main" id="{9E23A8D2-4A9B-8371-5CB8-597FCDF6BC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892470"/>
            <a:ext cx="3396067" cy="529387"/>
          </a:xfrm>
          <a:prstGeom prst="rect">
            <a:avLst/>
          </a:prstGeom>
        </p:spPr>
      </p:pic>
      <p:pic>
        <p:nvPicPr>
          <p:cNvPr id="47" name="Graphic 46">
            <a:extLst>
              <a:ext uri="{FF2B5EF4-FFF2-40B4-BE49-F238E27FC236}">
                <a16:creationId xmlns:a16="http://schemas.microsoft.com/office/drawing/2014/main" id="{0934F445-805E-0A05-D30C-DC47DB2F35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3554425"/>
            <a:ext cx="3396067" cy="529387"/>
          </a:xfrm>
          <a:prstGeom prst="rect">
            <a:avLst/>
          </a:prstGeom>
        </p:spPr>
      </p:pic>
      <p:pic>
        <p:nvPicPr>
          <p:cNvPr id="48" name="Graphic 47">
            <a:extLst>
              <a:ext uri="{FF2B5EF4-FFF2-40B4-BE49-F238E27FC236}">
                <a16:creationId xmlns:a16="http://schemas.microsoft.com/office/drawing/2014/main" id="{A1B41410-D302-78B5-AF86-E0BB74E334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218760"/>
            <a:ext cx="3396067" cy="529387"/>
          </a:xfrm>
          <a:prstGeom prst="rect">
            <a:avLst/>
          </a:prstGeom>
        </p:spPr>
      </p:pic>
      <p:pic>
        <p:nvPicPr>
          <p:cNvPr id="49" name="Graphic 48">
            <a:extLst>
              <a:ext uri="{FF2B5EF4-FFF2-40B4-BE49-F238E27FC236}">
                <a16:creationId xmlns:a16="http://schemas.microsoft.com/office/drawing/2014/main" id="{4B7C79FE-E32E-38BD-EA90-F499EF11B3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883095"/>
            <a:ext cx="3396067" cy="529387"/>
          </a:xfrm>
          <a:prstGeom prst="rect">
            <a:avLst/>
          </a:prstGeom>
        </p:spPr>
      </p:pic>
      <p:sp>
        <p:nvSpPr>
          <p:cNvPr id="24" name="Title 1">
            <a:extLst>
              <a:ext uri="{FF2B5EF4-FFF2-40B4-BE49-F238E27FC236}">
                <a16:creationId xmlns:a16="http://schemas.microsoft.com/office/drawing/2014/main" id="{4EF46AF1-8A6F-C4F2-5781-F9D79D87217D}"/>
              </a:ext>
            </a:extLst>
          </p:cNvPr>
          <p:cNvSpPr txBox="1">
            <a:spLocks/>
          </p:cNvSpPr>
          <p:nvPr/>
        </p:nvSpPr>
        <p:spPr>
          <a:xfrm>
            <a:off x="5661061" y="1512751"/>
            <a:ext cx="5198723"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A qualifying entity (‘Legacy LLC' or Company) sponsors a LIRA compliant retirement plan.</a:t>
            </a:r>
          </a:p>
        </p:txBody>
      </p:sp>
      <p:pic>
        <p:nvPicPr>
          <p:cNvPr id="25" name="Graphic 24">
            <a:extLst>
              <a:ext uri="{FF2B5EF4-FFF2-40B4-BE49-F238E27FC236}">
                <a16:creationId xmlns:a16="http://schemas.microsoft.com/office/drawing/2014/main" id="{E438974F-B938-EFA6-6695-BBD5E5C062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sp>
        <p:nvSpPr>
          <p:cNvPr id="26" name="TextBox 25">
            <a:extLst>
              <a:ext uri="{FF2B5EF4-FFF2-40B4-BE49-F238E27FC236}">
                <a16:creationId xmlns:a16="http://schemas.microsoft.com/office/drawing/2014/main" id="{57AC83CD-AC25-7551-7C93-547B5511523D}"/>
              </a:ext>
            </a:extLst>
          </p:cNvPr>
          <p:cNvSpPr txBox="1"/>
          <p:nvPr/>
        </p:nvSpPr>
        <p:spPr>
          <a:xfrm>
            <a:off x="4849401" y="2790559"/>
            <a:ext cx="6387783" cy="589649"/>
          </a:xfrm>
          <a:prstGeom prst="rect">
            <a:avLst/>
          </a:prstGeom>
          <a:noFill/>
        </p:spPr>
        <p:txBody>
          <a:bodyPr wrap="square" lIns="0" tIns="0" rIns="0" bIns="0">
            <a:spAutoFit/>
          </a:bodyPr>
          <a:lstStyle/>
          <a:p>
            <a:pPr algn="r">
              <a:lnSpc>
                <a:spcPts val="2400"/>
              </a:lnSpc>
            </a:pPr>
            <a:r>
              <a:rPr lang="en-US" sz="1400" i="0" u="none" strike="noStrike" baseline="0" dirty="0">
                <a:solidFill>
                  <a:schemeClr val="bg1"/>
                </a:solidFill>
                <a:latin typeface="Cormorant Infant" pitchFamily="2" charset="0"/>
              </a:rPr>
              <a:t>This entity must have earned income, may require entity planning.</a:t>
            </a:r>
          </a:p>
          <a:p>
            <a:pPr algn="r">
              <a:lnSpc>
                <a:spcPts val="2400"/>
              </a:lnSpc>
            </a:pPr>
            <a:r>
              <a:rPr lang="en-US" sz="1400" i="0" u="none" strike="noStrike" baseline="0" dirty="0">
                <a:solidFill>
                  <a:schemeClr val="bg1"/>
                </a:solidFill>
                <a:latin typeface="Cormorant Infant" pitchFamily="2" charset="0"/>
              </a:rPr>
              <a:t> Ensure the new or amended plan allows for the purchase of life insurance. </a:t>
            </a:r>
          </a:p>
        </p:txBody>
      </p:sp>
      <p:grpSp>
        <p:nvGrpSpPr>
          <p:cNvPr id="27" name="Graphic 2">
            <a:extLst>
              <a:ext uri="{FF2B5EF4-FFF2-40B4-BE49-F238E27FC236}">
                <a16:creationId xmlns:a16="http://schemas.microsoft.com/office/drawing/2014/main" id="{15824590-7344-B5F4-90BC-6009BF463C2B}"/>
              </a:ext>
            </a:extLst>
          </p:cNvPr>
          <p:cNvGrpSpPr/>
          <p:nvPr/>
        </p:nvGrpSpPr>
        <p:grpSpPr>
          <a:xfrm>
            <a:off x="4839126" y="1560927"/>
            <a:ext cx="647282" cy="647282"/>
            <a:chOff x="4839126" y="1560927"/>
            <a:chExt cx="647282" cy="647282"/>
          </a:xfrm>
        </p:grpSpPr>
        <p:sp>
          <p:nvSpPr>
            <p:cNvPr id="28" name="Oval 27">
              <a:extLst>
                <a:ext uri="{FF2B5EF4-FFF2-40B4-BE49-F238E27FC236}">
                  <a16:creationId xmlns:a16="http://schemas.microsoft.com/office/drawing/2014/main" id="{04459A40-1688-BA96-77D0-602DEDB3BF9A}"/>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9" name="Freeform: Shape 28">
              <a:extLst>
                <a:ext uri="{FF2B5EF4-FFF2-40B4-BE49-F238E27FC236}">
                  <a16:creationId xmlns:a16="http://schemas.microsoft.com/office/drawing/2014/main" id="{7D44D2E1-4213-E11D-D062-D8E37DA0C505}"/>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30" name="TextBox 29">
            <a:extLst>
              <a:ext uri="{FF2B5EF4-FFF2-40B4-BE49-F238E27FC236}">
                <a16:creationId xmlns:a16="http://schemas.microsoft.com/office/drawing/2014/main" id="{F8D0B72D-C27E-D10B-D07F-BB3BCDAB2FFA}"/>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1</a:t>
            </a:r>
            <a:endParaRPr lang="en-US" sz="2400" dirty="0"/>
          </a:p>
        </p:txBody>
      </p:sp>
      <p:sp>
        <p:nvSpPr>
          <p:cNvPr id="2" name="TextBox 1">
            <a:extLst>
              <a:ext uri="{FF2B5EF4-FFF2-40B4-BE49-F238E27FC236}">
                <a16:creationId xmlns:a16="http://schemas.microsoft.com/office/drawing/2014/main" id="{6851DF9F-ED62-AE19-90AC-B643A8CA2378}"/>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3" name="TextBox 2">
            <a:extLst>
              <a:ext uri="{FF2B5EF4-FFF2-40B4-BE49-F238E27FC236}">
                <a16:creationId xmlns:a16="http://schemas.microsoft.com/office/drawing/2014/main" id="{307602C8-81B0-4EEF-E849-AC3C39B0A45D}"/>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6" name="TextBox 5">
            <a:extLst>
              <a:ext uri="{FF2B5EF4-FFF2-40B4-BE49-F238E27FC236}">
                <a16:creationId xmlns:a16="http://schemas.microsoft.com/office/drawing/2014/main" id="{A5E64264-3B56-BFF9-218E-EA3AFD61982F}"/>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7" name="TextBox 6">
            <a:extLst>
              <a:ext uri="{FF2B5EF4-FFF2-40B4-BE49-F238E27FC236}">
                <a16:creationId xmlns:a16="http://schemas.microsoft.com/office/drawing/2014/main" id="{35F4C180-8BA9-760E-4C3C-ECCB5A3E4B68}"/>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8" name="TextBox 7">
            <a:extLst>
              <a:ext uri="{FF2B5EF4-FFF2-40B4-BE49-F238E27FC236}">
                <a16:creationId xmlns:a16="http://schemas.microsoft.com/office/drawing/2014/main" id="{CD89D4CB-76BF-5312-F2FA-55E68C3FA56F}"/>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9" name="TextBox 8">
            <a:extLst>
              <a:ext uri="{FF2B5EF4-FFF2-40B4-BE49-F238E27FC236}">
                <a16:creationId xmlns:a16="http://schemas.microsoft.com/office/drawing/2014/main" id="{2985FC1E-24B4-AE12-597E-370C7CF26CF0}"/>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10" name="Rectangle 9">
            <a:hlinkClick r:id="rId9" action="ppaction://hlinksldjump"/>
            <a:extLst>
              <a:ext uri="{FF2B5EF4-FFF2-40B4-BE49-F238E27FC236}">
                <a16:creationId xmlns:a16="http://schemas.microsoft.com/office/drawing/2014/main" id="{FF4914B6-9AE8-1B84-7F89-E48FC9EFC535}"/>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10" action="ppaction://hlinksldjump"/>
            <a:extLst>
              <a:ext uri="{FF2B5EF4-FFF2-40B4-BE49-F238E27FC236}">
                <a16:creationId xmlns:a16="http://schemas.microsoft.com/office/drawing/2014/main" id="{447EE0B3-2C86-CAA7-6A23-49B64A579791}"/>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11" action="ppaction://hlinksldjump"/>
            <a:extLst>
              <a:ext uri="{FF2B5EF4-FFF2-40B4-BE49-F238E27FC236}">
                <a16:creationId xmlns:a16="http://schemas.microsoft.com/office/drawing/2014/main" id="{7426CACE-C14D-C207-B5CD-85D725C71575}"/>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hlinkClick r:id="rId12" action="ppaction://hlinksldjump"/>
            <a:extLst>
              <a:ext uri="{FF2B5EF4-FFF2-40B4-BE49-F238E27FC236}">
                <a16:creationId xmlns:a16="http://schemas.microsoft.com/office/drawing/2014/main" id="{BC2B928C-51BF-A29A-B3E3-9E6EBB157F1A}"/>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hlinkClick r:id="rId13" action="ppaction://hlinksldjump"/>
            <a:extLst>
              <a:ext uri="{FF2B5EF4-FFF2-40B4-BE49-F238E27FC236}">
                <a16:creationId xmlns:a16="http://schemas.microsoft.com/office/drawing/2014/main" id="{8FD9CD52-0487-D049-7E69-074B2068D8A0}"/>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14" action="ppaction://hlinksldjump"/>
            <a:extLst>
              <a:ext uri="{FF2B5EF4-FFF2-40B4-BE49-F238E27FC236}">
                <a16:creationId xmlns:a16="http://schemas.microsoft.com/office/drawing/2014/main" id="{C4F547DC-4227-D91A-DE52-524F0BF73B99}"/>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0147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39D52-335C-098C-034C-C0159B0280B8}"/>
            </a:ext>
          </a:extLst>
        </p:cNvPr>
        <p:cNvGrpSpPr/>
        <p:nvPr/>
      </p:nvGrpSpPr>
      <p:grpSpPr>
        <a:xfrm>
          <a:off x="0" y="0"/>
          <a:ext cx="0" cy="0"/>
          <a:chOff x="0" y="0"/>
          <a:chExt cx="0" cy="0"/>
        </a:xfrm>
      </p:grpSpPr>
      <p:pic>
        <p:nvPicPr>
          <p:cNvPr id="52" name="Graphic 51">
            <a:extLst>
              <a:ext uri="{FF2B5EF4-FFF2-40B4-BE49-F238E27FC236}">
                <a16:creationId xmlns:a16="http://schemas.microsoft.com/office/drawing/2014/main" id="{2AA6B303-0121-4214-FF78-BC5F6CE359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1560927"/>
            <a:ext cx="3396067" cy="529387"/>
          </a:xfrm>
          <a:prstGeom prst="rect">
            <a:avLst/>
          </a:prstGeom>
        </p:spPr>
      </p:pic>
      <p:sp>
        <p:nvSpPr>
          <p:cNvPr id="4" name="TextBox 3">
            <a:extLst>
              <a:ext uri="{FF2B5EF4-FFF2-40B4-BE49-F238E27FC236}">
                <a16:creationId xmlns:a16="http://schemas.microsoft.com/office/drawing/2014/main" id="{C7D4DFB5-8C09-C9B1-5F98-D86372E83551}"/>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7FA8F7F8-C43B-FFB8-CF30-E8EB04BA4395}"/>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31" name="TextBox 30">
            <a:extLst>
              <a:ext uri="{FF2B5EF4-FFF2-40B4-BE49-F238E27FC236}">
                <a16:creationId xmlns:a16="http://schemas.microsoft.com/office/drawing/2014/main" id="{8124F5EE-C124-601E-78AA-927BCF6C00F1}"/>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2" name="TextBox 31">
            <a:extLst>
              <a:ext uri="{FF2B5EF4-FFF2-40B4-BE49-F238E27FC236}">
                <a16:creationId xmlns:a16="http://schemas.microsoft.com/office/drawing/2014/main" id="{8FC639E3-73AD-3CD0-21C6-ADB5B3D5CFC7}"/>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40" name="Graphic 39">
            <a:extLst>
              <a:ext uri="{FF2B5EF4-FFF2-40B4-BE49-F238E27FC236}">
                <a16:creationId xmlns:a16="http://schemas.microsoft.com/office/drawing/2014/main" id="{D9C172F2-F0B8-431A-D58C-DECDA67463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785616" cy="539375"/>
          </a:xfrm>
          <a:prstGeom prst="rect">
            <a:avLst/>
          </a:prstGeom>
        </p:spPr>
      </p:pic>
      <p:pic>
        <p:nvPicPr>
          <p:cNvPr id="42" name="Graphic 41">
            <a:extLst>
              <a:ext uri="{FF2B5EF4-FFF2-40B4-BE49-F238E27FC236}">
                <a16:creationId xmlns:a16="http://schemas.microsoft.com/office/drawing/2014/main" id="{C497AD78-C050-4F4D-A744-9186A11196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2892470"/>
            <a:ext cx="3396067" cy="529387"/>
          </a:xfrm>
          <a:prstGeom prst="rect">
            <a:avLst/>
          </a:prstGeom>
        </p:spPr>
      </p:pic>
      <p:pic>
        <p:nvPicPr>
          <p:cNvPr id="43" name="Graphic 42">
            <a:extLst>
              <a:ext uri="{FF2B5EF4-FFF2-40B4-BE49-F238E27FC236}">
                <a16:creationId xmlns:a16="http://schemas.microsoft.com/office/drawing/2014/main" id="{3F1CE7F1-B450-0EE2-A62B-7FF837A62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3554425"/>
            <a:ext cx="3396067" cy="529387"/>
          </a:xfrm>
          <a:prstGeom prst="rect">
            <a:avLst/>
          </a:prstGeom>
        </p:spPr>
      </p:pic>
      <p:pic>
        <p:nvPicPr>
          <p:cNvPr id="44" name="Graphic 43">
            <a:extLst>
              <a:ext uri="{FF2B5EF4-FFF2-40B4-BE49-F238E27FC236}">
                <a16:creationId xmlns:a16="http://schemas.microsoft.com/office/drawing/2014/main" id="{C7A66C49-B1F4-DB9B-C2C8-656B500BBA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4218760"/>
            <a:ext cx="3396067" cy="529387"/>
          </a:xfrm>
          <a:prstGeom prst="rect">
            <a:avLst/>
          </a:prstGeom>
        </p:spPr>
      </p:pic>
      <p:pic>
        <p:nvPicPr>
          <p:cNvPr id="45" name="Graphic 44">
            <a:extLst>
              <a:ext uri="{FF2B5EF4-FFF2-40B4-BE49-F238E27FC236}">
                <a16:creationId xmlns:a16="http://schemas.microsoft.com/office/drawing/2014/main" id="{E38824D1-D4E7-7C6F-0F41-0B34125E77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4883095"/>
            <a:ext cx="3396067" cy="529387"/>
          </a:xfrm>
          <a:prstGeom prst="rect">
            <a:avLst/>
          </a:prstGeom>
        </p:spPr>
      </p:pic>
      <p:sp>
        <p:nvSpPr>
          <p:cNvPr id="27" name="Title 1">
            <a:extLst>
              <a:ext uri="{FF2B5EF4-FFF2-40B4-BE49-F238E27FC236}">
                <a16:creationId xmlns:a16="http://schemas.microsoft.com/office/drawing/2014/main" id="{63190CD0-1375-0E99-2B23-11FD388975AA}"/>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Money from an existing retirement account is transferred to the LIRA Compliant plan</a:t>
            </a:r>
          </a:p>
        </p:txBody>
      </p:sp>
      <p:pic>
        <p:nvPicPr>
          <p:cNvPr id="28" name="Graphic 27">
            <a:extLst>
              <a:ext uri="{FF2B5EF4-FFF2-40B4-BE49-F238E27FC236}">
                <a16:creationId xmlns:a16="http://schemas.microsoft.com/office/drawing/2014/main" id="{6F3C9122-498A-1996-4374-80158C788E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29" name="Graphic 2">
            <a:extLst>
              <a:ext uri="{FF2B5EF4-FFF2-40B4-BE49-F238E27FC236}">
                <a16:creationId xmlns:a16="http://schemas.microsoft.com/office/drawing/2014/main" id="{1C0EF59F-5DCE-6C62-5713-79ACDF1187B4}"/>
              </a:ext>
            </a:extLst>
          </p:cNvPr>
          <p:cNvGrpSpPr/>
          <p:nvPr/>
        </p:nvGrpSpPr>
        <p:grpSpPr>
          <a:xfrm>
            <a:off x="4839126" y="1560927"/>
            <a:ext cx="647282" cy="647282"/>
            <a:chOff x="4839126" y="1560927"/>
            <a:chExt cx="647282" cy="647282"/>
          </a:xfrm>
        </p:grpSpPr>
        <p:sp>
          <p:nvSpPr>
            <p:cNvPr id="30" name="Oval 29">
              <a:extLst>
                <a:ext uri="{FF2B5EF4-FFF2-40B4-BE49-F238E27FC236}">
                  <a16:creationId xmlns:a16="http://schemas.microsoft.com/office/drawing/2014/main" id="{6E6F7FAD-240C-8273-8643-0F1A9CD4AEAF}"/>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b="1"/>
            </a:p>
          </p:txBody>
        </p:sp>
        <p:sp>
          <p:nvSpPr>
            <p:cNvPr id="33" name="Freeform: Shape 32">
              <a:extLst>
                <a:ext uri="{FF2B5EF4-FFF2-40B4-BE49-F238E27FC236}">
                  <a16:creationId xmlns:a16="http://schemas.microsoft.com/office/drawing/2014/main" id="{8149B4DC-75C1-361A-D3DD-49EAAD1E67A0}"/>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b="1"/>
            </a:p>
          </p:txBody>
        </p:sp>
      </p:grpSp>
      <p:sp>
        <p:nvSpPr>
          <p:cNvPr id="34" name="TextBox 33">
            <a:extLst>
              <a:ext uri="{FF2B5EF4-FFF2-40B4-BE49-F238E27FC236}">
                <a16:creationId xmlns:a16="http://schemas.microsoft.com/office/drawing/2014/main" id="{11026847-8D12-CE21-768E-4A92D5E342AB}"/>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2</a:t>
            </a:r>
            <a:endParaRPr lang="en-US" sz="2400" dirty="0"/>
          </a:p>
        </p:txBody>
      </p:sp>
      <p:graphicFrame>
        <p:nvGraphicFramePr>
          <p:cNvPr id="35" name="Table 34">
            <a:extLst>
              <a:ext uri="{FF2B5EF4-FFF2-40B4-BE49-F238E27FC236}">
                <a16:creationId xmlns:a16="http://schemas.microsoft.com/office/drawing/2014/main" id="{B66DB3C5-D22B-1EB8-DF3F-EDDC07061ED6}"/>
              </a:ext>
            </a:extLst>
          </p:cNvPr>
          <p:cNvGraphicFramePr>
            <a:graphicFrameLocks noGrp="1"/>
          </p:cNvGraphicFramePr>
          <p:nvPr>
            <p:extLst>
              <p:ext uri="{D42A27DB-BD31-4B8C-83A1-F6EECF244321}">
                <p14:modId xmlns:p14="http://schemas.microsoft.com/office/powerpoint/2010/main" val="3387888635"/>
              </p:ext>
            </p:extLst>
          </p:nvPr>
        </p:nvGraphicFramePr>
        <p:xfrm>
          <a:off x="4834070" y="2692599"/>
          <a:ext cx="6403113" cy="884314"/>
        </p:xfrm>
        <a:graphic>
          <a:graphicData uri="http://schemas.openxmlformats.org/drawingml/2006/table">
            <a:tbl>
              <a:tblPr>
                <a:tableStyleId>{5C22544A-7EE6-4342-B048-85BDC9FD1C3A}</a:tableStyleId>
              </a:tblPr>
              <a:tblGrid>
                <a:gridCol w="4613755">
                  <a:extLst>
                    <a:ext uri="{9D8B030D-6E8A-4147-A177-3AD203B41FA5}">
                      <a16:colId xmlns:a16="http://schemas.microsoft.com/office/drawing/2014/main" val="1592670450"/>
                    </a:ext>
                  </a:extLst>
                </a:gridCol>
                <a:gridCol w="1789358">
                  <a:extLst>
                    <a:ext uri="{9D8B030D-6E8A-4147-A177-3AD203B41FA5}">
                      <a16:colId xmlns:a16="http://schemas.microsoft.com/office/drawing/2014/main" val="4007013876"/>
                    </a:ext>
                  </a:extLst>
                </a:gridCol>
              </a:tblGrid>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TotalQPlan</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42157">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Amount Contributed Towards LIRA Strategy:</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ClientIRA</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2" name="TextBox 1">
            <a:extLst>
              <a:ext uri="{FF2B5EF4-FFF2-40B4-BE49-F238E27FC236}">
                <a16:creationId xmlns:a16="http://schemas.microsoft.com/office/drawing/2014/main" id="{2BF3A4FC-DF18-3AE3-FB20-C1878B8454D9}"/>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3" name="TextBox 2">
            <a:extLst>
              <a:ext uri="{FF2B5EF4-FFF2-40B4-BE49-F238E27FC236}">
                <a16:creationId xmlns:a16="http://schemas.microsoft.com/office/drawing/2014/main" id="{0698F1E4-88A4-CECC-7A96-4D41C8ED33C4}"/>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6" name="TextBox 5">
            <a:extLst>
              <a:ext uri="{FF2B5EF4-FFF2-40B4-BE49-F238E27FC236}">
                <a16:creationId xmlns:a16="http://schemas.microsoft.com/office/drawing/2014/main" id="{C55F532F-52FB-DE19-CDCA-DC80B0EC05FE}"/>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7" name="TextBox 6">
            <a:extLst>
              <a:ext uri="{FF2B5EF4-FFF2-40B4-BE49-F238E27FC236}">
                <a16:creationId xmlns:a16="http://schemas.microsoft.com/office/drawing/2014/main" id="{82B7E155-DE7E-B6B1-BC78-EB6BD1DA4917}"/>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8" name="TextBox 7">
            <a:extLst>
              <a:ext uri="{FF2B5EF4-FFF2-40B4-BE49-F238E27FC236}">
                <a16:creationId xmlns:a16="http://schemas.microsoft.com/office/drawing/2014/main" id="{E0DFB993-63FE-4E58-FC80-FEFF8132F445}"/>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9" name="TextBox 8">
            <a:extLst>
              <a:ext uri="{FF2B5EF4-FFF2-40B4-BE49-F238E27FC236}">
                <a16:creationId xmlns:a16="http://schemas.microsoft.com/office/drawing/2014/main" id="{F8E5A8C0-1C83-BB27-C477-29458D3789A9}"/>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10" name="Rectangle 9">
            <a:hlinkClick r:id="rId9" action="ppaction://hlinksldjump"/>
            <a:extLst>
              <a:ext uri="{FF2B5EF4-FFF2-40B4-BE49-F238E27FC236}">
                <a16:creationId xmlns:a16="http://schemas.microsoft.com/office/drawing/2014/main" id="{9FE136FD-A62B-F1E9-9514-3895EA7A5AA8}"/>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10" action="ppaction://hlinksldjump"/>
            <a:extLst>
              <a:ext uri="{FF2B5EF4-FFF2-40B4-BE49-F238E27FC236}">
                <a16:creationId xmlns:a16="http://schemas.microsoft.com/office/drawing/2014/main" id="{5D5E6979-32EE-0E27-35AF-C0560D4C3B45}"/>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11" action="ppaction://hlinksldjump"/>
            <a:extLst>
              <a:ext uri="{FF2B5EF4-FFF2-40B4-BE49-F238E27FC236}">
                <a16:creationId xmlns:a16="http://schemas.microsoft.com/office/drawing/2014/main" id="{A70CC517-42F3-089B-B1B9-52983F54DE7B}"/>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hlinkClick r:id="rId12" action="ppaction://hlinksldjump"/>
            <a:extLst>
              <a:ext uri="{FF2B5EF4-FFF2-40B4-BE49-F238E27FC236}">
                <a16:creationId xmlns:a16="http://schemas.microsoft.com/office/drawing/2014/main" id="{505E4FE4-8265-50F6-62C5-4B14DF117460}"/>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hlinkClick r:id="rId13" action="ppaction://hlinksldjump"/>
            <a:extLst>
              <a:ext uri="{FF2B5EF4-FFF2-40B4-BE49-F238E27FC236}">
                <a16:creationId xmlns:a16="http://schemas.microsoft.com/office/drawing/2014/main" id="{1BC39733-5A7E-9A49-2397-3F15C39B35B3}"/>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14" action="ppaction://hlinksldjump"/>
            <a:extLst>
              <a:ext uri="{FF2B5EF4-FFF2-40B4-BE49-F238E27FC236}">
                <a16:creationId xmlns:a16="http://schemas.microsoft.com/office/drawing/2014/main" id="{9DDDA6D1-8C41-30DD-2658-6AAE515C00A4}"/>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7020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C7545-6A1F-6F12-627F-89A128F10794}"/>
            </a:ext>
          </a:extLst>
        </p:cNvPr>
        <p:cNvGrpSpPr/>
        <p:nvPr/>
      </p:nvGrpSpPr>
      <p:grpSpPr>
        <a:xfrm>
          <a:off x="0" y="0"/>
          <a:ext cx="0" cy="0"/>
          <a:chOff x="0" y="0"/>
          <a:chExt cx="0" cy="0"/>
        </a:xfrm>
      </p:grpSpPr>
      <p:pic>
        <p:nvPicPr>
          <p:cNvPr id="53" name="Graphic 52">
            <a:extLst>
              <a:ext uri="{FF2B5EF4-FFF2-40B4-BE49-F238E27FC236}">
                <a16:creationId xmlns:a16="http://schemas.microsoft.com/office/drawing/2014/main" id="{86C29C09-AD70-8D6F-C8EC-3B4EDE2771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2892470"/>
            <a:ext cx="3785616" cy="539375"/>
          </a:xfrm>
          <a:prstGeom prst="rect">
            <a:avLst/>
          </a:prstGeom>
        </p:spPr>
      </p:pic>
      <p:pic>
        <p:nvPicPr>
          <p:cNvPr id="52" name="Graphic 51">
            <a:extLst>
              <a:ext uri="{FF2B5EF4-FFF2-40B4-BE49-F238E27FC236}">
                <a16:creationId xmlns:a16="http://schemas.microsoft.com/office/drawing/2014/main" id="{32D2E422-BB41-A6FB-E8CC-5327CB3FFF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1560927"/>
            <a:ext cx="3396067" cy="529387"/>
          </a:xfrm>
          <a:prstGeom prst="rect">
            <a:avLst/>
          </a:prstGeom>
        </p:spPr>
      </p:pic>
      <p:sp>
        <p:nvSpPr>
          <p:cNvPr id="4" name="TextBox 3">
            <a:extLst>
              <a:ext uri="{FF2B5EF4-FFF2-40B4-BE49-F238E27FC236}">
                <a16:creationId xmlns:a16="http://schemas.microsoft.com/office/drawing/2014/main" id="{75C0AF4D-A750-12F2-C2B5-A5EC929530D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685663F1-0945-B85F-E46E-00EF6EC248C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28" name="TextBox 27">
            <a:extLst>
              <a:ext uri="{FF2B5EF4-FFF2-40B4-BE49-F238E27FC236}">
                <a16:creationId xmlns:a16="http://schemas.microsoft.com/office/drawing/2014/main" id="{DF02FD13-F7DD-7643-EF56-E942A28841E9}"/>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2" name="TextBox 31">
            <a:extLst>
              <a:ext uri="{FF2B5EF4-FFF2-40B4-BE49-F238E27FC236}">
                <a16:creationId xmlns:a16="http://schemas.microsoft.com/office/drawing/2014/main" id="{A3E68DB3-B107-30A7-BABC-2B2BFB426E80}"/>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35" name="Graphic 34">
            <a:extLst>
              <a:ext uri="{FF2B5EF4-FFF2-40B4-BE49-F238E27FC236}">
                <a16:creationId xmlns:a16="http://schemas.microsoft.com/office/drawing/2014/main" id="{69E32E2A-4DF6-D76C-851C-FBCE6AB68C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396067" cy="529387"/>
          </a:xfrm>
          <a:prstGeom prst="rect">
            <a:avLst/>
          </a:prstGeom>
        </p:spPr>
      </p:pic>
      <p:pic>
        <p:nvPicPr>
          <p:cNvPr id="43" name="Graphic 42">
            <a:extLst>
              <a:ext uri="{FF2B5EF4-FFF2-40B4-BE49-F238E27FC236}">
                <a16:creationId xmlns:a16="http://schemas.microsoft.com/office/drawing/2014/main" id="{73657E4D-E812-2A25-B895-E7527799DD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3554425"/>
            <a:ext cx="3396067" cy="529387"/>
          </a:xfrm>
          <a:prstGeom prst="rect">
            <a:avLst/>
          </a:prstGeom>
        </p:spPr>
      </p:pic>
      <p:pic>
        <p:nvPicPr>
          <p:cNvPr id="44" name="Graphic 43">
            <a:extLst>
              <a:ext uri="{FF2B5EF4-FFF2-40B4-BE49-F238E27FC236}">
                <a16:creationId xmlns:a16="http://schemas.microsoft.com/office/drawing/2014/main" id="{55AFFC9C-6124-39DD-1E07-C4C7009E56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218760"/>
            <a:ext cx="3396067" cy="529387"/>
          </a:xfrm>
          <a:prstGeom prst="rect">
            <a:avLst/>
          </a:prstGeom>
        </p:spPr>
      </p:pic>
      <p:pic>
        <p:nvPicPr>
          <p:cNvPr id="45" name="Graphic 44">
            <a:extLst>
              <a:ext uri="{FF2B5EF4-FFF2-40B4-BE49-F238E27FC236}">
                <a16:creationId xmlns:a16="http://schemas.microsoft.com/office/drawing/2014/main" id="{CEE9A3E2-CAD8-A987-CCE8-E3729E3DE7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883095"/>
            <a:ext cx="3396067" cy="529387"/>
          </a:xfrm>
          <a:prstGeom prst="rect">
            <a:avLst/>
          </a:prstGeom>
        </p:spPr>
      </p:pic>
      <p:graphicFrame>
        <p:nvGraphicFramePr>
          <p:cNvPr id="3" name="Table 2">
            <a:extLst>
              <a:ext uri="{FF2B5EF4-FFF2-40B4-BE49-F238E27FC236}">
                <a16:creationId xmlns:a16="http://schemas.microsoft.com/office/drawing/2014/main" id="{4A13DB0E-E4F3-8792-B91A-4F58A8609CF1}"/>
              </a:ext>
            </a:extLst>
          </p:cNvPr>
          <p:cNvGraphicFramePr>
            <a:graphicFrameLocks noGrp="1"/>
          </p:cNvGraphicFramePr>
          <p:nvPr>
            <p:extLst>
              <p:ext uri="{D42A27DB-BD31-4B8C-83A1-F6EECF244321}">
                <p14:modId xmlns:p14="http://schemas.microsoft.com/office/powerpoint/2010/main" val="2324113307"/>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Annual Funding into Life Insurance: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&lt;Premium&gt;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DeathBenefit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Policy Fully Funded After:</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PremYrs</a:t>
                      </a:r>
                      <a:r>
                        <a:rPr lang="en-US" sz="1400" b="0" kern="1200" dirty="0">
                          <a:solidFill>
                            <a:schemeClr val="bg1"/>
                          </a:solidFill>
                          <a:latin typeface="Cormorant Infant" pitchFamily="2" charset="0"/>
                          <a:ea typeface="Cormorant Infant" pitchFamily="2" charset="0"/>
                          <a:cs typeface="Cormorant Infant" pitchFamily="2" charset="0"/>
                        </a:rPr>
                        <a:t>&gt; Years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7" name="Title 1">
            <a:extLst>
              <a:ext uri="{FF2B5EF4-FFF2-40B4-BE49-F238E27FC236}">
                <a16:creationId xmlns:a16="http://schemas.microsoft.com/office/drawing/2014/main" id="{E5A50FDC-B161-DAB6-6534-521ED23EF53F}"/>
              </a:ext>
            </a:extLst>
          </p:cNvPr>
          <p:cNvSpPr txBox="1">
            <a:spLocks/>
          </p:cNvSpPr>
          <p:nvPr/>
        </p:nvSpPr>
        <p:spPr>
          <a:xfrm>
            <a:off x="5661061" y="1512751"/>
            <a:ext cx="5576124"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LIRA compliant plan applies for life insurance;</a:t>
            </a:r>
          </a:p>
          <a:p>
            <a:pPr>
              <a:lnSpc>
                <a:spcPts val="2800"/>
              </a:lnSpc>
            </a:pPr>
            <a:r>
              <a:rPr lang="en-US" sz="2000" dirty="0">
                <a:solidFill>
                  <a:schemeClr val="accent2"/>
                </a:solidFill>
                <a:latin typeface="Cormorant Infant" pitchFamily="2" charset="0"/>
              </a:rPr>
              <a:t>paid for with pre-tax dollars.</a:t>
            </a:r>
          </a:p>
        </p:txBody>
      </p:sp>
      <p:pic>
        <p:nvPicPr>
          <p:cNvPr id="8" name="Graphic 7">
            <a:extLst>
              <a:ext uri="{FF2B5EF4-FFF2-40B4-BE49-F238E27FC236}">
                <a16:creationId xmlns:a16="http://schemas.microsoft.com/office/drawing/2014/main" id="{348F561B-0AD1-F076-489E-909D3FFD82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9" name="Graphic 2">
            <a:extLst>
              <a:ext uri="{FF2B5EF4-FFF2-40B4-BE49-F238E27FC236}">
                <a16:creationId xmlns:a16="http://schemas.microsoft.com/office/drawing/2014/main" id="{4EFA4A5E-42BE-33FF-3256-4508586443E3}"/>
              </a:ext>
            </a:extLst>
          </p:cNvPr>
          <p:cNvGrpSpPr/>
          <p:nvPr/>
        </p:nvGrpSpPr>
        <p:grpSpPr>
          <a:xfrm>
            <a:off x="4839126" y="1560927"/>
            <a:ext cx="647282" cy="647282"/>
            <a:chOff x="4839126" y="1560927"/>
            <a:chExt cx="647282" cy="647282"/>
          </a:xfrm>
        </p:grpSpPr>
        <p:sp>
          <p:nvSpPr>
            <p:cNvPr id="10" name="Oval 9">
              <a:extLst>
                <a:ext uri="{FF2B5EF4-FFF2-40B4-BE49-F238E27FC236}">
                  <a16:creationId xmlns:a16="http://schemas.microsoft.com/office/drawing/2014/main" id="{C66B37CB-D560-EEE7-25DA-AB6E9738BAEE}"/>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11" name="Freeform: Shape 10">
              <a:extLst>
                <a:ext uri="{FF2B5EF4-FFF2-40B4-BE49-F238E27FC236}">
                  <a16:creationId xmlns:a16="http://schemas.microsoft.com/office/drawing/2014/main" id="{474A7F5A-82AA-E796-9E1E-8BDC8D684FB4}"/>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12" name="TextBox 11">
            <a:extLst>
              <a:ext uri="{FF2B5EF4-FFF2-40B4-BE49-F238E27FC236}">
                <a16:creationId xmlns:a16="http://schemas.microsoft.com/office/drawing/2014/main" id="{FDE59F0E-4E1D-B8B3-0AB4-25E0E8323023}"/>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3</a:t>
            </a:r>
            <a:endParaRPr lang="en-US" sz="2400" dirty="0"/>
          </a:p>
        </p:txBody>
      </p:sp>
      <p:sp>
        <p:nvSpPr>
          <p:cNvPr id="2" name="TextBox 1">
            <a:extLst>
              <a:ext uri="{FF2B5EF4-FFF2-40B4-BE49-F238E27FC236}">
                <a16:creationId xmlns:a16="http://schemas.microsoft.com/office/drawing/2014/main" id="{2B78E99B-210A-562B-95E0-635AE70B8880}"/>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6" name="TextBox 5">
            <a:extLst>
              <a:ext uri="{FF2B5EF4-FFF2-40B4-BE49-F238E27FC236}">
                <a16:creationId xmlns:a16="http://schemas.microsoft.com/office/drawing/2014/main" id="{9E2BFB94-932E-DA03-E3B6-B9E6283C539A}"/>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17" name="TextBox 16">
            <a:extLst>
              <a:ext uri="{FF2B5EF4-FFF2-40B4-BE49-F238E27FC236}">
                <a16:creationId xmlns:a16="http://schemas.microsoft.com/office/drawing/2014/main" id="{5EE315BB-EDE2-07FA-9F8B-878157E1C185}"/>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18" name="TextBox 17">
            <a:extLst>
              <a:ext uri="{FF2B5EF4-FFF2-40B4-BE49-F238E27FC236}">
                <a16:creationId xmlns:a16="http://schemas.microsoft.com/office/drawing/2014/main" id="{BFC67F75-C576-467A-B1A0-AF39EDC6AC59}"/>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20" name="TextBox 19">
            <a:extLst>
              <a:ext uri="{FF2B5EF4-FFF2-40B4-BE49-F238E27FC236}">
                <a16:creationId xmlns:a16="http://schemas.microsoft.com/office/drawing/2014/main" id="{27D46611-DAB0-6BF4-4722-BCB1C1D5ECA3}"/>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21" name="TextBox 20">
            <a:extLst>
              <a:ext uri="{FF2B5EF4-FFF2-40B4-BE49-F238E27FC236}">
                <a16:creationId xmlns:a16="http://schemas.microsoft.com/office/drawing/2014/main" id="{D2998A7C-019E-C06A-2FEE-D5D507B78539}"/>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23" name="Rectangle 22">
            <a:hlinkClick r:id="rId9" action="ppaction://hlinksldjump"/>
            <a:extLst>
              <a:ext uri="{FF2B5EF4-FFF2-40B4-BE49-F238E27FC236}">
                <a16:creationId xmlns:a16="http://schemas.microsoft.com/office/drawing/2014/main" id="{58774014-51C0-BD67-A93A-970A2FA89B2D}"/>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10" action="ppaction://hlinksldjump"/>
            <a:extLst>
              <a:ext uri="{FF2B5EF4-FFF2-40B4-BE49-F238E27FC236}">
                <a16:creationId xmlns:a16="http://schemas.microsoft.com/office/drawing/2014/main" id="{6D91DCFA-8DF9-BCAE-8897-5CD31AD7D1FB}"/>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hlinkClick r:id="rId11" action="ppaction://hlinksldjump"/>
            <a:extLst>
              <a:ext uri="{FF2B5EF4-FFF2-40B4-BE49-F238E27FC236}">
                <a16:creationId xmlns:a16="http://schemas.microsoft.com/office/drawing/2014/main" id="{FB8DB176-3C80-ED7D-808D-0A3B88CB8066}"/>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hlinkClick r:id="rId12" action="ppaction://hlinksldjump"/>
            <a:extLst>
              <a:ext uri="{FF2B5EF4-FFF2-40B4-BE49-F238E27FC236}">
                <a16:creationId xmlns:a16="http://schemas.microsoft.com/office/drawing/2014/main" id="{682F2FA9-2AE8-B5D2-16FD-F2C1C875E739}"/>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hlinkClick r:id="rId13" action="ppaction://hlinksldjump"/>
            <a:extLst>
              <a:ext uri="{FF2B5EF4-FFF2-40B4-BE49-F238E27FC236}">
                <a16:creationId xmlns:a16="http://schemas.microsoft.com/office/drawing/2014/main" id="{784D9E71-3A80-2311-2F0A-64D0F348786E}"/>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hlinkClick r:id="rId14" action="ppaction://hlinksldjump"/>
            <a:extLst>
              <a:ext uri="{FF2B5EF4-FFF2-40B4-BE49-F238E27FC236}">
                <a16:creationId xmlns:a16="http://schemas.microsoft.com/office/drawing/2014/main" id="{1C761461-4ABD-81EC-7224-38FE29D670AC}"/>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6348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E556-B526-F0E9-D4A2-B033D7D6CF99}"/>
            </a:ext>
          </a:extLst>
        </p:cNvPr>
        <p:cNvGrpSpPr/>
        <p:nvPr/>
      </p:nvGrpSpPr>
      <p:grpSpPr>
        <a:xfrm>
          <a:off x="0" y="0"/>
          <a:ext cx="0" cy="0"/>
          <a:chOff x="0" y="0"/>
          <a:chExt cx="0" cy="0"/>
        </a:xfrm>
      </p:grpSpPr>
      <p:pic>
        <p:nvPicPr>
          <p:cNvPr id="53" name="Graphic 52">
            <a:extLst>
              <a:ext uri="{FF2B5EF4-FFF2-40B4-BE49-F238E27FC236}">
                <a16:creationId xmlns:a16="http://schemas.microsoft.com/office/drawing/2014/main" id="{35E25158-2E6E-2559-8CCC-3F0C3532E5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3554425"/>
            <a:ext cx="3785616" cy="539375"/>
          </a:xfrm>
          <a:prstGeom prst="rect">
            <a:avLst/>
          </a:prstGeom>
        </p:spPr>
      </p:pic>
      <p:pic>
        <p:nvPicPr>
          <p:cNvPr id="52" name="Graphic 51">
            <a:extLst>
              <a:ext uri="{FF2B5EF4-FFF2-40B4-BE49-F238E27FC236}">
                <a16:creationId xmlns:a16="http://schemas.microsoft.com/office/drawing/2014/main" id="{161B4BCD-94FE-3BA5-EA6A-F46616C9BE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1560927"/>
            <a:ext cx="3396067" cy="529387"/>
          </a:xfrm>
          <a:prstGeom prst="rect">
            <a:avLst/>
          </a:prstGeom>
        </p:spPr>
      </p:pic>
      <p:sp>
        <p:nvSpPr>
          <p:cNvPr id="4" name="TextBox 3">
            <a:extLst>
              <a:ext uri="{FF2B5EF4-FFF2-40B4-BE49-F238E27FC236}">
                <a16:creationId xmlns:a16="http://schemas.microsoft.com/office/drawing/2014/main" id="{362339F7-6FD0-2621-5A64-E34031909922}"/>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D6766E9B-A00B-72C6-F887-6291E51E0FE1}"/>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31" name="TextBox 30">
            <a:extLst>
              <a:ext uri="{FF2B5EF4-FFF2-40B4-BE49-F238E27FC236}">
                <a16:creationId xmlns:a16="http://schemas.microsoft.com/office/drawing/2014/main" id="{798AB887-AA35-B134-F799-D8F2B1E8648C}"/>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2" name="TextBox 31">
            <a:extLst>
              <a:ext uri="{FF2B5EF4-FFF2-40B4-BE49-F238E27FC236}">
                <a16:creationId xmlns:a16="http://schemas.microsoft.com/office/drawing/2014/main" id="{CDEBB410-4470-40C9-BFEF-615095C5865A}"/>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41" name="Graphic 40">
            <a:extLst>
              <a:ext uri="{FF2B5EF4-FFF2-40B4-BE49-F238E27FC236}">
                <a16:creationId xmlns:a16="http://schemas.microsoft.com/office/drawing/2014/main" id="{694A9618-9A5C-E688-5C41-189F4F2F2D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396067" cy="529387"/>
          </a:xfrm>
          <a:prstGeom prst="rect">
            <a:avLst/>
          </a:prstGeom>
        </p:spPr>
      </p:pic>
      <p:pic>
        <p:nvPicPr>
          <p:cNvPr id="42" name="Graphic 41">
            <a:extLst>
              <a:ext uri="{FF2B5EF4-FFF2-40B4-BE49-F238E27FC236}">
                <a16:creationId xmlns:a16="http://schemas.microsoft.com/office/drawing/2014/main" id="{A5C8DC43-C110-6462-A0B0-6D1D9D16AE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892470"/>
            <a:ext cx="3396067" cy="529387"/>
          </a:xfrm>
          <a:prstGeom prst="rect">
            <a:avLst/>
          </a:prstGeom>
        </p:spPr>
      </p:pic>
      <p:pic>
        <p:nvPicPr>
          <p:cNvPr id="44" name="Graphic 43">
            <a:extLst>
              <a:ext uri="{FF2B5EF4-FFF2-40B4-BE49-F238E27FC236}">
                <a16:creationId xmlns:a16="http://schemas.microsoft.com/office/drawing/2014/main" id="{03AA761D-10EC-05AB-06AC-E060D0FED0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218760"/>
            <a:ext cx="3396067" cy="529387"/>
          </a:xfrm>
          <a:prstGeom prst="rect">
            <a:avLst/>
          </a:prstGeom>
        </p:spPr>
      </p:pic>
      <p:pic>
        <p:nvPicPr>
          <p:cNvPr id="45" name="Graphic 44">
            <a:extLst>
              <a:ext uri="{FF2B5EF4-FFF2-40B4-BE49-F238E27FC236}">
                <a16:creationId xmlns:a16="http://schemas.microsoft.com/office/drawing/2014/main" id="{3FB5CAED-C917-85F0-DEE2-44EB02CEAB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883095"/>
            <a:ext cx="3396067" cy="529387"/>
          </a:xfrm>
          <a:prstGeom prst="rect">
            <a:avLst/>
          </a:prstGeom>
        </p:spPr>
      </p:pic>
      <p:sp>
        <p:nvSpPr>
          <p:cNvPr id="3" name="Title 1">
            <a:extLst>
              <a:ext uri="{FF2B5EF4-FFF2-40B4-BE49-F238E27FC236}">
                <a16:creationId xmlns:a16="http://schemas.microsoft.com/office/drawing/2014/main" id="{B277F280-C561-CE91-F035-A31CD71B1F4D}"/>
              </a:ext>
            </a:extLst>
          </p:cNvPr>
          <p:cNvSpPr txBox="1">
            <a:spLocks/>
          </p:cNvSpPr>
          <p:nvPr/>
        </p:nvSpPr>
        <p:spPr>
          <a:xfrm>
            <a:off x="5661061" y="1512751"/>
            <a:ext cx="5002181"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The LIRA Compliant plan distributes the policy at a discount to the plan participant</a:t>
            </a:r>
          </a:p>
        </p:txBody>
      </p:sp>
      <p:pic>
        <p:nvPicPr>
          <p:cNvPr id="7" name="Graphic 6">
            <a:extLst>
              <a:ext uri="{FF2B5EF4-FFF2-40B4-BE49-F238E27FC236}">
                <a16:creationId xmlns:a16="http://schemas.microsoft.com/office/drawing/2014/main" id="{64B2B19B-8E85-4F7B-8713-DE556B19A9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8" name="Graphic 2">
            <a:extLst>
              <a:ext uri="{FF2B5EF4-FFF2-40B4-BE49-F238E27FC236}">
                <a16:creationId xmlns:a16="http://schemas.microsoft.com/office/drawing/2014/main" id="{A83EB201-4FEB-4737-315F-0623A1EED5AD}"/>
              </a:ext>
            </a:extLst>
          </p:cNvPr>
          <p:cNvGrpSpPr/>
          <p:nvPr/>
        </p:nvGrpSpPr>
        <p:grpSpPr>
          <a:xfrm>
            <a:off x="4839126" y="1560927"/>
            <a:ext cx="647282" cy="647282"/>
            <a:chOff x="4839126" y="1560927"/>
            <a:chExt cx="647282" cy="647282"/>
          </a:xfrm>
        </p:grpSpPr>
        <p:sp>
          <p:nvSpPr>
            <p:cNvPr id="9" name="Oval 8">
              <a:extLst>
                <a:ext uri="{FF2B5EF4-FFF2-40B4-BE49-F238E27FC236}">
                  <a16:creationId xmlns:a16="http://schemas.microsoft.com/office/drawing/2014/main" id="{BAC94C36-4B67-2C50-F16C-E85E52F0A7BD}"/>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10" name="Freeform: Shape 9">
              <a:extLst>
                <a:ext uri="{FF2B5EF4-FFF2-40B4-BE49-F238E27FC236}">
                  <a16:creationId xmlns:a16="http://schemas.microsoft.com/office/drawing/2014/main" id="{F320E8D5-8352-96A1-3960-0F58A9F08398}"/>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11" name="TextBox 10">
            <a:extLst>
              <a:ext uri="{FF2B5EF4-FFF2-40B4-BE49-F238E27FC236}">
                <a16:creationId xmlns:a16="http://schemas.microsoft.com/office/drawing/2014/main" id="{9247E044-F57F-2498-5AF9-5EC63578BE4E}"/>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4</a:t>
            </a:r>
            <a:endParaRPr lang="en-US" sz="2400" dirty="0"/>
          </a:p>
        </p:txBody>
      </p:sp>
      <p:graphicFrame>
        <p:nvGraphicFramePr>
          <p:cNvPr id="12" name="Table 11">
            <a:extLst>
              <a:ext uri="{FF2B5EF4-FFF2-40B4-BE49-F238E27FC236}">
                <a16:creationId xmlns:a16="http://schemas.microsoft.com/office/drawing/2014/main" id="{5BD65010-ED67-9375-6CEC-B02C929E9ED8}"/>
              </a:ext>
            </a:extLst>
          </p:cNvPr>
          <p:cNvGraphicFramePr>
            <a:graphicFrameLocks noGrp="1"/>
          </p:cNvGraphicFramePr>
          <p:nvPr>
            <p:extLst>
              <p:ext uri="{D42A27DB-BD31-4B8C-83A1-F6EECF244321}">
                <p14:modId xmlns:p14="http://schemas.microsoft.com/office/powerpoint/2010/main" val="2319491668"/>
              </p:ext>
            </p:extLst>
          </p:nvPr>
        </p:nvGraphicFramePr>
        <p:xfrm>
          <a:off x="4839125" y="2692598"/>
          <a:ext cx="6398058" cy="1316736"/>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Total Contributions: </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LIRACost</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Estimated value of Distribution:</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SalePrice</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Percentage Discount: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&lt;Discount&gt;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740556193"/>
                  </a:ext>
                </a:extLst>
              </a:tr>
            </a:tbl>
          </a:graphicData>
        </a:graphic>
      </p:graphicFrame>
      <p:sp>
        <p:nvSpPr>
          <p:cNvPr id="13" name="TextBox 12">
            <a:extLst>
              <a:ext uri="{FF2B5EF4-FFF2-40B4-BE49-F238E27FC236}">
                <a16:creationId xmlns:a16="http://schemas.microsoft.com/office/drawing/2014/main" id="{58A798D6-CBC5-3655-D165-414EBABF45D5}"/>
              </a:ext>
            </a:extLst>
          </p:cNvPr>
          <p:cNvSpPr txBox="1"/>
          <p:nvPr/>
        </p:nvSpPr>
        <p:spPr>
          <a:xfrm>
            <a:off x="5023041" y="4009334"/>
            <a:ext cx="6162893" cy="270972"/>
          </a:xfrm>
          <a:prstGeom prst="rect">
            <a:avLst/>
          </a:prstGeom>
          <a:noFill/>
        </p:spPr>
        <p:txBody>
          <a:bodyPr wrap="square" lIns="0" tIns="0" rIns="0" bIns="0">
            <a:spAutoFit/>
          </a:bodyPr>
          <a:lstStyle/>
          <a:p>
            <a:pPr algn="r">
              <a:lnSpc>
                <a:spcPts val="2400"/>
              </a:lnSpc>
            </a:pPr>
            <a:r>
              <a:rPr lang="en-US" sz="1000" i="0" u="none" strike="noStrike" baseline="0" dirty="0">
                <a:solidFill>
                  <a:schemeClr val="bg1"/>
                </a:solidFill>
                <a:latin typeface="Cormorant Infant" pitchFamily="2" charset="0"/>
              </a:rPr>
              <a:t>Plan values Policy using IRS Safe-Harbor Rev. Proc 2005-25 </a:t>
            </a:r>
          </a:p>
        </p:txBody>
      </p:sp>
      <p:sp>
        <p:nvSpPr>
          <p:cNvPr id="2" name="TextBox 1">
            <a:extLst>
              <a:ext uri="{FF2B5EF4-FFF2-40B4-BE49-F238E27FC236}">
                <a16:creationId xmlns:a16="http://schemas.microsoft.com/office/drawing/2014/main" id="{AE0F446F-8F62-8E04-376D-6FC0CB50F332}"/>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6" name="TextBox 5">
            <a:extLst>
              <a:ext uri="{FF2B5EF4-FFF2-40B4-BE49-F238E27FC236}">
                <a16:creationId xmlns:a16="http://schemas.microsoft.com/office/drawing/2014/main" id="{1FDA8BEF-AD7B-20EC-BD42-34CE28C1B42A}"/>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17" name="TextBox 16">
            <a:extLst>
              <a:ext uri="{FF2B5EF4-FFF2-40B4-BE49-F238E27FC236}">
                <a16:creationId xmlns:a16="http://schemas.microsoft.com/office/drawing/2014/main" id="{50E7F01E-B6FE-DEEA-60DC-7180F4432408}"/>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18" name="TextBox 17">
            <a:extLst>
              <a:ext uri="{FF2B5EF4-FFF2-40B4-BE49-F238E27FC236}">
                <a16:creationId xmlns:a16="http://schemas.microsoft.com/office/drawing/2014/main" id="{C735BB97-685B-3D2D-48C8-7F49FEA003A4}"/>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20" name="TextBox 19">
            <a:extLst>
              <a:ext uri="{FF2B5EF4-FFF2-40B4-BE49-F238E27FC236}">
                <a16:creationId xmlns:a16="http://schemas.microsoft.com/office/drawing/2014/main" id="{32FDB762-2EB5-49C3-2E2C-E80BA0B5800E}"/>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21" name="TextBox 20">
            <a:extLst>
              <a:ext uri="{FF2B5EF4-FFF2-40B4-BE49-F238E27FC236}">
                <a16:creationId xmlns:a16="http://schemas.microsoft.com/office/drawing/2014/main" id="{DF1C7E9B-8684-E1AA-54D6-CCF87D2C10F4}"/>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22" name="Rectangle 21">
            <a:hlinkClick r:id="rId9" action="ppaction://hlinksldjump"/>
            <a:extLst>
              <a:ext uri="{FF2B5EF4-FFF2-40B4-BE49-F238E27FC236}">
                <a16:creationId xmlns:a16="http://schemas.microsoft.com/office/drawing/2014/main" id="{14E7712D-E871-C7EF-E964-030825D8E185}"/>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10" action="ppaction://hlinksldjump"/>
            <a:extLst>
              <a:ext uri="{FF2B5EF4-FFF2-40B4-BE49-F238E27FC236}">
                <a16:creationId xmlns:a16="http://schemas.microsoft.com/office/drawing/2014/main" id="{B2B7A1EF-7EB0-7B49-C252-9D4DE691B745}"/>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hlinkClick r:id="rId11" action="ppaction://hlinksldjump"/>
            <a:extLst>
              <a:ext uri="{FF2B5EF4-FFF2-40B4-BE49-F238E27FC236}">
                <a16:creationId xmlns:a16="http://schemas.microsoft.com/office/drawing/2014/main" id="{74B706BC-4DC2-E089-4B55-5F4E8A402840}"/>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hlinkClick r:id="rId12" action="ppaction://hlinksldjump"/>
            <a:extLst>
              <a:ext uri="{FF2B5EF4-FFF2-40B4-BE49-F238E27FC236}">
                <a16:creationId xmlns:a16="http://schemas.microsoft.com/office/drawing/2014/main" id="{BEA6F585-0896-3B7C-8E56-BE09D53BEF28}"/>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hlinkClick r:id="rId13" action="ppaction://hlinksldjump"/>
            <a:extLst>
              <a:ext uri="{FF2B5EF4-FFF2-40B4-BE49-F238E27FC236}">
                <a16:creationId xmlns:a16="http://schemas.microsoft.com/office/drawing/2014/main" id="{23ED1373-C0E8-1B49-3B08-BBBE96072087}"/>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hlinkClick r:id="rId14" action="ppaction://hlinksldjump"/>
            <a:extLst>
              <a:ext uri="{FF2B5EF4-FFF2-40B4-BE49-F238E27FC236}">
                <a16:creationId xmlns:a16="http://schemas.microsoft.com/office/drawing/2014/main" id="{96171216-61A2-30F2-1C2A-D1A160580698}"/>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6053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AD298-2A47-1EF1-A587-CE1A92913AE1}"/>
            </a:ext>
          </a:extLst>
        </p:cNvPr>
        <p:cNvGrpSpPr/>
        <p:nvPr/>
      </p:nvGrpSpPr>
      <p:grpSpPr>
        <a:xfrm>
          <a:off x="0" y="0"/>
          <a:ext cx="0" cy="0"/>
          <a:chOff x="0" y="0"/>
          <a:chExt cx="0" cy="0"/>
        </a:xfrm>
      </p:grpSpPr>
      <p:pic>
        <p:nvPicPr>
          <p:cNvPr id="52" name="Graphic 51">
            <a:extLst>
              <a:ext uri="{FF2B5EF4-FFF2-40B4-BE49-F238E27FC236}">
                <a16:creationId xmlns:a16="http://schemas.microsoft.com/office/drawing/2014/main" id="{642EB2C4-EA2B-5573-5638-DBD783490F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4218760"/>
            <a:ext cx="3785616" cy="539375"/>
          </a:xfrm>
          <a:prstGeom prst="rect">
            <a:avLst/>
          </a:prstGeom>
        </p:spPr>
      </p:pic>
      <p:pic>
        <p:nvPicPr>
          <p:cNvPr id="51" name="Graphic 50">
            <a:extLst>
              <a:ext uri="{FF2B5EF4-FFF2-40B4-BE49-F238E27FC236}">
                <a16:creationId xmlns:a16="http://schemas.microsoft.com/office/drawing/2014/main" id="{8BBFC673-8D24-38C0-CB16-5F828A41AC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1560927"/>
            <a:ext cx="3396067" cy="529387"/>
          </a:xfrm>
          <a:prstGeom prst="rect">
            <a:avLst/>
          </a:prstGeom>
        </p:spPr>
      </p:pic>
      <p:sp>
        <p:nvSpPr>
          <p:cNvPr id="4" name="TextBox 3">
            <a:extLst>
              <a:ext uri="{FF2B5EF4-FFF2-40B4-BE49-F238E27FC236}">
                <a16:creationId xmlns:a16="http://schemas.microsoft.com/office/drawing/2014/main" id="{ADD330F0-BC7C-29D3-94CD-4116C950E49A}"/>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F883E136-B54A-6B91-9C0B-349B31533401}"/>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30" name="TextBox 29">
            <a:extLst>
              <a:ext uri="{FF2B5EF4-FFF2-40B4-BE49-F238E27FC236}">
                <a16:creationId xmlns:a16="http://schemas.microsoft.com/office/drawing/2014/main" id="{31396B0F-58CF-C9D9-1AC3-93B7ED360E2E}"/>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1" name="TextBox 30">
            <a:extLst>
              <a:ext uri="{FF2B5EF4-FFF2-40B4-BE49-F238E27FC236}">
                <a16:creationId xmlns:a16="http://schemas.microsoft.com/office/drawing/2014/main" id="{1D341BA1-1D25-7566-B6A8-CC01B634695A}"/>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34" name="Graphic 33">
            <a:extLst>
              <a:ext uri="{FF2B5EF4-FFF2-40B4-BE49-F238E27FC236}">
                <a16:creationId xmlns:a16="http://schemas.microsoft.com/office/drawing/2014/main" id="{1CAC8ED0-90BF-B73D-C151-F8046076E0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396067" cy="529387"/>
          </a:xfrm>
          <a:prstGeom prst="rect">
            <a:avLst/>
          </a:prstGeom>
        </p:spPr>
      </p:pic>
      <p:pic>
        <p:nvPicPr>
          <p:cNvPr id="41" name="Graphic 40">
            <a:extLst>
              <a:ext uri="{FF2B5EF4-FFF2-40B4-BE49-F238E27FC236}">
                <a16:creationId xmlns:a16="http://schemas.microsoft.com/office/drawing/2014/main" id="{FEFCCB1E-9C36-797F-41CF-B747A908B8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892470"/>
            <a:ext cx="3396067" cy="529387"/>
          </a:xfrm>
          <a:prstGeom prst="rect">
            <a:avLst/>
          </a:prstGeom>
        </p:spPr>
      </p:pic>
      <p:pic>
        <p:nvPicPr>
          <p:cNvPr id="42" name="Graphic 41">
            <a:extLst>
              <a:ext uri="{FF2B5EF4-FFF2-40B4-BE49-F238E27FC236}">
                <a16:creationId xmlns:a16="http://schemas.microsoft.com/office/drawing/2014/main" id="{67C52B03-3818-7B6E-BB27-587CAC6E89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3554425"/>
            <a:ext cx="3396067" cy="529387"/>
          </a:xfrm>
          <a:prstGeom prst="rect">
            <a:avLst/>
          </a:prstGeom>
        </p:spPr>
      </p:pic>
      <p:pic>
        <p:nvPicPr>
          <p:cNvPr id="44" name="Graphic 43">
            <a:extLst>
              <a:ext uri="{FF2B5EF4-FFF2-40B4-BE49-F238E27FC236}">
                <a16:creationId xmlns:a16="http://schemas.microsoft.com/office/drawing/2014/main" id="{644C930A-5FC7-9B28-FB78-C847ED0AF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883095"/>
            <a:ext cx="3396067" cy="529387"/>
          </a:xfrm>
          <a:prstGeom prst="rect">
            <a:avLst/>
          </a:prstGeom>
        </p:spPr>
      </p:pic>
      <p:sp>
        <p:nvSpPr>
          <p:cNvPr id="3" name="Title 1">
            <a:extLst>
              <a:ext uri="{FF2B5EF4-FFF2-40B4-BE49-F238E27FC236}">
                <a16:creationId xmlns:a16="http://schemas.microsoft.com/office/drawing/2014/main" id="{1D158813-4965-5667-9D36-7EA86F1AA25A}"/>
              </a:ext>
            </a:extLst>
          </p:cNvPr>
          <p:cNvSpPr txBox="1">
            <a:spLocks/>
          </p:cNvSpPr>
          <p:nvPr/>
        </p:nvSpPr>
        <p:spPr>
          <a:xfrm>
            <a:off x="5661062" y="1512751"/>
            <a:ext cx="4572000"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The policy owner gifts the life insurance policy to an irrevocable trust</a:t>
            </a:r>
          </a:p>
        </p:txBody>
      </p:sp>
      <p:pic>
        <p:nvPicPr>
          <p:cNvPr id="7" name="Graphic 6">
            <a:extLst>
              <a:ext uri="{FF2B5EF4-FFF2-40B4-BE49-F238E27FC236}">
                <a16:creationId xmlns:a16="http://schemas.microsoft.com/office/drawing/2014/main" id="{D1A5ACD6-DFC7-BCCD-158E-928E3D3DED9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grpSp>
        <p:nvGrpSpPr>
          <p:cNvPr id="8" name="Graphic 2">
            <a:extLst>
              <a:ext uri="{FF2B5EF4-FFF2-40B4-BE49-F238E27FC236}">
                <a16:creationId xmlns:a16="http://schemas.microsoft.com/office/drawing/2014/main" id="{8B0D5D05-3864-8CFD-4334-550184429C8F}"/>
              </a:ext>
            </a:extLst>
          </p:cNvPr>
          <p:cNvGrpSpPr/>
          <p:nvPr/>
        </p:nvGrpSpPr>
        <p:grpSpPr>
          <a:xfrm>
            <a:off x="4839126" y="1560927"/>
            <a:ext cx="647282" cy="647282"/>
            <a:chOff x="4839126" y="1560927"/>
            <a:chExt cx="647282" cy="647282"/>
          </a:xfrm>
        </p:grpSpPr>
        <p:sp>
          <p:nvSpPr>
            <p:cNvPr id="9" name="Oval 8">
              <a:extLst>
                <a:ext uri="{FF2B5EF4-FFF2-40B4-BE49-F238E27FC236}">
                  <a16:creationId xmlns:a16="http://schemas.microsoft.com/office/drawing/2014/main" id="{468692F8-2BAD-52DE-C75F-150D8331F18C}"/>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10" name="Freeform: Shape 9">
              <a:extLst>
                <a:ext uri="{FF2B5EF4-FFF2-40B4-BE49-F238E27FC236}">
                  <a16:creationId xmlns:a16="http://schemas.microsoft.com/office/drawing/2014/main" id="{5EA790A3-2DF3-E131-04A7-DB0B8B0C1B8F}"/>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11" name="TextBox 10">
            <a:extLst>
              <a:ext uri="{FF2B5EF4-FFF2-40B4-BE49-F238E27FC236}">
                <a16:creationId xmlns:a16="http://schemas.microsoft.com/office/drawing/2014/main" id="{8E526C9F-D13D-EAE9-BF9F-D27EBC75905D}"/>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5</a:t>
            </a:r>
            <a:endParaRPr lang="en-US" sz="2400" dirty="0"/>
          </a:p>
        </p:txBody>
      </p:sp>
      <p:graphicFrame>
        <p:nvGraphicFramePr>
          <p:cNvPr id="13" name="Table 12">
            <a:extLst>
              <a:ext uri="{FF2B5EF4-FFF2-40B4-BE49-F238E27FC236}">
                <a16:creationId xmlns:a16="http://schemas.microsoft.com/office/drawing/2014/main" id="{EE1B3E7D-C8D3-1EF2-B9C2-62467160EC07}"/>
              </a:ext>
            </a:extLst>
          </p:cNvPr>
          <p:cNvGraphicFramePr>
            <a:graphicFrameLocks noGrp="1"/>
          </p:cNvGraphicFramePr>
          <p:nvPr>
            <p:extLst>
              <p:ext uri="{D42A27DB-BD31-4B8C-83A1-F6EECF244321}">
                <p14:modId xmlns:p14="http://schemas.microsoft.com/office/powerpoint/2010/main" val="2016097958"/>
              </p:ext>
            </p:extLst>
          </p:nvPr>
        </p:nvGraphicFramePr>
        <p:xfrm>
          <a:off x="4839125" y="2692598"/>
          <a:ext cx="6398058" cy="975360"/>
        </p:xfrm>
        <a:graphic>
          <a:graphicData uri="http://schemas.openxmlformats.org/drawingml/2006/table">
            <a:tbl>
              <a:tblPr>
                <a:tableStyleId>{5C22544A-7EE6-4342-B048-85BDC9FD1C3A}</a:tableStyleId>
              </a:tblPr>
              <a:tblGrid>
                <a:gridCol w="4610113">
                  <a:extLst>
                    <a:ext uri="{9D8B030D-6E8A-4147-A177-3AD203B41FA5}">
                      <a16:colId xmlns:a16="http://schemas.microsoft.com/office/drawing/2014/main" val="1592670450"/>
                    </a:ext>
                  </a:extLst>
                </a:gridCol>
                <a:gridCol w="1787945">
                  <a:extLst>
                    <a:ext uri="{9D8B030D-6E8A-4147-A177-3AD203B41FA5}">
                      <a16:colId xmlns:a16="http://schemas.microsoft.com/office/drawing/2014/main" val="4007013876"/>
                    </a:ext>
                  </a:extLst>
                </a:gridCol>
              </a:tblGrid>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Current Lifetime Exemption: </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LifeExmption</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2837724819"/>
                  </a:ext>
                </a:extLst>
              </a:tr>
              <a:tr h="438912">
                <a:tc>
                  <a:txBody>
                    <a:bodyPr/>
                    <a:lstStyle/>
                    <a:p>
                      <a:pPr algn="r"/>
                      <a:r>
                        <a:rPr lang="en-US" sz="1400" b="0" kern="1200" dirty="0">
                          <a:solidFill>
                            <a:schemeClr val="bg1"/>
                          </a:solidFill>
                          <a:latin typeface="Cormorant Infant" pitchFamily="2" charset="0"/>
                          <a:ea typeface="Cormorant Infant" pitchFamily="2" charset="0"/>
                          <a:cs typeface="Cormorant Infant" pitchFamily="2" charset="0"/>
                        </a:rPr>
                        <a:t>Exemption amount used if policy gifted to trust: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400" b="0" kern="1200" dirty="0">
                          <a:solidFill>
                            <a:schemeClr val="bg1"/>
                          </a:solidFill>
                          <a:latin typeface="Cormorant Infant" pitchFamily="2" charset="0"/>
                          <a:ea typeface="Cormorant Infant" pitchFamily="2" charset="0"/>
                          <a:cs typeface="Cormorant Infant" pitchFamily="2" charset="0"/>
                        </a:rPr>
                        <a:t>&lt;</a:t>
                      </a:r>
                      <a:r>
                        <a:rPr lang="en-US" sz="1400" b="0" kern="1200" dirty="0" err="1">
                          <a:solidFill>
                            <a:schemeClr val="bg1"/>
                          </a:solidFill>
                          <a:latin typeface="Cormorant Infant" pitchFamily="2" charset="0"/>
                          <a:ea typeface="Cormorant Infant" pitchFamily="2" charset="0"/>
                          <a:cs typeface="Cormorant Infant" pitchFamily="2" charset="0"/>
                        </a:rPr>
                        <a:t>LifeExmptionUsed</a:t>
                      </a:r>
                      <a:r>
                        <a:rPr lang="en-US" sz="14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bl>
          </a:graphicData>
        </a:graphic>
      </p:graphicFrame>
      <p:sp>
        <p:nvSpPr>
          <p:cNvPr id="2" name="TextBox 1">
            <a:extLst>
              <a:ext uri="{FF2B5EF4-FFF2-40B4-BE49-F238E27FC236}">
                <a16:creationId xmlns:a16="http://schemas.microsoft.com/office/drawing/2014/main" id="{2A353E58-632D-90C2-9B50-921BC9020747}"/>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6" name="TextBox 5">
            <a:extLst>
              <a:ext uri="{FF2B5EF4-FFF2-40B4-BE49-F238E27FC236}">
                <a16:creationId xmlns:a16="http://schemas.microsoft.com/office/drawing/2014/main" id="{3AEDE8DB-CE05-4FF9-BA9A-1E4DA0A41794}"/>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12" name="TextBox 11">
            <a:extLst>
              <a:ext uri="{FF2B5EF4-FFF2-40B4-BE49-F238E27FC236}">
                <a16:creationId xmlns:a16="http://schemas.microsoft.com/office/drawing/2014/main" id="{A64B11CD-5B1A-918E-225C-91A0E432D09D}"/>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14" name="TextBox 13">
            <a:extLst>
              <a:ext uri="{FF2B5EF4-FFF2-40B4-BE49-F238E27FC236}">
                <a16:creationId xmlns:a16="http://schemas.microsoft.com/office/drawing/2014/main" id="{2A19A370-AEE0-F3DA-8FA0-A49DFA910B11}"/>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17" name="TextBox 16">
            <a:extLst>
              <a:ext uri="{FF2B5EF4-FFF2-40B4-BE49-F238E27FC236}">
                <a16:creationId xmlns:a16="http://schemas.microsoft.com/office/drawing/2014/main" id="{048192E6-BA37-A66E-86AA-B72BA26F7FAD}"/>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18" name="TextBox 17">
            <a:extLst>
              <a:ext uri="{FF2B5EF4-FFF2-40B4-BE49-F238E27FC236}">
                <a16:creationId xmlns:a16="http://schemas.microsoft.com/office/drawing/2014/main" id="{25DD5FFF-C51A-94CA-AA6C-C4EF1BF42A61}"/>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20" name="Rectangle 19">
            <a:hlinkClick r:id="rId9" action="ppaction://hlinksldjump"/>
            <a:extLst>
              <a:ext uri="{FF2B5EF4-FFF2-40B4-BE49-F238E27FC236}">
                <a16:creationId xmlns:a16="http://schemas.microsoft.com/office/drawing/2014/main" id="{0D29BBB3-35F4-D5E4-4B86-11DF88A0E97A}"/>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10" action="ppaction://hlinksldjump"/>
            <a:extLst>
              <a:ext uri="{FF2B5EF4-FFF2-40B4-BE49-F238E27FC236}">
                <a16:creationId xmlns:a16="http://schemas.microsoft.com/office/drawing/2014/main" id="{F97E0EA6-7B68-0BF7-CE9E-FD14644EE702}"/>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11" action="ppaction://hlinksldjump"/>
            <a:extLst>
              <a:ext uri="{FF2B5EF4-FFF2-40B4-BE49-F238E27FC236}">
                <a16:creationId xmlns:a16="http://schemas.microsoft.com/office/drawing/2014/main" id="{CEDA8A30-D9EE-6E70-DA44-2446E1230A6F}"/>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hlinkClick r:id="rId12" action="ppaction://hlinksldjump"/>
            <a:extLst>
              <a:ext uri="{FF2B5EF4-FFF2-40B4-BE49-F238E27FC236}">
                <a16:creationId xmlns:a16="http://schemas.microsoft.com/office/drawing/2014/main" id="{F40A5765-94A7-6903-379A-7F7BA147A708}"/>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hlinkClick r:id="rId13" action="ppaction://hlinksldjump"/>
            <a:extLst>
              <a:ext uri="{FF2B5EF4-FFF2-40B4-BE49-F238E27FC236}">
                <a16:creationId xmlns:a16="http://schemas.microsoft.com/office/drawing/2014/main" id="{82AFC3B6-9FDD-E819-BBA5-258F0A294DAA}"/>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hlinkClick r:id="rId14" action="ppaction://hlinksldjump"/>
            <a:extLst>
              <a:ext uri="{FF2B5EF4-FFF2-40B4-BE49-F238E27FC236}">
                <a16:creationId xmlns:a16="http://schemas.microsoft.com/office/drawing/2014/main" id="{2623AE1C-1726-6E49-D298-29B983F8183F}"/>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5104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47B75-A629-75F4-585D-FC11E6DE5D17}"/>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2C5E8347-54A9-ADD3-5592-95B2BD29F0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852" y="4883095"/>
            <a:ext cx="3785616" cy="539375"/>
          </a:xfrm>
          <a:prstGeom prst="rect">
            <a:avLst/>
          </a:prstGeom>
        </p:spPr>
      </p:pic>
      <p:pic>
        <p:nvPicPr>
          <p:cNvPr id="3" name="Graphic 2">
            <a:extLst>
              <a:ext uri="{FF2B5EF4-FFF2-40B4-BE49-F238E27FC236}">
                <a16:creationId xmlns:a16="http://schemas.microsoft.com/office/drawing/2014/main" id="{6E890EE4-5CBD-50AA-C76A-FEB468C9E4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1560927"/>
            <a:ext cx="3396067" cy="529387"/>
          </a:xfrm>
          <a:prstGeom prst="rect">
            <a:avLst/>
          </a:prstGeom>
        </p:spPr>
      </p:pic>
      <p:sp>
        <p:nvSpPr>
          <p:cNvPr id="4" name="TextBox 3">
            <a:extLst>
              <a:ext uri="{FF2B5EF4-FFF2-40B4-BE49-F238E27FC236}">
                <a16:creationId xmlns:a16="http://schemas.microsoft.com/office/drawing/2014/main" id="{9250F7F1-C477-B83A-3345-202F8FEE22D2}"/>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6DE9CBBE-0633-FB70-0C3A-1C3C334C29A5}"/>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30" name="TextBox 29">
            <a:extLst>
              <a:ext uri="{FF2B5EF4-FFF2-40B4-BE49-F238E27FC236}">
                <a16:creationId xmlns:a16="http://schemas.microsoft.com/office/drawing/2014/main" id="{7DA57E3E-B650-269B-CCE7-3C2BBE08E0C4}"/>
              </a:ext>
            </a:extLst>
          </p:cNvPr>
          <p:cNvSpPr txBox="1"/>
          <p:nvPr/>
        </p:nvSpPr>
        <p:spPr>
          <a:xfrm>
            <a:off x="757403" y="982704"/>
            <a:ext cx="2945917" cy="276999"/>
          </a:xfrm>
          <a:prstGeom prst="rect">
            <a:avLst/>
          </a:prstGeom>
          <a:noFill/>
        </p:spPr>
        <p:txBody>
          <a:bodyPr wrap="square" lIns="0" tIns="0" rIns="0" bIns="0" rtlCol="0" anchor="b">
            <a:spAutoFit/>
          </a:bodyPr>
          <a:lstStyle/>
          <a:p>
            <a:r>
              <a:rPr lang="en-US" spc="400" dirty="0">
                <a:solidFill>
                  <a:srgbClr val="F2F2F4"/>
                </a:solidFill>
                <a:latin typeface="Cormorant Infant Medium" pitchFamily="2" charset="0"/>
                <a:ea typeface="Cormorant Infant Medium" pitchFamily="2" charset="0"/>
                <a:cs typeface="Cormorant Infant Medium" pitchFamily="2" charset="0"/>
              </a:rPr>
              <a:t>THE GIFTED LIRA</a:t>
            </a:r>
            <a:endParaRPr lang="en-US" dirty="0">
              <a:solidFill>
                <a:srgbClr val="F2F2F4"/>
              </a:solidFill>
              <a:latin typeface="Cormorant Infant Medium" pitchFamily="2" charset="0"/>
              <a:ea typeface="Cormorant Infant Medium" pitchFamily="2" charset="0"/>
              <a:cs typeface="Cormorant Infant Medium" pitchFamily="2" charset="0"/>
            </a:endParaRPr>
          </a:p>
        </p:txBody>
      </p:sp>
      <p:sp>
        <p:nvSpPr>
          <p:cNvPr id="31" name="TextBox 30">
            <a:extLst>
              <a:ext uri="{FF2B5EF4-FFF2-40B4-BE49-F238E27FC236}">
                <a16:creationId xmlns:a16="http://schemas.microsoft.com/office/drawing/2014/main" id="{8C057178-783D-A139-4105-5908FE427472}"/>
              </a:ext>
            </a:extLst>
          </p:cNvPr>
          <p:cNvSpPr txBox="1"/>
          <p:nvPr/>
        </p:nvSpPr>
        <p:spPr>
          <a:xfrm>
            <a:off x="3538654" y="1054539"/>
            <a:ext cx="6096000" cy="169277"/>
          </a:xfrm>
          <a:prstGeom prst="rect">
            <a:avLst/>
          </a:prstGeom>
          <a:noFill/>
        </p:spPr>
        <p:txBody>
          <a:bodyPr wrap="square" lIns="0" tIns="0" rIns="0" bIns="0" anchor="b">
            <a:spAutoFit/>
          </a:bodyPr>
          <a:lstStyle/>
          <a:p>
            <a:r>
              <a:rPr lang="en-US" sz="1100" spc="400" dirty="0">
                <a:solidFill>
                  <a:srgbClr val="F2F2F4"/>
                </a:solidFill>
                <a:latin typeface="Cormorant Infant Medium" pitchFamily="2" charset="0"/>
                <a:ea typeface="Cormorant Infant Medium" pitchFamily="2" charset="0"/>
                <a:cs typeface="Cormorant Infant Medium" pitchFamily="2" charset="0"/>
              </a:rPr>
              <a:t> |  </a:t>
            </a:r>
            <a:r>
              <a:rPr lang="en-US" sz="1100" dirty="0">
                <a:solidFill>
                  <a:srgbClr val="F2F2F4"/>
                </a:solidFill>
                <a:latin typeface="Cormorant Infant Medium" pitchFamily="2" charset="0"/>
                <a:ea typeface="Cormorant Infant Medium" pitchFamily="2" charset="0"/>
                <a:cs typeface="Cormorant Infant Medium" pitchFamily="2" charset="0"/>
              </a:rPr>
              <a:t>Plan distributes policy to estate and then gifted to trust.</a:t>
            </a:r>
            <a:endParaRPr lang="en-US" sz="1100" dirty="0"/>
          </a:p>
        </p:txBody>
      </p:sp>
      <p:pic>
        <p:nvPicPr>
          <p:cNvPr id="34" name="Graphic 33">
            <a:extLst>
              <a:ext uri="{FF2B5EF4-FFF2-40B4-BE49-F238E27FC236}">
                <a16:creationId xmlns:a16="http://schemas.microsoft.com/office/drawing/2014/main" id="{B404BFC6-F223-59E3-3554-F6D436E2FC9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230516"/>
            <a:ext cx="3396067" cy="529387"/>
          </a:xfrm>
          <a:prstGeom prst="rect">
            <a:avLst/>
          </a:prstGeom>
        </p:spPr>
      </p:pic>
      <p:pic>
        <p:nvPicPr>
          <p:cNvPr id="41" name="Graphic 40">
            <a:extLst>
              <a:ext uri="{FF2B5EF4-FFF2-40B4-BE49-F238E27FC236}">
                <a16:creationId xmlns:a16="http://schemas.microsoft.com/office/drawing/2014/main" id="{44B46981-9168-27EC-E6DE-507F53488B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2892470"/>
            <a:ext cx="3396067" cy="529387"/>
          </a:xfrm>
          <a:prstGeom prst="rect">
            <a:avLst/>
          </a:prstGeom>
        </p:spPr>
      </p:pic>
      <p:pic>
        <p:nvPicPr>
          <p:cNvPr id="42" name="Graphic 41">
            <a:extLst>
              <a:ext uri="{FF2B5EF4-FFF2-40B4-BE49-F238E27FC236}">
                <a16:creationId xmlns:a16="http://schemas.microsoft.com/office/drawing/2014/main" id="{CC360AC1-94CF-433D-29D5-84282D840F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3554425"/>
            <a:ext cx="3396067" cy="529387"/>
          </a:xfrm>
          <a:prstGeom prst="rect">
            <a:avLst/>
          </a:prstGeom>
        </p:spPr>
      </p:pic>
      <p:pic>
        <p:nvPicPr>
          <p:cNvPr id="43" name="Graphic 42">
            <a:extLst>
              <a:ext uri="{FF2B5EF4-FFF2-40B4-BE49-F238E27FC236}">
                <a16:creationId xmlns:a16="http://schemas.microsoft.com/office/drawing/2014/main" id="{448F4D77-1082-624E-08D7-66D2C791A12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852" y="4218760"/>
            <a:ext cx="3396067" cy="529387"/>
          </a:xfrm>
          <a:prstGeom prst="rect">
            <a:avLst/>
          </a:prstGeom>
        </p:spPr>
      </p:pic>
      <p:sp>
        <p:nvSpPr>
          <p:cNvPr id="45" name="TextBox 44">
            <a:extLst>
              <a:ext uri="{FF2B5EF4-FFF2-40B4-BE49-F238E27FC236}">
                <a16:creationId xmlns:a16="http://schemas.microsoft.com/office/drawing/2014/main" id="{090D30A2-30EB-ADFB-B421-2F2C8EB051E7}"/>
              </a:ext>
            </a:extLst>
          </p:cNvPr>
          <p:cNvSpPr txBox="1"/>
          <p:nvPr/>
        </p:nvSpPr>
        <p:spPr>
          <a:xfrm>
            <a:off x="1113871" y="1562726"/>
            <a:ext cx="3083048" cy="529388"/>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1: Plan Funding</a:t>
            </a:r>
          </a:p>
        </p:txBody>
      </p:sp>
      <p:sp>
        <p:nvSpPr>
          <p:cNvPr id="46" name="TextBox 45">
            <a:extLst>
              <a:ext uri="{FF2B5EF4-FFF2-40B4-BE49-F238E27FC236}">
                <a16:creationId xmlns:a16="http://schemas.microsoft.com/office/drawing/2014/main" id="{E3B3A08E-2751-4ECA-2982-6ECD6FB112EE}"/>
              </a:ext>
            </a:extLst>
          </p:cNvPr>
          <p:cNvSpPr txBox="1"/>
          <p:nvPr/>
        </p:nvSpPr>
        <p:spPr>
          <a:xfrm>
            <a:off x="1113871" y="2248907"/>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2: Funding &amp; Discovery</a:t>
            </a:r>
          </a:p>
        </p:txBody>
      </p:sp>
      <p:sp>
        <p:nvSpPr>
          <p:cNvPr id="47" name="TextBox 46">
            <a:extLst>
              <a:ext uri="{FF2B5EF4-FFF2-40B4-BE49-F238E27FC236}">
                <a16:creationId xmlns:a16="http://schemas.microsoft.com/office/drawing/2014/main" id="{F39E085E-BD5D-30F9-D49E-572FA8465243}"/>
              </a:ext>
            </a:extLst>
          </p:cNvPr>
          <p:cNvSpPr txBox="1"/>
          <p:nvPr/>
        </p:nvSpPr>
        <p:spPr>
          <a:xfrm>
            <a:off x="1113871" y="2902981"/>
            <a:ext cx="3083048" cy="508616"/>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3: Policy Purchase</a:t>
            </a:r>
          </a:p>
        </p:txBody>
      </p:sp>
      <p:sp>
        <p:nvSpPr>
          <p:cNvPr id="48" name="TextBox 47">
            <a:extLst>
              <a:ext uri="{FF2B5EF4-FFF2-40B4-BE49-F238E27FC236}">
                <a16:creationId xmlns:a16="http://schemas.microsoft.com/office/drawing/2014/main" id="{1D0B3653-A9BD-5BDE-C217-EA18F24A99D2}"/>
              </a:ext>
            </a:extLst>
          </p:cNvPr>
          <p:cNvSpPr txBox="1"/>
          <p:nvPr/>
        </p:nvSpPr>
        <p:spPr>
          <a:xfrm>
            <a:off x="1113871" y="3574636"/>
            <a:ext cx="3083048" cy="50861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4: Policy Distribution</a:t>
            </a:r>
          </a:p>
        </p:txBody>
      </p:sp>
      <p:sp>
        <p:nvSpPr>
          <p:cNvPr id="49" name="TextBox 48">
            <a:extLst>
              <a:ext uri="{FF2B5EF4-FFF2-40B4-BE49-F238E27FC236}">
                <a16:creationId xmlns:a16="http://schemas.microsoft.com/office/drawing/2014/main" id="{90729463-E8D9-E90F-18C7-D99202CC75A6}"/>
              </a:ext>
            </a:extLst>
          </p:cNvPr>
          <p:cNvSpPr txBox="1"/>
          <p:nvPr/>
        </p:nvSpPr>
        <p:spPr>
          <a:xfrm>
            <a:off x="1113871" y="4225522"/>
            <a:ext cx="3083048" cy="529387"/>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5: Policy is Gifted to Trust</a:t>
            </a:r>
          </a:p>
        </p:txBody>
      </p:sp>
      <p:sp>
        <p:nvSpPr>
          <p:cNvPr id="50" name="TextBox 49">
            <a:extLst>
              <a:ext uri="{FF2B5EF4-FFF2-40B4-BE49-F238E27FC236}">
                <a16:creationId xmlns:a16="http://schemas.microsoft.com/office/drawing/2014/main" id="{1CE233A1-FB0F-244A-13AF-2C79D8067241}"/>
              </a:ext>
            </a:extLst>
          </p:cNvPr>
          <p:cNvSpPr txBox="1"/>
          <p:nvPr/>
        </p:nvSpPr>
        <p:spPr>
          <a:xfrm>
            <a:off x="1113871" y="4897163"/>
            <a:ext cx="3083048" cy="525829"/>
          </a:xfrm>
          <a:prstGeom prst="rect">
            <a:avLst/>
          </a:prstGeom>
          <a:noFill/>
        </p:spPr>
        <p:txBody>
          <a:bodyPr wrap="square" lIns="0" tIns="0" rIns="0" bIns="0" anchor="ctr">
            <a:noAutofit/>
          </a:bodyPr>
          <a:lstStyle/>
          <a:p>
            <a:r>
              <a:rPr lang="en-US" sz="1500" dirty="0">
                <a:solidFill>
                  <a:schemeClr val="accent5">
                    <a:lumMod val="50000"/>
                  </a:schemeClr>
                </a:solidFill>
                <a:latin typeface="Cormorant Infant" pitchFamily="2" charset="0"/>
              </a:rPr>
              <a:t>Step 6: Tax Free Benefit to Heirs</a:t>
            </a:r>
          </a:p>
        </p:txBody>
      </p:sp>
      <p:sp>
        <p:nvSpPr>
          <p:cNvPr id="15" name="Title 1">
            <a:extLst>
              <a:ext uri="{FF2B5EF4-FFF2-40B4-BE49-F238E27FC236}">
                <a16:creationId xmlns:a16="http://schemas.microsoft.com/office/drawing/2014/main" id="{9A598AAD-67F3-EF4F-CB98-1A5FCF6225CB}"/>
              </a:ext>
            </a:extLst>
          </p:cNvPr>
          <p:cNvSpPr txBox="1">
            <a:spLocks/>
          </p:cNvSpPr>
          <p:nvPr/>
        </p:nvSpPr>
        <p:spPr>
          <a:xfrm>
            <a:off x="5661061" y="1512751"/>
            <a:ext cx="4029039" cy="701346"/>
          </a:xfrm>
          <a:prstGeom prst="rect">
            <a:avLst/>
          </a:prstGeom>
        </p:spPr>
        <p:txBody>
          <a:bodyPr wrap="square" lIns="0" tIns="0" rIns="0" bIns="0">
            <a:spAutoFit/>
          </a:bodyPr>
          <a:lstStyle>
            <a:lvl1pPr>
              <a:defRPr>
                <a:latin typeface="+mj-lt"/>
                <a:ea typeface="+mj-ea"/>
                <a:cs typeface="+mj-cs"/>
              </a:defRPr>
            </a:lvl1pPr>
          </a:lstStyle>
          <a:p>
            <a:pPr>
              <a:lnSpc>
                <a:spcPts val="2800"/>
              </a:lnSpc>
            </a:pPr>
            <a:r>
              <a:rPr lang="en-US" sz="2000" dirty="0">
                <a:solidFill>
                  <a:schemeClr val="accent2"/>
                </a:solidFill>
                <a:latin typeface="Cormorant Infant" pitchFamily="2" charset="0"/>
              </a:rPr>
              <a:t>Life insurance death benefit are estate &amp; income tax-free to heirs. </a:t>
            </a:r>
          </a:p>
        </p:txBody>
      </p:sp>
      <p:grpSp>
        <p:nvGrpSpPr>
          <p:cNvPr id="19" name="Graphic 2">
            <a:extLst>
              <a:ext uri="{FF2B5EF4-FFF2-40B4-BE49-F238E27FC236}">
                <a16:creationId xmlns:a16="http://schemas.microsoft.com/office/drawing/2014/main" id="{04BF2401-B495-BB6F-B7E1-7D8F69101DD4}"/>
              </a:ext>
            </a:extLst>
          </p:cNvPr>
          <p:cNvGrpSpPr/>
          <p:nvPr/>
        </p:nvGrpSpPr>
        <p:grpSpPr>
          <a:xfrm>
            <a:off x="4839126" y="1560927"/>
            <a:ext cx="647282" cy="647282"/>
            <a:chOff x="4839126" y="1560927"/>
            <a:chExt cx="647282" cy="647282"/>
          </a:xfrm>
        </p:grpSpPr>
        <p:sp>
          <p:nvSpPr>
            <p:cNvPr id="23" name="Oval 22">
              <a:extLst>
                <a:ext uri="{FF2B5EF4-FFF2-40B4-BE49-F238E27FC236}">
                  <a16:creationId xmlns:a16="http://schemas.microsoft.com/office/drawing/2014/main" id="{AEE818BE-39C0-4FC6-6F52-CADD73ECD4F2}"/>
                </a:ext>
              </a:extLst>
            </p:cNvPr>
            <p:cNvSpPr/>
            <p:nvPr/>
          </p:nvSpPr>
          <p:spPr>
            <a:xfrm>
              <a:off x="4844222" y="1566023"/>
              <a:ext cx="637089" cy="637089"/>
            </a:xfrm>
            <a:prstGeom prst="ellipse">
              <a:avLst/>
            </a:prstGeom>
            <a:solidFill>
              <a:srgbClr val="3C463D"/>
            </a:solidFill>
            <a:ln w="10462" cap="flat">
              <a:noFill/>
              <a:prstDash val="solid"/>
              <a:miter/>
            </a:ln>
          </p:spPr>
          <p:txBody>
            <a:bodyPr/>
            <a:lstStyle/>
            <a:p>
              <a:endParaRPr lang="en-US"/>
            </a:p>
          </p:txBody>
        </p:sp>
        <p:sp>
          <p:nvSpPr>
            <p:cNvPr id="24" name="Freeform: Shape 23">
              <a:extLst>
                <a:ext uri="{FF2B5EF4-FFF2-40B4-BE49-F238E27FC236}">
                  <a16:creationId xmlns:a16="http://schemas.microsoft.com/office/drawing/2014/main" id="{5B365F71-A43E-4105-46F2-CF80971E5267}"/>
                </a:ext>
              </a:extLst>
            </p:cNvPr>
            <p:cNvSpPr/>
            <p:nvPr/>
          </p:nvSpPr>
          <p:spPr>
            <a:xfrm>
              <a:off x="4839126" y="1560927"/>
              <a:ext cx="647282" cy="647282"/>
            </a:xfrm>
            <a:custGeom>
              <a:avLst/>
              <a:gdLst>
                <a:gd name="csX0" fmla="*/ 323641 w 647282"/>
                <a:gd name="csY0" fmla="*/ 647272 h 647282"/>
                <a:gd name="csX1" fmla="*/ 0 w 647282"/>
                <a:gd name="csY1" fmla="*/ 323641 h 647282"/>
                <a:gd name="csX2" fmla="*/ 323641 w 647282"/>
                <a:gd name="csY2" fmla="*/ 0 h 647282"/>
                <a:gd name="csX3" fmla="*/ 647282 w 647282"/>
                <a:gd name="csY3" fmla="*/ 323641 h 647282"/>
                <a:gd name="csX4" fmla="*/ 323641 w 647282"/>
                <a:gd name="csY4" fmla="*/ 647282 h 647282"/>
                <a:gd name="csX5" fmla="*/ 323641 w 647282"/>
                <a:gd name="csY5" fmla="*/ 10172 h 647282"/>
                <a:gd name="csX6" fmla="*/ 10172 w 647282"/>
                <a:gd name="csY6" fmla="*/ 323641 h 647282"/>
                <a:gd name="csX7" fmla="*/ 323631 w 647282"/>
                <a:gd name="csY7" fmla="*/ 637100 h 647282"/>
                <a:gd name="csX8" fmla="*/ 637089 w 647282"/>
                <a:gd name="csY8" fmla="*/ 323641 h 647282"/>
                <a:gd name="csX9" fmla="*/ 323641 w 647282"/>
                <a:gd name="csY9" fmla="*/ 10172 h 647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7282" h="647282">
                  <a:moveTo>
                    <a:pt x="323641" y="647272"/>
                  </a:moveTo>
                  <a:cubicBezTo>
                    <a:pt x="145184" y="647272"/>
                    <a:pt x="0" y="502088"/>
                    <a:pt x="0" y="323641"/>
                  </a:cubicBezTo>
                  <a:cubicBezTo>
                    <a:pt x="0" y="145194"/>
                    <a:pt x="145184" y="0"/>
                    <a:pt x="323641" y="0"/>
                  </a:cubicBezTo>
                  <a:cubicBezTo>
                    <a:pt x="502098" y="0"/>
                    <a:pt x="647282" y="145184"/>
                    <a:pt x="647282" y="323641"/>
                  </a:cubicBezTo>
                  <a:cubicBezTo>
                    <a:pt x="647282" y="502098"/>
                    <a:pt x="502098" y="647282"/>
                    <a:pt x="323641" y="647282"/>
                  </a:cubicBezTo>
                  <a:close/>
                  <a:moveTo>
                    <a:pt x="323641" y="10172"/>
                  </a:moveTo>
                  <a:cubicBezTo>
                    <a:pt x="150796" y="10172"/>
                    <a:pt x="10172" y="150796"/>
                    <a:pt x="10172" y="323641"/>
                  </a:cubicBezTo>
                  <a:cubicBezTo>
                    <a:pt x="10172" y="496486"/>
                    <a:pt x="150785" y="637100"/>
                    <a:pt x="323631" y="637100"/>
                  </a:cubicBezTo>
                  <a:cubicBezTo>
                    <a:pt x="496476" y="637100"/>
                    <a:pt x="637089" y="496486"/>
                    <a:pt x="637089" y="323641"/>
                  </a:cubicBezTo>
                  <a:cubicBezTo>
                    <a:pt x="637089" y="150796"/>
                    <a:pt x="496476" y="10172"/>
                    <a:pt x="323641" y="10172"/>
                  </a:cubicBezTo>
                  <a:close/>
                </a:path>
              </a:pathLst>
            </a:custGeom>
            <a:solidFill>
              <a:srgbClr val="9DB18B"/>
            </a:solidFill>
            <a:ln w="10462" cap="flat">
              <a:noFill/>
              <a:prstDash val="solid"/>
              <a:miter/>
            </a:ln>
          </p:spPr>
          <p:txBody>
            <a:bodyPr/>
            <a:lstStyle/>
            <a:p>
              <a:endParaRPr lang="en-US"/>
            </a:p>
          </p:txBody>
        </p:sp>
      </p:grpSp>
      <p:sp>
        <p:nvSpPr>
          <p:cNvPr id="25" name="TextBox 24">
            <a:extLst>
              <a:ext uri="{FF2B5EF4-FFF2-40B4-BE49-F238E27FC236}">
                <a16:creationId xmlns:a16="http://schemas.microsoft.com/office/drawing/2014/main" id="{D80C3D7E-586F-D98F-042A-8CCBC7513132}"/>
              </a:ext>
            </a:extLst>
          </p:cNvPr>
          <p:cNvSpPr txBox="1"/>
          <p:nvPr/>
        </p:nvSpPr>
        <p:spPr>
          <a:xfrm>
            <a:off x="4834070" y="1550653"/>
            <a:ext cx="637090" cy="652340"/>
          </a:xfrm>
          <a:prstGeom prst="rect">
            <a:avLst/>
          </a:prstGeom>
          <a:noFill/>
        </p:spPr>
        <p:txBody>
          <a:bodyPr wrap="square" lIns="0" tIns="0" rIns="0" bIns="0" anchor="ctr">
            <a:noAutofit/>
          </a:bodyPr>
          <a:lstStyle/>
          <a:p>
            <a:pPr algn="ctr"/>
            <a:r>
              <a:rPr lang="en-US" sz="2400" dirty="0">
                <a:solidFill>
                  <a:schemeClr val="accent2"/>
                </a:solidFill>
                <a:latin typeface="Cormorant Infant" pitchFamily="2" charset="0"/>
              </a:rPr>
              <a:t>6</a:t>
            </a:r>
            <a:endParaRPr lang="en-US" sz="2400" dirty="0"/>
          </a:p>
        </p:txBody>
      </p:sp>
      <p:graphicFrame>
        <p:nvGraphicFramePr>
          <p:cNvPr id="2" name="Table 1">
            <a:extLst>
              <a:ext uri="{FF2B5EF4-FFF2-40B4-BE49-F238E27FC236}">
                <a16:creationId xmlns:a16="http://schemas.microsoft.com/office/drawing/2014/main" id="{E6975C52-9C0F-FE8D-EF6F-F0D72E823E6A}"/>
              </a:ext>
            </a:extLst>
          </p:cNvPr>
          <p:cNvGraphicFramePr>
            <a:graphicFrameLocks noGrp="1"/>
          </p:cNvGraphicFramePr>
          <p:nvPr>
            <p:extLst>
              <p:ext uri="{D42A27DB-BD31-4B8C-83A1-F6EECF244321}">
                <p14:modId xmlns:p14="http://schemas.microsoft.com/office/powerpoint/2010/main" val="1172112246"/>
              </p:ext>
            </p:extLst>
          </p:nvPr>
        </p:nvGraphicFramePr>
        <p:xfrm>
          <a:off x="4844263" y="2812568"/>
          <a:ext cx="6391656"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84248">
                  <a:extLst>
                    <a:ext uri="{9D8B030D-6E8A-4147-A177-3AD203B41FA5}">
                      <a16:colId xmlns:a16="http://schemas.microsoft.com/office/drawing/2014/main" val="4007013876"/>
                    </a:ext>
                  </a:extLst>
                </a:gridCol>
                <a:gridCol w="1984248">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no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graphicFrame>
        <p:nvGraphicFramePr>
          <p:cNvPr id="6" name="Table 5">
            <a:extLst>
              <a:ext uri="{FF2B5EF4-FFF2-40B4-BE49-F238E27FC236}">
                <a16:creationId xmlns:a16="http://schemas.microsoft.com/office/drawing/2014/main" id="{C4394731-E71D-9C05-71BC-A437D4903186}"/>
              </a:ext>
            </a:extLst>
          </p:cNvPr>
          <p:cNvGraphicFramePr>
            <a:graphicFrameLocks noGrp="1"/>
          </p:cNvGraphicFramePr>
          <p:nvPr>
            <p:extLst>
              <p:ext uri="{D42A27DB-BD31-4B8C-83A1-F6EECF244321}">
                <p14:modId xmlns:p14="http://schemas.microsoft.com/office/powerpoint/2010/main" val="2919146677"/>
              </p:ext>
            </p:extLst>
          </p:nvPr>
        </p:nvGraphicFramePr>
        <p:xfrm>
          <a:off x="4844263" y="2812568"/>
          <a:ext cx="6391656" cy="2682240"/>
        </p:xfrm>
        <a:graphic>
          <a:graphicData uri="http://schemas.openxmlformats.org/drawingml/2006/table">
            <a:tbl>
              <a:tblPr>
                <a:tableStyleId>{5C22544A-7EE6-4342-B048-85BDC9FD1C3A}</a:tableStyleId>
              </a:tblPr>
              <a:tblGrid>
                <a:gridCol w="2423160">
                  <a:extLst>
                    <a:ext uri="{9D8B030D-6E8A-4147-A177-3AD203B41FA5}">
                      <a16:colId xmlns:a16="http://schemas.microsoft.com/office/drawing/2014/main" val="1592670450"/>
                    </a:ext>
                  </a:extLst>
                </a:gridCol>
                <a:gridCol w="1984248">
                  <a:extLst>
                    <a:ext uri="{9D8B030D-6E8A-4147-A177-3AD203B41FA5}">
                      <a16:colId xmlns:a16="http://schemas.microsoft.com/office/drawing/2014/main" val="4007013876"/>
                    </a:ext>
                  </a:extLst>
                </a:gridCol>
                <a:gridCol w="1984248">
                  <a:extLst>
                    <a:ext uri="{9D8B030D-6E8A-4147-A177-3AD203B41FA5}">
                      <a16:colId xmlns:a16="http://schemas.microsoft.com/office/drawing/2014/main" val="3346323959"/>
                    </a:ext>
                  </a:extLst>
                </a:gridCol>
              </a:tblGrid>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Pre-Tax Retirement Balance: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LIRAAfterPickYr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837724819"/>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Estate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&lt;CPlanEstateTaxLE&gt;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LIRAEstateTaxLE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1361384"/>
                  </a:ext>
                </a:extLst>
              </a:tr>
              <a:tr h="536448">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Income Tax Exposure:</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CPlanIncomeTaxLE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LIRAIncomeTaxLE</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740556193"/>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Tax Free Death Benefit: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endParaRPr lang="en-US" sz="1300" b="0" kern="1200" dirty="0">
                        <a:solidFill>
                          <a:schemeClr val="bg1"/>
                        </a:solidFill>
                        <a:latin typeface="Cormorant Infant" pitchFamily="2" charset="0"/>
                        <a:ea typeface="Cormorant Infant" pitchFamily="2" charset="0"/>
                        <a:cs typeface="Cormorant Infant" pitchFamily="2" charset="0"/>
                      </a:endParaRP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InsAmt</a:t>
                      </a:r>
                      <a:r>
                        <a:rPr lang="en-US" sz="1300" b="0" kern="1200" dirty="0">
                          <a:solidFill>
                            <a:schemeClr val="bg1"/>
                          </a:solidFill>
                          <a:latin typeface="Cormorant Infant" pitchFamily="2" charset="0"/>
                          <a:ea typeface="Cormorant Infant" pitchFamily="2" charset="0"/>
                          <a:cs typeface="Cormorant Infant" pitchFamily="2" charset="0"/>
                        </a:rPr>
                        <a:t> LE&gt;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376479481"/>
                  </a:ext>
                </a:extLst>
              </a:tr>
              <a:tr h="536448">
                <a:tc>
                  <a:txBody>
                    <a:bodyPr/>
                    <a:lstStyle/>
                    <a:p>
                      <a:pPr algn="r"/>
                      <a:r>
                        <a:rPr lang="en-US" sz="1300" b="0" kern="1200" dirty="0">
                          <a:solidFill>
                            <a:schemeClr val="bg1"/>
                          </a:solidFill>
                          <a:latin typeface="Cormorant Infant" pitchFamily="2" charset="0"/>
                          <a:ea typeface="Cormorant Infant" pitchFamily="2" charset="0"/>
                          <a:cs typeface="Cormorant Infant" pitchFamily="2" charset="0"/>
                        </a:rPr>
                        <a:t>Net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CPNetToHeirsPickYr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tc>
                  <a:txBody>
                    <a:bodyPr/>
                    <a:lstStyle/>
                    <a:p>
                      <a:pPr marL="0" marR="0" lvl="0" indent="0" algn="r"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bg1"/>
                          </a:solidFill>
                          <a:latin typeface="Cormorant Infant" pitchFamily="2" charset="0"/>
                          <a:ea typeface="Cormorant Infant" pitchFamily="2" charset="0"/>
                          <a:cs typeface="Cormorant Infant" pitchFamily="2" charset="0"/>
                        </a:rPr>
                        <a:t>&lt;</a:t>
                      </a:r>
                      <a:r>
                        <a:rPr lang="en-US" sz="1300" b="0" kern="1200" dirty="0" err="1">
                          <a:solidFill>
                            <a:schemeClr val="bg1"/>
                          </a:solidFill>
                          <a:latin typeface="Cormorant Infant" pitchFamily="2" charset="0"/>
                          <a:ea typeface="Cormorant Infant" pitchFamily="2" charset="0"/>
                          <a:cs typeface="Cormorant Infant" pitchFamily="2" charset="0"/>
                        </a:rPr>
                        <a:t>NetToHeirsPickYr</a:t>
                      </a:r>
                      <a:r>
                        <a:rPr lang="en-US" sz="1300" b="0" kern="1200" dirty="0">
                          <a:solidFill>
                            <a:schemeClr val="bg1"/>
                          </a:solidFill>
                          <a:latin typeface="Cormorant Infant" pitchFamily="2" charset="0"/>
                          <a:ea typeface="Cormorant Infant" pitchFamily="2" charset="0"/>
                          <a:cs typeface="Cormorant Infant" pitchFamily="2" charset="0"/>
                        </a:rPr>
                        <a:t>&gt;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75302169"/>
                  </a:ext>
                </a:extLst>
              </a:tr>
            </a:tbl>
          </a:graphicData>
        </a:graphic>
      </p:graphicFrame>
      <p:pic>
        <p:nvPicPr>
          <p:cNvPr id="8" name="Graphic 7">
            <a:extLst>
              <a:ext uri="{FF2B5EF4-FFF2-40B4-BE49-F238E27FC236}">
                <a16:creationId xmlns:a16="http://schemas.microsoft.com/office/drawing/2014/main" id="{901421E0-BD72-4F1F-8811-4CD8C2E10E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9401" y="2419000"/>
            <a:ext cx="6387782" cy="84050"/>
          </a:xfrm>
          <a:prstGeom prst="rect">
            <a:avLst/>
          </a:prstGeom>
        </p:spPr>
      </p:pic>
      <p:sp>
        <p:nvSpPr>
          <p:cNvPr id="9" name="TextBox 8">
            <a:extLst>
              <a:ext uri="{FF2B5EF4-FFF2-40B4-BE49-F238E27FC236}">
                <a16:creationId xmlns:a16="http://schemas.microsoft.com/office/drawing/2014/main" id="{EA039CF9-7D6D-DEFB-F752-C0585E1C7A99}"/>
              </a:ext>
            </a:extLst>
          </p:cNvPr>
          <p:cNvSpPr txBox="1"/>
          <p:nvPr/>
        </p:nvSpPr>
        <p:spPr>
          <a:xfrm>
            <a:off x="7261500" y="2475126"/>
            <a:ext cx="1950008"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 CURRENT PLANNING</a:t>
            </a:r>
          </a:p>
        </p:txBody>
      </p:sp>
      <p:sp>
        <p:nvSpPr>
          <p:cNvPr id="10" name="TextBox 9">
            <a:extLst>
              <a:ext uri="{FF2B5EF4-FFF2-40B4-BE49-F238E27FC236}">
                <a16:creationId xmlns:a16="http://schemas.microsoft.com/office/drawing/2014/main" id="{80080628-4DFB-5169-90F3-5128B39A0CEC}"/>
              </a:ext>
            </a:extLst>
          </p:cNvPr>
          <p:cNvSpPr txBox="1"/>
          <p:nvPr/>
        </p:nvSpPr>
        <p:spPr>
          <a:xfrm>
            <a:off x="4880380" y="5581043"/>
            <a:ext cx="6356924" cy="148246"/>
          </a:xfrm>
          <a:prstGeom prst="rect">
            <a:avLst/>
          </a:prstGeom>
          <a:noFill/>
        </p:spPr>
        <p:txBody>
          <a:bodyPr wrap="square" lIns="0" tIns="0" rIns="0" bIns="0" anchor="ctr" anchorCtr="0">
            <a:spAutoFit/>
          </a:bodyPr>
          <a:lstStyle/>
          <a:p>
            <a:pPr algn="r">
              <a:lnSpc>
                <a:spcPts val="1200"/>
              </a:lnSpc>
            </a:pPr>
            <a:r>
              <a:rPr lang="en-US" sz="900" i="0" u="none" strike="noStrike" baseline="0" dirty="0">
                <a:solidFill>
                  <a:schemeClr val="bg1"/>
                </a:solidFill>
                <a:latin typeface="Cormorant Infant" pitchFamily="2" charset="0"/>
              </a:rPr>
              <a:t>(All at Life Expectancy and IRA Growth Rate of &lt;</a:t>
            </a:r>
            <a:r>
              <a:rPr lang="en-US" sz="900" i="0" u="none" strike="noStrike" baseline="0" dirty="0" err="1">
                <a:solidFill>
                  <a:schemeClr val="bg1"/>
                </a:solidFill>
                <a:latin typeface="Cormorant Infant" pitchFamily="2" charset="0"/>
              </a:rPr>
              <a:t>IRARate</a:t>
            </a:r>
            <a:r>
              <a:rPr lang="en-US" sz="900" i="0" u="none" strike="noStrike" baseline="0" dirty="0">
                <a:solidFill>
                  <a:schemeClr val="bg1"/>
                </a:solidFill>
                <a:latin typeface="Cormorant Infant" pitchFamily="2" charset="0"/>
              </a:rPr>
              <a:t>&gt;)</a:t>
            </a:r>
            <a:endParaRPr lang="en-US" sz="900" dirty="0">
              <a:solidFill>
                <a:schemeClr val="bg1"/>
              </a:solidFill>
              <a:latin typeface="Cormorant Infant" pitchFamily="2" charset="0"/>
            </a:endParaRPr>
          </a:p>
        </p:txBody>
      </p:sp>
      <p:graphicFrame>
        <p:nvGraphicFramePr>
          <p:cNvPr id="11" name="Table 10">
            <a:extLst>
              <a:ext uri="{FF2B5EF4-FFF2-40B4-BE49-F238E27FC236}">
                <a16:creationId xmlns:a16="http://schemas.microsoft.com/office/drawing/2014/main" id="{3743EE59-3327-4DED-0676-CD29DD2DA38A}"/>
              </a:ext>
            </a:extLst>
          </p:cNvPr>
          <p:cNvGraphicFramePr>
            <a:graphicFrameLocks noGrp="1"/>
          </p:cNvGraphicFramePr>
          <p:nvPr>
            <p:extLst>
              <p:ext uri="{D42A27DB-BD31-4B8C-83A1-F6EECF244321}">
                <p14:modId xmlns:p14="http://schemas.microsoft.com/office/powerpoint/2010/main" val="1896575347"/>
              </p:ext>
            </p:extLst>
          </p:nvPr>
        </p:nvGraphicFramePr>
        <p:xfrm>
          <a:off x="4658904" y="5811839"/>
          <a:ext cx="6588859" cy="442157"/>
        </p:xfrm>
        <a:graphic>
          <a:graphicData uri="http://schemas.openxmlformats.org/drawingml/2006/table">
            <a:tbl>
              <a:tblPr>
                <a:tableStyleId>{5C22544A-7EE6-4342-B048-85BDC9FD1C3A}</a:tableStyleId>
              </a:tblPr>
              <a:tblGrid>
                <a:gridCol w="4613755">
                  <a:extLst>
                    <a:ext uri="{9D8B030D-6E8A-4147-A177-3AD203B41FA5}">
                      <a16:colId xmlns:a16="http://schemas.microsoft.com/office/drawing/2014/main" val="1592670450"/>
                    </a:ext>
                  </a:extLst>
                </a:gridCol>
                <a:gridCol w="1975104">
                  <a:extLst>
                    <a:ext uri="{9D8B030D-6E8A-4147-A177-3AD203B41FA5}">
                      <a16:colId xmlns:a16="http://schemas.microsoft.com/office/drawing/2014/main" val="4007013876"/>
                    </a:ext>
                  </a:extLst>
                </a:gridCol>
              </a:tblGrid>
              <a:tr h="442157">
                <a:tc>
                  <a:txBody>
                    <a:bodyPr/>
                    <a:lstStyle/>
                    <a:p>
                      <a:pPr marL="0" marR="0" lvl="0" indent="0" algn="r" defTabSz="914400" eaLnBrk="1" fontAlgn="auto" latinLnBrk="0" hangingPunct="1">
                        <a:lnSpc>
                          <a:spcPct val="100000"/>
                        </a:lnSpc>
                        <a:spcBef>
                          <a:spcPts val="0"/>
                        </a:spcBef>
                        <a:spcAft>
                          <a:spcPts val="0"/>
                        </a:spcAft>
                        <a:buClrTx/>
                        <a:buSzTx/>
                        <a:buFontTx/>
                        <a:buNone/>
                        <a:tabLst/>
                        <a:defRPr/>
                      </a:pPr>
                      <a:r>
                        <a:rPr lang="en-US" sz="1300" b="0" kern="1200" dirty="0">
                          <a:solidFill>
                            <a:schemeClr val="accent2"/>
                          </a:solidFill>
                          <a:latin typeface="Cormorant Infant" pitchFamily="2" charset="0"/>
                          <a:ea typeface="Cormorant Infant" pitchFamily="2" charset="0"/>
                          <a:cs typeface="Cormorant Infant" pitchFamily="2" charset="0"/>
                        </a:rPr>
                        <a:t>Tax Free Advantage to Heirs:</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300" b="0" kern="1200" dirty="0">
                          <a:solidFill>
                            <a:schemeClr val="accent2"/>
                          </a:solidFill>
                          <a:latin typeface="Cormorant Infant" pitchFamily="2" charset="0"/>
                          <a:ea typeface="Cormorant Infant" pitchFamily="2" charset="0"/>
                          <a:cs typeface="Cormorant Infant" pitchFamily="2" charset="0"/>
                        </a:rPr>
                        <a:t>&lt;Advantage&gt;</a:t>
                      </a:r>
                    </a:p>
                  </a:txBody>
                  <a:tcPr marL="182880" marR="182880" marT="54864" marB="54864"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noFill/>
                  </a:tcPr>
                </a:tc>
                <a:extLst>
                  <a:ext uri="{0D108BD9-81ED-4DB2-BD59-A6C34878D82A}">
                    <a16:rowId xmlns:a16="http://schemas.microsoft.com/office/drawing/2014/main" val="31361384"/>
                  </a:ext>
                </a:extLst>
              </a:tr>
            </a:tbl>
          </a:graphicData>
        </a:graphic>
      </p:graphicFrame>
      <p:sp>
        <p:nvSpPr>
          <p:cNvPr id="12" name="TextBox 11">
            <a:extLst>
              <a:ext uri="{FF2B5EF4-FFF2-40B4-BE49-F238E27FC236}">
                <a16:creationId xmlns:a16="http://schemas.microsoft.com/office/drawing/2014/main" id="{2A3C30D1-BC3A-2754-9F85-ED085303529B}"/>
              </a:ext>
            </a:extLst>
          </p:cNvPr>
          <p:cNvSpPr txBox="1"/>
          <p:nvPr/>
        </p:nvSpPr>
        <p:spPr>
          <a:xfrm>
            <a:off x="9285912" y="2475126"/>
            <a:ext cx="1950007" cy="270972"/>
          </a:xfrm>
          <a:prstGeom prst="rect">
            <a:avLst/>
          </a:prstGeom>
          <a:noFill/>
        </p:spPr>
        <p:txBody>
          <a:bodyPr wrap="square" lIns="0" tIns="0" rIns="0" bIns="0">
            <a:spAutoFit/>
          </a:bodyPr>
          <a:lstStyle/>
          <a:p>
            <a:pPr algn="r">
              <a:lnSpc>
                <a:spcPts val="2400"/>
              </a:lnSpc>
            </a:pPr>
            <a:r>
              <a:rPr lang="en-US" sz="1000" i="0" u="none" strike="noStrike" spc="100" dirty="0">
                <a:solidFill>
                  <a:schemeClr val="accent2"/>
                </a:solidFill>
                <a:latin typeface="Cormorant Infant" pitchFamily="2" charset="0"/>
              </a:rPr>
              <a:t>LIRA STRATEGY</a:t>
            </a:r>
          </a:p>
        </p:txBody>
      </p:sp>
      <p:sp>
        <p:nvSpPr>
          <p:cNvPr id="13" name="Rectangle 12">
            <a:hlinkClick r:id="rId9" action="ppaction://hlinksldjump"/>
            <a:extLst>
              <a:ext uri="{FF2B5EF4-FFF2-40B4-BE49-F238E27FC236}">
                <a16:creationId xmlns:a16="http://schemas.microsoft.com/office/drawing/2014/main" id="{DF416D94-B380-0976-4AA0-EE3DCCA81B4B}"/>
              </a:ext>
            </a:extLst>
          </p:cNvPr>
          <p:cNvSpPr/>
          <p:nvPr/>
        </p:nvSpPr>
        <p:spPr>
          <a:xfrm>
            <a:off x="804858" y="157071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hlinkClick r:id="rId10" action="ppaction://hlinksldjump"/>
            <a:extLst>
              <a:ext uri="{FF2B5EF4-FFF2-40B4-BE49-F238E27FC236}">
                <a16:creationId xmlns:a16="http://schemas.microsoft.com/office/drawing/2014/main" id="{A856FFF1-51E0-9DD4-9D8C-F3D5B9D1142F}"/>
              </a:ext>
            </a:extLst>
          </p:cNvPr>
          <p:cNvSpPr/>
          <p:nvPr/>
        </p:nvSpPr>
        <p:spPr>
          <a:xfrm>
            <a:off x="804858" y="2224371"/>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hlinkClick r:id="rId11" action="ppaction://hlinksldjump"/>
            <a:extLst>
              <a:ext uri="{FF2B5EF4-FFF2-40B4-BE49-F238E27FC236}">
                <a16:creationId xmlns:a16="http://schemas.microsoft.com/office/drawing/2014/main" id="{F90FF611-C985-D539-8D77-6BE99E35646E}"/>
              </a:ext>
            </a:extLst>
          </p:cNvPr>
          <p:cNvSpPr/>
          <p:nvPr/>
        </p:nvSpPr>
        <p:spPr>
          <a:xfrm>
            <a:off x="804858" y="2892470"/>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hlinkClick r:id="rId12" action="ppaction://hlinksldjump"/>
            <a:extLst>
              <a:ext uri="{FF2B5EF4-FFF2-40B4-BE49-F238E27FC236}">
                <a16:creationId xmlns:a16="http://schemas.microsoft.com/office/drawing/2014/main" id="{0382C29D-9E8F-B968-C946-C5AD4A6D5793}"/>
              </a:ext>
            </a:extLst>
          </p:cNvPr>
          <p:cNvSpPr/>
          <p:nvPr/>
        </p:nvSpPr>
        <p:spPr>
          <a:xfrm>
            <a:off x="804858" y="3560569"/>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hlinkClick r:id="rId13" action="ppaction://hlinksldjump"/>
            <a:extLst>
              <a:ext uri="{FF2B5EF4-FFF2-40B4-BE49-F238E27FC236}">
                <a16:creationId xmlns:a16="http://schemas.microsoft.com/office/drawing/2014/main" id="{DDBBFA3A-36EA-CCB3-E6D9-BC0D8CFA915B}"/>
              </a:ext>
            </a:extLst>
          </p:cNvPr>
          <p:cNvSpPr/>
          <p:nvPr/>
        </p:nvSpPr>
        <p:spPr>
          <a:xfrm>
            <a:off x="804858" y="4228668"/>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14" action="ppaction://hlinksldjump"/>
            <a:extLst>
              <a:ext uri="{FF2B5EF4-FFF2-40B4-BE49-F238E27FC236}">
                <a16:creationId xmlns:a16="http://schemas.microsoft.com/office/drawing/2014/main" id="{AB4AFEDF-8D2C-5B19-9482-55068BFAC7F6}"/>
              </a:ext>
            </a:extLst>
          </p:cNvPr>
          <p:cNvSpPr/>
          <p:nvPr/>
        </p:nvSpPr>
        <p:spPr>
          <a:xfrm>
            <a:off x="804857" y="4893946"/>
            <a:ext cx="3394083" cy="5258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562A348-F4B9-6BF4-8DEF-9E9DB89C13A0}"/>
              </a:ext>
            </a:extLst>
          </p:cNvPr>
          <p:cNvSpPr txBox="1"/>
          <p:nvPr/>
        </p:nvSpPr>
        <p:spPr>
          <a:xfrm>
            <a:off x="1652608" y="5561361"/>
            <a:ext cx="2535646" cy="350673"/>
          </a:xfrm>
          <a:prstGeom prst="rect">
            <a:avLst/>
          </a:prstGeom>
          <a:noFill/>
        </p:spPr>
        <p:txBody>
          <a:bodyPr wrap="square" lIns="0" tIns="0" rIns="0" bIns="0">
            <a:spAutoFit/>
          </a:bodyPr>
          <a:lstStyle/>
          <a:p>
            <a:pPr algn="r">
              <a:lnSpc>
                <a:spcPts val="1400"/>
              </a:lnSpc>
            </a:pPr>
            <a:r>
              <a:rPr lang="en-US" sz="900" i="0" u="none" strike="noStrike" baseline="0" dirty="0">
                <a:solidFill>
                  <a:schemeClr val="bg1"/>
                </a:solidFill>
                <a:latin typeface="Cormorant Infant" pitchFamily="2" charset="0"/>
              </a:rPr>
              <a:t>*Subject to the estate inclusion rule if death occurs within three years of transfer to the trust.</a:t>
            </a:r>
            <a:endParaRPr lang="en-US" sz="900" dirty="0">
              <a:solidFill>
                <a:schemeClr val="bg1"/>
              </a:solidFill>
              <a:latin typeface="Cormorant Infant" pitchFamily="2" charset="0"/>
            </a:endParaRPr>
          </a:p>
        </p:txBody>
      </p:sp>
    </p:spTree>
    <p:extLst>
      <p:ext uri="{BB962C8B-B14F-4D97-AF65-F5344CB8AC3E}">
        <p14:creationId xmlns:p14="http://schemas.microsoft.com/office/powerpoint/2010/main" val="66734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B76B2-8118-D631-DF34-B429DAC573FE}"/>
            </a:ext>
          </a:extLst>
        </p:cNvPr>
        <p:cNvGrpSpPr/>
        <p:nvPr/>
      </p:nvGrpSpPr>
      <p:grpSpPr>
        <a:xfrm>
          <a:off x="0" y="0"/>
          <a:ext cx="0" cy="0"/>
          <a:chOff x="0" y="0"/>
          <a:chExt cx="0" cy="0"/>
        </a:xfrm>
      </p:grpSpPr>
      <p:sp>
        <p:nvSpPr>
          <p:cNvPr id="4" name="LIRADetail1">
            <a:extLst>
              <a:ext uri="{FF2B5EF4-FFF2-40B4-BE49-F238E27FC236}">
                <a16:creationId xmlns:a16="http://schemas.microsoft.com/office/drawing/2014/main" id="{A80639E4-7301-9D36-6A83-9F928AD5A498}"/>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AAD1DB8C-1F94-33AB-CF5F-62CD11A0B4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7D2D0CEB-0852-9013-9FBF-A1638E15B7A9}"/>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71E9A8A2-F9B7-AFF5-420B-3754A5028E5D}"/>
              </a:ext>
            </a:extLst>
          </p:cNvPr>
          <p:cNvSpPr txBox="1">
            <a:spLocks/>
          </p:cNvSpPr>
          <p:nvPr/>
        </p:nvSpPr>
        <p:spPr>
          <a:xfrm>
            <a:off x="895350" y="1177081"/>
            <a:ext cx="2452151" cy="1231106"/>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a:t>
            </a:r>
          </a:p>
        </p:txBody>
      </p:sp>
      <p:sp>
        <p:nvSpPr>
          <p:cNvPr id="12" name="TextBox 11">
            <a:extLst>
              <a:ext uri="{FF2B5EF4-FFF2-40B4-BE49-F238E27FC236}">
                <a16:creationId xmlns:a16="http://schemas.microsoft.com/office/drawing/2014/main" id="{9F83317C-FCEE-96C7-EA7D-A83201B3D194}"/>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859022CE-9055-0FB8-B746-AFB9399B715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195459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2EE6B-4C0F-2B7C-047A-CDA6D836E3CF}"/>
            </a:ext>
          </a:extLst>
        </p:cNvPr>
        <p:cNvGrpSpPr/>
        <p:nvPr/>
      </p:nvGrpSpPr>
      <p:grpSpPr>
        <a:xfrm>
          <a:off x="0" y="0"/>
          <a:ext cx="0" cy="0"/>
          <a:chOff x="0" y="0"/>
          <a:chExt cx="0" cy="0"/>
        </a:xfrm>
      </p:grpSpPr>
      <p:sp>
        <p:nvSpPr>
          <p:cNvPr id="4" name="LIRADetail2">
            <a:extLst>
              <a:ext uri="{FF2B5EF4-FFF2-40B4-BE49-F238E27FC236}">
                <a16:creationId xmlns:a16="http://schemas.microsoft.com/office/drawing/2014/main" id="{DDA7D294-AE1D-F999-A7A1-46F77FE35E4B}"/>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6569F009-5703-41BD-6678-B63B471CF8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8" name="object 4">
            <a:extLst>
              <a:ext uri="{FF2B5EF4-FFF2-40B4-BE49-F238E27FC236}">
                <a16:creationId xmlns:a16="http://schemas.microsoft.com/office/drawing/2014/main" id="{71D94AF1-97EA-3468-B49D-557854E56ACE}"/>
              </a:ext>
            </a:extLst>
          </p:cNvPr>
          <p:cNvSpPr txBox="1">
            <a:spLocks/>
          </p:cNvSpPr>
          <p:nvPr/>
        </p:nvSpPr>
        <p:spPr>
          <a:xfrm>
            <a:off x="895350" y="1177081"/>
            <a:ext cx="2452151" cy="1231106"/>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 Cont’d</a:t>
            </a:r>
          </a:p>
        </p:txBody>
      </p:sp>
      <p:sp>
        <p:nvSpPr>
          <p:cNvPr id="12" name="TextBox 11">
            <a:extLst>
              <a:ext uri="{FF2B5EF4-FFF2-40B4-BE49-F238E27FC236}">
                <a16:creationId xmlns:a16="http://schemas.microsoft.com/office/drawing/2014/main" id="{3CF005D3-19CB-C8B2-8911-4B0DEECAAEE5}"/>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D3A16B09-8B77-C3A9-C5B6-24331E4F135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object 4">
            <a:extLst>
              <a:ext uri="{FF2B5EF4-FFF2-40B4-BE49-F238E27FC236}">
                <a16:creationId xmlns:a16="http://schemas.microsoft.com/office/drawing/2014/main" id="{4F1CE224-5C22-0933-A0B8-00422C9D7021}"/>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Tree>
    <p:extLst>
      <p:ext uri="{BB962C8B-B14F-4D97-AF65-F5344CB8AC3E}">
        <p14:creationId xmlns:p14="http://schemas.microsoft.com/office/powerpoint/2010/main" val="20874553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AE8CB-CD0E-7A2B-FE32-A800C083A66B}"/>
            </a:ext>
          </a:extLst>
        </p:cNvPr>
        <p:cNvGrpSpPr/>
        <p:nvPr/>
      </p:nvGrpSpPr>
      <p:grpSpPr>
        <a:xfrm>
          <a:off x="0" y="0"/>
          <a:ext cx="0" cy="0"/>
          <a:chOff x="0" y="0"/>
          <a:chExt cx="0" cy="0"/>
        </a:xfrm>
      </p:grpSpPr>
      <p:sp>
        <p:nvSpPr>
          <p:cNvPr id="4" name="LIRADetail3">
            <a:extLst>
              <a:ext uri="{FF2B5EF4-FFF2-40B4-BE49-F238E27FC236}">
                <a16:creationId xmlns:a16="http://schemas.microsoft.com/office/drawing/2014/main" id="{2327B4D7-EBF8-145B-B6F6-AB217DD1320F}"/>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29AAFB87-7E85-A824-F0DE-5F42BC7D8E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91A6AACA-24EF-9F3C-62BA-10BD502896D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CB00472F-646C-7BF8-D6D1-25306C0DDBE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object 4">
            <a:extLst>
              <a:ext uri="{FF2B5EF4-FFF2-40B4-BE49-F238E27FC236}">
                <a16:creationId xmlns:a16="http://schemas.microsoft.com/office/drawing/2014/main" id="{4A230911-4E5A-C1AE-DA4B-D084661F85D1}"/>
              </a:ext>
            </a:extLst>
          </p:cNvPr>
          <p:cNvSpPr txBox="1">
            <a:spLocks/>
          </p:cNvSpPr>
          <p:nvPr/>
        </p:nvSpPr>
        <p:spPr>
          <a:xfrm>
            <a:off x="895350" y="1177081"/>
            <a:ext cx="2452151" cy="1231106"/>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 Cont’d</a:t>
            </a:r>
          </a:p>
        </p:txBody>
      </p:sp>
      <p:sp>
        <p:nvSpPr>
          <p:cNvPr id="6" name="object 4">
            <a:extLst>
              <a:ext uri="{FF2B5EF4-FFF2-40B4-BE49-F238E27FC236}">
                <a16:creationId xmlns:a16="http://schemas.microsoft.com/office/drawing/2014/main" id="{0467D3F2-D872-6CD7-CA67-5F95269D0EC8}"/>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Tree>
    <p:extLst>
      <p:ext uri="{BB962C8B-B14F-4D97-AF65-F5344CB8AC3E}">
        <p14:creationId xmlns:p14="http://schemas.microsoft.com/office/powerpoint/2010/main" val="3403999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9B840-1EEF-7D05-1595-07C3F582A236}"/>
            </a:ext>
          </a:extLst>
        </p:cNvPr>
        <p:cNvGrpSpPr/>
        <p:nvPr/>
      </p:nvGrpSpPr>
      <p:grpSpPr>
        <a:xfrm>
          <a:off x="0" y="0"/>
          <a:ext cx="0" cy="0"/>
          <a:chOff x="0" y="0"/>
          <a:chExt cx="0" cy="0"/>
        </a:xfrm>
      </p:grpSpPr>
      <p:pic>
        <p:nvPicPr>
          <p:cNvPr id="19" name="Graphic 18">
            <a:extLst>
              <a:ext uri="{FF2B5EF4-FFF2-40B4-BE49-F238E27FC236}">
                <a16:creationId xmlns:a16="http://schemas.microsoft.com/office/drawing/2014/main" id="{0E38E7B9-1195-2A0E-4741-450CB4F34A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6950" y="1392474"/>
            <a:ext cx="2623776" cy="1598020"/>
          </a:xfrm>
          <a:prstGeom prst="rect">
            <a:avLst/>
          </a:prstGeom>
        </p:spPr>
      </p:pic>
      <p:pic>
        <p:nvPicPr>
          <p:cNvPr id="20" name="Graphic 19">
            <a:extLst>
              <a:ext uri="{FF2B5EF4-FFF2-40B4-BE49-F238E27FC236}">
                <a16:creationId xmlns:a16="http://schemas.microsoft.com/office/drawing/2014/main" id="{F52BE43B-CE80-3ABE-BD97-9337DE576B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6950" y="3963874"/>
            <a:ext cx="2623776" cy="1598020"/>
          </a:xfrm>
          <a:prstGeom prst="rect">
            <a:avLst/>
          </a:prstGeom>
        </p:spPr>
      </p:pic>
      <p:sp>
        <p:nvSpPr>
          <p:cNvPr id="9" name="object 4">
            <a:extLst>
              <a:ext uri="{FF2B5EF4-FFF2-40B4-BE49-F238E27FC236}">
                <a16:creationId xmlns:a16="http://schemas.microsoft.com/office/drawing/2014/main" id="{0FB8D997-0B56-0F61-16EF-E57CB2133B33}"/>
              </a:ext>
            </a:extLst>
          </p:cNvPr>
          <p:cNvSpPr txBox="1">
            <a:spLocks/>
          </p:cNvSpPr>
          <p:nvPr/>
        </p:nvSpPr>
        <p:spPr>
          <a:xfrm>
            <a:off x="1514474" y="4544486"/>
            <a:ext cx="1841999" cy="654346"/>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r">
              <a:lnSpc>
                <a:spcPts val="1300"/>
              </a:lnSpc>
            </a:pPr>
            <a:r>
              <a:rPr lang="en-US" sz="800" b="0" dirty="0">
                <a:solidFill>
                  <a:schemeClr val="bg1"/>
                </a:solidFill>
                <a:latin typeface="Cormorant Infant" pitchFamily="2" charset="0"/>
                <a:cs typeface="Cormorant Infant" pitchFamily="2" charset="0"/>
              </a:rPr>
              <a:t>Legacy-IRA includes a &lt;</a:t>
            </a:r>
            <a:r>
              <a:rPr lang="en-US" sz="800" b="0" dirty="0" err="1">
                <a:solidFill>
                  <a:schemeClr val="bg1"/>
                </a:solidFill>
                <a:latin typeface="Cormorant Infant" pitchFamily="2" charset="0"/>
                <a:cs typeface="Cormorant Infant" pitchFamily="2" charset="0"/>
              </a:rPr>
              <a:t>BuyOutAmt</a:t>
            </a:r>
            <a:r>
              <a:rPr lang="en-US" sz="800" b="0" dirty="0">
                <a:solidFill>
                  <a:schemeClr val="bg1"/>
                </a:solidFill>
                <a:latin typeface="Cormorant Infant" pitchFamily="2" charset="0"/>
                <a:cs typeface="Cormorant Infant" pitchFamily="2" charset="0"/>
              </a:rPr>
              <a:t>&gt; Asset sale in year &lt;</a:t>
            </a:r>
            <a:r>
              <a:rPr lang="en-US" sz="800" b="0" dirty="0" err="1">
                <a:solidFill>
                  <a:schemeClr val="bg1"/>
                </a:solidFill>
                <a:latin typeface="Cormorant Infant" pitchFamily="2" charset="0"/>
                <a:cs typeface="Cormorant Infant" pitchFamily="2" charset="0"/>
              </a:rPr>
              <a:t>RolloutYr</a:t>
            </a:r>
            <a:r>
              <a:rPr lang="en-US" sz="800" b="0" dirty="0">
                <a:solidFill>
                  <a:schemeClr val="bg1"/>
                </a:solidFill>
                <a:latin typeface="Cormorant Infant" pitchFamily="2" charset="0"/>
                <a:cs typeface="Cormorant Infant" pitchFamily="2" charset="0"/>
              </a:rPr>
              <a:t>&gt;.  This represents a &lt;Discount&gt;+ valuation discount based on IRS Sec. 2005-25 Safe Harbor Revenue Procedure </a:t>
            </a:r>
          </a:p>
        </p:txBody>
      </p:sp>
      <p:sp>
        <p:nvSpPr>
          <p:cNvPr id="11" name="object 4">
            <a:extLst>
              <a:ext uri="{FF2B5EF4-FFF2-40B4-BE49-F238E27FC236}">
                <a16:creationId xmlns:a16="http://schemas.microsoft.com/office/drawing/2014/main" id="{CBB46D1B-0FE7-B41E-0B54-8E74A4B592C2}"/>
              </a:ext>
            </a:extLst>
          </p:cNvPr>
          <p:cNvSpPr txBox="1">
            <a:spLocks/>
          </p:cNvSpPr>
          <p:nvPr/>
        </p:nvSpPr>
        <p:spPr>
          <a:xfrm>
            <a:off x="1028700" y="982161"/>
            <a:ext cx="4657726" cy="307777"/>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A Comparison Using &lt;</a:t>
            </a:r>
            <a:r>
              <a:rPr lang="en-US" sz="2000" b="0" dirty="0" err="1">
                <a:solidFill>
                  <a:sysClr val="windowText" lastClr="000000"/>
                </a:solidFill>
                <a:latin typeface="Cormorant Infant" pitchFamily="2" charset="0"/>
                <a:cs typeface="Cormorant Infant" pitchFamily="2" charset="0"/>
              </a:rPr>
              <a:t>ClientNm</a:t>
            </a:r>
            <a:r>
              <a:rPr lang="en-US" sz="2000" b="0" dirty="0">
                <a:solidFill>
                  <a:sysClr val="windowText" lastClr="000000"/>
                </a:solidFill>
                <a:latin typeface="Cormorant Infant" pitchFamily="2" charset="0"/>
                <a:cs typeface="Cormorant Infant" pitchFamily="2" charset="0"/>
              </a:rPr>
              <a:t>&gt; details:</a:t>
            </a:r>
          </a:p>
        </p:txBody>
      </p:sp>
      <p:sp>
        <p:nvSpPr>
          <p:cNvPr id="16" name="object 4">
            <a:extLst>
              <a:ext uri="{FF2B5EF4-FFF2-40B4-BE49-F238E27FC236}">
                <a16:creationId xmlns:a16="http://schemas.microsoft.com/office/drawing/2014/main" id="{66401E0E-8F81-2892-871B-E3B59806F7BE}"/>
              </a:ext>
            </a:extLst>
          </p:cNvPr>
          <p:cNvSpPr txBox="1">
            <a:spLocks/>
          </p:cNvSpPr>
          <p:nvPr/>
        </p:nvSpPr>
        <p:spPr>
          <a:xfrm>
            <a:off x="1471619" y="1619925"/>
            <a:ext cx="1856278" cy="30777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r"/>
            <a:r>
              <a:rPr lang="en-US" sz="2000" b="0" dirty="0">
                <a:solidFill>
                  <a:schemeClr val="accent2"/>
                </a:solidFill>
                <a:latin typeface="Cormorant Infant" pitchFamily="2" charset="0"/>
                <a:cs typeface="Cormorant Infant" pitchFamily="2" charset="0"/>
              </a:rPr>
              <a:t>Current Planning:</a:t>
            </a:r>
          </a:p>
        </p:txBody>
      </p:sp>
      <p:sp>
        <p:nvSpPr>
          <p:cNvPr id="17" name="object 4">
            <a:extLst>
              <a:ext uri="{FF2B5EF4-FFF2-40B4-BE49-F238E27FC236}">
                <a16:creationId xmlns:a16="http://schemas.microsoft.com/office/drawing/2014/main" id="{14689100-F334-1EA7-03F3-471A966F97E0}"/>
              </a:ext>
            </a:extLst>
          </p:cNvPr>
          <p:cNvSpPr txBox="1">
            <a:spLocks/>
          </p:cNvSpPr>
          <p:nvPr/>
        </p:nvSpPr>
        <p:spPr>
          <a:xfrm>
            <a:off x="1304818" y="4188119"/>
            <a:ext cx="2023079" cy="307777"/>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r"/>
            <a:r>
              <a:rPr lang="en-US" sz="2000" b="0" dirty="0">
                <a:solidFill>
                  <a:schemeClr val="accent2"/>
                </a:solidFill>
                <a:latin typeface="Cormorant Infant" pitchFamily="2" charset="0"/>
                <a:cs typeface="Cormorant Infant" pitchFamily="2" charset="0"/>
              </a:rPr>
              <a:t>Legacy-IRA:</a:t>
            </a:r>
          </a:p>
        </p:txBody>
      </p:sp>
      <p:pic>
        <p:nvPicPr>
          <p:cNvPr id="22" name="Graphic 21">
            <a:extLst>
              <a:ext uri="{FF2B5EF4-FFF2-40B4-BE49-F238E27FC236}">
                <a16:creationId xmlns:a16="http://schemas.microsoft.com/office/drawing/2014/main" id="{3A5478C2-1236-E59F-8A98-ACF5C10F40F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34000" y="1136049"/>
            <a:ext cx="6254750" cy="82300"/>
          </a:xfrm>
          <a:prstGeom prst="rect">
            <a:avLst/>
          </a:prstGeom>
        </p:spPr>
      </p:pic>
      <p:sp>
        <p:nvSpPr>
          <p:cNvPr id="2" name="TextBox 1">
            <a:extLst>
              <a:ext uri="{FF2B5EF4-FFF2-40B4-BE49-F238E27FC236}">
                <a16:creationId xmlns:a16="http://schemas.microsoft.com/office/drawing/2014/main" id="{7D7E350B-C7CF-9003-0872-46B517B7FD18}"/>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5CE45A9E-8219-4B98-5F66-D70C8A27D08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CurrentSummary">
            <a:extLst>
              <a:ext uri="{FF2B5EF4-FFF2-40B4-BE49-F238E27FC236}">
                <a16:creationId xmlns:a16="http://schemas.microsoft.com/office/drawing/2014/main" id="{A23F6C97-47D4-4C79-7AAE-5097D9C0C9EB}"/>
              </a:ext>
            </a:extLst>
          </p:cNvPr>
          <p:cNvSpPr>
            <a:spLocks noGrp="1"/>
          </p:cNvSpPr>
          <p:nvPr>
            <p:ph sz="quarter" idx="10"/>
          </p:nvPr>
        </p:nvSpPr>
        <p:spPr>
          <a:xfrm>
            <a:off x="3705228" y="1380693"/>
            <a:ext cx="7989467" cy="2377440"/>
          </a:xfrm>
        </p:spPr>
        <p:txBody>
          <a:bodyPr wrap="none">
            <a:noAutofit/>
          </a:bodyPr>
          <a:lstStyle/>
          <a:p>
            <a:endParaRPr lang="en-US" dirty="0"/>
          </a:p>
        </p:txBody>
      </p:sp>
      <p:sp>
        <p:nvSpPr>
          <p:cNvPr id="5" name="LIRASummary">
            <a:extLst>
              <a:ext uri="{FF2B5EF4-FFF2-40B4-BE49-F238E27FC236}">
                <a16:creationId xmlns:a16="http://schemas.microsoft.com/office/drawing/2014/main" id="{13650D79-2A44-2FA3-1649-F483C1B7709A}"/>
              </a:ext>
            </a:extLst>
          </p:cNvPr>
          <p:cNvSpPr>
            <a:spLocks noGrp="1"/>
          </p:cNvSpPr>
          <p:nvPr>
            <p:ph sz="quarter" idx="11"/>
          </p:nvPr>
        </p:nvSpPr>
        <p:spPr>
          <a:xfrm>
            <a:off x="3705228" y="3978074"/>
            <a:ext cx="7989467" cy="2379309"/>
          </a:xfrm>
        </p:spPr>
        <p:txBody>
          <a:bodyPr wrap="none">
            <a:noAutofit/>
          </a:bodyPr>
          <a:lstStyle/>
          <a:p>
            <a:endParaRPr lang="en-US" dirty="0"/>
          </a:p>
        </p:txBody>
      </p:sp>
    </p:spTree>
    <p:extLst>
      <p:ext uri="{BB962C8B-B14F-4D97-AF65-F5344CB8AC3E}">
        <p14:creationId xmlns:p14="http://schemas.microsoft.com/office/powerpoint/2010/main" val="3954267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9DD8-967C-5C60-D6B9-3A19F07EFA3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5D9C4D-37F5-A28C-F790-296F54F80EDE}"/>
              </a:ext>
            </a:extLst>
          </p:cNvPr>
          <p:cNvSpPr>
            <a:spLocks noGrp="1"/>
          </p:cNvSpPr>
          <p:nvPr>
            <p:ph sz="quarter" idx="10"/>
          </p:nvPr>
        </p:nvSpPr>
        <p:spPr>
          <a:xfrm>
            <a:off x="3630168" y="1177081"/>
            <a:ext cx="7863840" cy="4818888"/>
          </a:xfrm>
        </p:spPr>
        <p:txBody>
          <a:bodyPr/>
          <a:lstStyle/>
          <a:p>
            <a:endParaRPr lang="en-US" dirty="0"/>
          </a:p>
        </p:txBody>
      </p:sp>
      <p:pic>
        <p:nvPicPr>
          <p:cNvPr id="9" name="Graphic 8">
            <a:extLst>
              <a:ext uri="{FF2B5EF4-FFF2-40B4-BE49-F238E27FC236}">
                <a16:creationId xmlns:a16="http://schemas.microsoft.com/office/drawing/2014/main" id="{04EBEDDD-1EFF-1E51-4F7B-ACE809F87E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6" name="object 4">
            <a:extLst>
              <a:ext uri="{FF2B5EF4-FFF2-40B4-BE49-F238E27FC236}">
                <a16:creationId xmlns:a16="http://schemas.microsoft.com/office/drawing/2014/main" id="{C4EE99CA-B299-5845-09B7-DE64C50A4E4E}"/>
              </a:ext>
            </a:extLst>
          </p:cNvPr>
          <p:cNvSpPr txBox="1">
            <a:spLocks/>
          </p:cNvSpPr>
          <p:nvPr/>
        </p:nvSpPr>
        <p:spPr>
          <a:xfrm>
            <a:off x="895350" y="29025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7" name="object 4">
            <a:extLst>
              <a:ext uri="{FF2B5EF4-FFF2-40B4-BE49-F238E27FC236}">
                <a16:creationId xmlns:a16="http://schemas.microsoft.com/office/drawing/2014/main" id="{33640CD3-41B2-B0D3-DA73-2F19694D279E}"/>
              </a:ext>
            </a:extLst>
          </p:cNvPr>
          <p:cNvSpPr txBox="1">
            <a:spLocks/>
          </p:cNvSpPr>
          <p:nvPr/>
        </p:nvSpPr>
        <p:spPr>
          <a:xfrm>
            <a:off x="895350" y="1330969"/>
            <a:ext cx="2452151" cy="923330"/>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Comparison of Planning Efficiency &amp; Outcome</a:t>
            </a:r>
          </a:p>
        </p:txBody>
      </p:sp>
      <p:sp>
        <p:nvSpPr>
          <p:cNvPr id="12" name="TextBox 11">
            <a:extLst>
              <a:ext uri="{FF2B5EF4-FFF2-40B4-BE49-F238E27FC236}">
                <a16:creationId xmlns:a16="http://schemas.microsoft.com/office/drawing/2014/main" id="{E50A602E-D0E3-1B4E-3699-D8D6F417A5F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FE3E320C-5EA9-2F34-028E-C56B0B7AABD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3227444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BFD23A26-1808-D5B1-41AB-1F805C18DE54}"/>
              </a:ext>
            </a:extLst>
          </p:cNvPr>
          <p:cNvSpPr txBox="1"/>
          <p:nvPr/>
        </p:nvSpPr>
        <p:spPr>
          <a:xfrm>
            <a:off x="1173420" y="1715985"/>
            <a:ext cx="8934450" cy="584968"/>
          </a:xfrm>
          <a:prstGeom prst="rect">
            <a:avLst/>
          </a:prstGeom>
          <a:noFill/>
        </p:spPr>
        <p:txBody>
          <a:bodyPr wrap="square">
            <a:spAutoFit/>
          </a:bodyPr>
          <a:lstStyle/>
          <a:p>
            <a:pPr lvl="1" algn="l">
              <a:lnSpc>
                <a:spcPts val="2000"/>
              </a:lnSpc>
            </a:pPr>
            <a:r>
              <a:rPr lang="en-US" sz="1200" dirty="0">
                <a:solidFill>
                  <a:schemeClr val="bg1"/>
                </a:solidFill>
                <a:latin typeface="Cormorant Infant" pitchFamily="2" charset="0"/>
              </a:rPr>
              <a:t>Comparative financial analysis: funding pre-tax &lt;</a:t>
            </a:r>
            <a:r>
              <a:rPr lang="en-US" sz="1200" dirty="0" err="1">
                <a:solidFill>
                  <a:schemeClr val="bg1"/>
                </a:solidFill>
                <a:latin typeface="Cormorant Infant" pitchFamily="2" charset="0"/>
              </a:rPr>
              <a:t>PremsInIRA</a:t>
            </a:r>
            <a:r>
              <a:rPr lang="en-US" sz="1200" dirty="0">
                <a:solidFill>
                  <a:schemeClr val="bg1"/>
                </a:solidFill>
                <a:latin typeface="Cormorant Infant" pitchFamily="2" charset="0"/>
              </a:rPr>
              <a:t>&gt; over &lt;</a:t>
            </a:r>
            <a:r>
              <a:rPr lang="en-US" sz="1200" dirty="0" err="1">
                <a:solidFill>
                  <a:schemeClr val="bg1"/>
                </a:solidFill>
                <a:latin typeface="Cormorant Infant" pitchFamily="2" charset="0"/>
              </a:rPr>
              <a:t>PremYrs</a:t>
            </a:r>
            <a:r>
              <a:rPr lang="en-US" sz="1200" dirty="0">
                <a:solidFill>
                  <a:schemeClr val="bg1"/>
                </a:solidFill>
                <a:latin typeface="Cormorant Infant" pitchFamily="2" charset="0"/>
              </a:rPr>
              <a:t>&gt; years.</a:t>
            </a:r>
          </a:p>
          <a:p>
            <a:pPr lvl="1" algn="l">
              <a:lnSpc>
                <a:spcPts val="2000"/>
              </a:lnSpc>
            </a:pPr>
            <a:r>
              <a:rPr lang="en-US" sz="1200" dirty="0">
                <a:solidFill>
                  <a:schemeClr val="bg1"/>
                </a:solidFill>
                <a:latin typeface="Cormorant Infant" pitchFamily="2" charset="0"/>
              </a:rPr>
              <a:t>&lt;</a:t>
            </a:r>
            <a:r>
              <a:rPr lang="en-US" sz="1200" dirty="0" err="1">
                <a:solidFill>
                  <a:schemeClr val="bg1"/>
                </a:solidFill>
                <a:latin typeface="Cormorant Infant" pitchFamily="2" charset="0"/>
              </a:rPr>
              <a:t>CompareChrtText</a:t>
            </a:r>
            <a:r>
              <a:rPr lang="en-US" sz="1200" dirty="0">
                <a:solidFill>
                  <a:schemeClr val="bg1"/>
                </a:solidFill>
                <a:latin typeface="Cormorant Infant" pitchFamily="2" charset="0"/>
              </a:rPr>
              <a:t>&gt; &lt;</a:t>
            </a:r>
            <a:r>
              <a:rPr lang="en-US" sz="1200" dirty="0" err="1">
                <a:solidFill>
                  <a:schemeClr val="bg1"/>
                </a:solidFill>
                <a:latin typeface="Cormorant Infant" pitchFamily="2" charset="0"/>
              </a:rPr>
              <a:t>IraTrustRate</a:t>
            </a:r>
            <a:r>
              <a:rPr lang="en-US" sz="1200" dirty="0">
                <a:solidFill>
                  <a:schemeClr val="bg1"/>
                </a:solidFill>
                <a:latin typeface="Cormorant Infant" pitchFamily="2" charset="0"/>
              </a:rPr>
              <a:t>&gt;</a:t>
            </a:r>
          </a:p>
        </p:txBody>
      </p:sp>
      <p:sp>
        <p:nvSpPr>
          <p:cNvPr id="30" name="object 4">
            <a:extLst>
              <a:ext uri="{FF2B5EF4-FFF2-40B4-BE49-F238E27FC236}">
                <a16:creationId xmlns:a16="http://schemas.microsoft.com/office/drawing/2014/main" id="{71D8B428-56A1-AF6D-05C3-CE4D10826803}"/>
              </a:ext>
            </a:extLst>
          </p:cNvPr>
          <p:cNvSpPr txBox="1">
            <a:spLocks/>
          </p:cNvSpPr>
          <p:nvPr/>
        </p:nvSpPr>
        <p:spPr>
          <a:xfrm>
            <a:off x="1173420" y="1344527"/>
            <a:ext cx="6711774" cy="369332"/>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400" b="0" dirty="0">
                <a:solidFill>
                  <a:schemeClr val="accent2"/>
                </a:solidFill>
                <a:latin typeface="Cormorant Infant" pitchFamily="2" charset="0"/>
                <a:cs typeface="Cormorant Infant" pitchFamily="2" charset="0"/>
              </a:rPr>
              <a:t>Wealth-Transfer Planning with Pre-Tax Life Insurance</a:t>
            </a:r>
          </a:p>
        </p:txBody>
      </p:sp>
      <p:sp>
        <p:nvSpPr>
          <p:cNvPr id="53" name="Rectangle 52">
            <a:extLst>
              <a:ext uri="{FF2B5EF4-FFF2-40B4-BE49-F238E27FC236}">
                <a16:creationId xmlns:a16="http://schemas.microsoft.com/office/drawing/2014/main" id="{866A0E4E-79B3-A013-487C-D2C32446220F}"/>
              </a:ext>
            </a:extLst>
          </p:cNvPr>
          <p:cNvSpPr/>
          <p:nvPr/>
        </p:nvSpPr>
        <p:spPr>
          <a:xfrm>
            <a:off x="8943936" y="1800374"/>
            <a:ext cx="2383598" cy="1180952"/>
          </a:xfrm>
          <a:prstGeom prst="rect">
            <a:avLst/>
          </a:prstGeom>
          <a:solidFill>
            <a:schemeClr val="tx1"/>
          </a:solidFill>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636C0E6-DBFF-FD0C-FDC3-0B299ED03DBF}"/>
              </a:ext>
            </a:extLst>
          </p:cNvPr>
          <p:cNvSpPr/>
          <p:nvPr/>
        </p:nvSpPr>
        <p:spPr>
          <a:xfrm>
            <a:off x="10695400" y="2451127"/>
            <a:ext cx="350800" cy="292787"/>
          </a:xfrm>
          <a:prstGeom prst="rect">
            <a:avLst/>
          </a:prstGeom>
          <a:solidFill>
            <a:srgbClr val="D7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5495E1-CFD4-85DC-AADC-984ED2A4A241}"/>
              </a:ext>
            </a:extLst>
          </p:cNvPr>
          <p:cNvSpPr txBox="1"/>
          <p:nvPr/>
        </p:nvSpPr>
        <p:spPr>
          <a:xfrm>
            <a:off x="9077324" y="2520576"/>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&lt;ChartHead1&gt;</a:t>
            </a:r>
          </a:p>
        </p:txBody>
      </p:sp>
      <p:sp>
        <p:nvSpPr>
          <p:cNvPr id="21" name="Rectangle 20">
            <a:extLst>
              <a:ext uri="{FF2B5EF4-FFF2-40B4-BE49-F238E27FC236}">
                <a16:creationId xmlns:a16="http://schemas.microsoft.com/office/drawing/2014/main" id="{D3DE2458-E4AC-99ED-D1C3-99F96D71B519}"/>
              </a:ext>
            </a:extLst>
          </p:cNvPr>
          <p:cNvSpPr/>
          <p:nvPr/>
        </p:nvSpPr>
        <p:spPr>
          <a:xfrm>
            <a:off x="10695400" y="2451127"/>
            <a:ext cx="350800" cy="292787"/>
          </a:xfrm>
          <a:prstGeom prst="rect">
            <a:avLst/>
          </a:prstGeom>
          <a:solidFill>
            <a:srgbClr val="D7E6B8">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A6C0C2E-A24A-F425-BF83-B39F8A71514B}"/>
              </a:ext>
            </a:extLst>
          </p:cNvPr>
          <p:cNvSpPr txBox="1"/>
          <p:nvPr/>
        </p:nvSpPr>
        <p:spPr>
          <a:xfrm>
            <a:off x="9077324" y="2165309"/>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Current Plan</a:t>
            </a:r>
          </a:p>
        </p:txBody>
      </p:sp>
      <p:sp>
        <p:nvSpPr>
          <p:cNvPr id="22" name="Rectangle 21">
            <a:extLst>
              <a:ext uri="{FF2B5EF4-FFF2-40B4-BE49-F238E27FC236}">
                <a16:creationId xmlns:a16="http://schemas.microsoft.com/office/drawing/2014/main" id="{9975D2FF-8390-9798-1955-4772A5B6B1DD}"/>
              </a:ext>
            </a:extLst>
          </p:cNvPr>
          <p:cNvSpPr/>
          <p:nvPr/>
        </p:nvSpPr>
        <p:spPr>
          <a:xfrm>
            <a:off x="10695400" y="2095860"/>
            <a:ext cx="350800" cy="292787"/>
          </a:xfrm>
          <a:prstGeom prst="rect">
            <a:avLst/>
          </a:prstGeom>
          <a:solidFill>
            <a:srgbClr val="D7E6B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4EF2C2F-7C93-13BC-A8D5-4E8152F1BD46}"/>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A20A58A9-02E9-D2B4-9696-2099D4981EE1}"/>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graphicFrame>
        <p:nvGraphicFramePr>
          <p:cNvPr id="8" name="Chart 7">
            <a:extLst>
              <a:ext uri="{FF2B5EF4-FFF2-40B4-BE49-F238E27FC236}">
                <a16:creationId xmlns:a16="http://schemas.microsoft.com/office/drawing/2014/main" id="{653AC380-BFCE-B834-B6E1-E303B27523D4}"/>
              </a:ext>
            </a:extLst>
          </p:cNvPr>
          <p:cNvGraphicFramePr/>
          <p:nvPr>
            <p:extLst>
              <p:ext uri="{D42A27DB-BD31-4B8C-83A1-F6EECF244321}">
                <p14:modId xmlns:p14="http://schemas.microsoft.com/office/powerpoint/2010/main" val="1692955938"/>
              </p:ext>
            </p:extLst>
          </p:nvPr>
        </p:nvGraphicFramePr>
        <p:xfrm>
          <a:off x="1523999" y="2724150"/>
          <a:ext cx="10058400" cy="3657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41834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1A0D-C202-20CA-ED01-3BDF5092B349}"/>
            </a:ext>
          </a:extLst>
        </p:cNvPr>
        <p:cNvGrpSpPr/>
        <p:nvPr/>
      </p:nvGrpSpPr>
      <p:grpSpPr>
        <a:xfrm>
          <a:off x="0" y="0"/>
          <a:ext cx="0" cy="0"/>
          <a:chOff x="0" y="0"/>
          <a:chExt cx="0" cy="0"/>
        </a:xfrm>
      </p:grpSpPr>
      <p:sp>
        <p:nvSpPr>
          <p:cNvPr id="30" name="object 4">
            <a:extLst>
              <a:ext uri="{FF2B5EF4-FFF2-40B4-BE49-F238E27FC236}">
                <a16:creationId xmlns:a16="http://schemas.microsoft.com/office/drawing/2014/main" id="{C9FDCCFD-ED34-937B-B659-B8E52C25011A}"/>
              </a:ext>
            </a:extLst>
          </p:cNvPr>
          <p:cNvSpPr txBox="1">
            <a:spLocks/>
          </p:cNvSpPr>
          <p:nvPr/>
        </p:nvSpPr>
        <p:spPr>
          <a:xfrm>
            <a:off x="1173420" y="1344527"/>
            <a:ext cx="6711774" cy="369332"/>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400" b="0" dirty="0">
                <a:solidFill>
                  <a:schemeClr val="accent2"/>
                </a:solidFill>
                <a:latin typeface="Cormorant Infant" pitchFamily="2" charset="0"/>
                <a:cs typeface="Cormorant Infant" pitchFamily="2" charset="0"/>
              </a:rPr>
              <a:t>Wealth-Transfer Planning with Pre-Tax Life Insurance</a:t>
            </a:r>
          </a:p>
        </p:txBody>
      </p:sp>
      <p:sp>
        <p:nvSpPr>
          <p:cNvPr id="53" name="Rectangle 52">
            <a:extLst>
              <a:ext uri="{FF2B5EF4-FFF2-40B4-BE49-F238E27FC236}">
                <a16:creationId xmlns:a16="http://schemas.microsoft.com/office/drawing/2014/main" id="{01ECE853-FE98-E0FF-76D6-B43601501DDD}"/>
              </a:ext>
            </a:extLst>
          </p:cNvPr>
          <p:cNvSpPr/>
          <p:nvPr/>
        </p:nvSpPr>
        <p:spPr>
          <a:xfrm>
            <a:off x="8943936" y="1344527"/>
            <a:ext cx="2383598" cy="1379623"/>
          </a:xfrm>
          <a:prstGeom prst="rect">
            <a:avLst/>
          </a:prstGeom>
          <a:solidFill>
            <a:schemeClr val="tx1"/>
          </a:solidFill>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TextBox 26">
            <a:extLst>
              <a:ext uri="{FF2B5EF4-FFF2-40B4-BE49-F238E27FC236}">
                <a16:creationId xmlns:a16="http://schemas.microsoft.com/office/drawing/2014/main" id="{1B719B3A-1C91-61C9-E4FE-30A603017898}"/>
              </a:ext>
            </a:extLst>
          </p:cNvPr>
          <p:cNvSpPr txBox="1"/>
          <p:nvPr/>
        </p:nvSpPr>
        <p:spPr>
          <a:xfrm>
            <a:off x="9077324" y="2319773"/>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&lt;ChartHead2&gt;</a:t>
            </a:r>
          </a:p>
        </p:txBody>
      </p:sp>
      <p:sp>
        <p:nvSpPr>
          <p:cNvPr id="19" name="Rectangle 18">
            <a:extLst>
              <a:ext uri="{FF2B5EF4-FFF2-40B4-BE49-F238E27FC236}">
                <a16:creationId xmlns:a16="http://schemas.microsoft.com/office/drawing/2014/main" id="{3EC7B879-AF1A-FD82-72BC-B5ACF70EFF8F}"/>
              </a:ext>
            </a:extLst>
          </p:cNvPr>
          <p:cNvSpPr/>
          <p:nvPr/>
        </p:nvSpPr>
        <p:spPr>
          <a:xfrm>
            <a:off x="10695400" y="2250324"/>
            <a:ext cx="350800" cy="292787"/>
          </a:xfrm>
          <a:prstGeom prst="rect">
            <a:avLst/>
          </a:prstGeom>
          <a:solidFill>
            <a:srgbClr val="D7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71A0583-D371-50DE-F424-F375D9C7D0B8}"/>
              </a:ext>
            </a:extLst>
          </p:cNvPr>
          <p:cNvSpPr txBox="1"/>
          <p:nvPr/>
        </p:nvSpPr>
        <p:spPr>
          <a:xfrm>
            <a:off x="9077324" y="1968126"/>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&lt;ChartHead1&gt;</a:t>
            </a:r>
          </a:p>
        </p:txBody>
      </p:sp>
      <p:sp>
        <p:nvSpPr>
          <p:cNvPr id="21" name="Rectangle 20">
            <a:extLst>
              <a:ext uri="{FF2B5EF4-FFF2-40B4-BE49-F238E27FC236}">
                <a16:creationId xmlns:a16="http://schemas.microsoft.com/office/drawing/2014/main" id="{AAF11075-13A5-288A-6238-D0C48E48A417}"/>
              </a:ext>
            </a:extLst>
          </p:cNvPr>
          <p:cNvSpPr/>
          <p:nvPr/>
        </p:nvSpPr>
        <p:spPr>
          <a:xfrm>
            <a:off x="10695400" y="1898677"/>
            <a:ext cx="350800" cy="292787"/>
          </a:xfrm>
          <a:prstGeom prst="rect">
            <a:avLst/>
          </a:prstGeom>
          <a:solidFill>
            <a:srgbClr val="D7E6B8">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090C9B8-A94A-95AB-0DCF-E01332D42FAC}"/>
              </a:ext>
            </a:extLst>
          </p:cNvPr>
          <p:cNvSpPr txBox="1"/>
          <p:nvPr/>
        </p:nvSpPr>
        <p:spPr>
          <a:xfrm>
            <a:off x="9077324" y="1612859"/>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Current Plan</a:t>
            </a:r>
          </a:p>
        </p:txBody>
      </p:sp>
      <p:sp>
        <p:nvSpPr>
          <p:cNvPr id="22" name="Rectangle 21">
            <a:extLst>
              <a:ext uri="{FF2B5EF4-FFF2-40B4-BE49-F238E27FC236}">
                <a16:creationId xmlns:a16="http://schemas.microsoft.com/office/drawing/2014/main" id="{7967A66A-CA64-CEAF-8B54-E863D8AAF74F}"/>
              </a:ext>
            </a:extLst>
          </p:cNvPr>
          <p:cNvSpPr/>
          <p:nvPr/>
        </p:nvSpPr>
        <p:spPr>
          <a:xfrm>
            <a:off x="10695400" y="1543410"/>
            <a:ext cx="350800" cy="292787"/>
          </a:xfrm>
          <a:prstGeom prst="rect">
            <a:avLst/>
          </a:prstGeom>
          <a:solidFill>
            <a:srgbClr val="D7E6B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7A4FBF6-E21C-EBB8-279C-C07DA79471BF}"/>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E3D935BB-FFBA-2683-1864-70669FD5EBA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graphicFrame>
        <p:nvGraphicFramePr>
          <p:cNvPr id="8" name="Chart 7">
            <a:extLst>
              <a:ext uri="{FF2B5EF4-FFF2-40B4-BE49-F238E27FC236}">
                <a16:creationId xmlns:a16="http://schemas.microsoft.com/office/drawing/2014/main" id="{31DDC8BA-6F4F-6771-50A4-EB57B99496C3}"/>
              </a:ext>
            </a:extLst>
          </p:cNvPr>
          <p:cNvGraphicFramePr/>
          <p:nvPr>
            <p:extLst>
              <p:ext uri="{D42A27DB-BD31-4B8C-83A1-F6EECF244321}">
                <p14:modId xmlns:p14="http://schemas.microsoft.com/office/powerpoint/2010/main" val="2657397589"/>
              </p:ext>
            </p:extLst>
          </p:nvPr>
        </p:nvGraphicFramePr>
        <p:xfrm>
          <a:off x="1523999" y="2724150"/>
          <a:ext cx="10058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1AEA57EE-F326-22D4-7EF8-4FADAA4394D4}"/>
              </a:ext>
            </a:extLst>
          </p:cNvPr>
          <p:cNvSpPr txBox="1"/>
          <p:nvPr/>
        </p:nvSpPr>
        <p:spPr>
          <a:xfrm>
            <a:off x="1173420" y="1715985"/>
            <a:ext cx="8934450" cy="841449"/>
          </a:xfrm>
          <a:prstGeom prst="rect">
            <a:avLst/>
          </a:prstGeom>
          <a:noFill/>
        </p:spPr>
        <p:txBody>
          <a:bodyPr wrap="square">
            <a:spAutoFit/>
          </a:bodyPr>
          <a:lstStyle/>
          <a:p>
            <a:pPr lvl="1" algn="l">
              <a:lnSpc>
                <a:spcPts val="2000"/>
              </a:lnSpc>
            </a:pPr>
            <a:r>
              <a:rPr lang="en-US" sz="1200" dirty="0">
                <a:solidFill>
                  <a:schemeClr val="bg1"/>
                </a:solidFill>
                <a:latin typeface="Cormorant Infant" pitchFamily="2" charset="0"/>
              </a:rPr>
              <a:t>Comparative financial analysis: funding pre-tax &lt;</a:t>
            </a:r>
            <a:r>
              <a:rPr lang="en-US" sz="1200" dirty="0" err="1">
                <a:solidFill>
                  <a:schemeClr val="bg1"/>
                </a:solidFill>
                <a:latin typeface="Cormorant Infant" pitchFamily="2" charset="0"/>
              </a:rPr>
              <a:t>PremsInIRA</a:t>
            </a:r>
            <a:r>
              <a:rPr lang="en-US" sz="1200" dirty="0">
                <a:solidFill>
                  <a:schemeClr val="bg1"/>
                </a:solidFill>
                <a:latin typeface="Cormorant Infant" pitchFamily="2" charset="0"/>
              </a:rPr>
              <a:t>&gt; over &lt;</a:t>
            </a:r>
            <a:r>
              <a:rPr lang="en-US" sz="1200" dirty="0" err="1">
                <a:solidFill>
                  <a:schemeClr val="bg1"/>
                </a:solidFill>
                <a:latin typeface="Cormorant Infant" pitchFamily="2" charset="0"/>
              </a:rPr>
              <a:t>PremYrs</a:t>
            </a:r>
            <a:r>
              <a:rPr lang="en-US" sz="1200" dirty="0">
                <a:solidFill>
                  <a:schemeClr val="bg1"/>
                </a:solidFill>
                <a:latin typeface="Cormorant Infant" pitchFamily="2" charset="0"/>
              </a:rPr>
              <a:t>&gt; years.</a:t>
            </a:r>
          </a:p>
          <a:p>
            <a:pPr lvl="1" algn="l">
              <a:lnSpc>
                <a:spcPts val="2000"/>
              </a:lnSpc>
            </a:pPr>
            <a:r>
              <a:rPr lang="en-US" sz="1200" dirty="0">
                <a:solidFill>
                  <a:schemeClr val="bg1"/>
                </a:solidFill>
                <a:latin typeface="Cormorant Infant" pitchFamily="2" charset="0"/>
              </a:rPr>
              <a:t>&lt;</a:t>
            </a:r>
            <a:r>
              <a:rPr lang="en-US" sz="1200" dirty="0" err="1">
                <a:solidFill>
                  <a:schemeClr val="bg1"/>
                </a:solidFill>
                <a:latin typeface="Cormorant Infant" pitchFamily="2" charset="0"/>
              </a:rPr>
              <a:t>CompareChrtText</a:t>
            </a:r>
            <a:r>
              <a:rPr lang="en-US" sz="1200" dirty="0">
                <a:solidFill>
                  <a:schemeClr val="bg1"/>
                </a:solidFill>
                <a:latin typeface="Cormorant Infant" pitchFamily="2" charset="0"/>
              </a:rPr>
              <a:t>&gt; &lt;</a:t>
            </a:r>
            <a:r>
              <a:rPr lang="en-US" sz="1200" dirty="0" err="1">
                <a:solidFill>
                  <a:schemeClr val="bg1"/>
                </a:solidFill>
                <a:latin typeface="Cormorant Infant" pitchFamily="2" charset="0"/>
              </a:rPr>
              <a:t>IraTrustRate</a:t>
            </a:r>
            <a:r>
              <a:rPr lang="en-US" sz="1200" dirty="0">
                <a:solidFill>
                  <a:schemeClr val="bg1"/>
                </a:solidFill>
                <a:latin typeface="Cormorant Infant" pitchFamily="2" charset="0"/>
              </a:rPr>
              <a:t>&gt;</a:t>
            </a:r>
          </a:p>
          <a:p>
            <a:pPr lvl="1" algn="l">
              <a:lnSpc>
                <a:spcPts val="2000"/>
              </a:lnSpc>
            </a:pPr>
            <a:endParaRPr lang="en-US" sz="1200" dirty="0">
              <a:solidFill>
                <a:schemeClr val="bg1"/>
              </a:solidFill>
              <a:latin typeface="Cormorant Infant" pitchFamily="2" charset="0"/>
            </a:endParaRPr>
          </a:p>
        </p:txBody>
      </p:sp>
    </p:spTree>
    <p:extLst>
      <p:ext uri="{BB962C8B-B14F-4D97-AF65-F5344CB8AC3E}">
        <p14:creationId xmlns:p14="http://schemas.microsoft.com/office/powerpoint/2010/main" val="1457296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D9643-E53F-91C0-984C-5E0DD34A8CF1}"/>
            </a:ext>
          </a:extLst>
        </p:cNvPr>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11A148F4-AF2E-1106-E677-CC012CE14F4F}"/>
              </a:ext>
            </a:extLst>
          </p:cNvPr>
          <p:cNvGraphicFramePr/>
          <p:nvPr>
            <p:extLst>
              <p:ext uri="{D42A27DB-BD31-4B8C-83A1-F6EECF244321}">
                <p14:modId xmlns:p14="http://schemas.microsoft.com/office/powerpoint/2010/main" val="3355926316"/>
              </p:ext>
            </p:extLst>
          </p:nvPr>
        </p:nvGraphicFramePr>
        <p:xfrm>
          <a:off x="1523999" y="2724150"/>
          <a:ext cx="10058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30" name="object 4">
            <a:extLst>
              <a:ext uri="{FF2B5EF4-FFF2-40B4-BE49-F238E27FC236}">
                <a16:creationId xmlns:a16="http://schemas.microsoft.com/office/drawing/2014/main" id="{C25C85B8-3FDB-6ED4-4A16-8DC6BE25C0C7}"/>
              </a:ext>
            </a:extLst>
          </p:cNvPr>
          <p:cNvSpPr txBox="1">
            <a:spLocks/>
          </p:cNvSpPr>
          <p:nvPr/>
        </p:nvSpPr>
        <p:spPr>
          <a:xfrm>
            <a:off x="1173420" y="1344527"/>
            <a:ext cx="6711774" cy="369332"/>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400" b="0" dirty="0">
                <a:solidFill>
                  <a:schemeClr val="accent2"/>
                </a:solidFill>
                <a:latin typeface="Cormorant Infant" pitchFamily="2" charset="0"/>
                <a:cs typeface="Cormorant Infant" pitchFamily="2" charset="0"/>
              </a:rPr>
              <a:t>Wealth-Transfer Planning with Pre-Tax Life Insurance</a:t>
            </a:r>
          </a:p>
        </p:txBody>
      </p:sp>
      <p:sp>
        <p:nvSpPr>
          <p:cNvPr id="53" name="Rectangle 52">
            <a:extLst>
              <a:ext uri="{FF2B5EF4-FFF2-40B4-BE49-F238E27FC236}">
                <a16:creationId xmlns:a16="http://schemas.microsoft.com/office/drawing/2014/main" id="{BB4F1B24-C3D0-E96B-AC50-44F186B4DFAC}"/>
              </a:ext>
            </a:extLst>
          </p:cNvPr>
          <p:cNvSpPr/>
          <p:nvPr/>
        </p:nvSpPr>
        <p:spPr>
          <a:xfrm>
            <a:off x="8943936" y="1230227"/>
            <a:ext cx="2383598" cy="1741573"/>
          </a:xfrm>
          <a:prstGeom prst="rect">
            <a:avLst/>
          </a:prstGeom>
          <a:solidFill>
            <a:schemeClr val="tx1"/>
          </a:solidFill>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TextBox 26">
            <a:extLst>
              <a:ext uri="{FF2B5EF4-FFF2-40B4-BE49-F238E27FC236}">
                <a16:creationId xmlns:a16="http://schemas.microsoft.com/office/drawing/2014/main" id="{4A09EC1A-66F9-6CDC-98D1-77243ECB018A}"/>
              </a:ext>
            </a:extLst>
          </p:cNvPr>
          <p:cNvSpPr txBox="1"/>
          <p:nvPr/>
        </p:nvSpPr>
        <p:spPr>
          <a:xfrm>
            <a:off x="9077324" y="2567423"/>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&lt;ChartHead3&gt;</a:t>
            </a:r>
          </a:p>
        </p:txBody>
      </p:sp>
      <p:sp>
        <p:nvSpPr>
          <p:cNvPr id="19" name="Rectangle 18">
            <a:extLst>
              <a:ext uri="{FF2B5EF4-FFF2-40B4-BE49-F238E27FC236}">
                <a16:creationId xmlns:a16="http://schemas.microsoft.com/office/drawing/2014/main" id="{67C7FCA6-2168-4F35-8669-781F464E9EB8}"/>
              </a:ext>
            </a:extLst>
          </p:cNvPr>
          <p:cNvSpPr/>
          <p:nvPr/>
        </p:nvSpPr>
        <p:spPr>
          <a:xfrm>
            <a:off x="10695400" y="2497974"/>
            <a:ext cx="350800" cy="292787"/>
          </a:xfrm>
          <a:prstGeom prst="rect">
            <a:avLst/>
          </a:prstGeom>
          <a:solidFill>
            <a:srgbClr val="D7E6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E493DF5-C54D-DC20-502D-C0B4A50F6AEB}"/>
              </a:ext>
            </a:extLst>
          </p:cNvPr>
          <p:cNvSpPr txBox="1"/>
          <p:nvPr/>
        </p:nvSpPr>
        <p:spPr>
          <a:xfrm>
            <a:off x="9077324" y="2209512"/>
            <a:ext cx="1554480" cy="153888"/>
          </a:xfrm>
          <a:prstGeom prst="rect">
            <a:avLst/>
          </a:prstGeom>
          <a:noFill/>
        </p:spPr>
        <p:txBody>
          <a:bodyPr wrap="none" lIns="0" tIns="0" rIns="0" bIns="0">
            <a:normAutofit/>
          </a:bodyPr>
          <a:lstStyle/>
          <a:p>
            <a:pPr lvl="1" algn="r"/>
            <a:r>
              <a:rPr lang="en-US" sz="900" dirty="0">
                <a:solidFill>
                  <a:schemeClr val="bg1"/>
                </a:solidFill>
                <a:latin typeface="Cormorant Infant" pitchFamily="2" charset="0"/>
                <a:cs typeface="Cormorant Infant" pitchFamily="2" charset="0"/>
              </a:rPr>
              <a:t>&lt;ChartHead2&gt;</a:t>
            </a:r>
          </a:p>
        </p:txBody>
      </p:sp>
      <p:sp>
        <p:nvSpPr>
          <p:cNvPr id="20" name="Rectangle 19">
            <a:extLst>
              <a:ext uri="{FF2B5EF4-FFF2-40B4-BE49-F238E27FC236}">
                <a16:creationId xmlns:a16="http://schemas.microsoft.com/office/drawing/2014/main" id="{B4D2B487-996F-9946-F85A-783ACF449090}"/>
              </a:ext>
            </a:extLst>
          </p:cNvPr>
          <p:cNvSpPr/>
          <p:nvPr/>
        </p:nvSpPr>
        <p:spPr>
          <a:xfrm>
            <a:off x="10695400" y="2140063"/>
            <a:ext cx="350800" cy="292787"/>
          </a:xfrm>
          <a:prstGeom prst="rect">
            <a:avLst/>
          </a:prstGeom>
          <a:solidFill>
            <a:srgbClr val="D7E6B8">
              <a:alpha val="7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2B66675-4241-482A-03B4-45ED1177DE12}"/>
              </a:ext>
            </a:extLst>
          </p:cNvPr>
          <p:cNvSpPr txBox="1"/>
          <p:nvPr/>
        </p:nvSpPr>
        <p:spPr>
          <a:xfrm>
            <a:off x="9077324" y="1853826"/>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&lt;ChartHead1&gt;</a:t>
            </a:r>
          </a:p>
        </p:txBody>
      </p:sp>
      <p:sp>
        <p:nvSpPr>
          <p:cNvPr id="21" name="Rectangle 20">
            <a:extLst>
              <a:ext uri="{FF2B5EF4-FFF2-40B4-BE49-F238E27FC236}">
                <a16:creationId xmlns:a16="http://schemas.microsoft.com/office/drawing/2014/main" id="{A00ECDF4-9D7B-A7B7-D9D6-BDE03A9D9195}"/>
              </a:ext>
            </a:extLst>
          </p:cNvPr>
          <p:cNvSpPr/>
          <p:nvPr/>
        </p:nvSpPr>
        <p:spPr>
          <a:xfrm>
            <a:off x="10695400" y="1784377"/>
            <a:ext cx="350800" cy="292787"/>
          </a:xfrm>
          <a:prstGeom prst="rect">
            <a:avLst/>
          </a:prstGeom>
          <a:solidFill>
            <a:srgbClr val="D7E6B8">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76CF70C-97CE-A1DB-9B84-1B7B48174B4C}"/>
              </a:ext>
            </a:extLst>
          </p:cNvPr>
          <p:cNvSpPr txBox="1"/>
          <p:nvPr/>
        </p:nvSpPr>
        <p:spPr>
          <a:xfrm>
            <a:off x="9077324" y="1498559"/>
            <a:ext cx="1554480" cy="153888"/>
          </a:xfrm>
          <a:prstGeom prst="rect">
            <a:avLst/>
          </a:prstGeom>
          <a:noFill/>
        </p:spPr>
        <p:txBody>
          <a:bodyPr wrap="square" lIns="0" tIns="0" rIns="0" bIns="0">
            <a:normAutofit/>
          </a:bodyPr>
          <a:lstStyle/>
          <a:p>
            <a:pPr lvl="1" algn="r"/>
            <a:r>
              <a:rPr lang="en-US" sz="900" dirty="0">
                <a:solidFill>
                  <a:schemeClr val="bg1"/>
                </a:solidFill>
                <a:latin typeface="Cormorant Infant" pitchFamily="2" charset="0"/>
                <a:cs typeface="Cormorant Infant" pitchFamily="2" charset="0"/>
              </a:rPr>
              <a:t>Current Plan</a:t>
            </a:r>
          </a:p>
        </p:txBody>
      </p:sp>
      <p:sp>
        <p:nvSpPr>
          <p:cNvPr id="22" name="Rectangle 21">
            <a:extLst>
              <a:ext uri="{FF2B5EF4-FFF2-40B4-BE49-F238E27FC236}">
                <a16:creationId xmlns:a16="http://schemas.microsoft.com/office/drawing/2014/main" id="{F54AA651-77EA-946C-5045-3939E5FA0FC3}"/>
              </a:ext>
            </a:extLst>
          </p:cNvPr>
          <p:cNvSpPr/>
          <p:nvPr/>
        </p:nvSpPr>
        <p:spPr>
          <a:xfrm>
            <a:off x="10695400" y="1429110"/>
            <a:ext cx="350800" cy="292787"/>
          </a:xfrm>
          <a:prstGeom prst="rect">
            <a:avLst/>
          </a:prstGeom>
          <a:solidFill>
            <a:srgbClr val="D7E6B8">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82DB584-7F1E-E4FF-0494-18D6E938AB9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20546943-EAB7-7692-E9D1-C788ED99A153}"/>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8D115D52-2088-17CA-4B28-43F01C2D8116}"/>
              </a:ext>
            </a:extLst>
          </p:cNvPr>
          <p:cNvSpPr txBox="1"/>
          <p:nvPr/>
        </p:nvSpPr>
        <p:spPr>
          <a:xfrm>
            <a:off x="1173420" y="1715985"/>
            <a:ext cx="8934450" cy="584968"/>
          </a:xfrm>
          <a:prstGeom prst="rect">
            <a:avLst/>
          </a:prstGeom>
          <a:noFill/>
        </p:spPr>
        <p:txBody>
          <a:bodyPr wrap="square">
            <a:spAutoFit/>
          </a:bodyPr>
          <a:lstStyle/>
          <a:p>
            <a:pPr lvl="1" algn="l">
              <a:lnSpc>
                <a:spcPts val="2000"/>
              </a:lnSpc>
            </a:pPr>
            <a:r>
              <a:rPr lang="en-US" sz="1200" dirty="0">
                <a:solidFill>
                  <a:schemeClr val="bg1"/>
                </a:solidFill>
                <a:latin typeface="Cormorant Infant" pitchFamily="2" charset="0"/>
              </a:rPr>
              <a:t>Comparative financial analysis: funding pre-tax &lt;</a:t>
            </a:r>
            <a:r>
              <a:rPr lang="en-US" sz="1200" dirty="0" err="1">
                <a:solidFill>
                  <a:schemeClr val="bg1"/>
                </a:solidFill>
                <a:latin typeface="Cormorant Infant" pitchFamily="2" charset="0"/>
              </a:rPr>
              <a:t>PremsInIRA</a:t>
            </a:r>
            <a:r>
              <a:rPr lang="en-US" sz="1200" dirty="0">
                <a:solidFill>
                  <a:schemeClr val="bg1"/>
                </a:solidFill>
                <a:latin typeface="Cormorant Infant" pitchFamily="2" charset="0"/>
              </a:rPr>
              <a:t>&gt; over &lt;</a:t>
            </a:r>
            <a:r>
              <a:rPr lang="en-US" sz="1200" dirty="0" err="1">
                <a:solidFill>
                  <a:schemeClr val="bg1"/>
                </a:solidFill>
                <a:latin typeface="Cormorant Infant" pitchFamily="2" charset="0"/>
              </a:rPr>
              <a:t>PremYrs</a:t>
            </a:r>
            <a:r>
              <a:rPr lang="en-US" sz="1200" dirty="0">
                <a:solidFill>
                  <a:schemeClr val="bg1"/>
                </a:solidFill>
                <a:latin typeface="Cormorant Infant" pitchFamily="2" charset="0"/>
              </a:rPr>
              <a:t>&gt; years.</a:t>
            </a:r>
          </a:p>
          <a:p>
            <a:pPr lvl="1" algn="l">
              <a:lnSpc>
                <a:spcPts val="2000"/>
              </a:lnSpc>
            </a:pPr>
            <a:r>
              <a:rPr lang="en-US" sz="1200" dirty="0">
                <a:solidFill>
                  <a:schemeClr val="bg1"/>
                </a:solidFill>
                <a:latin typeface="Cormorant Infant" pitchFamily="2" charset="0"/>
              </a:rPr>
              <a:t>&lt;</a:t>
            </a:r>
            <a:r>
              <a:rPr lang="en-US" sz="1200" dirty="0" err="1">
                <a:solidFill>
                  <a:schemeClr val="bg1"/>
                </a:solidFill>
                <a:latin typeface="Cormorant Infant" pitchFamily="2" charset="0"/>
              </a:rPr>
              <a:t>CompareChrtText</a:t>
            </a:r>
            <a:r>
              <a:rPr lang="en-US" sz="1200" dirty="0">
                <a:solidFill>
                  <a:schemeClr val="bg1"/>
                </a:solidFill>
                <a:latin typeface="Cormorant Infant" pitchFamily="2" charset="0"/>
              </a:rPr>
              <a:t>&gt; &lt;</a:t>
            </a:r>
            <a:r>
              <a:rPr lang="en-US" sz="1200" dirty="0" err="1">
                <a:solidFill>
                  <a:schemeClr val="bg1"/>
                </a:solidFill>
                <a:latin typeface="Cormorant Infant" pitchFamily="2" charset="0"/>
              </a:rPr>
              <a:t>IraTrustRate</a:t>
            </a:r>
            <a:r>
              <a:rPr lang="en-US" sz="1200" dirty="0">
                <a:solidFill>
                  <a:schemeClr val="bg1"/>
                </a:solidFill>
                <a:latin typeface="Cormorant Infant" pitchFamily="2" charset="0"/>
              </a:rPr>
              <a:t>&gt;</a:t>
            </a:r>
          </a:p>
        </p:txBody>
      </p:sp>
    </p:spTree>
    <p:extLst>
      <p:ext uri="{BB962C8B-B14F-4D97-AF65-F5344CB8AC3E}">
        <p14:creationId xmlns:p14="http://schemas.microsoft.com/office/powerpoint/2010/main" val="3530656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CA278D1E-1795-DAE6-A053-E80CC9B2232F}"/>
              </a:ext>
            </a:extLst>
          </p:cNvPr>
          <p:cNvGraphicFramePr>
            <a:graphicFrameLocks noGrp="1"/>
          </p:cNvGraphicFramePr>
          <p:nvPr>
            <p:extLst>
              <p:ext uri="{D42A27DB-BD31-4B8C-83A1-F6EECF244321}">
                <p14:modId xmlns:p14="http://schemas.microsoft.com/office/powerpoint/2010/main" val="2972417336"/>
              </p:ext>
            </p:extLst>
          </p:nvPr>
        </p:nvGraphicFramePr>
        <p:xfrm>
          <a:off x="1507444" y="3012415"/>
          <a:ext cx="4064682" cy="2240691"/>
        </p:xfrm>
        <a:graphic>
          <a:graphicData uri="http://schemas.openxmlformats.org/drawingml/2006/table">
            <a:tbl>
              <a:tblPr firstRow="1" bandRow="1">
                <a:tableStyleId>{7DF18680-E054-41AD-8BC1-D1AEF772440D}</a:tableStyleId>
              </a:tblPr>
              <a:tblGrid>
                <a:gridCol w="2032341">
                  <a:extLst>
                    <a:ext uri="{9D8B030D-6E8A-4147-A177-3AD203B41FA5}">
                      <a16:colId xmlns:a16="http://schemas.microsoft.com/office/drawing/2014/main" val="677707002"/>
                    </a:ext>
                  </a:extLst>
                </a:gridCol>
                <a:gridCol w="2032341">
                  <a:extLst>
                    <a:ext uri="{9D8B030D-6E8A-4147-A177-3AD203B41FA5}">
                      <a16:colId xmlns:a16="http://schemas.microsoft.com/office/drawing/2014/main" val="2875908094"/>
                    </a:ext>
                  </a:extLst>
                </a:gridCol>
              </a:tblGrid>
              <a:tr h="594360">
                <a:tc gridSpan="2">
                  <a:txBody>
                    <a:bodyPr/>
                    <a:lstStyle/>
                    <a:p>
                      <a:pPr marL="0" marR="0" lvl="0" indent="0" algn="ctr" defTabSz="914400" eaLnBrk="1" fontAlgn="ctr" latinLnBrk="0" hangingPunct="1">
                        <a:lnSpc>
                          <a:spcPct val="100000"/>
                        </a:lnSpc>
                        <a:spcBef>
                          <a:spcPts val="0"/>
                        </a:spcBef>
                        <a:spcAft>
                          <a:spcPts val="0"/>
                        </a:spcAft>
                        <a:buClrTx/>
                        <a:buSzTx/>
                        <a:buFontTx/>
                        <a:buNone/>
                        <a:tabLst/>
                        <a:defRPr/>
                      </a:pPr>
                      <a:r>
                        <a:rPr lang="en-US" sz="1400" b="0" dirty="0">
                          <a:solidFill>
                            <a:schemeClr val="bg1"/>
                          </a:solidFill>
                          <a:latin typeface="Cormorant Infant" pitchFamily="2" charset="0"/>
                        </a:rPr>
                        <a:t>&lt;</a:t>
                      </a:r>
                      <a:r>
                        <a:rPr lang="en-US" sz="1400" b="0" dirty="0" err="1">
                          <a:solidFill>
                            <a:schemeClr val="bg1"/>
                          </a:solidFill>
                          <a:latin typeface="Cormorant Infant" pitchFamily="2" charset="0"/>
                        </a:rPr>
                        <a:t>InsType</a:t>
                      </a:r>
                      <a:r>
                        <a:rPr lang="en-US" sz="1400" b="0" dirty="0">
                          <a:solidFill>
                            <a:schemeClr val="bg1"/>
                          </a:solidFill>
                          <a:latin typeface="Cormorant Infant" pitchFamily="2" charset="0"/>
                        </a:rPr>
                        <a:t>&gt; Insurance on &lt;</a:t>
                      </a:r>
                      <a:r>
                        <a:rPr lang="en-US" sz="1400" b="0" dirty="0" err="1">
                          <a:solidFill>
                            <a:schemeClr val="bg1"/>
                          </a:solidFill>
                          <a:latin typeface="Cormorant Infant" pitchFamily="2" charset="0"/>
                        </a:rPr>
                        <a:t>InsuredLife</a:t>
                      </a:r>
                      <a:r>
                        <a:rPr lang="en-US" sz="1400" b="0" dirty="0">
                          <a:solidFill>
                            <a:schemeClr val="bg1"/>
                          </a:solidFill>
                          <a:latin typeface="Cormorant Infant" pitchFamily="2" charset="0"/>
                        </a:rPr>
                        <a:t>&gt;</a:t>
                      </a:r>
                    </a:p>
                  </a:txBody>
                  <a:tcPr marL="0" marR="0" marT="0" marB="0" anchor="ct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fontAlgn="ctr"/>
                      <a:endParaRPr lang="en-US" sz="1200" b="0" i="1" u="none" strike="noStrike" dirty="0">
                        <a:solidFill>
                          <a:schemeClr val="bg1"/>
                        </a:solidFill>
                        <a:effectLst/>
                        <a:latin typeface="Cormorant Infant" pitchFamily="2" charset="0"/>
                      </a:endParaRPr>
                    </a:p>
                  </a:txBody>
                  <a:tcPr marL="0" marR="0" marT="0" marB="91440" anchor="b">
                    <a:lnL w="635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84595674"/>
                  </a:ext>
                </a:extLst>
              </a:tr>
              <a:tr h="594360">
                <a:tc>
                  <a:txBody>
                    <a:bodyPr/>
                    <a:lstStyle/>
                    <a:p>
                      <a:pPr algn="ctr" fontAlgn="ctr"/>
                      <a:r>
                        <a:rPr lang="en-US" sz="1200" b="0" u="none" strike="noStrike" dirty="0">
                          <a:solidFill>
                            <a:schemeClr val="bg1"/>
                          </a:solidFill>
                          <a:effectLst/>
                          <a:latin typeface="Cormorant Infant" pitchFamily="2" charset="0"/>
                        </a:rPr>
                        <a:t>Financial Returns Annually</a:t>
                      </a:r>
                      <a:br>
                        <a:rPr lang="en-US" sz="1200" b="0" u="none" strike="noStrike" dirty="0">
                          <a:solidFill>
                            <a:schemeClr val="bg1"/>
                          </a:solidFill>
                          <a:effectLst/>
                          <a:latin typeface="Cormorant Infant" pitchFamily="2" charset="0"/>
                        </a:rPr>
                      </a:br>
                      <a:r>
                        <a:rPr lang="en-US" sz="1200" b="0" u="none" strike="noStrike" dirty="0">
                          <a:solidFill>
                            <a:schemeClr val="bg1"/>
                          </a:solidFill>
                          <a:effectLst/>
                          <a:latin typeface="Cormorant Infant" pitchFamily="2" charset="0"/>
                        </a:rPr>
                        <a:t>at Age 80, 85, &amp; 90</a:t>
                      </a:r>
                    </a:p>
                  </a:txBody>
                  <a:tcPr marL="0" marR="0" marT="0" marB="0" anchor="ctr">
                    <a:lnL w="1270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ctr"/>
                      <a:r>
                        <a:rPr lang="en-US" sz="1200" b="0" u="none" strike="noStrike" dirty="0">
                          <a:solidFill>
                            <a:schemeClr val="bg1"/>
                          </a:solidFill>
                          <a:effectLst/>
                          <a:latin typeface="Cormorant Infant" pitchFamily="2" charset="0"/>
                        </a:rPr>
                        <a:t>Qualified Plan Annual</a:t>
                      </a:r>
                    </a:p>
                    <a:p>
                      <a:pPr algn="ctr" fontAlgn="ctr"/>
                      <a:r>
                        <a:rPr lang="en-US" sz="1200" b="0" u="none" strike="noStrike" dirty="0">
                          <a:solidFill>
                            <a:schemeClr val="bg1"/>
                          </a:solidFill>
                          <a:effectLst/>
                          <a:latin typeface="Cormorant Infant" pitchFamily="2" charset="0"/>
                        </a:rPr>
                        <a:t>Rate of Return</a:t>
                      </a:r>
                      <a:endParaRPr lang="en-US" sz="1200" b="0" i="1" u="none" strike="noStrike" dirty="0">
                        <a:solidFill>
                          <a:schemeClr val="bg1"/>
                        </a:solidFill>
                        <a:effectLst/>
                        <a:latin typeface="Cormorant Infant" pitchFamily="2" charset="0"/>
                      </a:endParaRPr>
                    </a:p>
                  </a:txBody>
                  <a:tcPr marL="0" marR="0" marT="0" marB="0" anchor="ctr">
                    <a:lnL w="635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69983855"/>
                  </a:ext>
                </a:extLst>
              </a:tr>
              <a:tr h="350657">
                <a:tc>
                  <a:txBody>
                    <a:bodyPr/>
                    <a:lstStyle/>
                    <a:p>
                      <a:pPr algn="ctr" fontAlgn="ctr"/>
                      <a:r>
                        <a:rPr lang="en-US" sz="1200" b="0" u="none" strike="noStrike" dirty="0">
                          <a:solidFill>
                            <a:schemeClr val="bg1"/>
                          </a:solidFill>
                          <a:effectLst/>
                          <a:latin typeface="Cormorant Infant" pitchFamily="2" charset="0"/>
                          <a:ea typeface="Cormorant Infant" pitchFamily="2" charset="0"/>
                          <a:cs typeface="Cormorant Infant" pitchFamily="2" charset="0"/>
                        </a:rPr>
                        <a:t>By Age 80</a:t>
                      </a:r>
                      <a:endParaRPr lang="en-US" sz="1200" b="0" i="1" u="none" strike="noStrike" dirty="0">
                        <a:solidFill>
                          <a:schemeClr val="bg1"/>
                        </a:solidFill>
                        <a:effectLst/>
                        <a:latin typeface="Cormorant Infant" pitchFamily="2" charset="0"/>
                        <a:ea typeface="Cormorant Infant" pitchFamily="2" charset="0"/>
                        <a:cs typeface="Cormorant Infant" pitchFamily="2" charset="0"/>
                      </a:endParaRPr>
                    </a:p>
                  </a:txBody>
                  <a:tcPr marL="0" marR="0" marT="0" marB="0" anchor="ctr">
                    <a:lnL w="1270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b"/>
                      <a:r>
                        <a:rPr lang="en-US" sz="1200" b="0" i="0" u="none" strike="noStrike" dirty="0">
                          <a:solidFill>
                            <a:schemeClr val="bg1"/>
                          </a:solidFill>
                          <a:effectLst/>
                          <a:latin typeface="Cormorant Infant" pitchFamily="2" charset="0"/>
                          <a:ea typeface="Cormorant Infant" pitchFamily="2" charset="0"/>
                          <a:cs typeface="Cormorant Infant" pitchFamily="2" charset="0"/>
                        </a:rPr>
                        <a:t>&lt;IRRRate1a&gt;</a:t>
                      </a:r>
                    </a:p>
                  </a:txBody>
                  <a:tcPr marL="0" marR="0" marT="0" marB="0" anchor="ctr">
                    <a:lnL w="635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381314"/>
                  </a:ext>
                </a:extLst>
              </a:tr>
              <a:tr h="350657">
                <a:tc>
                  <a:txBody>
                    <a:bodyPr/>
                    <a:lstStyle/>
                    <a:p>
                      <a:pPr algn="ctr" fontAlgn="ctr"/>
                      <a:r>
                        <a:rPr lang="en-US" sz="1200" b="0" u="none" strike="noStrike" dirty="0">
                          <a:solidFill>
                            <a:schemeClr val="bg1"/>
                          </a:solidFill>
                          <a:effectLst/>
                          <a:latin typeface="Cormorant Infant" pitchFamily="2" charset="0"/>
                          <a:ea typeface="Cormorant Infant" pitchFamily="2" charset="0"/>
                          <a:cs typeface="Cormorant Infant" pitchFamily="2" charset="0"/>
                        </a:rPr>
                        <a:t>By Age 85</a:t>
                      </a:r>
                      <a:endParaRPr lang="en-US" sz="1200" b="0" i="1" u="none" strike="noStrike" dirty="0">
                        <a:solidFill>
                          <a:schemeClr val="bg1"/>
                        </a:solidFill>
                        <a:effectLst/>
                        <a:latin typeface="Cormorant Infant" pitchFamily="2" charset="0"/>
                        <a:ea typeface="Cormorant Infant" pitchFamily="2" charset="0"/>
                        <a:cs typeface="Cormorant Infant" pitchFamily="2" charset="0"/>
                      </a:endParaRPr>
                    </a:p>
                  </a:txBody>
                  <a:tcPr marL="0" marR="0" marT="0" marB="0" anchor="ctr">
                    <a:lnL w="1270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b"/>
                      <a:r>
                        <a:rPr lang="en-US" sz="1200" b="0" i="0" u="none" strike="noStrike" dirty="0">
                          <a:solidFill>
                            <a:schemeClr val="bg1"/>
                          </a:solidFill>
                          <a:effectLst/>
                          <a:latin typeface="Cormorant Infant" pitchFamily="2" charset="0"/>
                          <a:ea typeface="Cormorant Infant" pitchFamily="2" charset="0"/>
                          <a:cs typeface="Cormorant Infant" pitchFamily="2" charset="0"/>
                        </a:rPr>
                        <a:t>&lt;IRRRate1b&gt;</a:t>
                      </a:r>
                    </a:p>
                  </a:txBody>
                  <a:tcPr marL="0" marR="0" marT="0" marB="0" anchor="ctr">
                    <a:lnL w="635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93302605"/>
                  </a:ext>
                </a:extLst>
              </a:tr>
              <a:tr h="350657">
                <a:tc>
                  <a:txBody>
                    <a:bodyPr/>
                    <a:lstStyle/>
                    <a:p>
                      <a:pPr algn="ctr" fontAlgn="ctr"/>
                      <a:r>
                        <a:rPr lang="en-US" sz="1200" b="0" u="none" strike="noStrike" dirty="0">
                          <a:solidFill>
                            <a:schemeClr val="bg1"/>
                          </a:solidFill>
                          <a:effectLst/>
                          <a:latin typeface="Cormorant Infant" pitchFamily="2" charset="0"/>
                          <a:ea typeface="Cormorant Infant" pitchFamily="2" charset="0"/>
                          <a:cs typeface="Cormorant Infant" pitchFamily="2" charset="0"/>
                        </a:rPr>
                        <a:t>By Age 90</a:t>
                      </a:r>
                      <a:endParaRPr lang="en-US" sz="1200" b="0" i="1" u="none" strike="noStrike" dirty="0">
                        <a:solidFill>
                          <a:schemeClr val="bg1"/>
                        </a:solidFill>
                        <a:effectLst/>
                        <a:latin typeface="Cormorant Infant" pitchFamily="2" charset="0"/>
                        <a:ea typeface="Cormorant Infant" pitchFamily="2" charset="0"/>
                        <a:cs typeface="Cormorant Infant" pitchFamily="2" charset="0"/>
                      </a:endParaRPr>
                    </a:p>
                  </a:txBody>
                  <a:tcPr marL="0" marR="0" marT="0" marB="0" anchor="ctr">
                    <a:lnL w="12700" cap="flat" cmpd="sng" algn="ctr">
                      <a:solidFill>
                        <a:schemeClr val="tx1">
                          <a:lumMod val="75000"/>
                          <a:lumOff val="25000"/>
                        </a:schemeClr>
                      </a:solidFill>
                      <a:prstDash val="solid"/>
                      <a:round/>
                      <a:headEnd type="none" w="med" len="med"/>
                      <a:tailEnd type="none" w="med" len="med"/>
                    </a:lnL>
                    <a:lnR w="635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fontAlgn="b"/>
                      <a:r>
                        <a:rPr lang="en-US" sz="1200" b="0" i="0" u="none" strike="noStrike" dirty="0">
                          <a:solidFill>
                            <a:schemeClr val="bg1"/>
                          </a:solidFill>
                          <a:effectLst/>
                          <a:latin typeface="Cormorant Infant" pitchFamily="2" charset="0"/>
                          <a:ea typeface="Cormorant Infant" pitchFamily="2" charset="0"/>
                          <a:cs typeface="Cormorant Infant" pitchFamily="2" charset="0"/>
                        </a:rPr>
                        <a:t>&lt;IRRRate1c&gt;</a:t>
                      </a:r>
                    </a:p>
                  </a:txBody>
                  <a:tcPr marL="0" marR="0" marT="0" marB="0" anchor="ctr">
                    <a:lnL w="635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991419926"/>
                  </a:ext>
                </a:extLst>
              </a:tr>
            </a:tbl>
          </a:graphicData>
        </a:graphic>
      </p:graphicFrame>
      <p:sp>
        <p:nvSpPr>
          <p:cNvPr id="11" name="TextBox 10">
            <a:extLst>
              <a:ext uri="{FF2B5EF4-FFF2-40B4-BE49-F238E27FC236}">
                <a16:creationId xmlns:a16="http://schemas.microsoft.com/office/drawing/2014/main" id="{64C9F932-62DD-E16E-EF09-59B99DB02EDF}"/>
              </a:ext>
            </a:extLst>
          </p:cNvPr>
          <p:cNvSpPr txBox="1"/>
          <p:nvPr/>
        </p:nvSpPr>
        <p:spPr>
          <a:xfrm>
            <a:off x="6062095" y="3735119"/>
            <a:ext cx="4170703" cy="795282"/>
          </a:xfrm>
          <a:prstGeom prst="rect">
            <a:avLst/>
          </a:prstGeom>
          <a:noFill/>
        </p:spPr>
        <p:txBody>
          <a:bodyPr wrap="square" lIns="0" tIns="0" rIns="0" bIns="0">
            <a:spAutoFit/>
          </a:bodyPr>
          <a:lstStyle/>
          <a:p>
            <a:pPr lvl="1" algn="ctr">
              <a:lnSpc>
                <a:spcPts val="2100"/>
              </a:lnSpc>
            </a:pPr>
            <a:r>
              <a:rPr lang="en-US" sz="1400" dirty="0">
                <a:solidFill>
                  <a:schemeClr val="bg1"/>
                </a:solidFill>
                <a:latin typeface="Cormorant Infant" pitchFamily="2" charset="0"/>
                <a:ea typeface="+mn-ea"/>
                <a:cs typeface="+mn-cs"/>
              </a:rPr>
              <a:t>Your &lt;</a:t>
            </a:r>
            <a:r>
              <a:rPr lang="en-US" sz="1400" dirty="0" err="1">
                <a:solidFill>
                  <a:schemeClr val="bg1"/>
                </a:solidFill>
                <a:latin typeface="Cormorant Infant" pitchFamily="2" charset="0"/>
                <a:ea typeface="+mn-ea"/>
                <a:cs typeface="+mn-cs"/>
              </a:rPr>
              <a:t>ClientIRA</a:t>
            </a:r>
            <a:r>
              <a:rPr lang="en-US" sz="1400" dirty="0">
                <a:solidFill>
                  <a:schemeClr val="bg1"/>
                </a:solidFill>
                <a:latin typeface="Cormorant Infant" pitchFamily="2" charset="0"/>
                <a:ea typeface="+mn-ea"/>
                <a:cs typeface="+mn-cs"/>
              </a:rPr>
              <a:t>&gt; rollover-IRA would have to grow </a:t>
            </a:r>
            <a:br>
              <a:rPr lang="en-US" sz="1400" dirty="0">
                <a:solidFill>
                  <a:schemeClr val="bg1"/>
                </a:solidFill>
                <a:latin typeface="Cormorant Infant" pitchFamily="2" charset="0"/>
                <a:ea typeface="+mn-ea"/>
                <a:cs typeface="+mn-cs"/>
              </a:rPr>
            </a:br>
            <a:r>
              <a:rPr lang="en-US" sz="1400" dirty="0">
                <a:solidFill>
                  <a:schemeClr val="bg1"/>
                </a:solidFill>
                <a:latin typeface="Cormorant Infant" pitchFamily="2" charset="0"/>
                <a:ea typeface="+mn-ea"/>
                <a:cs typeface="+mn-cs"/>
              </a:rPr>
              <a:t>to over &lt;</a:t>
            </a:r>
            <a:r>
              <a:rPr lang="en-US" sz="1400" dirty="0" err="1">
                <a:solidFill>
                  <a:schemeClr val="bg1"/>
                </a:solidFill>
                <a:latin typeface="Cormorant Infant" pitchFamily="2" charset="0"/>
                <a:ea typeface="+mn-ea"/>
                <a:cs typeface="+mn-cs"/>
              </a:rPr>
              <a:t>ClientIRAGrow</a:t>
            </a:r>
            <a:r>
              <a:rPr lang="en-US" sz="1400" dirty="0">
                <a:solidFill>
                  <a:schemeClr val="bg1"/>
                </a:solidFill>
                <a:latin typeface="Cormorant Infant" pitchFamily="2" charset="0"/>
                <a:ea typeface="+mn-ea"/>
                <a:cs typeface="+mn-cs"/>
              </a:rPr>
              <a:t>&gt; in the next 30+ years to be equivalent to &lt;</a:t>
            </a:r>
            <a:r>
              <a:rPr lang="en-US" sz="1400" dirty="0" err="1">
                <a:solidFill>
                  <a:schemeClr val="bg1"/>
                </a:solidFill>
                <a:latin typeface="Cormorant Infant" pitchFamily="2" charset="0"/>
                <a:ea typeface="+mn-ea"/>
                <a:cs typeface="+mn-cs"/>
              </a:rPr>
              <a:t>DBMale</a:t>
            </a:r>
            <a:r>
              <a:rPr lang="en-US" sz="1400" dirty="0">
                <a:solidFill>
                  <a:schemeClr val="bg1"/>
                </a:solidFill>
                <a:latin typeface="Cormorant Infant" pitchFamily="2" charset="0"/>
                <a:ea typeface="+mn-ea"/>
                <a:cs typeface="+mn-cs"/>
              </a:rPr>
              <a:t>&gt; income, estate &amp; GST tax-free. </a:t>
            </a:r>
            <a:endParaRPr lang="en-US" sz="1500" b="1" dirty="0">
              <a:solidFill>
                <a:schemeClr val="accent2"/>
              </a:solidFill>
              <a:latin typeface="Cormorant Infant" pitchFamily="2" charset="0"/>
            </a:endParaRPr>
          </a:p>
        </p:txBody>
      </p:sp>
      <p:sp>
        <p:nvSpPr>
          <p:cNvPr id="12" name="Title 1">
            <a:extLst>
              <a:ext uri="{FF2B5EF4-FFF2-40B4-BE49-F238E27FC236}">
                <a16:creationId xmlns:a16="http://schemas.microsoft.com/office/drawing/2014/main" id="{DCBFF60C-038D-E2D3-EFC5-7B79049864B0}"/>
              </a:ext>
            </a:extLst>
          </p:cNvPr>
          <p:cNvSpPr txBox="1">
            <a:spLocks/>
          </p:cNvSpPr>
          <p:nvPr/>
        </p:nvSpPr>
        <p:spPr>
          <a:xfrm>
            <a:off x="1485900" y="1434386"/>
            <a:ext cx="6655668" cy="430887"/>
          </a:xfrm>
          <a:prstGeom prst="rect">
            <a:avLst/>
          </a:prstGeom>
        </p:spPr>
        <p:txBody>
          <a:bodyPr wrap="none" lIns="0" tIns="0" rIns="0" bIns="0">
            <a:spAutoFit/>
          </a:bodyPr>
          <a:lstStyle>
            <a:lvl1pPr>
              <a:defRPr>
                <a:latin typeface="+mj-lt"/>
                <a:ea typeface="+mj-ea"/>
                <a:cs typeface="+mj-cs"/>
              </a:defRPr>
            </a:lvl1pPr>
          </a:lstStyle>
          <a:p>
            <a:pPr algn="l"/>
            <a:r>
              <a:rPr lang="en-US" sz="2800" dirty="0">
                <a:solidFill>
                  <a:schemeClr val="accent2"/>
                </a:solidFill>
                <a:latin typeface="Cormorant Infant" pitchFamily="2" charset="0"/>
                <a:cs typeface="Cormorant Infant" pitchFamily="2" charset="0"/>
              </a:rPr>
              <a:t>Financial Comparative &amp; Break-Even Analysis</a:t>
            </a:r>
          </a:p>
        </p:txBody>
      </p:sp>
      <p:sp>
        <p:nvSpPr>
          <p:cNvPr id="16" name="TextBox 15">
            <a:extLst>
              <a:ext uri="{FF2B5EF4-FFF2-40B4-BE49-F238E27FC236}">
                <a16:creationId xmlns:a16="http://schemas.microsoft.com/office/drawing/2014/main" id="{6AE2C1C3-6EA6-1568-308F-A8B973BACE0A}"/>
              </a:ext>
            </a:extLst>
          </p:cNvPr>
          <p:cNvSpPr txBox="1"/>
          <p:nvPr/>
        </p:nvSpPr>
        <p:spPr>
          <a:xfrm>
            <a:off x="1507444" y="2132342"/>
            <a:ext cx="9046256" cy="604268"/>
          </a:xfrm>
          <a:prstGeom prst="rect">
            <a:avLst/>
          </a:prstGeom>
          <a:noFill/>
        </p:spPr>
        <p:txBody>
          <a:bodyPr wrap="square" lIns="0" tIns="0" rIns="0" bIns="0">
            <a:spAutoFit/>
          </a:bodyPr>
          <a:lstStyle/>
          <a:p>
            <a:pPr algn="l">
              <a:lnSpc>
                <a:spcPts val="2400"/>
              </a:lnSpc>
            </a:pPr>
            <a:r>
              <a:rPr lang="en-US" i="0" u="none" strike="noStrike" baseline="0" dirty="0">
                <a:solidFill>
                  <a:schemeClr val="bg1"/>
                </a:solidFill>
                <a:latin typeface="Cormorant Infant" pitchFamily="2" charset="0"/>
              </a:rPr>
              <a:t>This financial analysis demonstrates what rate of return (after, all taxes &amp; expenses) your plan investments need to earn each year to equal what heirs receive tax-free via Legacy-IRA plan.</a:t>
            </a:r>
          </a:p>
        </p:txBody>
      </p:sp>
      <p:pic>
        <p:nvPicPr>
          <p:cNvPr id="17" name="Graphic 16">
            <a:extLst>
              <a:ext uri="{FF2B5EF4-FFF2-40B4-BE49-F238E27FC236}">
                <a16:creationId xmlns:a16="http://schemas.microsoft.com/office/drawing/2014/main" id="{E783A196-3F9D-7E5E-51C9-597B2FE88B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88394" y="1961601"/>
            <a:ext cx="8931956" cy="117526"/>
          </a:xfrm>
          <a:prstGeom prst="rect">
            <a:avLst/>
          </a:prstGeom>
        </p:spPr>
      </p:pic>
      <p:sp>
        <p:nvSpPr>
          <p:cNvPr id="18" name="Rectangle 17">
            <a:extLst>
              <a:ext uri="{FF2B5EF4-FFF2-40B4-BE49-F238E27FC236}">
                <a16:creationId xmlns:a16="http://schemas.microsoft.com/office/drawing/2014/main" id="{8C7DC6DA-5F77-C0CE-FE50-5D61DD0F20FA}"/>
              </a:ext>
            </a:extLst>
          </p:cNvPr>
          <p:cNvSpPr/>
          <p:nvPr/>
        </p:nvSpPr>
        <p:spPr>
          <a:xfrm>
            <a:off x="5722143" y="3012415"/>
            <a:ext cx="4831557" cy="2240691"/>
          </a:xfrm>
          <a:prstGeom prst="rect">
            <a:avLst/>
          </a:prstGeom>
          <a:no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2" name="TextBox 21">
            <a:extLst>
              <a:ext uri="{FF2B5EF4-FFF2-40B4-BE49-F238E27FC236}">
                <a16:creationId xmlns:a16="http://schemas.microsoft.com/office/drawing/2014/main" id="{1B39CD15-27C2-6E14-8FAC-7C87A80C8B7C}"/>
              </a:ext>
            </a:extLst>
          </p:cNvPr>
          <p:cNvSpPr txBox="1"/>
          <p:nvPr/>
        </p:nvSpPr>
        <p:spPr>
          <a:xfrm>
            <a:off x="1507445" y="5451967"/>
            <a:ext cx="9112930" cy="153888"/>
          </a:xfrm>
          <a:prstGeom prst="rect">
            <a:avLst/>
          </a:prstGeom>
          <a:noFill/>
        </p:spPr>
        <p:txBody>
          <a:bodyPr wrap="square" lIns="0" tIns="0" rIns="0" bIns="0">
            <a:spAutoFit/>
          </a:bodyPr>
          <a:lstStyle/>
          <a:p>
            <a:pPr algn="r"/>
            <a:r>
              <a:rPr lang="en-US" sz="1000" dirty="0">
                <a:solidFill>
                  <a:schemeClr val="bg1"/>
                </a:solidFill>
                <a:latin typeface="Cormorant Infant" pitchFamily="2" charset="0"/>
              </a:rPr>
              <a:t>&lt;Assumptions2&gt;</a:t>
            </a:r>
          </a:p>
        </p:txBody>
      </p:sp>
      <p:sp>
        <p:nvSpPr>
          <p:cNvPr id="2" name="TextBox 1">
            <a:extLst>
              <a:ext uri="{FF2B5EF4-FFF2-40B4-BE49-F238E27FC236}">
                <a16:creationId xmlns:a16="http://schemas.microsoft.com/office/drawing/2014/main" id="{C7792C98-079C-65D5-C8ED-E2DB9AA70A61}"/>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solidFill>
                <a:latin typeface="Cormorant Infant" pitchFamily="2" charset="0"/>
                <a:ea typeface="Cormorant Infant" pitchFamily="2" charset="0"/>
                <a:cs typeface="Cormorant Infant" pitchFamily="2" charset="0"/>
              </a:rPr>
              <a:t>LEGACY-IRA PLANNING     |     </a:t>
            </a:r>
            <a:r>
              <a:rPr lang="en-US" sz="1000" i="1" dirty="0">
                <a:solidFill>
                  <a:schemeClr val="accent1"/>
                </a:solidFill>
                <a:latin typeface="Cormorant Infant" pitchFamily="2" charset="0"/>
                <a:ea typeface="Cormorant Infant" pitchFamily="2" charset="0"/>
                <a:cs typeface="Cormorant Infant" pitchFamily="2" charset="0"/>
              </a:rPr>
              <a:t>Prepared for: &lt;</a:t>
            </a:r>
            <a:r>
              <a:rPr lang="en-US" sz="1000" i="1" dirty="0" err="1">
                <a:solidFill>
                  <a:schemeClr val="accent1"/>
                </a:solidFill>
                <a:latin typeface="Cormorant Infant" pitchFamily="2" charset="0"/>
                <a:ea typeface="Cormorant Infant" pitchFamily="2" charset="0"/>
                <a:cs typeface="Cormorant Infant" pitchFamily="2" charset="0"/>
              </a:rPr>
              <a:t>FamilyNm</a:t>
            </a:r>
            <a:r>
              <a:rPr lang="en-US" sz="1000" i="1" dirty="0">
                <a:solidFill>
                  <a:schemeClr val="accent1"/>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00F20BDC-BE51-DCA5-1BD5-B2B9A6CF174C}"/>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solidFill>
                <a:latin typeface="Cormorant Infant" pitchFamily="2" charset="0"/>
                <a:ea typeface="Cormorant Infant" pitchFamily="2" charset="0"/>
                <a:cs typeface="Cormorant Infant" pitchFamily="2" charset="0"/>
              </a:rPr>
              <a:t>&lt;</a:t>
            </a:r>
            <a:r>
              <a:rPr lang="en-US" sz="1000" kern="500" spc="600" baseline="0" dirty="0" err="1">
                <a:solidFill>
                  <a:schemeClr val="accent1"/>
                </a:solidFill>
                <a:latin typeface="Cormorant Infant" pitchFamily="2" charset="0"/>
                <a:ea typeface="Cormorant Infant" pitchFamily="2" charset="0"/>
                <a:cs typeface="Cormorant Infant" pitchFamily="2" charset="0"/>
              </a:rPr>
              <a:t>SlideMth</a:t>
            </a:r>
            <a:r>
              <a:rPr lang="en-US" sz="1000" kern="500" spc="600" baseline="0" dirty="0">
                <a:solidFill>
                  <a:schemeClr val="accent1"/>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313969070"/>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4FBDB9-7FEE-DE86-2B96-480345290075}"/>
              </a:ext>
            </a:extLst>
          </p:cNvPr>
          <p:cNvSpPr txBox="1"/>
          <p:nvPr/>
        </p:nvSpPr>
        <p:spPr>
          <a:xfrm>
            <a:off x="2209801" y="1862153"/>
            <a:ext cx="8820150" cy="4247548"/>
          </a:xfrm>
          <a:prstGeom prst="rect">
            <a:avLst/>
          </a:prstGeom>
        </p:spPr>
        <p:txBody>
          <a:bodyPr vert="horz" lIns="0" tIns="0" rIns="0" bIns="0" numCol="2" spcCol="365760" rtlCol="0">
            <a:noAutofit/>
          </a:bodyPr>
          <a:lstStyle/>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Our client has substantial Rollover-IRA assets from existing or previous corporate qualified plans. They would like reduce  income and estate taxes &amp; provide additional life insurance for estate planning &amp; wealth transfer to trusts established FBO their heirs.</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We recommend utilizing an existing entity or establishing an entity whereby our client receives W-2 earned income for services rendered to the entity.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Our Client establishes a profit-sharing plan as part of the new or existing enterprise and “rolls back” IRA or Defined Benefit Plan Assets to newly-created or amended Profit-Sharing plan.</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Rollover-IRA funds are “seasoned Assets”. Therefore, 100% may be used for insurance premiums. Note: The new profit-sharing plan must allow assets to be “Rolled-Back &amp; Tax-Free” (Rev. Rul. 94-76).</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Our Unique IRS Approved Profit-Sharing Plan documents permits the purchase of life insurance utilizing “seasoned assets”. These are assets that have been in the plan for more than two years. Seasoned assets do not fall under the “incidental benefit” rules. This allows the entire plan balance if desired to be used to purchase either Individual or Survivorship life insurance.</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Our Record-Keeping and Actuarial Team has been providing compliant Record-Keeping and 5500 Reporting for decades. The Legacy-IRA Plan Documents are IRS Approved &amp; contain nuanced and specific provisions usually not included in Standard Plan Documents.</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All Legacy-IRA Plans are IRS Approved and 100% Compliant.</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The Profit-Sharing Plan Trustee purchases life insurance using plan assets on either Spouse or a survivorship policy. Policies are owned by and are an asset of the plan itself.</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The premiums or annual investment are made with pre-tax dollars.</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If the participant (or both insureds) die while the policy is in the plan, the death proceeds are income tax-free above any Cash Value but are included in his or the estate of the last to die.</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The Legacy-IRA Utilizes a Unique design incorporating an Enhanced Estate Tax Feature to pay the estate taxes while the policy is inside of and owned by the plan should death occur</a:t>
            </a:r>
            <a:r>
              <a:rPr lang="en-US" sz="1000" dirty="0">
                <a:solidFill>
                  <a:srgbClr val="000000"/>
                </a:solidFill>
                <a:latin typeface="Cormorant Infant" pitchFamily="2" charset="0"/>
                <a:cs typeface="Cormorant Infant" pitchFamily="2" charset="0"/>
              </a:rPr>
              <a:t>.</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While the insurance is in the plan , the participant may “impute” income under the current IRS tables. Reportable Economic Benefit. This allows the net death benefits to be received by the Plan beneficiary income tax-free if death occurs while the policy is still in the plan. The net death benefit is considered the value greater than the cash surrender value at time of death. The Cash Surrender Value is part of the PSP and therefore is subject to income tax.</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dirty="0">
                <a:solidFill>
                  <a:srgbClr val="000000"/>
                </a:solidFill>
                <a:latin typeface="Cormorant Infant" pitchFamily="2" charset="0"/>
                <a:cs typeface="Cormorant Infant" pitchFamily="2" charset="0"/>
              </a:rPr>
              <a:t>The policy is bought by the ILIT/GST Trust using the IRS Safe Harbor 2005-25 Revenue Procedure at a significant discount from the actual premiums or annual policy investments.</a:t>
            </a:r>
          </a:p>
        </p:txBody>
      </p:sp>
      <p:sp>
        <p:nvSpPr>
          <p:cNvPr id="7" name="object 4">
            <a:extLst>
              <a:ext uri="{FF2B5EF4-FFF2-40B4-BE49-F238E27FC236}">
                <a16:creationId xmlns:a16="http://schemas.microsoft.com/office/drawing/2014/main" id="{46789585-0B91-A7A4-8D07-8C9093733424}"/>
              </a:ext>
            </a:extLst>
          </p:cNvPr>
          <p:cNvSpPr txBox="1">
            <a:spLocks/>
          </p:cNvSpPr>
          <p:nvPr/>
        </p:nvSpPr>
        <p:spPr>
          <a:xfrm>
            <a:off x="1268729" y="1213603"/>
            <a:ext cx="5648982" cy="369332"/>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400" b="0" dirty="0">
                <a:solidFill>
                  <a:sysClr val="windowText" lastClr="000000"/>
                </a:solidFill>
                <a:latin typeface="Cormorant Infant" pitchFamily="2" charset="0"/>
                <a:cs typeface="Cormorant Infant" pitchFamily="2" charset="0"/>
              </a:rPr>
              <a:t>The Legacy-IRA Plan: How it Works In Detail</a:t>
            </a:r>
          </a:p>
        </p:txBody>
      </p:sp>
      <p:pic>
        <p:nvPicPr>
          <p:cNvPr id="11" name="Graphic 10">
            <a:extLst>
              <a:ext uri="{FF2B5EF4-FFF2-40B4-BE49-F238E27FC236}">
                <a16:creationId xmlns:a16="http://schemas.microsoft.com/office/drawing/2014/main" id="{49E1A1A5-7093-DF7F-EED0-51AA1C596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
        <p:nvSpPr>
          <p:cNvPr id="2" name="TextBox 1">
            <a:extLst>
              <a:ext uri="{FF2B5EF4-FFF2-40B4-BE49-F238E27FC236}">
                <a16:creationId xmlns:a16="http://schemas.microsoft.com/office/drawing/2014/main" id="{B597A050-612C-E2C3-4DD5-7B0E5481DFE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08C58A32-6C29-276F-3CE6-1F9B0EA7CF41}"/>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2099187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1B1EE-8A07-0BA1-D071-053467D3AD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03016F-AFA7-4178-D496-4459259D9CF2}"/>
              </a:ext>
            </a:extLst>
          </p:cNvPr>
          <p:cNvSpPr txBox="1"/>
          <p:nvPr/>
        </p:nvSpPr>
        <p:spPr>
          <a:xfrm>
            <a:off x="2209801" y="1862153"/>
            <a:ext cx="7964804" cy="3295579"/>
          </a:xfrm>
          <a:prstGeom prst="rect">
            <a:avLst/>
          </a:prstGeom>
        </p:spPr>
        <p:txBody>
          <a:bodyPr vert="horz" lIns="0" tIns="0" rIns="0" bIns="0" numCol="1" spcCol="365760" rtlCol="0">
            <a:noAutofit/>
          </a:bodyPr>
          <a:lstStyle/>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Legal &amp; Tax issues: </a:t>
            </a:r>
            <a:r>
              <a:rPr lang="en-US" sz="1000" dirty="0">
                <a:solidFill>
                  <a:srgbClr val="000000"/>
                </a:solidFill>
                <a:latin typeface="Cormorant Infant" pitchFamily="2" charset="0"/>
                <a:cs typeface="Cormorant Infant" pitchFamily="2" charset="0"/>
              </a:rPr>
              <a:t>The Legacy-IRA Plan has perfected “Best-Practices” processes &amp; methodologies regarding how policies are designed, acquired and later sold or distributed.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Plan Fiduciary Duties </a:t>
            </a:r>
            <a:r>
              <a:rPr lang="en-US" sz="1000" dirty="0">
                <a:solidFill>
                  <a:srgbClr val="000000"/>
                </a:solidFill>
                <a:latin typeface="Cormorant Infant" pitchFamily="2" charset="0"/>
                <a:cs typeface="Cormorant Infant" pitchFamily="2" charset="0"/>
              </a:rPr>
              <a:t>– All LIRA Plans are Non-Discriminatory. Trustees &amp; Participants are compliant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Prohibited Transaction Rules &amp; Exemptions </a:t>
            </a:r>
            <a:r>
              <a:rPr lang="en-US" sz="1000" dirty="0">
                <a:solidFill>
                  <a:srgbClr val="000000"/>
                </a:solidFill>
                <a:latin typeface="Cormorant Infant" pitchFamily="2" charset="0"/>
                <a:cs typeface="Cormorant Infant" pitchFamily="2" charset="0"/>
              </a:rPr>
              <a:t>– PTE 92-06. The DOL prohibits certain transactions between a Qualified Retirement Plan and individuals. Attention is given to insurability, policy design &amp; choice, non-discrimination and unisex vs. sex distinct policies and use of the Norris Waiver.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Incidental Benefit Limits </a:t>
            </a:r>
            <a:r>
              <a:rPr lang="en-US" sz="1000" dirty="0">
                <a:solidFill>
                  <a:srgbClr val="000000"/>
                </a:solidFill>
                <a:latin typeface="Cormorant Infant" pitchFamily="2" charset="0"/>
                <a:cs typeface="Cormorant Infant" pitchFamily="2" charset="0"/>
              </a:rPr>
              <a:t>– The Legacy-IRA Plan uses seasoned vs. non-seasoned monies. The Seasoned money rules allows us to use 100% of </a:t>
            </a:r>
            <a:br>
              <a:rPr lang="en-US" sz="1000" dirty="0">
                <a:solidFill>
                  <a:srgbClr val="000000"/>
                </a:solidFill>
                <a:latin typeface="Cormorant Infant" pitchFamily="2" charset="0"/>
                <a:cs typeface="Cormorant Infant" pitchFamily="2" charset="0"/>
              </a:rPr>
            </a:br>
            <a:r>
              <a:rPr lang="en-US" sz="1000" dirty="0">
                <a:solidFill>
                  <a:srgbClr val="000000"/>
                </a:solidFill>
                <a:latin typeface="Cormorant Infant" pitchFamily="2" charset="0"/>
                <a:cs typeface="Cormorant Infant" pitchFamily="2" charset="0"/>
              </a:rPr>
              <a:t>Rollover-IRA &amp; Retirement Plan Assets and acquire any amount of life insurance. Our Plan designs avoid All of the Incidental Death Benefit </a:t>
            </a:r>
            <a:br>
              <a:rPr lang="en-US" sz="1000" dirty="0">
                <a:solidFill>
                  <a:srgbClr val="000000"/>
                </a:solidFill>
                <a:latin typeface="Cormorant Infant" pitchFamily="2" charset="0"/>
                <a:cs typeface="Cormorant Infant" pitchFamily="2" charset="0"/>
              </a:rPr>
            </a:br>
            <a:r>
              <a:rPr lang="en-US" sz="1000" dirty="0">
                <a:solidFill>
                  <a:srgbClr val="000000"/>
                </a:solidFill>
                <a:latin typeface="Cormorant Infant" pitchFamily="2" charset="0"/>
                <a:cs typeface="Cormorant Infant" pitchFamily="2" charset="0"/>
              </a:rPr>
              <a:t>Rules &amp; Regulations.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Transfer for Value Rules </a:t>
            </a:r>
            <a:r>
              <a:rPr lang="en-US" sz="1000" dirty="0">
                <a:solidFill>
                  <a:srgbClr val="000000"/>
                </a:solidFill>
                <a:latin typeface="Cormorant Infant" pitchFamily="2" charset="0"/>
                <a:cs typeface="Cormorant Infant" pitchFamily="2" charset="0"/>
              </a:rPr>
              <a:t>– Sale to a Defective Grantor Trust or ILIT. Swanson vs. Commissioner. There are no transfer for value rules when the Policy is sold via an asset sale to a Grantor Trust.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Taxable “Economic Benefit” Rules </a:t>
            </a:r>
            <a:r>
              <a:rPr lang="en-US" sz="1000" dirty="0">
                <a:solidFill>
                  <a:srgbClr val="000000"/>
                </a:solidFill>
                <a:latin typeface="Cormorant Infant" pitchFamily="2" charset="0"/>
                <a:cs typeface="Cormorant Infant" pitchFamily="2" charset="0"/>
              </a:rPr>
              <a:t>– IRC Section 72(M)3(B) Reg. Section 1.72-16(b)- Each participant may electively be taxed on the cost or pure term insurance. Carrier term rates are defined by Rev. Ruling 55-747 &amp; Rev. Ruling 66-110, 1966-1 CB12. Carrier lowest term rates, PS 58 or 2001 rates. Paying income taxes each year on the reportable economic benefit is 100% voluntary. </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Policy Valuation </a:t>
            </a:r>
            <a:r>
              <a:rPr lang="en-US" sz="1000" dirty="0">
                <a:solidFill>
                  <a:srgbClr val="000000"/>
                </a:solidFill>
                <a:latin typeface="Cormorant Infant" pitchFamily="2" charset="0"/>
                <a:cs typeface="Cormorant Infant" pitchFamily="2" charset="0"/>
              </a:rPr>
              <a:t>– We currently recommend and utilize the IRS 2005-25 Safe Harbor Revenue Procedure when valuing a policy upon sale from the PSP or Defined Contribution Plan to our clients Irrevocable or Generation Skipping Transfer Trusts. This is the IRS Road Map &amp; Assures Compliance. </a:t>
            </a:r>
          </a:p>
        </p:txBody>
      </p:sp>
      <p:sp>
        <p:nvSpPr>
          <p:cNvPr id="2" name="TextBox 1">
            <a:extLst>
              <a:ext uri="{FF2B5EF4-FFF2-40B4-BE49-F238E27FC236}">
                <a16:creationId xmlns:a16="http://schemas.microsoft.com/office/drawing/2014/main" id="{8E516D61-B7E2-052A-BB14-7801301B6519}"/>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349262FB-72D5-6907-48A5-28C64B786877}"/>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 name="object 4">
            <a:extLst>
              <a:ext uri="{FF2B5EF4-FFF2-40B4-BE49-F238E27FC236}">
                <a16:creationId xmlns:a16="http://schemas.microsoft.com/office/drawing/2014/main" id="{89087B48-D2A2-9F47-F3B1-BCB50A782E80}"/>
              </a:ext>
            </a:extLst>
          </p:cNvPr>
          <p:cNvSpPr txBox="1">
            <a:spLocks/>
          </p:cNvSpPr>
          <p:nvPr/>
        </p:nvSpPr>
        <p:spPr>
          <a:xfrm>
            <a:off x="1268729" y="1210237"/>
            <a:ext cx="8499122" cy="376065"/>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0" marR="0" lvl="0" indent="0" algn="l" defTabSz="914400" eaLnBrk="1" fontAlgn="auto" latinLnBrk="0" hangingPunct="1">
              <a:lnSpc>
                <a:spcPts val="3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Cormorant Infant" pitchFamily="2" charset="0"/>
                <a:cs typeface="Cormorant Infant" pitchFamily="2" charset="0"/>
              </a:rPr>
              <a:t>Legal &amp; Compliance: </a:t>
            </a:r>
            <a:r>
              <a:rPr kumimoji="0" lang="en-US" sz="1300" b="0" i="0" u="none" strike="noStrike" kern="0" cap="none" spc="0" normalizeH="0" baseline="0" noProof="0" dirty="0">
                <a:ln>
                  <a:noFill/>
                </a:ln>
                <a:solidFill>
                  <a:sysClr val="windowText" lastClr="000000"/>
                </a:solidFill>
                <a:effectLst/>
                <a:uLnTx/>
                <a:uFillTx/>
                <a:latin typeface="Cormorant Infant" pitchFamily="2" charset="0"/>
                <a:cs typeface="Cormorant Infant" pitchFamily="2" charset="0"/>
              </a:rPr>
              <a:t>The Legacy-IRA Plan is Fully Compliant with All Department of Labor &amp; IRS Tax Laws </a:t>
            </a:r>
          </a:p>
        </p:txBody>
      </p:sp>
      <p:pic>
        <p:nvPicPr>
          <p:cNvPr id="6" name="Graphic 5">
            <a:extLst>
              <a:ext uri="{FF2B5EF4-FFF2-40B4-BE49-F238E27FC236}">
                <a16:creationId xmlns:a16="http://schemas.microsoft.com/office/drawing/2014/main" id="{A54B66E6-13FB-1F25-3EBD-CD6F27309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Tree>
    <p:extLst>
      <p:ext uri="{BB962C8B-B14F-4D97-AF65-F5344CB8AC3E}">
        <p14:creationId xmlns:p14="http://schemas.microsoft.com/office/powerpoint/2010/main" val="11670992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C03B6-2A47-AB7D-FD6F-E429A867FF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6634A6-81EE-93A4-5691-2CD5B15DA73F}"/>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4AC88054-AF05-1D5B-13E1-E5CE5314CC88}"/>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7" name="TextBox 6">
            <a:extLst>
              <a:ext uri="{FF2B5EF4-FFF2-40B4-BE49-F238E27FC236}">
                <a16:creationId xmlns:a16="http://schemas.microsoft.com/office/drawing/2014/main" id="{2781907F-CCB0-AB32-6D23-43E1F9E9790E}"/>
              </a:ext>
            </a:extLst>
          </p:cNvPr>
          <p:cNvSpPr txBox="1"/>
          <p:nvPr/>
        </p:nvSpPr>
        <p:spPr>
          <a:xfrm>
            <a:off x="1541981" y="1502558"/>
            <a:ext cx="9923980" cy="4590017"/>
          </a:xfrm>
          <a:prstGeom prst="rect">
            <a:avLst/>
          </a:prstGeom>
        </p:spPr>
        <p:txBody>
          <a:bodyPr vert="horz" lIns="0" tIns="0" rIns="0" bIns="0" numCol="1" spcCol="365760" rtlCol="0">
            <a:noAutofit/>
          </a:bodyPr>
          <a:lstStyle/>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This analysis is for educational and illustrative purposes only. </a:t>
            </a:r>
            <a:r>
              <a:rPr lang="en-US" sz="1000" dirty="0">
                <a:solidFill>
                  <a:srgbClr val="000000"/>
                </a:solidFill>
                <a:latin typeface="Cormorant Infant" pitchFamily="2" charset="0"/>
                <a:cs typeface="Cormorant Infant" pitchFamily="2" charset="0"/>
              </a:rPr>
              <a:t>The projections, comparisons, and scenarios presented are hypothetical and are based on assumptions that may not reflect actual future results. No representation is made that any client will or is likely to achieve results similar to those shown.</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This is not tax, legal, or investment advice. </a:t>
            </a:r>
            <a:r>
              <a:rPr lang="en-US" sz="1000" dirty="0">
                <a:solidFill>
                  <a:srgbClr val="000000"/>
                </a:solidFill>
                <a:latin typeface="Cormorant Infant" pitchFamily="2" charset="0"/>
                <a:cs typeface="Cormorant Infant" pitchFamily="2" charset="0"/>
              </a:rPr>
              <a:t>The information presented is general in nature and should not be construed as personalized tax, legal, estate planning, or investment advice. Clients should consult with their own qualified tax advisor, attorney, and financial professional before implementing any strategy discussed in this presentation.</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Tax laws are subject to change. </a:t>
            </a:r>
            <a:r>
              <a:rPr lang="en-US" sz="1000" dirty="0">
                <a:solidFill>
                  <a:srgbClr val="000000"/>
                </a:solidFill>
                <a:latin typeface="Cormorant Infant" pitchFamily="2" charset="0"/>
                <a:cs typeface="Cormorant Infant" pitchFamily="2" charset="0"/>
              </a:rPr>
              <a:t>Federal and state income tax rates, estate and gift tax exemptions, and regulatory provisions referenced in this analysis are based on current law as of &lt;</a:t>
            </a:r>
            <a:r>
              <a:rPr lang="en-US" sz="1000" dirty="0" err="1">
                <a:solidFill>
                  <a:srgbClr val="000000"/>
                </a:solidFill>
                <a:latin typeface="Cormorant Infant" pitchFamily="2" charset="0"/>
                <a:cs typeface="Cormorant Infant" pitchFamily="2" charset="0"/>
              </a:rPr>
              <a:t>SlideMth</a:t>
            </a:r>
            <a:r>
              <a:rPr lang="en-US" sz="1000" dirty="0">
                <a:solidFill>
                  <a:srgbClr val="000000"/>
                </a:solidFill>
                <a:latin typeface="Cormorant Infant" pitchFamily="2" charset="0"/>
                <a:cs typeface="Cormorant Infant" pitchFamily="2" charset="0"/>
              </a:rPr>
              <a:t>&gt;. Future legislative changes, including potential changes to estate tax exemption levels, income tax rates, and ERISA/DOL regulations, may materially affect the outcomes illustrated.</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Life insurance is subject to underwriting approval. </a:t>
            </a:r>
            <a:r>
              <a:rPr lang="en-US" sz="1000" dirty="0">
                <a:solidFill>
                  <a:srgbClr val="000000"/>
                </a:solidFill>
                <a:latin typeface="Cormorant Infant" pitchFamily="2" charset="0"/>
                <a:cs typeface="Cormorant Infant" pitchFamily="2" charset="0"/>
              </a:rPr>
              <a:t>Policy issuance, premiums, and death benefit amounts are subject to the underwriting requirements of the issuing carrier. Coverage is not guaranteed until a policy is issued and the first premium is paid. Death benefit and policy values are subject to the claims-paying ability and financial strength of the issuing insurance company.</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Projected values are not guaranteed. </a:t>
            </a:r>
            <a:r>
              <a:rPr lang="en-US" sz="1000" dirty="0">
                <a:solidFill>
                  <a:srgbClr val="000000"/>
                </a:solidFill>
                <a:latin typeface="Cormorant Infant" pitchFamily="2" charset="0"/>
                <a:cs typeface="Cormorant Infant" pitchFamily="2" charset="0"/>
              </a:rPr>
              <a:t>Illustrations of future account values, death benefits, and tax savings are based on assumed rates of return and current tax law. Actual results will vary based on investment performance, changes in tax law, policy performance, and individual circumstances. Policy values may be higher or lower than those illustrated.</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The Legacy-IRA Plan™ strategy involves complex tax and legal structures. </a:t>
            </a:r>
            <a:r>
              <a:rPr lang="en-US" sz="1000" dirty="0">
                <a:solidFill>
                  <a:srgbClr val="000000"/>
                </a:solidFill>
                <a:latin typeface="Cormorant Infant" pitchFamily="2" charset="0"/>
                <a:cs typeface="Cormorant Infant" pitchFamily="2" charset="0"/>
              </a:rPr>
              <a:t>Implementation requires compliance with ERISA, Department of Labor regulations, and Internal Revenue Code provisions governing qualified retirement plans and life insurance. Ongoing plan administration, reporting, and compliance monitoring are required throughout the life of the strategy.</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Policy valuation for transfer purposes </a:t>
            </a:r>
            <a:r>
              <a:rPr lang="en-US" sz="1000" dirty="0">
                <a:solidFill>
                  <a:srgbClr val="000000"/>
                </a:solidFill>
                <a:latin typeface="Cormorant Infant" pitchFamily="2" charset="0"/>
                <a:cs typeface="Cormorant Infant" pitchFamily="2" charset="0"/>
              </a:rPr>
              <a:t>is based on IRS Revenue Procedure 2005-25 safe harbor methodology. The IRS or other regulatory authority may challenge valuations, and there is no assurance that the IRS will agree with any particular valuation in all circumstances.</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Estate and gift tax treatment </a:t>
            </a:r>
            <a:r>
              <a:rPr lang="en-US" sz="1000" dirty="0">
                <a:solidFill>
                  <a:srgbClr val="000000"/>
                </a:solidFill>
                <a:latin typeface="Cormorant Infant" pitchFamily="2" charset="0"/>
                <a:cs typeface="Cormorant Infant" pitchFamily="2" charset="0"/>
              </a:rPr>
              <a:t>of life insurance transferred from a qualified plan to an irrevocable trust is subject to specific requirements, including but not limited to the three-year estate inclusion rule under IRC §2035 for policies transferred within three years of the insured's death.</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Required Minimum Distributions (RMDs) </a:t>
            </a:r>
            <a:r>
              <a:rPr lang="en-US" sz="1000" dirty="0">
                <a:solidFill>
                  <a:srgbClr val="000000"/>
                </a:solidFill>
                <a:latin typeface="Cormorant Infant" pitchFamily="2" charset="0"/>
                <a:cs typeface="Cormorant Infant" pitchFamily="2" charset="0"/>
              </a:rPr>
              <a:t>are calculated based on IRS life expectancy tables in effect at the time of distribution. Changes to RMD rules, including the age at which distributions must begin and applicable life expectancy tables, may affect projected outcomes.</a:t>
            </a:r>
          </a:p>
          <a:p>
            <a:pPr marL="182880" indent="-137160" algn="l" defTabSz="914400">
              <a:lnSpc>
                <a:spcPts val="1200"/>
              </a:lnSpc>
              <a:spcAft>
                <a:spcPts val="1200"/>
              </a:spcAft>
              <a:buClr>
                <a:schemeClr val="accent3"/>
              </a:buClr>
              <a:buSzPct val="130000"/>
              <a:buFont typeface="Arial" panose="020B0604020202020204" pitchFamily="34" charset="0"/>
              <a:buChar char="•"/>
            </a:pPr>
            <a:r>
              <a:rPr lang="en-US" sz="1000" b="1" dirty="0">
                <a:solidFill>
                  <a:srgbClr val="000000"/>
                </a:solidFill>
                <a:latin typeface="Cormorant Infant" pitchFamily="2" charset="0"/>
                <a:cs typeface="Cormorant Infant" pitchFamily="2" charset="0"/>
              </a:rPr>
              <a:t>Sage Consulting &amp; Wealth Preservation, Inc. is not a law firm, CPA firm, or registered investment advisor. </a:t>
            </a:r>
            <a:r>
              <a:rPr lang="en-US" sz="1000" dirty="0">
                <a:solidFill>
                  <a:srgbClr val="000000"/>
                </a:solidFill>
                <a:latin typeface="Cormorant Infant" pitchFamily="2" charset="0"/>
                <a:cs typeface="Cormorant Infant" pitchFamily="2" charset="0"/>
              </a:rPr>
              <a:t>Sage provides consulting services related to advanced life insurance planning strategies. Sage works alongside each client's existing advisory team, including their attorney, CPA, and financial advisor, to implement recommended strategies.</a:t>
            </a:r>
          </a:p>
        </p:txBody>
      </p:sp>
      <p:sp>
        <p:nvSpPr>
          <p:cNvPr id="8" name="object 4">
            <a:extLst>
              <a:ext uri="{FF2B5EF4-FFF2-40B4-BE49-F238E27FC236}">
                <a16:creationId xmlns:a16="http://schemas.microsoft.com/office/drawing/2014/main" id="{4674D84A-0469-2122-6312-2D17CE2A913E}"/>
              </a:ext>
            </a:extLst>
          </p:cNvPr>
          <p:cNvSpPr txBox="1">
            <a:spLocks/>
          </p:cNvSpPr>
          <p:nvPr/>
        </p:nvSpPr>
        <p:spPr>
          <a:xfrm>
            <a:off x="1309825" y="1025302"/>
            <a:ext cx="4552528" cy="376065"/>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marL="0" marR="0" lvl="0" indent="0" algn="l" defTabSz="914400" eaLnBrk="1" fontAlgn="auto" latinLnBrk="0" hangingPunct="1">
              <a:lnSpc>
                <a:spcPts val="3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Cormorant Infant" pitchFamily="2" charset="0"/>
                <a:cs typeface="Cormorant Infant" pitchFamily="2" charset="0"/>
              </a:rPr>
              <a:t>Disclosures &amp; Important Information</a:t>
            </a:r>
          </a:p>
        </p:txBody>
      </p:sp>
      <p:pic>
        <p:nvPicPr>
          <p:cNvPr id="9" name="Graphic 8">
            <a:extLst>
              <a:ext uri="{FF2B5EF4-FFF2-40B4-BE49-F238E27FC236}">
                <a16:creationId xmlns:a16="http://schemas.microsoft.com/office/drawing/2014/main" id="{BD7A5E19-A627-273E-EFEE-8CB7EBD13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758298" y="3648164"/>
            <a:ext cx="4270520" cy="56191"/>
          </a:xfrm>
          <a:prstGeom prst="rect">
            <a:avLst/>
          </a:prstGeom>
        </p:spPr>
      </p:pic>
    </p:spTree>
    <p:extLst>
      <p:ext uri="{BB962C8B-B14F-4D97-AF65-F5344CB8AC3E}">
        <p14:creationId xmlns:p14="http://schemas.microsoft.com/office/powerpoint/2010/main" val="1218730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CBE9-7632-CC91-1AA1-8BEB40FD232B}"/>
            </a:ext>
          </a:extLst>
        </p:cNvPr>
        <p:cNvGrpSpPr/>
        <p:nvPr/>
      </p:nvGrpSpPr>
      <p:grpSpPr>
        <a:xfrm>
          <a:off x="0" y="0"/>
          <a:ext cx="0" cy="0"/>
          <a:chOff x="0" y="0"/>
          <a:chExt cx="0" cy="0"/>
        </a:xfrm>
      </p:grpSpPr>
      <p:sp>
        <p:nvSpPr>
          <p:cNvPr id="7" name="object 4">
            <a:extLst>
              <a:ext uri="{FF2B5EF4-FFF2-40B4-BE49-F238E27FC236}">
                <a16:creationId xmlns:a16="http://schemas.microsoft.com/office/drawing/2014/main" id="{A1CC33DC-548F-D7D2-EB99-388FDFEC5E53}"/>
              </a:ext>
            </a:extLst>
          </p:cNvPr>
          <p:cNvSpPr txBox="1">
            <a:spLocks/>
          </p:cNvSpPr>
          <p:nvPr/>
        </p:nvSpPr>
        <p:spPr>
          <a:xfrm>
            <a:off x="1764664" y="1392604"/>
            <a:ext cx="8531861" cy="64633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chemeClr val="tx1"/>
                </a:solidFill>
                <a:latin typeface="Cormorant Infant" pitchFamily="2" charset="0"/>
                <a:cs typeface="Cormorant Infant" pitchFamily="2" charset="0"/>
              </a:rPr>
              <a:t>FAQ’s</a:t>
            </a:r>
            <a:br>
              <a:rPr lang="en-US" b="0" dirty="0">
                <a:solidFill>
                  <a:schemeClr val="tx1"/>
                </a:solidFill>
                <a:latin typeface="Cormorant Infant" pitchFamily="2" charset="0"/>
                <a:cs typeface="Cormorant Infant" pitchFamily="2" charset="0"/>
              </a:rPr>
            </a:br>
            <a:r>
              <a:rPr lang="en-US" sz="1400" b="0" dirty="0">
                <a:solidFill>
                  <a:schemeClr val="tx1"/>
                </a:solidFill>
                <a:latin typeface="Cormorant Infant" pitchFamily="2" charset="0"/>
                <a:cs typeface="Cormorant Infant" pitchFamily="2" charset="0"/>
              </a:rPr>
              <a:t>(Charts/ </a:t>
            </a:r>
            <a:r>
              <a:rPr lang="en-US" sz="1400" b="0">
                <a:solidFill>
                  <a:schemeClr val="tx1"/>
                </a:solidFill>
                <a:latin typeface="Cormorant Infant" pitchFamily="2" charset="0"/>
                <a:cs typeface="Cormorant Infant" pitchFamily="2" charset="0"/>
              </a:rPr>
              <a:t>Appendix incoming) </a:t>
            </a:r>
            <a:endParaRPr lang="en-US" sz="1400" b="0" dirty="0">
              <a:solidFill>
                <a:schemeClr val="tx1"/>
              </a:solidFill>
              <a:latin typeface="Cormorant Infant" pitchFamily="2" charset="0"/>
              <a:cs typeface="Cormorant Infant" pitchFamily="2" charset="0"/>
            </a:endParaRPr>
          </a:p>
        </p:txBody>
      </p:sp>
      <p:pic>
        <p:nvPicPr>
          <p:cNvPr id="11" name="Graphic 10">
            <a:extLst>
              <a:ext uri="{FF2B5EF4-FFF2-40B4-BE49-F238E27FC236}">
                <a16:creationId xmlns:a16="http://schemas.microsoft.com/office/drawing/2014/main" id="{AE8CB58C-0759-3B1D-D4EA-813186027B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658706" y="3888643"/>
            <a:ext cx="3328416" cy="43795"/>
          </a:xfrm>
          <a:prstGeom prst="rect">
            <a:avLst/>
          </a:prstGeom>
        </p:spPr>
      </p:pic>
      <p:sp>
        <p:nvSpPr>
          <p:cNvPr id="2" name="TextBox 1">
            <a:extLst>
              <a:ext uri="{FF2B5EF4-FFF2-40B4-BE49-F238E27FC236}">
                <a16:creationId xmlns:a16="http://schemas.microsoft.com/office/drawing/2014/main" id="{31764A24-1FA0-0420-5FA6-64D1E0F74CF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TextBox 2">
            <a:extLst>
              <a:ext uri="{FF2B5EF4-FFF2-40B4-BE49-F238E27FC236}">
                <a16:creationId xmlns:a16="http://schemas.microsoft.com/office/drawing/2014/main" id="{02AF7581-75FD-1707-64A6-1A2EBD907F26}"/>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3654045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3BB79C-FC74-1993-7980-F4C27A15CE23}"/>
              </a:ext>
            </a:extLst>
          </p:cNvPr>
          <p:cNvSpPr txBox="1"/>
          <p:nvPr/>
        </p:nvSpPr>
        <p:spPr>
          <a:xfrm>
            <a:off x="2209801" y="1841500"/>
            <a:ext cx="8820150" cy="4247548"/>
          </a:xfrm>
          <a:prstGeom prst="rect">
            <a:avLst/>
          </a:prstGeom>
        </p:spPr>
        <p:txBody>
          <a:bodyPr vert="horz" lIns="0" tIns="0" rIns="0" bIns="0" numCol="1" spcCol="0" rtlCol="0">
            <a:noAutofit/>
          </a:bodyPr>
          <a:lstStyle/>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300" dirty="0">
                <a:solidFill>
                  <a:schemeClr val="tx1"/>
                </a:solidFill>
                <a:latin typeface="Cormorant Infant" pitchFamily="2" charset="0"/>
                <a:cs typeface="Cormorant Infant" pitchFamily="2" charset="0"/>
              </a:rPr>
              <a:t>Impact of Wealth transfer planning analysis using pre-tax life insurance on Total IRA</a:t>
            </a:r>
          </a:p>
        </p:txBody>
      </p:sp>
      <p:sp>
        <p:nvSpPr>
          <p:cNvPr id="6" name="object 4">
            <a:extLst>
              <a:ext uri="{FF2B5EF4-FFF2-40B4-BE49-F238E27FC236}">
                <a16:creationId xmlns:a16="http://schemas.microsoft.com/office/drawing/2014/main" id="{18B21F2C-A3E1-11D2-D408-03C3D3AFD68F}"/>
              </a:ext>
            </a:extLst>
          </p:cNvPr>
          <p:cNvSpPr txBox="1">
            <a:spLocks/>
          </p:cNvSpPr>
          <p:nvPr/>
        </p:nvSpPr>
        <p:spPr>
          <a:xfrm>
            <a:off x="1268729" y="1182826"/>
            <a:ext cx="1401025"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Appendix</a:t>
            </a:r>
          </a:p>
        </p:txBody>
      </p:sp>
      <p:pic>
        <p:nvPicPr>
          <p:cNvPr id="7" name="Graphic 6">
            <a:extLst>
              <a:ext uri="{FF2B5EF4-FFF2-40B4-BE49-F238E27FC236}">
                <a16:creationId xmlns:a16="http://schemas.microsoft.com/office/drawing/2014/main" id="{74B28928-A08C-4EA5-B561-AB4DF7EC2D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
        <p:nvSpPr>
          <p:cNvPr id="3" name="TextBox 2">
            <a:extLst>
              <a:ext uri="{FF2B5EF4-FFF2-40B4-BE49-F238E27FC236}">
                <a16:creationId xmlns:a16="http://schemas.microsoft.com/office/drawing/2014/main" id="{B1EA9C56-C1E6-2D05-B023-24ED9ABAAF8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4D33E794-A478-3986-AF35-663D597CF60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602554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03BE4-3392-6E97-E18F-3C0CD668068D}"/>
            </a:ext>
          </a:extLst>
        </p:cNvPr>
        <p:cNvGrpSpPr/>
        <p:nvPr/>
      </p:nvGrpSpPr>
      <p:grpSpPr>
        <a:xfrm>
          <a:off x="0" y="0"/>
          <a:ext cx="0" cy="0"/>
          <a:chOff x="0" y="0"/>
          <a:chExt cx="0" cy="0"/>
        </a:xfrm>
      </p:grpSpPr>
      <p:sp>
        <p:nvSpPr>
          <p:cNvPr id="4" name="TotalLIRADetail1">
            <a:extLst>
              <a:ext uri="{FF2B5EF4-FFF2-40B4-BE49-F238E27FC236}">
                <a16:creationId xmlns:a16="http://schemas.microsoft.com/office/drawing/2014/main" id="{538FBA68-1F52-E186-30A0-3952799C5AEA}"/>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6623F724-5AF1-2361-C0F9-85F8A16672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14F9F698-4345-D514-9779-BF5ABEEBF7DC}"/>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3F910FD0-C604-DA68-4525-D4DFD559202F}"/>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 on Total IRA</a:t>
            </a:r>
          </a:p>
        </p:txBody>
      </p:sp>
      <p:sp>
        <p:nvSpPr>
          <p:cNvPr id="12" name="TextBox 11">
            <a:extLst>
              <a:ext uri="{FF2B5EF4-FFF2-40B4-BE49-F238E27FC236}">
                <a16:creationId xmlns:a16="http://schemas.microsoft.com/office/drawing/2014/main" id="{D802BB99-8836-405B-DF52-6E7E31138620}"/>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DC032E51-B00B-DF3D-F175-9F4FA6D0D71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8485598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04762-23C5-CA0F-ABDB-DE5BA87552F4}"/>
            </a:ext>
          </a:extLst>
        </p:cNvPr>
        <p:cNvGrpSpPr/>
        <p:nvPr/>
      </p:nvGrpSpPr>
      <p:grpSpPr>
        <a:xfrm>
          <a:off x="0" y="0"/>
          <a:ext cx="0" cy="0"/>
          <a:chOff x="0" y="0"/>
          <a:chExt cx="0" cy="0"/>
        </a:xfrm>
      </p:grpSpPr>
      <p:sp>
        <p:nvSpPr>
          <p:cNvPr id="4" name="TotalLIRADetail2">
            <a:extLst>
              <a:ext uri="{FF2B5EF4-FFF2-40B4-BE49-F238E27FC236}">
                <a16:creationId xmlns:a16="http://schemas.microsoft.com/office/drawing/2014/main" id="{BB8B4E47-8A19-0646-62B0-C5DB125DAED8}"/>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A5FBCAB0-6C45-20C2-BD85-0AF25C306C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56CBC320-9A8B-B280-CCEA-CCEBC8544B25}"/>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D0AF9AE9-D065-8E90-90FE-54B6C95F830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object 4">
            <a:extLst>
              <a:ext uri="{FF2B5EF4-FFF2-40B4-BE49-F238E27FC236}">
                <a16:creationId xmlns:a16="http://schemas.microsoft.com/office/drawing/2014/main" id="{71E0335D-51CC-9D0D-72AE-F97BA59775FB}"/>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BE583272-0586-F3A4-93A3-339D71C3F38B}"/>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 on Total IRA</a:t>
            </a:r>
          </a:p>
        </p:txBody>
      </p:sp>
    </p:spTree>
    <p:extLst>
      <p:ext uri="{BB962C8B-B14F-4D97-AF65-F5344CB8AC3E}">
        <p14:creationId xmlns:p14="http://schemas.microsoft.com/office/powerpoint/2010/main" val="3989325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DAB5-466E-993C-056A-B5CE9C3AD486}"/>
            </a:ext>
          </a:extLst>
        </p:cNvPr>
        <p:cNvGrpSpPr/>
        <p:nvPr/>
      </p:nvGrpSpPr>
      <p:grpSpPr>
        <a:xfrm>
          <a:off x="0" y="0"/>
          <a:ext cx="0" cy="0"/>
          <a:chOff x="0" y="0"/>
          <a:chExt cx="0" cy="0"/>
        </a:xfrm>
      </p:grpSpPr>
      <p:sp>
        <p:nvSpPr>
          <p:cNvPr id="4" name="TotalLIRADetail3">
            <a:extLst>
              <a:ext uri="{FF2B5EF4-FFF2-40B4-BE49-F238E27FC236}">
                <a16:creationId xmlns:a16="http://schemas.microsoft.com/office/drawing/2014/main" id="{B9440F61-6EF7-8DAB-6F2F-E53C2BE94C10}"/>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4D41B3EE-EA54-CD6E-9CB8-15982E8FF4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5358450F-A1E8-4468-C58C-C328C9EA3160}"/>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58C9772B-C376-18AC-D57A-222089DDDE2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object 4">
            <a:extLst>
              <a:ext uri="{FF2B5EF4-FFF2-40B4-BE49-F238E27FC236}">
                <a16:creationId xmlns:a16="http://schemas.microsoft.com/office/drawing/2014/main" id="{7DAED32F-42E1-CF89-C6D5-989AB61F8885}"/>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7BA45D51-0F0A-F4C1-A75E-ADED255F1D25}"/>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a:t>
            </a:r>
            <a:r>
              <a:rPr lang="en-US" sz="2000" b="0" dirty="0" err="1">
                <a:solidFill>
                  <a:sysClr val="windowText" lastClr="000000"/>
                </a:solidFill>
                <a:latin typeface="Cormorant Infant" pitchFamily="2" charset="0"/>
                <a:cs typeface="Cormorant Infant" pitchFamily="2" charset="0"/>
              </a:rPr>
              <a:t>InsuredLife</a:t>
            </a:r>
            <a:r>
              <a:rPr lang="en-US" sz="2000" b="0" dirty="0">
                <a:solidFill>
                  <a:sysClr val="windowText" lastClr="000000"/>
                </a:solidFill>
                <a:latin typeface="Cormorant Infant" pitchFamily="2" charset="0"/>
                <a:cs typeface="Cormorant Infant" pitchFamily="2" charset="0"/>
              </a:rPr>
              <a:t>&gt; on Total IRA</a:t>
            </a:r>
          </a:p>
        </p:txBody>
      </p:sp>
    </p:spTree>
    <p:extLst>
      <p:ext uri="{BB962C8B-B14F-4D97-AF65-F5344CB8AC3E}">
        <p14:creationId xmlns:p14="http://schemas.microsoft.com/office/powerpoint/2010/main" val="568869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ED4A3-41CE-6DF9-29BD-2BA7DAB4CE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1437ED-4614-32C8-70B3-6807A6D37388}"/>
              </a:ext>
            </a:extLst>
          </p:cNvPr>
          <p:cNvSpPr txBox="1"/>
          <p:nvPr/>
        </p:nvSpPr>
        <p:spPr>
          <a:xfrm>
            <a:off x="2209801" y="1841500"/>
            <a:ext cx="8820150" cy="4247548"/>
          </a:xfrm>
          <a:prstGeom prst="rect">
            <a:avLst/>
          </a:prstGeom>
        </p:spPr>
        <p:txBody>
          <a:bodyPr vert="horz" lIns="0" tIns="0" rIns="0" bIns="0" numCol="1" spcCol="0" rtlCol="0">
            <a:noAutofit/>
          </a:bodyPr>
          <a:lstStyle/>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300" dirty="0">
                <a:solidFill>
                  <a:schemeClr val="tx1"/>
                </a:solidFill>
                <a:latin typeface="Cormorant Infant" pitchFamily="2" charset="0"/>
                <a:cs typeface="Cormorant Infant" pitchFamily="2" charset="0"/>
              </a:rPr>
              <a:t>Wealth transfer planning analysis using pre-tax life insurance on </a:t>
            </a:r>
            <a:r>
              <a:rPr lang="en-US" sz="1300" b="1" dirty="0">
                <a:solidFill>
                  <a:schemeClr val="tx1"/>
                </a:solidFill>
                <a:latin typeface="Cormorant Infant" pitchFamily="2" charset="0"/>
                <a:cs typeface="Cormorant Infant" pitchFamily="2" charset="0"/>
              </a:rPr>
              <a:t>&lt;InsuredLife2&gt;</a:t>
            </a:r>
          </a:p>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300" dirty="0">
                <a:solidFill>
                  <a:schemeClr val="tx1"/>
                </a:solidFill>
                <a:latin typeface="Cormorant Infant" pitchFamily="2" charset="0"/>
                <a:cs typeface="Cormorant Infant" pitchFamily="2" charset="0"/>
              </a:rPr>
              <a:t>Impact of Wealth transfer planning analysis using pre-tax life insurance on Total IRA</a:t>
            </a:r>
          </a:p>
        </p:txBody>
      </p:sp>
      <p:sp>
        <p:nvSpPr>
          <p:cNvPr id="6" name="object 4">
            <a:extLst>
              <a:ext uri="{FF2B5EF4-FFF2-40B4-BE49-F238E27FC236}">
                <a16:creationId xmlns:a16="http://schemas.microsoft.com/office/drawing/2014/main" id="{B1E1F4A7-4704-13E5-14E8-B9B66C263A52}"/>
              </a:ext>
            </a:extLst>
          </p:cNvPr>
          <p:cNvSpPr txBox="1">
            <a:spLocks/>
          </p:cNvSpPr>
          <p:nvPr/>
        </p:nvSpPr>
        <p:spPr>
          <a:xfrm>
            <a:off x="1268729" y="1182826"/>
            <a:ext cx="1489190"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Scenario 2</a:t>
            </a:r>
          </a:p>
        </p:txBody>
      </p:sp>
      <p:pic>
        <p:nvPicPr>
          <p:cNvPr id="7" name="Graphic 6">
            <a:extLst>
              <a:ext uri="{FF2B5EF4-FFF2-40B4-BE49-F238E27FC236}">
                <a16:creationId xmlns:a16="http://schemas.microsoft.com/office/drawing/2014/main" id="{81B4DBE0-7505-D028-3800-97F15E66D9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
        <p:nvSpPr>
          <p:cNvPr id="3" name="TextBox 2">
            <a:extLst>
              <a:ext uri="{FF2B5EF4-FFF2-40B4-BE49-F238E27FC236}">
                <a16:creationId xmlns:a16="http://schemas.microsoft.com/office/drawing/2014/main" id="{23B579DC-B921-0141-04CD-EFC163DA145B}"/>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22FF34AE-E45C-2FC8-959F-BA6CF19F7E3B}"/>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39855367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CF5C-1DB9-B5C2-9915-35EA56894BAB}"/>
            </a:ext>
          </a:extLst>
        </p:cNvPr>
        <p:cNvGrpSpPr/>
        <p:nvPr/>
      </p:nvGrpSpPr>
      <p:grpSpPr>
        <a:xfrm>
          <a:off x="0" y="0"/>
          <a:ext cx="0" cy="0"/>
          <a:chOff x="0" y="0"/>
          <a:chExt cx="0" cy="0"/>
        </a:xfrm>
      </p:grpSpPr>
      <p:sp>
        <p:nvSpPr>
          <p:cNvPr id="4" name="LIRADetail1a">
            <a:extLst>
              <a:ext uri="{FF2B5EF4-FFF2-40B4-BE49-F238E27FC236}">
                <a16:creationId xmlns:a16="http://schemas.microsoft.com/office/drawing/2014/main" id="{33EE2D95-32C7-5E0F-C10A-161D04C5FBAA}"/>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C6531CB8-CC52-6E0D-295F-9ABB4FE607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F9153838-2C5B-4309-D898-68F6E803447B}"/>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F674012B-FE9C-0BC7-D84E-8710BF7DE0BC}"/>
              </a:ext>
            </a:extLst>
          </p:cNvPr>
          <p:cNvSpPr txBox="1">
            <a:spLocks/>
          </p:cNvSpPr>
          <p:nvPr/>
        </p:nvSpPr>
        <p:spPr>
          <a:xfrm>
            <a:off x="895350" y="1177081"/>
            <a:ext cx="2452151" cy="1231106"/>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&lt;InsuredLife2&gt;</a:t>
            </a:r>
          </a:p>
        </p:txBody>
      </p:sp>
      <p:sp>
        <p:nvSpPr>
          <p:cNvPr id="12" name="TextBox 11">
            <a:extLst>
              <a:ext uri="{FF2B5EF4-FFF2-40B4-BE49-F238E27FC236}">
                <a16:creationId xmlns:a16="http://schemas.microsoft.com/office/drawing/2014/main" id="{8A61272E-4218-2AD7-72FE-37E0A88006D0}"/>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15E343EF-0430-150C-7A96-E8B6F4D4F2F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954730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EDD79-6E54-FB1E-9E53-42BF5EBC7060}"/>
            </a:ext>
          </a:extLst>
        </p:cNvPr>
        <p:cNvGrpSpPr/>
        <p:nvPr/>
      </p:nvGrpSpPr>
      <p:grpSpPr>
        <a:xfrm>
          <a:off x="0" y="0"/>
          <a:ext cx="0" cy="0"/>
          <a:chOff x="0" y="0"/>
          <a:chExt cx="0" cy="0"/>
        </a:xfrm>
      </p:grpSpPr>
      <p:sp>
        <p:nvSpPr>
          <p:cNvPr id="4" name="LIRADetail2a">
            <a:extLst>
              <a:ext uri="{FF2B5EF4-FFF2-40B4-BE49-F238E27FC236}">
                <a16:creationId xmlns:a16="http://schemas.microsoft.com/office/drawing/2014/main" id="{16FB9900-486A-3FC6-7C15-9F6ACCF8AABC}"/>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4E4CC291-9715-EF06-81F4-A996BDE4C7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A93B9620-383F-EEA9-A67A-AEACC5D54A44}"/>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537AB003-55D2-3425-5100-B05DB595A18E}"/>
              </a:ext>
            </a:extLst>
          </p:cNvPr>
          <p:cNvSpPr txBox="1">
            <a:spLocks/>
          </p:cNvSpPr>
          <p:nvPr/>
        </p:nvSpPr>
        <p:spPr>
          <a:xfrm>
            <a:off x="895350" y="1177081"/>
            <a:ext cx="2452151" cy="1538883"/>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&lt;InsuredLife2&gt; Cont’d</a:t>
            </a:r>
          </a:p>
        </p:txBody>
      </p:sp>
      <p:sp>
        <p:nvSpPr>
          <p:cNvPr id="12" name="TextBox 11">
            <a:extLst>
              <a:ext uri="{FF2B5EF4-FFF2-40B4-BE49-F238E27FC236}">
                <a16:creationId xmlns:a16="http://schemas.microsoft.com/office/drawing/2014/main" id="{CB0F05D0-4961-B9D9-DED4-31565B918173}"/>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53301CBC-874D-173D-99C1-86E8D49172B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3611853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D4CE-A9B7-856B-C07B-076B58DE795F}"/>
            </a:ext>
          </a:extLst>
        </p:cNvPr>
        <p:cNvGrpSpPr/>
        <p:nvPr/>
      </p:nvGrpSpPr>
      <p:grpSpPr>
        <a:xfrm>
          <a:off x="0" y="0"/>
          <a:ext cx="0" cy="0"/>
          <a:chOff x="0" y="0"/>
          <a:chExt cx="0" cy="0"/>
        </a:xfrm>
      </p:grpSpPr>
      <p:sp>
        <p:nvSpPr>
          <p:cNvPr id="4" name="LIRADetail3a">
            <a:extLst>
              <a:ext uri="{FF2B5EF4-FFF2-40B4-BE49-F238E27FC236}">
                <a16:creationId xmlns:a16="http://schemas.microsoft.com/office/drawing/2014/main" id="{2C65DC38-B4C0-6CF3-4769-5A241B8ED326}"/>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5926ABCC-2346-3DE6-838E-4236E32DFE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880C556D-698E-B644-6349-65CD8F8D7035}"/>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12" name="TextBox 11">
            <a:extLst>
              <a:ext uri="{FF2B5EF4-FFF2-40B4-BE49-F238E27FC236}">
                <a16:creationId xmlns:a16="http://schemas.microsoft.com/office/drawing/2014/main" id="{363E80B8-E7C5-DB62-24F8-4429F0E64DC8}"/>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13FFE61E-9713-06F6-3D23-AF479C27BB86}"/>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2" name="object 4">
            <a:extLst>
              <a:ext uri="{FF2B5EF4-FFF2-40B4-BE49-F238E27FC236}">
                <a16:creationId xmlns:a16="http://schemas.microsoft.com/office/drawing/2014/main" id="{2BFA10F9-E5A1-6D53-F963-1C34E607B8E7}"/>
              </a:ext>
            </a:extLst>
          </p:cNvPr>
          <p:cNvSpPr txBox="1">
            <a:spLocks/>
          </p:cNvSpPr>
          <p:nvPr/>
        </p:nvSpPr>
        <p:spPr>
          <a:xfrm>
            <a:off x="895350" y="1177081"/>
            <a:ext cx="2452151" cy="1538883"/>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&lt;InsuredLife2&gt; Cont’d</a:t>
            </a:r>
          </a:p>
        </p:txBody>
      </p:sp>
    </p:spTree>
    <p:extLst>
      <p:ext uri="{BB962C8B-B14F-4D97-AF65-F5344CB8AC3E}">
        <p14:creationId xmlns:p14="http://schemas.microsoft.com/office/powerpoint/2010/main" val="490023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2E3EC-AFC2-88A4-59CF-FDA671E774CB}"/>
            </a:ext>
          </a:extLst>
        </p:cNvPr>
        <p:cNvGrpSpPr/>
        <p:nvPr/>
      </p:nvGrpSpPr>
      <p:grpSpPr>
        <a:xfrm>
          <a:off x="0" y="0"/>
          <a:ext cx="0" cy="0"/>
          <a:chOff x="0" y="0"/>
          <a:chExt cx="0" cy="0"/>
        </a:xfrm>
      </p:grpSpPr>
      <p:sp>
        <p:nvSpPr>
          <p:cNvPr id="4" name="TotalLIRADetail1a">
            <a:extLst>
              <a:ext uri="{FF2B5EF4-FFF2-40B4-BE49-F238E27FC236}">
                <a16:creationId xmlns:a16="http://schemas.microsoft.com/office/drawing/2014/main" id="{BEE5FC40-C5C7-7820-8053-045D74692363}"/>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0D6912C6-DF92-6D24-9F95-4E016339BD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1CA4B260-A31F-993F-C442-308571F73A2F}"/>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91319573-84B6-6D91-20DF-A7E650CCD14F}"/>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&lt;InsuredLife2&gt; on Total IRA</a:t>
            </a:r>
          </a:p>
        </p:txBody>
      </p:sp>
      <p:sp>
        <p:nvSpPr>
          <p:cNvPr id="12" name="TextBox 11">
            <a:extLst>
              <a:ext uri="{FF2B5EF4-FFF2-40B4-BE49-F238E27FC236}">
                <a16:creationId xmlns:a16="http://schemas.microsoft.com/office/drawing/2014/main" id="{30E8C799-7BDB-2EBF-011C-A067F3BBCC4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7179B32D-7984-95EA-8533-C9205208EEE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1883445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760D5-FFC2-2584-5F73-B69292FDE1EC}"/>
            </a:ext>
          </a:extLst>
        </p:cNvPr>
        <p:cNvGrpSpPr/>
        <p:nvPr/>
      </p:nvGrpSpPr>
      <p:grpSpPr>
        <a:xfrm>
          <a:off x="0" y="0"/>
          <a:ext cx="0" cy="0"/>
          <a:chOff x="0" y="0"/>
          <a:chExt cx="0" cy="0"/>
        </a:xfrm>
      </p:grpSpPr>
      <p:sp>
        <p:nvSpPr>
          <p:cNvPr id="4" name="TotalLIRADetail2a">
            <a:extLst>
              <a:ext uri="{FF2B5EF4-FFF2-40B4-BE49-F238E27FC236}">
                <a16:creationId xmlns:a16="http://schemas.microsoft.com/office/drawing/2014/main" id="{5A2026BB-4764-39CC-B289-8A19A93CD0A4}"/>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6597CE68-931D-1C85-A078-42DF887DB8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0C740FE0-C8CE-FDC5-EC01-86C01576A0D4}"/>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0078124A-1EE5-A021-6E8F-2D1CF23AF865}"/>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object 4">
            <a:extLst>
              <a:ext uri="{FF2B5EF4-FFF2-40B4-BE49-F238E27FC236}">
                <a16:creationId xmlns:a16="http://schemas.microsoft.com/office/drawing/2014/main" id="{E92D6232-6CED-E267-156D-D9FB7460E955}"/>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81F89544-1D77-420B-C06C-D7BFC3CE6DE7}"/>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&lt;InsuredLife2&gt; on Total IRA Cont’d</a:t>
            </a:r>
          </a:p>
        </p:txBody>
      </p:sp>
    </p:spTree>
    <p:extLst>
      <p:ext uri="{BB962C8B-B14F-4D97-AF65-F5344CB8AC3E}">
        <p14:creationId xmlns:p14="http://schemas.microsoft.com/office/powerpoint/2010/main" val="30529051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F7801-3FFC-5BE0-BAE4-61C3FD9E3B7C}"/>
            </a:ext>
          </a:extLst>
        </p:cNvPr>
        <p:cNvGrpSpPr/>
        <p:nvPr/>
      </p:nvGrpSpPr>
      <p:grpSpPr>
        <a:xfrm>
          <a:off x="0" y="0"/>
          <a:ext cx="0" cy="0"/>
          <a:chOff x="0" y="0"/>
          <a:chExt cx="0" cy="0"/>
        </a:xfrm>
      </p:grpSpPr>
      <p:sp>
        <p:nvSpPr>
          <p:cNvPr id="4" name="TotalLIRADetail3a">
            <a:extLst>
              <a:ext uri="{FF2B5EF4-FFF2-40B4-BE49-F238E27FC236}">
                <a16:creationId xmlns:a16="http://schemas.microsoft.com/office/drawing/2014/main" id="{00144D4F-B75D-0EE7-077C-13481AD06A93}"/>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276EF28E-0D50-3140-1960-1852FB09DA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D29E6FF8-514C-11AB-ED01-48DD07C52D0F}"/>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122B959C-1E5A-99BF-969D-23261D57FD6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object 4">
            <a:extLst>
              <a:ext uri="{FF2B5EF4-FFF2-40B4-BE49-F238E27FC236}">
                <a16:creationId xmlns:a16="http://schemas.microsoft.com/office/drawing/2014/main" id="{A1BE05B6-F363-8EEC-FBBB-4AEB804790D2}"/>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57FA33B1-5A03-661F-1413-A877CAAA5A38}"/>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&lt;InsuredLife2&gt; on Total IRA Cont’d</a:t>
            </a:r>
          </a:p>
        </p:txBody>
      </p:sp>
    </p:spTree>
    <p:extLst>
      <p:ext uri="{BB962C8B-B14F-4D97-AF65-F5344CB8AC3E}">
        <p14:creationId xmlns:p14="http://schemas.microsoft.com/office/powerpoint/2010/main" val="1264142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1CD9A-5B95-03CC-1109-A798882FAFF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7CF4F6-3A7D-96EA-350A-0D879BD8670C}"/>
              </a:ext>
            </a:extLst>
          </p:cNvPr>
          <p:cNvSpPr txBox="1"/>
          <p:nvPr/>
        </p:nvSpPr>
        <p:spPr>
          <a:xfrm>
            <a:off x="2209801" y="1841500"/>
            <a:ext cx="8820150" cy="4247548"/>
          </a:xfrm>
          <a:prstGeom prst="rect">
            <a:avLst/>
          </a:prstGeom>
        </p:spPr>
        <p:txBody>
          <a:bodyPr vert="horz" lIns="0" tIns="0" rIns="0" bIns="0" numCol="1" spcCol="0" rtlCol="0">
            <a:noAutofit/>
          </a:bodyPr>
          <a:lstStyle/>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300" dirty="0">
                <a:solidFill>
                  <a:schemeClr val="tx1"/>
                </a:solidFill>
                <a:latin typeface="Cormorant Infant" pitchFamily="2" charset="0"/>
                <a:cs typeface="Cormorant Infant" pitchFamily="2" charset="0"/>
              </a:rPr>
              <a:t>Wealth transfer planning analysis using pre-tax life insurance on </a:t>
            </a:r>
            <a:r>
              <a:rPr lang="en-US" sz="1300" b="1" dirty="0">
                <a:solidFill>
                  <a:schemeClr val="tx1"/>
                </a:solidFill>
                <a:latin typeface="Cormorant Infant" pitchFamily="2" charset="0"/>
                <a:cs typeface="Cormorant Infant" pitchFamily="2" charset="0"/>
              </a:rPr>
              <a:t>&lt;InsuredLife3&gt;</a:t>
            </a:r>
          </a:p>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300" dirty="0">
                <a:solidFill>
                  <a:schemeClr val="tx1"/>
                </a:solidFill>
                <a:latin typeface="Cormorant Infant" pitchFamily="2" charset="0"/>
                <a:cs typeface="Cormorant Infant" pitchFamily="2" charset="0"/>
              </a:rPr>
              <a:t>Impact of Wealth transfer planning analysis using pre-tax life insurance on Total IRA</a:t>
            </a:r>
          </a:p>
        </p:txBody>
      </p:sp>
      <p:sp>
        <p:nvSpPr>
          <p:cNvPr id="6" name="object 4">
            <a:extLst>
              <a:ext uri="{FF2B5EF4-FFF2-40B4-BE49-F238E27FC236}">
                <a16:creationId xmlns:a16="http://schemas.microsoft.com/office/drawing/2014/main" id="{12649936-71DF-433A-FA63-AB5E8A998443}"/>
              </a:ext>
            </a:extLst>
          </p:cNvPr>
          <p:cNvSpPr txBox="1">
            <a:spLocks/>
          </p:cNvSpPr>
          <p:nvPr/>
        </p:nvSpPr>
        <p:spPr>
          <a:xfrm>
            <a:off x="1268729" y="1182826"/>
            <a:ext cx="1484381"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Scenario 3</a:t>
            </a:r>
          </a:p>
        </p:txBody>
      </p:sp>
      <p:pic>
        <p:nvPicPr>
          <p:cNvPr id="7" name="Graphic 6">
            <a:extLst>
              <a:ext uri="{FF2B5EF4-FFF2-40B4-BE49-F238E27FC236}">
                <a16:creationId xmlns:a16="http://schemas.microsoft.com/office/drawing/2014/main" id="{6B497011-8955-10FF-2333-69968E0EF3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
        <p:nvSpPr>
          <p:cNvPr id="3" name="TextBox 2">
            <a:extLst>
              <a:ext uri="{FF2B5EF4-FFF2-40B4-BE49-F238E27FC236}">
                <a16:creationId xmlns:a16="http://schemas.microsoft.com/office/drawing/2014/main" id="{B332858A-A135-05DB-2F2E-56DA08DF731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64A55ACB-59B3-BBA0-F085-8E8B789CDA57}"/>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270499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59BD-4FA5-8348-A4F3-EAEA24345B23}"/>
            </a:ext>
          </a:extLst>
        </p:cNvPr>
        <p:cNvGrpSpPr/>
        <p:nvPr/>
      </p:nvGrpSpPr>
      <p:grpSpPr>
        <a:xfrm>
          <a:off x="0" y="0"/>
          <a:ext cx="0" cy="0"/>
          <a:chOff x="0" y="0"/>
          <a:chExt cx="0" cy="0"/>
        </a:xfrm>
      </p:grpSpPr>
      <p:sp>
        <p:nvSpPr>
          <p:cNvPr id="4" name="LIRADetail1b">
            <a:extLst>
              <a:ext uri="{FF2B5EF4-FFF2-40B4-BE49-F238E27FC236}">
                <a16:creationId xmlns:a16="http://schemas.microsoft.com/office/drawing/2014/main" id="{55BE99E4-505F-1491-1AD7-24C2212585EC}"/>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8FE2791B-B101-8A29-9A9D-B244074404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0FCEDCFE-F80A-F736-3374-948479A7A308}"/>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5917463C-561B-1C9E-2302-7F5BC1A3F39A}"/>
              </a:ext>
            </a:extLst>
          </p:cNvPr>
          <p:cNvSpPr txBox="1">
            <a:spLocks/>
          </p:cNvSpPr>
          <p:nvPr/>
        </p:nvSpPr>
        <p:spPr>
          <a:xfrm>
            <a:off x="895350" y="1177081"/>
            <a:ext cx="2452151" cy="1231106"/>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&lt;InsuredLife3&gt;</a:t>
            </a:r>
          </a:p>
        </p:txBody>
      </p:sp>
      <p:sp>
        <p:nvSpPr>
          <p:cNvPr id="12" name="TextBox 11">
            <a:extLst>
              <a:ext uri="{FF2B5EF4-FFF2-40B4-BE49-F238E27FC236}">
                <a16:creationId xmlns:a16="http://schemas.microsoft.com/office/drawing/2014/main" id="{89B0154D-0288-1375-1EE9-C5802944C5D4}"/>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198CC9B8-8DFD-EE9D-1DA0-8752650277B4}"/>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25677969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0753-E662-E3EB-753F-1AFBC5436E43}"/>
            </a:ext>
          </a:extLst>
        </p:cNvPr>
        <p:cNvGrpSpPr/>
        <p:nvPr/>
      </p:nvGrpSpPr>
      <p:grpSpPr>
        <a:xfrm>
          <a:off x="0" y="0"/>
          <a:ext cx="0" cy="0"/>
          <a:chOff x="0" y="0"/>
          <a:chExt cx="0" cy="0"/>
        </a:xfrm>
      </p:grpSpPr>
      <p:sp>
        <p:nvSpPr>
          <p:cNvPr id="4" name="LIRADetail2b">
            <a:extLst>
              <a:ext uri="{FF2B5EF4-FFF2-40B4-BE49-F238E27FC236}">
                <a16:creationId xmlns:a16="http://schemas.microsoft.com/office/drawing/2014/main" id="{6025140A-6D0B-29F8-0854-2283B3340574}"/>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BBEE5233-EC34-0D76-9774-3E15786657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19583B0B-7179-0F8D-1036-965F7FEC396E}"/>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6CE4E5D1-9C1B-D5D0-7F6E-2569E8C0F7DB}"/>
              </a:ext>
            </a:extLst>
          </p:cNvPr>
          <p:cNvSpPr txBox="1">
            <a:spLocks/>
          </p:cNvSpPr>
          <p:nvPr/>
        </p:nvSpPr>
        <p:spPr>
          <a:xfrm>
            <a:off x="895350" y="1177081"/>
            <a:ext cx="2452151" cy="1538883"/>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&lt;InsuredLife3&gt; Cont’d</a:t>
            </a:r>
          </a:p>
        </p:txBody>
      </p:sp>
      <p:sp>
        <p:nvSpPr>
          <p:cNvPr id="12" name="TextBox 11">
            <a:extLst>
              <a:ext uri="{FF2B5EF4-FFF2-40B4-BE49-F238E27FC236}">
                <a16:creationId xmlns:a16="http://schemas.microsoft.com/office/drawing/2014/main" id="{94B40705-74F7-D02D-0602-34A606E3CC8E}"/>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D206C9CD-CED5-C760-7BCC-2CDB9DEFAF6F}"/>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39120851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4D18D-8293-5890-573A-90EBF1D2B511}"/>
            </a:ext>
          </a:extLst>
        </p:cNvPr>
        <p:cNvGrpSpPr/>
        <p:nvPr/>
      </p:nvGrpSpPr>
      <p:grpSpPr>
        <a:xfrm>
          <a:off x="0" y="0"/>
          <a:ext cx="0" cy="0"/>
          <a:chOff x="0" y="0"/>
          <a:chExt cx="0" cy="0"/>
        </a:xfrm>
      </p:grpSpPr>
      <p:sp>
        <p:nvSpPr>
          <p:cNvPr id="4" name="LIRADetail3b">
            <a:extLst>
              <a:ext uri="{FF2B5EF4-FFF2-40B4-BE49-F238E27FC236}">
                <a16:creationId xmlns:a16="http://schemas.microsoft.com/office/drawing/2014/main" id="{60875423-A7CB-1180-4036-73DE201FBC42}"/>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A949F92B-8134-CCA4-EF0F-7DFD94959A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DF20C166-A9E6-50BB-7810-E298DBC874A0}"/>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12" name="TextBox 11">
            <a:extLst>
              <a:ext uri="{FF2B5EF4-FFF2-40B4-BE49-F238E27FC236}">
                <a16:creationId xmlns:a16="http://schemas.microsoft.com/office/drawing/2014/main" id="{C7C7B5FC-7F54-7631-9587-79555333C467}"/>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F915AD9E-239C-34FB-D01B-C6F2930BB4F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2" name="object 4">
            <a:extLst>
              <a:ext uri="{FF2B5EF4-FFF2-40B4-BE49-F238E27FC236}">
                <a16:creationId xmlns:a16="http://schemas.microsoft.com/office/drawing/2014/main" id="{4E555DB9-D28C-E5FE-3459-D9ABEF326B39}"/>
              </a:ext>
            </a:extLst>
          </p:cNvPr>
          <p:cNvSpPr txBox="1">
            <a:spLocks/>
          </p:cNvSpPr>
          <p:nvPr/>
        </p:nvSpPr>
        <p:spPr>
          <a:xfrm>
            <a:off x="895350" y="1177081"/>
            <a:ext cx="2452151" cy="1538883"/>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Wealth transfer planning analysis using pre-tax life insurance on &lt;InsuredLife3&gt; Cont’d</a:t>
            </a:r>
          </a:p>
        </p:txBody>
      </p:sp>
    </p:spTree>
    <p:extLst>
      <p:ext uri="{BB962C8B-B14F-4D97-AF65-F5344CB8AC3E}">
        <p14:creationId xmlns:p14="http://schemas.microsoft.com/office/powerpoint/2010/main" val="37087247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0D80C-12A2-0CAA-1F37-5A0B165C3814}"/>
            </a:ext>
          </a:extLst>
        </p:cNvPr>
        <p:cNvGrpSpPr/>
        <p:nvPr/>
      </p:nvGrpSpPr>
      <p:grpSpPr>
        <a:xfrm>
          <a:off x="0" y="0"/>
          <a:ext cx="0" cy="0"/>
          <a:chOff x="0" y="0"/>
          <a:chExt cx="0" cy="0"/>
        </a:xfrm>
      </p:grpSpPr>
      <p:sp>
        <p:nvSpPr>
          <p:cNvPr id="4" name="TotalLIRADetail1b">
            <a:extLst>
              <a:ext uri="{FF2B5EF4-FFF2-40B4-BE49-F238E27FC236}">
                <a16:creationId xmlns:a16="http://schemas.microsoft.com/office/drawing/2014/main" id="{8A8EF192-27A9-2C8F-7884-B3DC8A3456EF}"/>
              </a:ext>
            </a:extLst>
          </p:cNvPr>
          <p:cNvSpPr>
            <a:spLocks noGrp="1" noChangeAspect="1"/>
          </p:cNvSpPr>
          <p:nvPr>
            <p:ph sz="quarter" idx="10"/>
          </p:nvPr>
        </p:nvSpPr>
        <p:spPr>
          <a:xfrm>
            <a:off x="3630168" y="1177081"/>
            <a:ext cx="7863840" cy="4818888"/>
          </a:xfrm>
        </p:spPr>
        <p:txBody>
          <a:bodyPr wrap="none" lIns="0" tIns="0" rIns="0" bIns="0"/>
          <a:lstStyle/>
          <a:p>
            <a:endParaRPr lang="en-US" dirty="0"/>
          </a:p>
        </p:txBody>
      </p:sp>
      <p:pic>
        <p:nvPicPr>
          <p:cNvPr id="9" name="Graphic 8">
            <a:extLst>
              <a:ext uri="{FF2B5EF4-FFF2-40B4-BE49-F238E27FC236}">
                <a16:creationId xmlns:a16="http://schemas.microsoft.com/office/drawing/2014/main" id="{6CB78B3D-954E-9458-91AE-878D4C43A7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5" name="object 4">
            <a:extLst>
              <a:ext uri="{FF2B5EF4-FFF2-40B4-BE49-F238E27FC236}">
                <a16:creationId xmlns:a16="http://schemas.microsoft.com/office/drawing/2014/main" id="{4013F2A4-E0B0-EE53-9CCE-754D66E16F47}"/>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8" name="object 4">
            <a:extLst>
              <a:ext uri="{FF2B5EF4-FFF2-40B4-BE49-F238E27FC236}">
                <a16:creationId xmlns:a16="http://schemas.microsoft.com/office/drawing/2014/main" id="{15AC56D1-B1FB-F74A-16A3-37C04998AF2C}"/>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&lt;InsuredLife3&gt; on Total IRA</a:t>
            </a:r>
          </a:p>
        </p:txBody>
      </p:sp>
      <p:sp>
        <p:nvSpPr>
          <p:cNvPr id="12" name="TextBox 11">
            <a:extLst>
              <a:ext uri="{FF2B5EF4-FFF2-40B4-BE49-F238E27FC236}">
                <a16:creationId xmlns:a16="http://schemas.microsoft.com/office/drawing/2014/main" id="{CD8E28A4-15A8-BE55-DA44-15B13F8E904A}"/>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C329702D-FB7A-9B9B-7680-BB73220624E2}"/>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20821375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13A32-3439-322C-AA9F-97EFFA2E3735}"/>
            </a:ext>
          </a:extLst>
        </p:cNvPr>
        <p:cNvGrpSpPr/>
        <p:nvPr/>
      </p:nvGrpSpPr>
      <p:grpSpPr>
        <a:xfrm>
          <a:off x="0" y="0"/>
          <a:ext cx="0" cy="0"/>
          <a:chOff x="0" y="0"/>
          <a:chExt cx="0" cy="0"/>
        </a:xfrm>
      </p:grpSpPr>
      <p:sp>
        <p:nvSpPr>
          <p:cNvPr id="4" name="TotalLIRADetail2b">
            <a:extLst>
              <a:ext uri="{FF2B5EF4-FFF2-40B4-BE49-F238E27FC236}">
                <a16:creationId xmlns:a16="http://schemas.microsoft.com/office/drawing/2014/main" id="{34E70C90-1481-C447-2BFA-31E2D1DE5B14}"/>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D5752FA7-E880-88AA-5F1E-B93862A27C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55A062E2-5A12-B4EE-58A0-87A246977ACE}"/>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212E7F95-194D-7D48-2B3C-7BE437EC9D29}"/>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3" name="object 4">
            <a:extLst>
              <a:ext uri="{FF2B5EF4-FFF2-40B4-BE49-F238E27FC236}">
                <a16:creationId xmlns:a16="http://schemas.microsoft.com/office/drawing/2014/main" id="{D9FD60E7-5EE9-0560-4AB4-6CDB2DE0F59B}"/>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C0B41E2B-C3DC-E6C3-31EA-AD35CC84559D}"/>
              </a:ext>
            </a:extLst>
          </p:cNvPr>
          <p:cNvSpPr txBox="1">
            <a:spLocks/>
          </p:cNvSpPr>
          <p:nvPr/>
        </p:nvSpPr>
        <p:spPr>
          <a:xfrm>
            <a:off x="895350" y="117708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&lt;InsuredLife3&gt; on Total IRA Cont’d</a:t>
            </a:r>
          </a:p>
        </p:txBody>
      </p:sp>
    </p:spTree>
    <p:extLst>
      <p:ext uri="{BB962C8B-B14F-4D97-AF65-F5344CB8AC3E}">
        <p14:creationId xmlns:p14="http://schemas.microsoft.com/office/powerpoint/2010/main" val="14831199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70F45-6D39-1E1F-8D1A-4F3E7BDFFB2F}"/>
            </a:ext>
          </a:extLst>
        </p:cNvPr>
        <p:cNvGrpSpPr/>
        <p:nvPr/>
      </p:nvGrpSpPr>
      <p:grpSpPr>
        <a:xfrm>
          <a:off x="0" y="0"/>
          <a:ext cx="0" cy="0"/>
          <a:chOff x="0" y="0"/>
          <a:chExt cx="0" cy="0"/>
        </a:xfrm>
      </p:grpSpPr>
      <p:sp>
        <p:nvSpPr>
          <p:cNvPr id="4" name="TotalLIRADetail3b">
            <a:extLst>
              <a:ext uri="{FF2B5EF4-FFF2-40B4-BE49-F238E27FC236}">
                <a16:creationId xmlns:a16="http://schemas.microsoft.com/office/drawing/2014/main" id="{060FC4E2-6E09-A712-819E-C6E680310178}"/>
              </a:ext>
            </a:extLst>
          </p:cNvPr>
          <p:cNvSpPr>
            <a:spLocks noGrp="1"/>
          </p:cNvSpPr>
          <p:nvPr>
            <p:ph sz="quarter" idx="10"/>
          </p:nvPr>
        </p:nvSpPr>
        <p:spPr>
          <a:xfrm>
            <a:off x="3630168" y="1177081"/>
            <a:ext cx="7863840" cy="4818888"/>
          </a:xfrm>
        </p:spPr>
        <p:txBody>
          <a:bodyPr wrap="none"/>
          <a:lstStyle/>
          <a:p>
            <a:endParaRPr lang="en-US" dirty="0"/>
          </a:p>
        </p:txBody>
      </p:sp>
      <p:pic>
        <p:nvPicPr>
          <p:cNvPr id="9" name="Graphic 8">
            <a:extLst>
              <a:ext uri="{FF2B5EF4-FFF2-40B4-BE49-F238E27FC236}">
                <a16:creationId xmlns:a16="http://schemas.microsoft.com/office/drawing/2014/main" id="{7870014A-B272-DA1C-7725-087B64FB4A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043563" y="3554438"/>
            <a:ext cx="4818111" cy="63397"/>
          </a:xfrm>
          <a:prstGeom prst="rect">
            <a:avLst/>
          </a:prstGeom>
        </p:spPr>
      </p:pic>
      <p:sp>
        <p:nvSpPr>
          <p:cNvPr id="12" name="TextBox 11">
            <a:extLst>
              <a:ext uri="{FF2B5EF4-FFF2-40B4-BE49-F238E27FC236}">
                <a16:creationId xmlns:a16="http://schemas.microsoft.com/office/drawing/2014/main" id="{FF5A147A-73F9-CEB7-B9BB-E4F4B9966CE8}"/>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FF232F23-18B8-295B-0BBC-606ADDFB40AC}"/>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6" name="object 4">
            <a:extLst>
              <a:ext uri="{FF2B5EF4-FFF2-40B4-BE49-F238E27FC236}">
                <a16:creationId xmlns:a16="http://schemas.microsoft.com/office/drawing/2014/main" id="{750F7AD1-21B9-1ABA-747A-28C3DB852EF0}"/>
              </a:ext>
            </a:extLst>
          </p:cNvPr>
          <p:cNvSpPr txBox="1">
            <a:spLocks/>
          </p:cNvSpPr>
          <p:nvPr/>
        </p:nvSpPr>
        <p:spPr>
          <a:xfrm>
            <a:off x="895350" y="3512147"/>
            <a:ext cx="2009880" cy="641201"/>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800" b="0" dirty="0">
                <a:solidFill>
                  <a:sysClr val="windowText" lastClr="000000"/>
                </a:solidFill>
                <a:latin typeface="Cormorant Infant" pitchFamily="2" charset="0"/>
                <a:cs typeface="Cormorant Infant" pitchFamily="2" charset="0"/>
              </a:rPr>
              <a:t>Assumptions: RMD are based on &lt;</a:t>
            </a:r>
            <a:r>
              <a:rPr lang="en-US" sz="800" b="0" dirty="0" err="1">
                <a:solidFill>
                  <a:sysClr val="windowText" lastClr="000000"/>
                </a:solidFill>
                <a:latin typeface="Cormorant Infant" pitchFamily="2" charset="0"/>
                <a:cs typeface="Cormorant Infant" pitchFamily="2" charset="0"/>
              </a:rPr>
              <a:t>pptFirstNm</a:t>
            </a:r>
            <a:r>
              <a:rPr lang="en-US" sz="800" b="0" dirty="0">
                <a:solidFill>
                  <a:sysClr val="windowText" lastClr="000000"/>
                </a:solidFill>
                <a:latin typeface="Cormorant Infant" pitchFamily="2" charset="0"/>
                <a:cs typeface="Cormorant Infant" pitchFamily="2" charset="0"/>
              </a:rPr>
              <a:t>&gt;’s age, after-tax distribution are spent.</a:t>
            </a:r>
          </a:p>
          <a:p>
            <a:pPr algn="l"/>
            <a:endParaRPr lang="en-US" sz="800" b="0" dirty="0">
              <a:solidFill>
                <a:sysClr val="windowText" lastClr="000000"/>
              </a:solidFill>
              <a:latin typeface="Cormorant Infant" pitchFamily="2" charset="0"/>
              <a:cs typeface="Cormorant Infant" pitchFamily="2" charset="0"/>
            </a:endParaRPr>
          </a:p>
          <a:p>
            <a:pPr algn="l"/>
            <a:r>
              <a:rPr lang="en-US" sz="800" b="0" dirty="0">
                <a:solidFill>
                  <a:sysClr val="windowText" lastClr="000000"/>
                </a:solidFill>
                <a:latin typeface="Cormorant Infant" pitchFamily="2" charset="0"/>
                <a:cs typeface="Cormorant Infant" pitchFamily="2" charset="0"/>
              </a:rPr>
              <a:t>The Rollover-IRA earns &lt;</a:t>
            </a:r>
            <a:r>
              <a:rPr lang="en-US" sz="800" b="0" dirty="0" err="1">
                <a:solidFill>
                  <a:sysClr val="windowText" lastClr="000000"/>
                </a:solidFill>
                <a:latin typeface="Cormorant Infant" pitchFamily="2" charset="0"/>
                <a:cs typeface="Cormorant Infant" pitchFamily="2" charset="0"/>
              </a:rPr>
              <a:t>IRARate</a:t>
            </a:r>
            <a:r>
              <a:rPr lang="en-US" sz="800" b="0" dirty="0">
                <a:solidFill>
                  <a:sysClr val="windowText" lastClr="000000"/>
                </a:solidFill>
                <a:latin typeface="Cormorant Infant" pitchFamily="2" charset="0"/>
                <a:cs typeface="Cormorant Infant" pitchFamily="2" charset="0"/>
              </a:rPr>
              <a:t>&gt; after-tax returns, every year, net of fees &amp; expenses. </a:t>
            </a:r>
          </a:p>
        </p:txBody>
      </p:sp>
      <p:sp>
        <p:nvSpPr>
          <p:cNvPr id="5" name="object 4">
            <a:extLst>
              <a:ext uri="{FF2B5EF4-FFF2-40B4-BE49-F238E27FC236}">
                <a16:creationId xmlns:a16="http://schemas.microsoft.com/office/drawing/2014/main" id="{9AE9E340-8C3F-979C-EA6F-FCD071004300}"/>
              </a:ext>
            </a:extLst>
          </p:cNvPr>
          <p:cNvSpPr txBox="1">
            <a:spLocks/>
          </p:cNvSpPr>
          <p:nvPr/>
        </p:nvSpPr>
        <p:spPr>
          <a:xfrm>
            <a:off x="895350" y="1158031"/>
            <a:ext cx="2452151" cy="1846659"/>
          </a:xfrm>
          <a:prstGeom prst="rect">
            <a:avLst/>
          </a:prstGeom>
          <a:noFill/>
          <a:ln>
            <a:noFill/>
          </a:ln>
          <a:scene3d>
            <a:camera prst="orthographicFront"/>
            <a:lightRig rig="threePt" dir="t"/>
          </a:scene3d>
          <a:sp3d>
            <a:bevelT/>
          </a:sp3d>
        </p:spPr>
        <p:txBody>
          <a:bodyPr vert="horz" wrap="square" lIns="0" tIns="0" rIns="0" bIns="0" rtlCol="0" anchor="t">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2000" b="0" dirty="0">
                <a:solidFill>
                  <a:sysClr val="windowText" lastClr="000000"/>
                </a:solidFill>
                <a:latin typeface="Cormorant Infant" pitchFamily="2" charset="0"/>
                <a:cs typeface="Cormorant Infant" pitchFamily="2" charset="0"/>
              </a:rPr>
              <a:t>Impact of Wealth transfer planning analysis using pre-tax life insurance on &lt;InsuredLife3&gt; on Total IRA Cont’d</a:t>
            </a:r>
          </a:p>
        </p:txBody>
      </p:sp>
    </p:spTree>
    <p:extLst>
      <p:ext uri="{BB962C8B-B14F-4D97-AF65-F5344CB8AC3E}">
        <p14:creationId xmlns:p14="http://schemas.microsoft.com/office/powerpoint/2010/main" val="11079982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0B53E-AE95-BCDA-A9DE-FD1560F4FB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55A9D2-26AC-4682-7E02-0E9E4337D637}"/>
              </a:ext>
            </a:extLst>
          </p:cNvPr>
          <p:cNvSpPr txBox="1"/>
          <p:nvPr/>
        </p:nvSpPr>
        <p:spPr>
          <a:xfrm>
            <a:off x="2209801" y="1841500"/>
            <a:ext cx="8820150" cy="4247548"/>
          </a:xfrm>
          <a:prstGeom prst="rect">
            <a:avLst/>
          </a:prstGeom>
        </p:spPr>
        <p:txBody>
          <a:bodyPr vert="horz" lIns="0" tIns="0" rIns="0" bIns="0" numCol="1" spcCol="0" rtlCol="0">
            <a:noAutofit/>
          </a:bodyPr>
          <a:lstStyle/>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400" dirty="0">
                <a:solidFill>
                  <a:schemeClr val="tx1"/>
                </a:solidFill>
                <a:latin typeface="Cormorant Infant" pitchFamily="2" charset="0"/>
                <a:cs typeface="Cormorant Infant" pitchFamily="2" charset="0"/>
              </a:rPr>
              <a:t>Projected All Assets Growth: Income &amp; Estate Tax Liability</a:t>
            </a:r>
          </a:p>
          <a:p>
            <a:pPr marL="182880" indent="-137160" algn="just" defTabSz="914400">
              <a:lnSpc>
                <a:spcPts val="1800"/>
              </a:lnSpc>
              <a:spcAft>
                <a:spcPts val="1200"/>
              </a:spcAft>
              <a:buClr>
                <a:schemeClr val="accent3"/>
              </a:buClr>
              <a:buSzPct val="130000"/>
              <a:buFont typeface="Arial" panose="020B0604020202020204" pitchFamily="34" charset="0"/>
              <a:buChar char="•"/>
            </a:pPr>
            <a:r>
              <a:rPr lang="en-US" sz="1400" b="0" dirty="0">
                <a:solidFill>
                  <a:sysClr val="windowText" lastClr="000000"/>
                </a:solidFill>
                <a:latin typeface="Cormorant Infant" pitchFamily="2" charset="0"/>
                <a:cs typeface="Cormorant Infant" pitchFamily="2" charset="0"/>
              </a:rPr>
              <a:t>Current Planning Forecast: Asset Growth, Income &amp; Estate Taxes</a:t>
            </a:r>
          </a:p>
          <a:p>
            <a:pPr marL="182880" indent="-137160" algn="just">
              <a:lnSpc>
                <a:spcPts val="1800"/>
              </a:lnSpc>
              <a:spcAft>
                <a:spcPts val="1200"/>
              </a:spcAft>
              <a:buClr>
                <a:schemeClr val="accent3"/>
              </a:buClr>
              <a:buSzPct val="130000"/>
              <a:buFont typeface="Arial" panose="020B0604020202020204" pitchFamily="34" charset="0"/>
              <a:buChar char="•"/>
            </a:pPr>
            <a:r>
              <a:rPr lang="en-US" sz="1400" b="0" dirty="0">
                <a:solidFill>
                  <a:sysClr val="windowText" lastClr="000000"/>
                </a:solidFill>
                <a:latin typeface="Cormorant Infant" pitchFamily="2" charset="0"/>
                <a:cs typeface="Cormorant Infant" pitchFamily="2" charset="0"/>
              </a:rPr>
              <a:t>Total Assets Growth and Tax-Free Legacy</a:t>
            </a:r>
          </a:p>
          <a:p>
            <a:pPr marL="182880" indent="-137160" algn="just">
              <a:lnSpc>
                <a:spcPts val="1800"/>
              </a:lnSpc>
              <a:spcAft>
                <a:spcPts val="1200"/>
              </a:spcAft>
              <a:buClr>
                <a:schemeClr val="accent3"/>
              </a:buClr>
              <a:buSzPct val="130000"/>
              <a:buFont typeface="Arial" panose="020B0604020202020204" pitchFamily="34" charset="0"/>
              <a:buChar char="•"/>
            </a:pPr>
            <a:r>
              <a:rPr lang="en-US" sz="1400" b="0" dirty="0">
                <a:solidFill>
                  <a:sysClr val="windowText" lastClr="000000"/>
                </a:solidFill>
                <a:latin typeface="Cormorant Infant" pitchFamily="2" charset="0"/>
                <a:cs typeface="Cormorant Infant" pitchFamily="2" charset="0"/>
              </a:rPr>
              <a:t>Proposed Planning Forecast: Asset Growth, Income &amp; Estate Taxes</a:t>
            </a:r>
          </a:p>
          <a:p>
            <a:pPr marL="182880" indent="-137160" algn="just" defTabSz="914400">
              <a:lnSpc>
                <a:spcPts val="1800"/>
              </a:lnSpc>
              <a:spcAft>
                <a:spcPts val="1200"/>
              </a:spcAft>
              <a:buClr>
                <a:schemeClr val="accent3"/>
              </a:buClr>
              <a:buSzPct val="130000"/>
              <a:buFont typeface="Arial" panose="020B0604020202020204" pitchFamily="34" charset="0"/>
              <a:buChar char="•"/>
            </a:pPr>
            <a:endParaRPr lang="en-US" sz="1400" b="0" dirty="0">
              <a:solidFill>
                <a:sysClr val="windowText" lastClr="000000"/>
              </a:solidFill>
              <a:latin typeface="Cormorant Infant" pitchFamily="2" charset="0"/>
              <a:cs typeface="Cormorant Infant" pitchFamily="2" charset="0"/>
            </a:endParaRPr>
          </a:p>
          <a:p>
            <a:pPr algn="l"/>
            <a:endParaRPr lang="en-US" sz="1400" b="0" dirty="0">
              <a:solidFill>
                <a:sysClr val="windowText" lastClr="000000"/>
              </a:solidFill>
              <a:latin typeface="Cormorant Infant" pitchFamily="2" charset="0"/>
              <a:cs typeface="Cormorant Infant" pitchFamily="2" charset="0"/>
            </a:endParaRPr>
          </a:p>
        </p:txBody>
      </p:sp>
      <p:sp>
        <p:nvSpPr>
          <p:cNvPr id="6" name="object 4">
            <a:extLst>
              <a:ext uri="{FF2B5EF4-FFF2-40B4-BE49-F238E27FC236}">
                <a16:creationId xmlns:a16="http://schemas.microsoft.com/office/drawing/2014/main" id="{C9DCD8AE-EB4D-6564-BDB4-F9846DF1EF42}"/>
              </a:ext>
            </a:extLst>
          </p:cNvPr>
          <p:cNvSpPr txBox="1">
            <a:spLocks/>
          </p:cNvSpPr>
          <p:nvPr/>
        </p:nvSpPr>
        <p:spPr>
          <a:xfrm>
            <a:off x="1268729" y="1182826"/>
            <a:ext cx="2559996"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Estate Projections</a:t>
            </a:r>
          </a:p>
        </p:txBody>
      </p:sp>
      <p:pic>
        <p:nvPicPr>
          <p:cNvPr id="7" name="Graphic 6">
            <a:extLst>
              <a:ext uri="{FF2B5EF4-FFF2-40B4-BE49-F238E27FC236}">
                <a16:creationId xmlns:a16="http://schemas.microsoft.com/office/drawing/2014/main" id="{602BDB0B-CC6A-06AD-D4EC-85865C3B19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5400000" flipV="1">
            <a:off x="25566" y="3802245"/>
            <a:ext cx="3931920" cy="51736"/>
          </a:xfrm>
          <a:prstGeom prst="rect">
            <a:avLst/>
          </a:prstGeom>
        </p:spPr>
      </p:pic>
      <p:sp>
        <p:nvSpPr>
          <p:cNvPr id="3" name="TextBox 2">
            <a:extLst>
              <a:ext uri="{FF2B5EF4-FFF2-40B4-BE49-F238E27FC236}">
                <a16:creationId xmlns:a16="http://schemas.microsoft.com/office/drawing/2014/main" id="{A76312D9-1D33-40A4-9F8D-FDAFD6029644}"/>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710C0171-FE50-2A57-AAD0-770A81BCC72D}"/>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7602977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82DA-81FF-AEF0-C788-EDB9AD46549E}"/>
            </a:ext>
          </a:extLst>
        </p:cNvPr>
        <p:cNvGrpSpPr/>
        <p:nvPr/>
      </p:nvGrpSpPr>
      <p:grpSpPr>
        <a:xfrm>
          <a:off x="0" y="0"/>
          <a:ext cx="0" cy="0"/>
          <a:chOff x="0" y="0"/>
          <a:chExt cx="0" cy="0"/>
        </a:xfrm>
      </p:grpSpPr>
      <p:sp>
        <p:nvSpPr>
          <p:cNvPr id="2" name="object 4">
            <a:extLst>
              <a:ext uri="{FF2B5EF4-FFF2-40B4-BE49-F238E27FC236}">
                <a16:creationId xmlns:a16="http://schemas.microsoft.com/office/drawing/2014/main" id="{A8EAA393-019A-A686-1EAA-5EAD8F35AE9C}"/>
              </a:ext>
            </a:extLst>
          </p:cNvPr>
          <p:cNvSpPr txBox="1">
            <a:spLocks/>
          </p:cNvSpPr>
          <p:nvPr/>
        </p:nvSpPr>
        <p:spPr>
          <a:xfrm>
            <a:off x="687704" y="1026272"/>
            <a:ext cx="10751819" cy="430887"/>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Projected All Assets Growth: Income &amp; Estate Tax Liability</a:t>
            </a:r>
          </a:p>
        </p:txBody>
      </p:sp>
      <p:sp>
        <p:nvSpPr>
          <p:cNvPr id="44" name="object 4">
            <a:extLst>
              <a:ext uri="{FF2B5EF4-FFF2-40B4-BE49-F238E27FC236}">
                <a16:creationId xmlns:a16="http://schemas.microsoft.com/office/drawing/2014/main" id="{7D65FEDE-CCEE-5F39-576A-15FA395BB2C4}"/>
              </a:ext>
            </a:extLst>
          </p:cNvPr>
          <p:cNvSpPr txBox="1">
            <a:spLocks/>
          </p:cNvSpPr>
          <p:nvPr/>
        </p:nvSpPr>
        <p:spPr>
          <a:xfrm>
            <a:off x="687704" y="1470737"/>
            <a:ext cx="11028046" cy="369332"/>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Current planning forecast projects the value of your retirement plan assets inside your estate, the reduction in value due to Estate Taxes and then Federal Income Taxes assuming  a reasonable 7% Return and Including RMD’s each year starting at age 75. Longevity is minimally 30 Years. </a:t>
            </a:r>
          </a:p>
        </p:txBody>
      </p:sp>
      <p:graphicFrame>
        <p:nvGraphicFramePr>
          <p:cNvPr id="11" name="Table 10">
            <a:extLst>
              <a:ext uri="{FF2B5EF4-FFF2-40B4-BE49-F238E27FC236}">
                <a16:creationId xmlns:a16="http://schemas.microsoft.com/office/drawing/2014/main" id="{6EA7C415-E2C3-3B2C-50E2-4156F42FD0EF}"/>
              </a:ext>
            </a:extLst>
          </p:cNvPr>
          <p:cNvGraphicFramePr>
            <a:graphicFrameLocks noGrp="1"/>
          </p:cNvGraphicFramePr>
          <p:nvPr>
            <p:extLst>
              <p:ext uri="{D42A27DB-BD31-4B8C-83A1-F6EECF244321}">
                <p14:modId xmlns:p14="http://schemas.microsoft.com/office/powerpoint/2010/main" val="72173573"/>
              </p:ext>
            </p:extLst>
          </p:nvPr>
        </p:nvGraphicFramePr>
        <p:xfrm>
          <a:off x="687703" y="1934369"/>
          <a:ext cx="11028046" cy="1560195"/>
        </p:xfrm>
        <a:graphic>
          <a:graphicData uri="http://schemas.openxmlformats.org/drawingml/2006/table">
            <a:tbl>
              <a:tblPr/>
              <a:tblGrid>
                <a:gridCol w="2417447">
                  <a:extLst>
                    <a:ext uri="{9D8B030D-6E8A-4147-A177-3AD203B41FA5}">
                      <a16:colId xmlns:a16="http://schemas.microsoft.com/office/drawing/2014/main" val="374796995"/>
                    </a:ext>
                  </a:extLst>
                </a:gridCol>
                <a:gridCol w="2854325">
                  <a:extLst>
                    <a:ext uri="{9D8B030D-6E8A-4147-A177-3AD203B41FA5}">
                      <a16:colId xmlns:a16="http://schemas.microsoft.com/office/drawing/2014/main" val="1847813325"/>
                    </a:ext>
                  </a:extLst>
                </a:gridCol>
                <a:gridCol w="2879725">
                  <a:extLst>
                    <a:ext uri="{9D8B030D-6E8A-4147-A177-3AD203B41FA5}">
                      <a16:colId xmlns:a16="http://schemas.microsoft.com/office/drawing/2014/main" val="1037592962"/>
                    </a:ext>
                  </a:extLst>
                </a:gridCol>
                <a:gridCol w="2876549">
                  <a:extLst>
                    <a:ext uri="{9D8B030D-6E8A-4147-A177-3AD203B41FA5}">
                      <a16:colId xmlns:a16="http://schemas.microsoft.com/office/drawing/2014/main" val="3769218600"/>
                    </a:ext>
                  </a:extLst>
                </a:gridCol>
              </a:tblGrid>
              <a:tr h="190500">
                <a:tc>
                  <a:txBody>
                    <a:bodyPr/>
                    <a:lstStyle/>
                    <a:p>
                      <a:pPr algn="l" fontAlgn="b">
                        <a:buNone/>
                      </a:pPr>
                      <a:r>
                        <a:rPr lang="en-US" sz="1400" b="1" i="0" u="none" strike="noStrike">
                          <a:solidFill>
                            <a:srgbClr val="2B3033"/>
                          </a:solidFill>
                          <a:effectLst/>
                          <a:latin typeface="Cormorant Infant" pitchFamily="2" charset="0"/>
                          <a:ea typeface="Cormorant Infant" pitchFamily="2" charset="0"/>
                          <a:cs typeface="Cormorant Infant" pitchFamily="2" charset="0"/>
                        </a:rPr>
                        <a:t> </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&lt;CurHeader1&gt;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&lt;CurHeader2&gt;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&lt;CurHeader3&gt;</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8019526"/>
                  </a:ext>
                </a:extLst>
              </a:tr>
              <a:tr h="190500">
                <a:tc>
                  <a:txBody>
                    <a:bodyPr/>
                    <a:lstStyle/>
                    <a:p>
                      <a:pPr algn="l"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Total Assets (EOY)</a:t>
                      </a:r>
                    </a:p>
                  </a:txBody>
                  <a:tcPr marL="857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&lt;CurChartValue1a&gt;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&lt;CurChartValue2a&gt;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&lt;CurChartValue3a&gt;</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635419307"/>
                  </a:ext>
                </a:extLst>
              </a:tr>
              <a:tr h="190500">
                <a:tc>
                  <a:txBody>
                    <a:bodyPr/>
                    <a:lstStyle/>
                    <a:p>
                      <a:pPr algn="l" fontAlgn="b">
                        <a:buNone/>
                      </a:pPr>
                      <a:r>
                        <a:rPr lang="en-US" sz="1400" b="0" i="0" u="none" strike="noStrike" dirty="0">
                          <a:solidFill>
                            <a:srgbClr val="2B3033"/>
                          </a:solidFill>
                          <a:effectLst/>
                          <a:latin typeface="Cormorant Infant" pitchFamily="2" charset="0"/>
                        </a:rPr>
                        <a:t>Lifetime Exemption</a:t>
                      </a:r>
                    </a:p>
                  </a:txBody>
                  <a:tcPr marR="9525" marT="9525" marB="0" anchor="b">
                    <a:lnL>
                      <a:noFill/>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&lt;CurExempt3&gt;</a:t>
                      </a:r>
                    </a:p>
                  </a:txBody>
                  <a:tcPr marL="9525" marR="9525" marT="9525" marB="0" anchor="b">
                    <a:lnL w="635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5955753"/>
                  </a:ext>
                </a:extLst>
              </a:tr>
              <a:tr h="190500">
                <a:tc>
                  <a:txBody>
                    <a:bodyPr/>
                    <a:lstStyle/>
                    <a:p>
                      <a:pPr algn="l" fontAlgn="b">
                        <a:buNone/>
                      </a:pPr>
                      <a:r>
                        <a:rPr lang="en-US" sz="1400" b="1" i="0" u="none" strike="noStrike" dirty="0">
                          <a:solidFill>
                            <a:srgbClr val="2B3033"/>
                          </a:solidFill>
                          <a:effectLst/>
                          <a:latin typeface="Cormorant Infant" pitchFamily="2" charset="0"/>
                        </a:rPr>
                        <a:t>Taxable Estate</a:t>
                      </a:r>
                    </a:p>
                  </a:txBody>
                  <a:tcPr marR="9525" marT="9525" marB="0" anchor="b">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&lt;CurTaxableEstate1&gt;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&lt;CurTaxableEstate2&gt;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&lt;CurTaxableEstate3&gt;</a:t>
                      </a:r>
                    </a:p>
                  </a:txBody>
                  <a:tcPr marL="9525" marR="9525" marT="9525" marB="0" anchor="b">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9607325"/>
                  </a:ext>
                </a:extLst>
              </a:tr>
              <a:tr h="190500">
                <a:tc>
                  <a:txBody>
                    <a:bodyPr/>
                    <a:lstStyle/>
                    <a:p>
                      <a:pPr algn="l"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Estate Taxes</a:t>
                      </a:r>
                    </a:p>
                  </a:txBody>
                  <a:tcPr marL="85725" marR="9525" marT="9525" marB="0" anchor="b">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&lt;CurChartValue1b&gt;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&lt;CurChartValue2b&gt;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&lt;CurChartValue3b&gt;</a:t>
                      </a:r>
                    </a:p>
                  </a:txBody>
                  <a:tcPr marL="9525" marR="9525" marT="9525" marB="0" anchor="b">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885062912"/>
                  </a:ext>
                </a:extLst>
              </a:tr>
              <a:tr h="190500">
                <a:tc>
                  <a:txBody>
                    <a:bodyPr/>
                    <a:lstStyle/>
                    <a:p>
                      <a:pPr algn="l" fontAlgn="b">
                        <a:buNone/>
                      </a:pPr>
                      <a:r>
                        <a:rPr lang="en-US" sz="1400" b="0" i="0" u="none" strike="noStrike">
                          <a:solidFill>
                            <a:srgbClr val="2B3033"/>
                          </a:solidFill>
                          <a:effectLst/>
                          <a:latin typeface="Cormorant Infant" pitchFamily="2" charset="0"/>
                          <a:ea typeface="Cormorant Infant" pitchFamily="2" charset="0"/>
                          <a:cs typeface="Cormorant Infant" pitchFamily="2" charset="0"/>
                        </a:rPr>
                        <a:t>Income Taxes</a:t>
                      </a:r>
                    </a:p>
                  </a:txBody>
                  <a:tcPr marL="857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&lt;CurChartValue1c&gt;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&lt;CurChartValue2c&gt;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&lt;CurChartValue3c&gt;</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3055187"/>
                  </a:ext>
                </a:extLst>
              </a:tr>
              <a:tr h="190500">
                <a:tc>
                  <a:txBody>
                    <a:bodyPr/>
                    <a:lstStyle/>
                    <a:p>
                      <a:pPr algn="l" fontAlgn="b">
                        <a:buNone/>
                      </a:pPr>
                      <a:r>
                        <a:rPr lang="en-US" sz="1400" b="1" i="0" u="none" strike="noStrike">
                          <a:solidFill>
                            <a:srgbClr val="2B3033"/>
                          </a:solidFill>
                          <a:effectLst/>
                          <a:latin typeface="Cormorant Infant" pitchFamily="2" charset="0"/>
                          <a:ea typeface="Cormorant Infant" pitchFamily="2" charset="0"/>
                          <a:cs typeface="Cormorant Infant" pitchFamily="2" charset="0"/>
                        </a:rPr>
                        <a:t>Net to Heirs</a:t>
                      </a:r>
                    </a:p>
                  </a:txBody>
                  <a:tcPr marL="857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&lt;CurChartValue1d&gt;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&lt;CurChartValue2d&gt;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&lt;CurChartValue3d&gt;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extLst>
                  <a:ext uri="{0D108BD9-81ED-4DB2-BD59-A6C34878D82A}">
                    <a16:rowId xmlns:a16="http://schemas.microsoft.com/office/drawing/2014/main" val="2382939511"/>
                  </a:ext>
                </a:extLst>
              </a:tr>
            </a:tbl>
          </a:graphicData>
        </a:graphic>
      </p:graphicFrame>
      <p:graphicFrame>
        <p:nvGraphicFramePr>
          <p:cNvPr id="8" name="Chart 7">
            <a:extLst>
              <a:ext uri="{FF2B5EF4-FFF2-40B4-BE49-F238E27FC236}">
                <a16:creationId xmlns:a16="http://schemas.microsoft.com/office/drawing/2014/main" id="{46EF2A04-2633-8641-37AB-D33A2F81FBC6}"/>
              </a:ext>
            </a:extLst>
          </p:cNvPr>
          <p:cNvGraphicFramePr/>
          <p:nvPr>
            <p:extLst>
              <p:ext uri="{D42A27DB-BD31-4B8C-83A1-F6EECF244321}">
                <p14:modId xmlns:p14="http://schemas.microsoft.com/office/powerpoint/2010/main" val="2239863341"/>
              </p:ext>
            </p:extLst>
          </p:nvPr>
        </p:nvGraphicFramePr>
        <p:xfrm>
          <a:off x="3101148" y="3571719"/>
          <a:ext cx="2852928"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CCF86817-72C5-905E-FAED-ACAD5025BB20}"/>
              </a:ext>
            </a:extLst>
          </p:cNvPr>
          <p:cNvGraphicFramePr/>
          <p:nvPr>
            <p:extLst>
              <p:ext uri="{D42A27DB-BD31-4B8C-83A1-F6EECF244321}">
                <p14:modId xmlns:p14="http://schemas.microsoft.com/office/powerpoint/2010/main" val="2543339240"/>
              </p:ext>
            </p:extLst>
          </p:nvPr>
        </p:nvGraphicFramePr>
        <p:xfrm>
          <a:off x="5984464" y="3571719"/>
          <a:ext cx="2852928"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AF73E69A-3BD6-16AF-D7B4-784876C22786}"/>
              </a:ext>
            </a:extLst>
          </p:cNvPr>
          <p:cNvGraphicFramePr/>
          <p:nvPr>
            <p:extLst>
              <p:ext uri="{D42A27DB-BD31-4B8C-83A1-F6EECF244321}">
                <p14:modId xmlns:p14="http://schemas.microsoft.com/office/powerpoint/2010/main" val="1028626378"/>
              </p:ext>
            </p:extLst>
          </p:nvPr>
        </p:nvGraphicFramePr>
        <p:xfrm>
          <a:off x="8862821" y="3571719"/>
          <a:ext cx="2852928"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FE81D6BB-49B9-A17B-1943-7D3AC497F120}"/>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4" name="TextBox 3">
            <a:extLst>
              <a:ext uri="{FF2B5EF4-FFF2-40B4-BE49-F238E27FC236}">
                <a16:creationId xmlns:a16="http://schemas.microsoft.com/office/drawing/2014/main" id="{4A085BAA-F35D-8C99-169C-7A9DA5CE20B2}"/>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11821526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6D450-CFC9-8962-0FD0-CD5A7131F8FC}"/>
            </a:ext>
          </a:extLst>
        </p:cNvPr>
        <p:cNvGrpSpPr/>
        <p:nvPr/>
      </p:nvGrpSpPr>
      <p:grpSpPr>
        <a:xfrm>
          <a:off x="0" y="0"/>
          <a:ext cx="0" cy="0"/>
          <a:chOff x="0" y="0"/>
          <a:chExt cx="0" cy="0"/>
        </a:xfrm>
      </p:grpSpPr>
      <p:sp>
        <p:nvSpPr>
          <p:cNvPr id="4" name="CurPlanTable">
            <a:extLst>
              <a:ext uri="{FF2B5EF4-FFF2-40B4-BE49-F238E27FC236}">
                <a16:creationId xmlns:a16="http://schemas.microsoft.com/office/drawing/2014/main" id="{E99D7C8A-95F9-EE53-6068-3ED09F6DEA46}"/>
              </a:ext>
            </a:extLst>
          </p:cNvPr>
          <p:cNvSpPr>
            <a:spLocks noGrp="1"/>
          </p:cNvSpPr>
          <p:nvPr>
            <p:ph sz="quarter" idx="10"/>
          </p:nvPr>
        </p:nvSpPr>
        <p:spPr>
          <a:xfrm>
            <a:off x="514350" y="1990725"/>
            <a:ext cx="10979658" cy="4366658"/>
          </a:xfrm>
          <a:solidFill>
            <a:schemeClr val="bg1"/>
          </a:solidFill>
        </p:spPr>
        <p:txBody>
          <a:bodyPr wrap="none"/>
          <a:lstStyle/>
          <a:p>
            <a:endParaRPr lang="en-US" dirty="0"/>
          </a:p>
        </p:txBody>
      </p:sp>
      <p:sp>
        <p:nvSpPr>
          <p:cNvPr id="12" name="TextBox 11">
            <a:extLst>
              <a:ext uri="{FF2B5EF4-FFF2-40B4-BE49-F238E27FC236}">
                <a16:creationId xmlns:a16="http://schemas.microsoft.com/office/drawing/2014/main" id="{39794A4A-0C27-6F7B-43CE-35E82FBA97A6}"/>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D92EA375-40A9-812A-0265-8DD1C2C37387}"/>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2" name="object 4">
            <a:extLst>
              <a:ext uri="{FF2B5EF4-FFF2-40B4-BE49-F238E27FC236}">
                <a16:creationId xmlns:a16="http://schemas.microsoft.com/office/drawing/2014/main" id="{341118DB-BE34-D77F-DD76-6586B64F677E}"/>
              </a:ext>
            </a:extLst>
          </p:cNvPr>
          <p:cNvSpPr txBox="1">
            <a:spLocks/>
          </p:cNvSpPr>
          <p:nvPr/>
        </p:nvSpPr>
        <p:spPr>
          <a:xfrm>
            <a:off x="687704" y="1026272"/>
            <a:ext cx="9323065"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Current Planning Forecast: Asset Growth, Income &amp; Estate Taxes</a:t>
            </a:r>
          </a:p>
        </p:txBody>
      </p:sp>
      <p:sp>
        <p:nvSpPr>
          <p:cNvPr id="3" name="object 4">
            <a:extLst>
              <a:ext uri="{FF2B5EF4-FFF2-40B4-BE49-F238E27FC236}">
                <a16:creationId xmlns:a16="http://schemas.microsoft.com/office/drawing/2014/main" id="{52CC565C-AF64-EF9D-7181-8104A174E650}"/>
              </a:ext>
            </a:extLst>
          </p:cNvPr>
          <p:cNvSpPr txBox="1">
            <a:spLocks/>
          </p:cNvSpPr>
          <p:nvPr/>
        </p:nvSpPr>
        <p:spPr>
          <a:xfrm>
            <a:off x="687704" y="1470737"/>
            <a:ext cx="11028046" cy="369332"/>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Current planning forecast projects the value of assets inside your estate, the reduction in value due to income and potential estate taxes  and the net amount to your heirs at multiple periods and if The Federal Government Reduces The Exemption to a Total of $15MM During your lifetime. </a:t>
            </a:r>
          </a:p>
        </p:txBody>
      </p:sp>
    </p:spTree>
    <p:extLst>
      <p:ext uri="{BB962C8B-B14F-4D97-AF65-F5344CB8AC3E}">
        <p14:creationId xmlns:p14="http://schemas.microsoft.com/office/powerpoint/2010/main" val="34241708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596E-39D0-A5BE-BCA9-2DBD89C37792}"/>
            </a:ext>
          </a:extLst>
        </p:cNvPr>
        <p:cNvGrpSpPr/>
        <p:nvPr/>
      </p:nvGrpSpPr>
      <p:grpSpPr>
        <a:xfrm>
          <a:off x="0" y="0"/>
          <a:ext cx="0" cy="0"/>
          <a:chOff x="0" y="0"/>
          <a:chExt cx="0" cy="0"/>
        </a:xfrm>
      </p:grpSpPr>
      <p:sp>
        <p:nvSpPr>
          <p:cNvPr id="2" name="object 4">
            <a:extLst>
              <a:ext uri="{FF2B5EF4-FFF2-40B4-BE49-F238E27FC236}">
                <a16:creationId xmlns:a16="http://schemas.microsoft.com/office/drawing/2014/main" id="{74F6A72B-23C3-1C34-CD5C-5FCC132B8320}"/>
              </a:ext>
            </a:extLst>
          </p:cNvPr>
          <p:cNvSpPr txBox="1">
            <a:spLocks/>
          </p:cNvSpPr>
          <p:nvPr/>
        </p:nvSpPr>
        <p:spPr>
          <a:xfrm>
            <a:off x="687704" y="1026272"/>
            <a:ext cx="5998437"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Total Assets Growth and Tax-Free Legacy</a:t>
            </a:r>
          </a:p>
        </p:txBody>
      </p:sp>
      <p:sp>
        <p:nvSpPr>
          <p:cNvPr id="44" name="object 4">
            <a:extLst>
              <a:ext uri="{FF2B5EF4-FFF2-40B4-BE49-F238E27FC236}">
                <a16:creationId xmlns:a16="http://schemas.microsoft.com/office/drawing/2014/main" id="{45EFABBA-0E99-BCD4-DC46-DAD73A58C7B5}"/>
              </a:ext>
            </a:extLst>
          </p:cNvPr>
          <p:cNvSpPr txBox="1">
            <a:spLocks/>
          </p:cNvSpPr>
          <p:nvPr/>
        </p:nvSpPr>
        <p:spPr>
          <a:xfrm>
            <a:off x="687704" y="1470737"/>
            <a:ext cx="11028046" cy="369332"/>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Estate Growth  &amp; Tax Impact report shows the values of the assets inside your estate, the reduction in value due to taxes and expenses, and the net amount to your heirs at multiple periods of time assuming death of you and your spouse at those time periods. </a:t>
            </a:r>
            <a:r>
              <a:rPr lang="en-US" sz="1200" dirty="0">
                <a:solidFill>
                  <a:sysClr val="windowText" lastClr="000000"/>
                </a:solidFill>
                <a:latin typeface="Cormorant Infant" pitchFamily="2" charset="0"/>
                <a:cs typeface="Cormorant Infant" pitchFamily="2" charset="0"/>
              </a:rPr>
              <a:t>Using a Single Life Policy on Paula.</a:t>
            </a:r>
          </a:p>
        </p:txBody>
      </p:sp>
      <p:graphicFrame>
        <p:nvGraphicFramePr>
          <p:cNvPr id="4" name="Table 3">
            <a:extLst>
              <a:ext uri="{FF2B5EF4-FFF2-40B4-BE49-F238E27FC236}">
                <a16:creationId xmlns:a16="http://schemas.microsoft.com/office/drawing/2014/main" id="{0E050480-3557-74D6-5864-3B0ECD600C26}"/>
              </a:ext>
            </a:extLst>
          </p:cNvPr>
          <p:cNvGraphicFramePr>
            <a:graphicFrameLocks noGrp="1"/>
          </p:cNvGraphicFramePr>
          <p:nvPr>
            <p:extLst>
              <p:ext uri="{D42A27DB-BD31-4B8C-83A1-F6EECF244321}">
                <p14:modId xmlns:p14="http://schemas.microsoft.com/office/powerpoint/2010/main" val="372663270"/>
              </p:ext>
            </p:extLst>
          </p:nvPr>
        </p:nvGraphicFramePr>
        <p:xfrm>
          <a:off x="687704" y="1857216"/>
          <a:ext cx="11028046" cy="1783080"/>
        </p:xfrm>
        <a:graphic>
          <a:graphicData uri="http://schemas.openxmlformats.org/drawingml/2006/table">
            <a:tbl>
              <a:tblPr/>
              <a:tblGrid>
                <a:gridCol w="2426971">
                  <a:extLst>
                    <a:ext uri="{9D8B030D-6E8A-4147-A177-3AD203B41FA5}">
                      <a16:colId xmlns:a16="http://schemas.microsoft.com/office/drawing/2014/main" val="3794210358"/>
                    </a:ext>
                  </a:extLst>
                </a:gridCol>
                <a:gridCol w="2847975">
                  <a:extLst>
                    <a:ext uri="{9D8B030D-6E8A-4147-A177-3AD203B41FA5}">
                      <a16:colId xmlns:a16="http://schemas.microsoft.com/office/drawing/2014/main" val="776990766"/>
                    </a:ext>
                  </a:extLst>
                </a:gridCol>
                <a:gridCol w="2895600">
                  <a:extLst>
                    <a:ext uri="{9D8B030D-6E8A-4147-A177-3AD203B41FA5}">
                      <a16:colId xmlns:a16="http://schemas.microsoft.com/office/drawing/2014/main" val="1780498775"/>
                    </a:ext>
                  </a:extLst>
                </a:gridCol>
                <a:gridCol w="2857500">
                  <a:extLst>
                    <a:ext uri="{9D8B030D-6E8A-4147-A177-3AD203B41FA5}">
                      <a16:colId xmlns:a16="http://schemas.microsoft.com/office/drawing/2014/main" val="3459809000"/>
                    </a:ext>
                  </a:extLst>
                </a:gridCol>
              </a:tblGrid>
              <a:tr h="190500">
                <a:tc>
                  <a:txBody>
                    <a:bodyPr/>
                    <a:lstStyle/>
                    <a:p>
                      <a:pPr algn="l" fontAlgn="b">
                        <a:buNone/>
                      </a:pPr>
                      <a:r>
                        <a:rPr lang="en-US" sz="1400" b="1" i="0" u="none" strike="noStrike">
                          <a:solidFill>
                            <a:srgbClr val="2B3033"/>
                          </a:solidFill>
                          <a:effectLst/>
                          <a:latin typeface="Cormorant Infant" pitchFamily="2" charset="0"/>
                          <a:ea typeface="Cormorant Infant" pitchFamily="2" charset="0"/>
                          <a:cs typeface="Cormorant Infant" pitchFamily="2" charset="0"/>
                        </a:rPr>
                        <a:t> </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&lt;NewHeader1&gt;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&lt;NewHeader2&gt;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&lt;NewHeader3&gt;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5830617"/>
                  </a:ext>
                </a:extLst>
              </a:tr>
              <a:tr h="190500">
                <a:tc>
                  <a:txBody>
                    <a:bodyPr/>
                    <a:lstStyle/>
                    <a:p>
                      <a:pPr algn="l" fontAlgn="b">
                        <a:buNone/>
                      </a:pPr>
                      <a:r>
                        <a:rPr lang="en-US" sz="1400" b="1" i="0" u="none" strike="noStrike">
                          <a:solidFill>
                            <a:srgbClr val="2B3033"/>
                          </a:solidFill>
                          <a:effectLst/>
                          <a:latin typeface="Cormorant Infant" pitchFamily="2" charset="0"/>
                          <a:ea typeface="Cormorant Infant" pitchFamily="2" charset="0"/>
                          <a:cs typeface="Cormorant Infant" pitchFamily="2" charset="0"/>
                        </a:rPr>
                        <a:t>Total Assets (EOY)</a:t>
                      </a:r>
                    </a:p>
                  </a:txBody>
                  <a:tcPr marL="857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&lt;NewChartValue1a&gt;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&lt;NewChartValue2a&gt;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&lt;NewChartValue3a&gt;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920437894"/>
                  </a:ext>
                </a:extLst>
              </a:tr>
              <a:tr h="190500">
                <a:tc>
                  <a:txBody>
                    <a:bodyPr/>
                    <a:lstStyle/>
                    <a:p>
                      <a:pPr algn="l"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Lifetime Exemption</a:t>
                      </a:r>
                    </a:p>
                  </a:txBody>
                  <a:tcPr marL="85725" marR="9525" marT="9525" marB="0" anchor="b">
                    <a:lnL>
                      <a:noFill/>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&lt;CurExempt3&gt;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6742923"/>
                  </a:ext>
                </a:extLst>
              </a:tr>
              <a:tr h="190500">
                <a:tc>
                  <a:txBody>
                    <a:bodyPr/>
                    <a:lstStyle/>
                    <a:p>
                      <a:pPr algn="l"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Taxable Estate</a:t>
                      </a:r>
                    </a:p>
                  </a:txBody>
                  <a:tcPr marL="85725" marR="9525" marT="9525" marB="0" anchor="b">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&lt;NewTaxableEstate1&gt;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&lt;NewTaxableEstate2&gt;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&lt;NewTaxableEstate3&gt;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726062"/>
                  </a:ext>
                </a:extLst>
              </a:tr>
              <a:tr h="190500">
                <a:tc>
                  <a:txBody>
                    <a:bodyPr/>
                    <a:lstStyle/>
                    <a:p>
                      <a:pPr algn="l"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Estate Taxes</a:t>
                      </a:r>
                    </a:p>
                  </a:txBody>
                  <a:tcPr marL="85725" marR="9525" marT="9525" marB="0" anchor="b">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&lt;NewChartValue1c&gt;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&lt;NewChartValue2c&gt;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&lt;NewChartValue3c&gt;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679597564"/>
                  </a:ext>
                </a:extLst>
              </a:tr>
              <a:tr h="190500">
                <a:tc>
                  <a:txBody>
                    <a:bodyPr/>
                    <a:lstStyle/>
                    <a:p>
                      <a:pPr algn="l"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Income Taxes</a:t>
                      </a:r>
                    </a:p>
                  </a:txBody>
                  <a:tcPr marL="857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&lt;NewChartValue1d&gt;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&lt;NewChartValue2d&gt;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a:solidFill>
                            <a:srgbClr val="2B3033"/>
                          </a:solidFill>
                          <a:effectLst/>
                          <a:latin typeface="Cormorant Infant" pitchFamily="2" charset="0"/>
                          <a:ea typeface="Cormorant Infant" pitchFamily="2" charset="0"/>
                          <a:cs typeface="Cormorant Infant" pitchFamily="2" charset="0"/>
                        </a:rPr>
                        <a:t>&lt;NewChartValue3d</a:t>
                      </a:r>
                      <a:r>
                        <a:rPr lang="en-US" sz="1400" b="0" i="0" u="none" strike="noStrike" dirty="0">
                          <a:solidFill>
                            <a:srgbClr val="2B3033"/>
                          </a:solidFill>
                          <a:effectLst/>
                          <a:latin typeface="Cormorant Infant" pitchFamily="2" charset="0"/>
                          <a:ea typeface="Cormorant Infant" pitchFamily="2" charset="0"/>
                          <a:cs typeface="Cormorant Infant" pitchFamily="2" charset="0"/>
                        </a:rPr>
                        <a:t>&gt;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968549"/>
                  </a:ext>
                </a:extLst>
              </a:tr>
              <a:tr h="190500">
                <a:tc>
                  <a:txBody>
                    <a:bodyPr/>
                    <a:lstStyle/>
                    <a:p>
                      <a:pPr algn="l"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Tax-Free Life Insurance</a:t>
                      </a:r>
                    </a:p>
                  </a:txBody>
                  <a:tcPr marL="857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&lt;NewChartValue1b&gt;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&lt;NewChartValue2b&gt;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0" i="0" u="none" strike="noStrike" dirty="0">
                          <a:solidFill>
                            <a:srgbClr val="2B3033"/>
                          </a:solidFill>
                          <a:effectLst/>
                          <a:latin typeface="Cormorant Infant" pitchFamily="2" charset="0"/>
                          <a:ea typeface="Cormorant Infant" pitchFamily="2" charset="0"/>
                          <a:cs typeface="Cormorant Infant" pitchFamily="2" charset="0"/>
                        </a:rPr>
                        <a:t>&lt;NewChartValue3b&gt;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1200206"/>
                  </a:ext>
                </a:extLst>
              </a:tr>
              <a:tr h="190500">
                <a:tc>
                  <a:txBody>
                    <a:bodyPr/>
                    <a:lstStyle/>
                    <a:p>
                      <a:pPr algn="l"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Net to Heirs</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&lt;NewChartValue1e&gt;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&lt;NewChartValue2e&gt;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tc>
                  <a:txBody>
                    <a:bodyPr/>
                    <a:lstStyle/>
                    <a:p>
                      <a:pPr algn="ctr" fontAlgn="b">
                        <a:buNone/>
                      </a:pPr>
                      <a:r>
                        <a:rPr lang="en-US" sz="1400" b="1" i="0" u="none" strike="noStrike" dirty="0">
                          <a:solidFill>
                            <a:srgbClr val="2B3033"/>
                          </a:solidFill>
                          <a:effectLst/>
                          <a:latin typeface="Cormorant Infant" pitchFamily="2" charset="0"/>
                          <a:ea typeface="Cormorant Infant" pitchFamily="2" charset="0"/>
                          <a:cs typeface="Cormorant Infant" pitchFamily="2" charset="0"/>
                        </a:rPr>
                        <a:t>&lt;NewChartValue3e&gt;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DBD7"/>
                    </a:solidFill>
                  </a:tcPr>
                </a:tc>
                <a:extLst>
                  <a:ext uri="{0D108BD9-81ED-4DB2-BD59-A6C34878D82A}">
                    <a16:rowId xmlns:a16="http://schemas.microsoft.com/office/drawing/2014/main" val="475894057"/>
                  </a:ext>
                </a:extLst>
              </a:tr>
            </a:tbl>
          </a:graphicData>
        </a:graphic>
      </p:graphicFrame>
      <p:graphicFrame>
        <p:nvGraphicFramePr>
          <p:cNvPr id="8" name="Chart 7">
            <a:extLst>
              <a:ext uri="{FF2B5EF4-FFF2-40B4-BE49-F238E27FC236}">
                <a16:creationId xmlns:a16="http://schemas.microsoft.com/office/drawing/2014/main" id="{84A8908D-F231-AA21-FA26-91F17CA70B93}"/>
              </a:ext>
            </a:extLst>
          </p:cNvPr>
          <p:cNvGraphicFramePr/>
          <p:nvPr>
            <p:extLst>
              <p:ext uri="{D42A27DB-BD31-4B8C-83A1-F6EECF244321}">
                <p14:modId xmlns:p14="http://schemas.microsoft.com/office/powerpoint/2010/main" val="2591355582"/>
              </p:ext>
            </p:extLst>
          </p:nvPr>
        </p:nvGraphicFramePr>
        <p:xfrm>
          <a:off x="3101148" y="3695544"/>
          <a:ext cx="2852928"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E4DC5D23-B078-EA8C-1819-A66EA9DB7263}"/>
              </a:ext>
            </a:extLst>
          </p:cNvPr>
          <p:cNvGraphicFramePr/>
          <p:nvPr>
            <p:extLst>
              <p:ext uri="{D42A27DB-BD31-4B8C-83A1-F6EECF244321}">
                <p14:modId xmlns:p14="http://schemas.microsoft.com/office/powerpoint/2010/main" val="506046647"/>
              </p:ext>
            </p:extLst>
          </p:nvPr>
        </p:nvGraphicFramePr>
        <p:xfrm>
          <a:off x="5984464" y="3695544"/>
          <a:ext cx="2852928"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6FDDFC46-43EF-C732-A91D-6424D43CBE33}"/>
              </a:ext>
            </a:extLst>
          </p:cNvPr>
          <p:cNvGraphicFramePr/>
          <p:nvPr>
            <p:extLst>
              <p:ext uri="{D42A27DB-BD31-4B8C-83A1-F6EECF244321}">
                <p14:modId xmlns:p14="http://schemas.microsoft.com/office/powerpoint/2010/main" val="455035361"/>
              </p:ext>
            </p:extLst>
          </p:nvPr>
        </p:nvGraphicFramePr>
        <p:xfrm>
          <a:off x="8862821" y="3695544"/>
          <a:ext cx="2852928"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7F21B0C1-024A-7468-C3D5-AAF9117D94CC}"/>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5" name="TextBox 4">
            <a:extLst>
              <a:ext uri="{FF2B5EF4-FFF2-40B4-BE49-F238E27FC236}">
                <a16:creationId xmlns:a16="http://schemas.microsoft.com/office/drawing/2014/main" id="{24117B6D-B1EB-4CDF-959A-0BD82F0DE5B1}"/>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Tree>
    <p:extLst>
      <p:ext uri="{BB962C8B-B14F-4D97-AF65-F5344CB8AC3E}">
        <p14:creationId xmlns:p14="http://schemas.microsoft.com/office/powerpoint/2010/main" val="9163572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0BFB9-2687-83F0-8A46-FCEFB49AA692}"/>
            </a:ext>
          </a:extLst>
        </p:cNvPr>
        <p:cNvGrpSpPr/>
        <p:nvPr/>
      </p:nvGrpSpPr>
      <p:grpSpPr>
        <a:xfrm>
          <a:off x="0" y="0"/>
          <a:ext cx="0" cy="0"/>
          <a:chOff x="0" y="0"/>
          <a:chExt cx="0" cy="0"/>
        </a:xfrm>
      </p:grpSpPr>
      <p:sp>
        <p:nvSpPr>
          <p:cNvPr id="4" name="NewPlanTable">
            <a:extLst>
              <a:ext uri="{FF2B5EF4-FFF2-40B4-BE49-F238E27FC236}">
                <a16:creationId xmlns:a16="http://schemas.microsoft.com/office/drawing/2014/main" id="{B9ABAD8F-DFDC-DD44-3BCC-CFE5D8A5FEA0}"/>
              </a:ext>
            </a:extLst>
          </p:cNvPr>
          <p:cNvSpPr>
            <a:spLocks noGrp="1"/>
          </p:cNvSpPr>
          <p:nvPr>
            <p:ph sz="quarter" idx="10"/>
          </p:nvPr>
        </p:nvSpPr>
        <p:spPr>
          <a:xfrm>
            <a:off x="514350" y="2038351"/>
            <a:ext cx="10979658" cy="4319032"/>
          </a:xfrm>
          <a:solidFill>
            <a:schemeClr val="bg1"/>
          </a:solidFill>
        </p:spPr>
        <p:txBody>
          <a:bodyPr wrap="none"/>
          <a:lstStyle/>
          <a:p>
            <a:endParaRPr lang="en-US" dirty="0"/>
          </a:p>
        </p:txBody>
      </p:sp>
      <p:sp>
        <p:nvSpPr>
          <p:cNvPr id="12" name="TextBox 11">
            <a:extLst>
              <a:ext uri="{FF2B5EF4-FFF2-40B4-BE49-F238E27FC236}">
                <a16:creationId xmlns:a16="http://schemas.microsoft.com/office/drawing/2014/main" id="{0C59720E-C7AE-F3D5-AD48-6A260C212F02}"/>
              </a:ext>
            </a:extLst>
          </p:cNvPr>
          <p:cNvSpPr txBox="1"/>
          <p:nvPr/>
        </p:nvSpPr>
        <p:spPr>
          <a:xfrm>
            <a:off x="8329618" y="496132"/>
            <a:ext cx="2333624" cy="208996"/>
          </a:xfrm>
          <a:prstGeom prst="rect">
            <a:avLst/>
          </a:prstGeom>
          <a:noFill/>
        </p:spPr>
        <p:txBody>
          <a:bodyPr wrap="square" lIns="0" tIns="0" rIns="0" bIns="0" rtlCol="0" anchor="t">
            <a:noAutofit/>
          </a:bodyPr>
          <a:lstStyle/>
          <a:p>
            <a:pPr algn="l">
              <a:lnSpc>
                <a:spcPts val="1200"/>
              </a:lnSpc>
            </a:pP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&lt;</a:t>
            </a:r>
            <a:r>
              <a:rPr lang="en-US" sz="1000" kern="500" spc="600" baseline="0" dirty="0" err="1">
                <a:solidFill>
                  <a:schemeClr val="accent1">
                    <a:lumMod val="75000"/>
                  </a:schemeClr>
                </a:solidFill>
                <a:latin typeface="Cormorant Infant" pitchFamily="2" charset="0"/>
                <a:ea typeface="Cormorant Infant" pitchFamily="2" charset="0"/>
                <a:cs typeface="Cormorant Infant" pitchFamily="2" charset="0"/>
              </a:rPr>
              <a:t>SlideMth</a:t>
            </a:r>
            <a:r>
              <a:rPr lang="en-US" sz="1000" kern="500" spc="600" baseline="0"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13" name="TextBox 12">
            <a:extLst>
              <a:ext uri="{FF2B5EF4-FFF2-40B4-BE49-F238E27FC236}">
                <a16:creationId xmlns:a16="http://schemas.microsoft.com/office/drawing/2014/main" id="{76CC095A-8744-8540-9424-CBDE94F11B38}"/>
              </a:ext>
            </a:extLst>
          </p:cNvPr>
          <p:cNvSpPr txBox="1"/>
          <p:nvPr/>
        </p:nvSpPr>
        <p:spPr>
          <a:xfrm>
            <a:off x="383036" y="500617"/>
            <a:ext cx="5074790" cy="208996"/>
          </a:xfrm>
          <a:prstGeom prst="rect">
            <a:avLst/>
          </a:prstGeom>
          <a:noFill/>
        </p:spPr>
        <p:txBody>
          <a:bodyPr wrap="square" lIns="0" tIns="0" rIns="0" rtlCol="0" anchor="ctr">
            <a:noAutofit/>
          </a:bodyPr>
          <a:lstStyle/>
          <a:p>
            <a:pPr algn="ctr">
              <a:lnSpc>
                <a:spcPts val="1200"/>
              </a:lnSpc>
            </a:pPr>
            <a:r>
              <a:rPr lang="en-US" sz="1000" dirty="0">
                <a:solidFill>
                  <a:schemeClr val="accent1">
                    <a:lumMod val="75000"/>
                  </a:schemeClr>
                </a:solidFill>
                <a:latin typeface="Cormorant Infant" pitchFamily="2" charset="0"/>
                <a:ea typeface="Cormorant Infant" pitchFamily="2" charset="0"/>
                <a:cs typeface="Cormorant Infant" pitchFamily="2" charset="0"/>
              </a:rPr>
              <a:t>LEGACY-IRA PLANNING     |     </a:t>
            </a:r>
            <a:r>
              <a:rPr lang="en-US" sz="1000" i="1" dirty="0">
                <a:solidFill>
                  <a:schemeClr val="accent1">
                    <a:lumMod val="75000"/>
                  </a:schemeClr>
                </a:solidFill>
                <a:latin typeface="Cormorant Infant" pitchFamily="2" charset="0"/>
                <a:ea typeface="Cormorant Infant" pitchFamily="2" charset="0"/>
                <a:cs typeface="Cormorant Infant" pitchFamily="2" charset="0"/>
              </a:rPr>
              <a:t>Prepared for: &lt;</a:t>
            </a:r>
            <a:r>
              <a:rPr lang="en-US" sz="1000" i="1" dirty="0" err="1">
                <a:solidFill>
                  <a:schemeClr val="accent1">
                    <a:lumMod val="75000"/>
                  </a:schemeClr>
                </a:solidFill>
                <a:latin typeface="Cormorant Infant" pitchFamily="2" charset="0"/>
                <a:ea typeface="Cormorant Infant" pitchFamily="2" charset="0"/>
                <a:cs typeface="Cormorant Infant" pitchFamily="2" charset="0"/>
              </a:rPr>
              <a:t>FamilyNm</a:t>
            </a:r>
            <a:r>
              <a:rPr lang="en-US" sz="1000" i="1" dirty="0">
                <a:solidFill>
                  <a:schemeClr val="accent1">
                    <a:lumMod val="75000"/>
                  </a:schemeClr>
                </a:solidFill>
                <a:latin typeface="Cormorant Infant" pitchFamily="2" charset="0"/>
                <a:ea typeface="Cormorant Infant" pitchFamily="2" charset="0"/>
                <a:cs typeface="Cormorant Infant" pitchFamily="2" charset="0"/>
              </a:rPr>
              <a:t>&gt;</a:t>
            </a:r>
          </a:p>
        </p:txBody>
      </p:sp>
      <p:sp>
        <p:nvSpPr>
          <p:cNvPr id="7" name="object 4">
            <a:extLst>
              <a:ext uri="{FF2B5EF4-FFF2-40B4-BE49-F238E27FC236}">
                <a16:creationId xmlns:a16="http://schemas.microsoft.com/office/drawing/2014/main" id="{8D1E4CED-CD30-5009-377E-0A24D038E4E4}"/>
              </a:ext>
            </a:extLst>
          </p:cNvPr>
          <p:cNvSpPr txBox="1">
            <a:spLocks/>
          </p:cNvSpPr>
          <p:nvPr/>
        </p:nvSpPr>
        <p:spPr>
          <a:xfrm>
            <a:off x="687704" y="1026272"/>
            <a:ext cx="9488175" cy="430887"/>
          </a:xfrm>
          <a:prstGeom prst="rect">
            <a:avLst/>
          </a:prstGeom>
          <a:noFill/>
          <a:ln>
            <a:noFill/>
          </a:ln>
          <a:scene3d>
            <a:camera prst="orthographicFront"/>
            <a:lightRig rig="threePt" dir="t"/>
          </a:scene3d>
          <a:sp3d>
            <a:bevelT/>
          </a:sp3d>
        </p:spPr>
        <p:txBody>
          <a:bodyPr vert="horz" wrap="non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b="0" dirty="0">
                <a:solidFill>
                  <a:sysClr val="windowText" lastClr="000000"/>
                </a:solidFill>
                <a:latin typeface="Cormorant Infant" pitchFamily="2" charset="0"/>
                <a:cs typeface="Cormorant Infant" pitchFamily="2" charset="0"/>
              </a:rPr>
              <a:t>Proposed Planning Forecast: Asset Growth, Income &amp; Estate Taxes</a:t>
            </a:r>
          </a:p>
        </p:txBody>
      </p:sp>
      <p:sp>
        <p:nvSpPr>
          <p:cNvPr id="8" name="object 4">
            <a:extLst>
              <a:ext uri="{FF2B5EF4-FFF2-40B4-BE49-F238E27FC236}">
                <a16:creationId xmlns:a16="http://schemas.microsoft.com/office/drawing/2014/main" id="{BABF5564-5F89-C58B-E6D4-617805BE7938}"/>
              </a:ext>
            </a:extLst>
          </p:cNvPr>
          <p:cNvSpPr txBox="1">
            <a:spLocks/>
          </p:cNvSpPr>
          <p:nvPr/>
        </p:nvSpPr>
        <p:spPr>
          <a:xfrm>
            <a:off x="687704" y="1470737"/>
            <a:ext cx="11028046" cy="369332"/>
          </a:xfrm>
          <a:prstGeom prst="rect">
            <a:avLst/>
          </a:prstGeom>
          <a:noFill/>
          <a:ln>
            <a:noFill/>
          </a:ln>
          <a:scene3d>
            <a:camera prst="orthographicFront"/>
            <a:lightRig rig="threePt" dir="t"/>
          </a:scene3d>
          <a:sp3d>
            <a:bevelT/>
          </a:sp3d>
        </p:spPr>
        <p:txBody>
          <a:bodyPr vert="horz" wrap="square" lIns="0" tIns="0" rIns="0" bIns="0" rtlCol="0" anchor="ctr">
            <a:spAutoFit/>
          </a:bodyPr>
          <a:lstStyle>
            <a:defPPr>
              <a:defRPr kern="0"/>
            </a:defPPr>
            <a:lvl1pPr marL="12700" algn="ctr">
              <a:lnSpc>
                <a:spcPct val="100000"/>
              </a:lnSpc>
              <a:spcBef>
                <a:spcPts val="100"/>
              </a:spcBef>
              <a:defRPr sz="2800" b="1" i="0">
                <a:solidFill>
                  <a:srgbClr val="FFFF00"/>
                </a:solidFill>
                <a:latin typeface="Sorts Mill Goudy" panose="02000503000000000000" pitchFamily="2" charset="0"/>
                <a:ea typeface="+mj-ea"/>
                <a:cs typeface="Times New Roman" panose="02020603050405020304" pitchFamily="18" charset="0"/>
              </a:defRPr>
            </a:lvl1pPr>
          </a:lstStyle>
          <a:p>
            <a:pPr algn="l"/>
            <a:r>
              <a:rPr lang="en-US" sz="1200" b="0" dirty="0">
                <a:solidFill>
                  <a:sysClr val="windowText" lastClr="000000"/>
                </a:solidFill>
                <a:latin typeface="Cormorant Infant" pitchFamily="2" charset="0"/>
                <a:cs typeface="Cormorant Infant" pitchFamily="2" charset="0"/>
              </a:rPr>
              <a:t>The Current planning forecast projects the value of assets inside your estate, the reduction in value due to income and potential estate taxes  and the net amount to your heirs at multiple periods of time assuming death of you and your spouse at those time periods</a:t>
            </a:r>
          </a:p>
        </p:txBody>
      </p:sp>
    </p:spTree>
    <p:extLst>
      <p:ext uri="{BB962C8B-B14F-4D97-AF65-F5344CB8AC3E}">
        <p14:creationId xmlns:p14="http://schemas.microsoft.com/office/powerpoint/2010/main" val="3710916659"/>
      </p:ext>
    </p:extLst>
  </p:cSld>
  <p:clrMapOvr>
    <a:masterClrMapping/>
  </p:clrMapOvr>
</p:sld>
</file>

<file path=ppt/theme/theme1.xml><?xml version="1.0" encoding="utf-8"?>
<a:theme xmlns:a="http://schemas.openxmlformats.org/drawingml/2006/main" name="Sage Master Slides">
  <a:themeElements>
    <a:clrScheme name="Sage Colors">
      <a:dk1>
        <a:srgbClr val="2B3033"/>
      </a:dk1>
      <a:lt1>
        <a:sysClr val="window" lastClr="FFFFFF"/>
      </a:lt1>
      <a:dk2>
        <a:srgbClr val="696970"/>
      </a:dk2>
      <a:lt2>
        <a:srgbClr val="FFFFFF"/>
      </a:lt2>
      <a:accent1>
        <a:srgbClr val="C6C6CC"/>
      </a:accent1>
      <a:accent2>
        <a:srgbClr val="C8E0B4"/>
      </a:accent2>
      <a:accent3>
        <a:srgbClr val="9CB08A"/>
      </a:accent3>
      <a:accent4>
        <a:srgbClr val="576347"/>
      </a:accent4>
      <a:accent5>
        <a:srgbClr val="54634A"/>
      </a:accent5>
      <a:accent6>
        <a:srgbClr val="3D453D"/>
      </a:accent6>
      <a:hlink>
        <a:srgbClr val="B0B0B8"/>
      </a:hlink>
      <a:folHlink>
        <a:srgbClr val="45A6B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8557</TotalTime>
  <Words>7938</Words>
  <Application>Microsoft Office PowerPoint</Application>
  <PresentationFormat>Widescreen</PresentationFormat>
  <Paragraphs>945</Paragraphs>
  <Slides>69</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Cormorant Infant</vt:lpstr>
      <vt:lpstr>Cormorant Infant SemiBold</vt:lpstr>
      <vt:lpstr>Aptos</vt:lpstr>
      <vt:lpstr>Poppins</vt:lpstr>
      <vt:lpstr>Cormorant Infant Light</vt:lpstr>
      <vt:lpstr>Arial</vt:lpstr>
      <vt:lpstr>Cormorant Infant Medium</vt:lpstr>
      <vt:lpstr>Sage Master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Sage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johna@sageplanning.com</dc:creator>
  <cp:lastModifiedBy>JOHN ANALAMBIDAKIS</cp:lastModifiedBy>
  <cp:revision>475</cp:revision>
  <dcterms:created xsi:type="dcterms:W3CDTF">2023-10-13T11:43:33Z</dcterms:created>
  <dcterms:modified xsi:type="dcterms:W3CDTF">2026-05-04T17:07:08Z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2017-11-10T00:00:00Z</vt:filetime>
  </property>
  <property fmtid="{D5CDD505-2E9C-101B-9397-08002B2CF9AE}" pid="3" name="Creator">
    <vt:lpwstr>Acrobat PDFMaker 17 for PowerPoint</vt:lpwstr>
  </property>
  <property fmtid="{D5CDD505-2E9C-101B-9397-08002B2CF9AE}" pid="4" name="LastSaved">
    <vt:filetime>2023-10-13T00:00:00Z</vt:filetime>
  </property>
  <property fmtid="{D5CDD505-2E9C-101B-9397-08002B2CF9AE}" pid="5" name="Producer">
    <vt:lpwstr>Adobe PDF Library 15.0</vt:lpwstr>
  </property>
</Properties>
</file>